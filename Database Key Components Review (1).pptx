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85" r:id="rId5"/>
    <p:sldId id="287" r:id="rId6"/>
    <p:sldId id="289" r:id="rId7"/>
    <p:sldId id="290" r:id="rId8"/>
    <p:sldId id="291" r:id="rId9"/>
    <p:sldId id="268" r:id="rId10"/>
    <p:sldId id="286" r:id="rId11"/>
    <p:sldId id="302" r:id="rId12"/>
    <p:sldId id="270" r:id="rId13"/>
    <p:sldId id="273" r:id="rId14"/>
    <p:sldId id="274" r:id="rId15"/>
    <p:sldId id="275" r:id="rId16"/>
    <p:sldId id="299" r:id="rId17"/>
    <p:sldId id="260" r:id="rId18"/>
    <p:sldId id="30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405"/>
  </p:normalViewPr>
  <p:slideViewPr>
    <p:cSldViewPr snapToGrid="0" snapToObjects="1">
      <p:cViewPr varScale="1">
        <p:scale>
          <a:sx n="131" d="100"/>
          <a:sy n="131" d="100"/>
        </p:scale>
        <p:origin x="3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3C4D32-9734-5A48-A1D3-134572BD63D3}" type="datetimeFigureOut">
              <a:rPr lang="en-US" smtClean="0"/>
              <a:t>8/10/20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D70241-BD4F-9647-B2E0-CB12C25DE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642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vertical bar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represent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1,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circle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represent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</a:p>
          <a:p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symbol</a:t>
            </a:r>
            <a:r>
              <a:rPr lang="zh-CN" altLang="en-US" sz="1200" b="1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1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closest</a:t>
            </a:r>
            <a:r>
              <a:rPr lang="zh-CN" altLang="en-US" sz="1200" b="1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1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zh-CN" altLang="en-US" sz="1200" b="1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1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zh-CN" altLang="en-US" sz="1200" b="1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1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entity</a:t>
            </a:r>
            <a:r>
              <a:rPr lang="zh-CN" altLang="en-US" sz="1200" b="1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1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zh-CN" altLang="en-US" sz="1200" b="1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1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zh-CN" altLang="en-US" sz="1200" b="1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1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maximum</a:t>
            </a:r>
            <a:r>
              <a:rPr lang="zh-CN" altLang="en-US" sz="1200" b="1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1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cardinality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2D3D4-723D-9E46-8D2F-5ECA260CCD7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467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2D3D4-723D-9E46-8D2F-5ECA260CCD7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1788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Hans" dirty="0"/>
              <a:t>We</a:t>
            </a:r>
            <a:r>
              <a:rPr lang="zh-Hans" altLang="en-US" dirty="0"/>
              <a:t> </a:t>
            </a:r>
            <a:r>
              <a:rPr lang="en-US" altLang="zh-Hans" dirty="0"/>
              <a:t>have</a:t>
            </a:r>
            <a:r>
              <a:rPr lang="zh-Hans" altLang="en-US" dirty="0"/>
              <a:t> </a:t>
            </a:r>
            <a:r>
              <a:rPr lang="en-US" altLang="zh-Hans" dirty="0"/>
              <a:t>relations/tables,</a:t>
            </a:r>
            <a:r>
              <a:rPr lang="zh-Hans" altLang="en-US" dirty="0"/>
              <a:t> </a:t>
            </a:r>
            <a:r>
              <a:rPr lang="en-US" altLang="zh-Hans" dirty="0"/>
              <a:t>have</a:t>
            </a:r>
            <a:r>
              <a:rPr lang="zh-Hans" altLang="en-US" dirty="0"/>
              <a:t> </a:t>
            </a:r>
            <a:r>
              <a:rPr lang="en-US" altLang="zh-Hans" dirty="0"/>
              <a:t>different</a:t>
            </a:r>
            <a:r>
              <a:rPr lang="zh-Hans" altLang="en-US" dirty="0"/>
              <a:t> </a:t>
            </a:r>
            <a:r>
              <a:rPr lang="en-US" altLang="zh-Hans" dirty="0"/>
              <a:t>type</a:t>
            </a:r>
            <a:r>
              <a:rPr lang="zh-Hans" altLang="en-US" dirty="0"/>
              <a:t> </a:t>
            </a:r>
            <a:r>
              <a:rPr lang="en-US" altLang="zh-Hans" dirty="0"/>
              <a:t>keys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2D3D4-723D-9E46-8D2F-5ECA260CCD7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9361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Hans" dirty="0"/>
              <a:t>Employee,</a:t>
            </a:r>
            <a:r>
              <a:rPr lang="zh-Hans" altLang="en-US" dirty="0"/>
              <a:t> </a:t>
            </a:r>
            <a:r>
              <a:rPr lang="en-US" altLang="zh-Hans" dirty="0"/>
              <a:t>and</a:t>
            </a:r>
            <a:r>
              <a:rPr lang="zh-Hans" altLang="en-US" dirty="0"/>
              <a:t> </a:t>
            </a:r>
            <a:r>
              <a:rPr lang="en-US" altLang="zh-Hans" dirty="0"/>
              <a:t>parking</a:t>
            </a:r>
            <a:r>
              <a:rPr lang="zh-Hans" altLang="en-US" dirty="0"/>
              <a:t> </a:t>
            </a:r>
            <a:r>
              <a:rPr lang="en-US" altLang="zh-Hans" dirty="0"/>
              <a:t>space.</a:t>
            </a:r>
            <a:r>
              <a:rPr lang="zh-Hans" altLang="en-US" dirty="0"/>
              <a:t> </a:t>
            </a:r>
            <a:r>
              <a:rPr lang="en-US" altLang="zh-Hans" dirty="0"/>
              <a:t>Not</a:t>
            </a:r>
            <a:r>
              <a:rPr lang="zh-Hans" altLang="en-US" dirty="0"/>
              <a:t> </a:t>
            </a:r>
            <a:r>
              <a:rPr lang="en-US" altLang="zh-Hans" dirty="0"/>
              <a:t>every</a:t>
            </a:r>
            <a:r>
              <a:rPr lang="zh-Hans" altLang="en-US" dirty="0"/>
              <a:t> </a:t>
            </a:r>
            <a:r>
              <a:rPr lang="en-US" altLang="zh-Hans" dirty="0"/>
              <a:t>parking</a:t>
            </a:r>
            <a:r>
              <a:rPr lang="zh-Hans" altLang="en-US" dirty="0"/>
              <a:t> </a:t>
            </a:r>
            <a:r>
              <a:rPr lang="en-US" altLang="zh-Hans" dirty="0"/>
              <a:t>space</a:t>
            </a:r>
            <a:r>
              <a:rPr lang="zh-Hans" altLang="en-US" dirty="0"/>
              <a:t> </a:t>
            </a:r>
            <a:r>
              <a:rPr lang="en-US" altLang="zh-Hans" dirty="0"/>
              <a:t>is</a:t>
            </a:r>
            <a:r>
              <a:rPr lang="zh-Hans" altLang="en-US" dirty="0"/>
              <a:t> </a:t>
            </a:r>
            <a:r>
              <a:rPr lang="en-US" altLang="zh-Hans" dirty="0"/>
              <a:t>assigned</a:t>
            </a:r>
            <a:r>
              <a:rPr lang="zh-Hans" altLang="en-US" dirty="0"/>
              <a:t> </a:t>
            </a:r>
            <a:r>
              <a:rPr lang="en-US" altLang="zh-Hans" dirty="0"/>
              <a:t>to</a:t>
            </a:r>
            <a:r>
              <a:rPr lang="zh-Hans" altLang="en-US" dirty="0"/>
              <a:t> </a:t>
            </a:r>
            <a:r>
              <a:rPr lang="en-US" altLang="zh-Hans" dirty="0"/>
              <a:t>an</a:t>
            </a:r>
            <a:r>
              <a:rPr lang="zh-Hans" altLang="en-US" dirty="0"/>
              <a:t> </a:t>
            </a:r>
            <a:r>
              <a:rPr lang="en-US" altLang="zh-Hans" dirty="0"/>
              <a:t>employee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2D3D4-723D-9E46-8D2F-5ECA260CCD7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1987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B2D3D4-723D-9E46-8D2F-5ECA260CCD7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851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F4D2A-0F93-EF4C-A02E-8932D100C5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9EA0E1-B7E0-784B-AB30-B773330B83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D4F524-6C59-6D49-AC86-468460BC9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D79D7-2F9D-3641-AC48-451314A87A77}" type="datetimeFigureOut">
              <a:rPr lang="en-US" smtClean="0"/>
              <a:t>8/10/20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E5CED9-19B3-504C-9191-8CA02DDD1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D1BBE-6B20-FA46-B540-B7BAC0669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F2203-98F0-2748-A32F-A39D6FB8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626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925EE-7614-264F-B6DA-829532D50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D75515-543A-F448-99FD-41E00D5CD0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C6CD6-4776-0649-9B94-C3FAC5A73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D79D7-2F9D-3641-AC48-451314A87A77}" type="datetimeFigureOut">
              <a:rPr lang="en-US" smtClean="0"/>
              <a:t>8/10/20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444CDC-ED51-AA46-82D2-4FE500DD7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2F020D-EA74-6349-A0A0-8E36A7549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F2203-98F0-2748-A32F-A39D6FB8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824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4886E-F802-844F-BC12-243C6156D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21DA6B-41A3-7845-8BA7-B2C7B0E50E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31D921-2FEC-B946-9845-69BABFCE6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D79D7-2F9D-3641-AC48-451314A87A77}" type="datetimeFigureOut">
              <a:rPr lang="en-US" smtClean="0"/>
              <a:t>8/10/20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801326-9A27-7545-9B40-A642420A1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A9FC-AA01-7D46-B4B8-AE373BE0F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F2203-98F0-2748-A32F-A39D6FB8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966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6C09C-9BB5-EB46-9EAE-FC455F9AD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4E609-3912-604D-ACE7-79B1B89B24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5F347B-4658-1048-B70F-D7A4744308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3E3B8E-8AA0-864C-B8AF-E304FEF7B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D79D7-2F9D-3641-AC48-451314A87A77}" type="datetimeFigureOut">
              <a:rPr lang="en-US" smtClean="0"/>
              <a:t>8/10/20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9ED112-BC16-984B-8DC7-B98B02615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976E53-0F1A-E14F-95D2-1028A51E7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F2203-98F0-2748-A32F-A39D6FB8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300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E9FEC-091E-254E-8CC2-24B26BB21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789CEA-A0FF-0B42-BB2C-9881477F32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A6C501-B934-1042-BC34-7342FA8D9D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0AF877-6171-4041-B7E5-B6401A7CCD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63F469-5939-B643-BE01-EFB980A930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D9B380-5506-CC4A-BD77-C5BE75B1C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D79D7-2F9D-3641-AC48-451314A87A77}" type="datetimeFigureOut">
              <a:rPr lang="en-US" smtClean="0"/>
              <a:t>8/10/20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8293EE-87AF-B645-ACFD-99D30E51C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8E945E-1F29-D44D-92FA-E66BA7636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F2203-98F0-2748-A32F-A39D6FB8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75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68F9A-DE4E-7544-A25B-7D4D78D96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7A44CC-BC13-7646-8E40-5C0BDD0B7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D79D7-2F9D-3641-AC48-451314A87A77}" type="datetimeFigureOut">
              <a:rPr lang="en-US" smtClean="0"/>
              <a:t>8/10/20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997028-EE2F-2C4C-967B-A1DEF4125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B03457-B216-AE46-BB80-670B97509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F2203-98F0-2748-A32F-A39D6FB8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666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B9D1E8-C3A0-D84C-8356-A819ADF5C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D79D7-2F9D-3641-AC48-451314A87A77}" type="datetimeFigureOut">
              <a:rPr lang="en-US" smtClean="0"/>
              <a:t>8/10/20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D58A9D-8131-9542-8391-DEFA547DD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60EB41-0E0E-A943-868D-77BE2D0ED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F2203-98F0-2748-A32F-A39D6FB8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215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9471A-326C-BD4E-A3AD-305D36C7E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875B8-9B97-7A4C-9F33-3670E4CA53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33DC46-3D77-2F4E-97B0-4890504C3C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F8B2FE-C130-7D4F-8976-DA42A156A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D79D7-2F9D-3641-AC48-451314A87A77}" type="datetimeFigureOut">
              <a:rPr lang="en-US" smtClean="0"/>
              <a:t>8/10/20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AFF6FD-7A44-284B-B4FA-6023CA2B5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A4A767-4577-3F48-87B0-9E1412AC9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F2203-98F0-2748-A32F-A39D6FB8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957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49768-C57B-6C4C-BED6-2F7034A12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53A8DB-3A43-6C42-AE2E-84C136F874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093A7B-8102-704B-8DC3-5BA60DB921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9DBBF0-A319-4745-A076-BCB6CACA7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D79D7-2F9D-3641-AC48-451314A87A77}" type="datetimeFigureOut">
              <a:rPr lang="en-US" smtClean="0"/>
              <a:t>8/10/20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0792E2-0BFB-1449-B29E-5FCAA2E18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EE5AA1-5B62-464F-9FAA-D0E3D4BF9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F2203-98F0-2748-A32F-A39D6FB8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580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A334D-16FF-1F49-A2BD-4B9774B3A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B24D95-EED5-7A43-A07B-8A064FBBFE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E8AA90-6625-8F42-B9B5-4D5DC5C62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D79D7-2F9D-3641-AC48-451314A87A77}" type="datetimeFigureOut">
              <a:rPr lang="en-US" smtClean="0"/>
              <a:t>8/10/20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034FF6-8A32-AE47-BED8-99F909C6B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3427F1-EDFC-A844-867E-F5B84408C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F2203-98F0-2748-A32F-A39D6FB8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748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A07FC1-48DF-6743-859A-132A1414B7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96C013-250C-7041-BB06-94DE976DD3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FC517-883C-624E-9B1E-7BD7FBB65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D79D7-2F9D-3641-AC48-451314A87A77}" type="datetimeFigureOut">
              <a:rPr lang="en-US" smtClean="0"/>
              <a:t>8/10/20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136C5C-1086-2444-827A-F1181FDA2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0544DF-A5F0-134E-96A6-FCEAFFAB8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F2203-98F0-2748-A32F-A39D6FB8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328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86DF82-9991-9149-8C35-B8DDEDECC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637FB3-E0A6-5D43-9BF6-DDC5CFC255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FE85BE-C144-1C4A-89DD-6B35DAA0C9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8D79D7-2F9D-3641-AC48-451314A87A77}" type="datetimeFigureOut">
              <a:rPr lang="en-US" smtClean="0"/>
              <a:t>8/10/20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33D52-B76B-F046-8D98-2E3482D620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29335-9804-1249-83F1-391B6A1D38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FF2203-98F0-2748-A32F-A39D6FB83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533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8F2E5-8C9E-864E-AC6D-C227E0CA57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Database Key Components Review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D7801E-5DDD-6B45-BD99-675C4FFA36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503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C8C4A-2725-7249-80D5-9D15F0731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Entity Relationship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D453A-169A-0846-A7EE-72EA4DA900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Entity type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Collection of entities </a:t>
            </a:r>
            <a:r>
              <a:rPr lang="en-US" dirty="0"/>
              <a:t>that </a:t>
            </a:r>
            <a:r>
              <a:rPr lang="en-US" dirty="0">
                <a:solidFill>
                  <a:srgbClr val="FF0000"/>
                </a:solidFill>
              </a:rPr>
              <a:t>share common properties or characteristics</a:t>
            </a:r>
          </a:p>
          <a:p>
            <a:pPr lvl="1"/>
            <a:r>
              <a:rPr lang="en-US" dirty="0"/>
              <a:t>STUDENT, COURSE, FACULTY</a:t>
            </a:r>
          </a:p>
          <a:p>
            <a:pPr lvl="1"/>
            <a:r>
              <a:rPr lang="en-US" dirty="0"/>
              <a:t>We </a:t>
            </a:r>
            <a:r>
              <a:rPr lang="en-US" dirty="0">
                <a:solidFill>
                  <a:srgbClr val="FF0000"/>
                </a:solidFill>
              </a:rPr>
              <a:t>model Entity types in the ER model</a:t>
            </a:r>
            <a:r>
              <a:rPr lang="en-US" dirty="0"/>
              <a:t>, not entity instances</a:t>
            </a:r>
          </a:p>
          <a:p>
            <a:r>
              <a:rPr lang="en-US" dirty="0"/>
              <a:t>Relationship Type</a:t>
            </a:r>
          </a:p>
          <a:p>
            <a:pPr lvl="1"/>
            <a:r>
              <a:rPr lang="en-US" dirty="0"/>
              <a:t>A </a:t>
            </a:r>
            <a:r>
              <a:rPr lang="en-US" b="1" dirty="0"/>
              <a:t>relationship type </a:t>
            </a:r>
            <a:r>
              <a:rPr lang="en-US" dirty="0"/>
              <a:t>is a meaningful association between (or among) entity types</a:t>
            </a:r>
          </a:p>
          <a:p>
            <a:pPr lvl="1"/>
            <a:r>
              <a:rPr lang="en-US" dirty="0"/>
              <a:t>a collection of relationships that share common properties or characteristics</a:t>
            </a:r>
          </a:p>
          <a:p>
            <a:pPr lvl="1"/>
            <a:r>
              <a:rPr lang="en-US" dirty="0"/>
              <a:t>e.g., STUDENT </a:t>
            </a:r>
            <a:r>
              <a:rPr lang="en-US" dirty="0">
                <a:solidFill>
                  <a:srgbClr val="FF0000"/>
                </a:solidFill>
              </a:rPr>
              <a:t>registers for</a:t>
            </a:r>
            <a:r>
              <a:rPr lang="en-US" dirty="0"/>
              <a:t> COURSE_OFFERING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47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05CF4-690E-6C44-A77F-75D390B08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Entity Relationship Model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897FD03-EA9C-C540-BE05-81D1863C38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3050" y="1962944"/>
            <a:ext cx="6565900" cy="407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416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Cardinality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Mandatory One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Optional One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Mandatory Many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Optional Many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69159-4313-FD46-9725-2B157E85AA0E}" type="slidenum">
              <a:rPr lang="en-US" smtClean="0"/>
              <a:t>4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1079" y="1348180"/>
            <a:ext cx="1115350" cy="11513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1079" y="3331322"/>
            <a:ext cx="1115350" cy="90784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1859" y="1352598"/>
            <a:ext cx="1115350" cy="108049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1859" y="3185871"/>
            <a:ext cx="1115350" cy="114323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08925" y="4489536"/>
            <a:ext cx="11252227" cy="1737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" indent="-9144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charset="2"/>
              <a:buChar char="§"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If the minimum cardinality is zero, participation is optional; if the minimum cardinality is one, participation is mandatory</a:t>
            </a:r>
          </a:p>
          <a:p>
            <a:pPr marL="91440" indent="-9144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charset="2"/>
              <a:buChar char="§"/>
            </a:pPr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ardinality notation </a:t>
            </a:r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on</a:t>
            </a:r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both</a:t>
            </a:r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side</a:t>
            </a:r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of</a:t>
            </a:r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</a:t>
            </a:r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relationship</a:t>
            </a:r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(bidirectional)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Wingdings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7104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3989" y="2411041"/>
            <a:ext cx="6350000" cy="1587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Cardinality Constraint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607" y="1542361"/>
            <a:ext cx="11287382" cy="4638102"/>
          </a:xfrm>
        </p:spPr>
        <p:txBody>
          <a:bodyPr/>
          <a:lstStyle/>
          <a:p>
            <a:r>
              <a:rPr lang="en-US" dirty="0"/>
              <a:t>One-to-One relationship</a:t>
            </a:r>
          </a:p>
          <a:p>
            <a:r>
              <a:rPr lang="en-US" dirty="0"/>
              <a:t>Employee and Parking Space cannot exist without being associated to each other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Parking Space cannot exist without being associated to an Employee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69159-4313-FD46-9725-2B157E85AA0E}" type="slidenum">
              <a:rPr lang="en-US" smtClean="0"/>
              <a:t>5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5181" y="4643763"/>
            <a:ext cx="6350000" cy="1536700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5447839" y="3461657"/>
            <a:ext cx="24539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5494332" y="5410200"/>
            <a:ext cx="24539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720942" y="3461657"/>
            <a:ext cx="76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9797142" y="5410200"/>
            <a:ext cx="76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10668000" y="3091543"/>
            <a:ext cx="119741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10744198" y="5029200"/>
            <a:ext cx="119741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7482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Cardinality Constraint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One-to-Many relationship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One</a:t>
            </a:r>
            <a:r>
              <a:rPr lang="en-US" dirty="0"/>
              <a:t> patient can have </a:t>
            </a:r>
            <a:r>
              <a:rPr lang="en-US" dirty="0">
                <a:solidFill>
                  <a:srgbClr val="FF0000"/>
                </a:solidFill>
              </a:rPr>
              <a:t>many</a:t>
            </a:r>
            <a:r>
              <a:rPr lang="en-US" dirty="0"/>
              <a:t> patient history records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One</a:t>
            </a:r>
            <a:r>
              <a:rPr lang="en-US" dirty="0"/>
              <a:t> patient history record belongs to </a:t>
            </a:r>
            <a:r>
              <a:rPr lang="en-US" dirty="0">
                <a:solidFill>
                  <a:srgbClr val="FF0000"/>
                </a:solidFill>
              </a:rPr>
              <a:t>one</a:t>
            </a:r>
            <a:r>
              <a:rPr lang="en-US" dirty="0"/>
              <a:t> patient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We also say in the above diagram that as soon as we keep a record for a patient, we also fill in a corresponding patient history record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69159-4313-FD46-9725-2B157E85AA0E}" type="slidenum">
              <a:rPr lang="en-US" smtClean="0"/>
              <a:t>6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6758" y="3090110"/>
            <a:ext cx="8013700" cy="195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224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Cardinality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Many-to-Many relationship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One</a:t>
            </a:r>
            <a:r>
              <a:rPr lang="en-US" dirty="0"/>
              <a:t> employee can be assigned to </a:t>
            </a:r>
            <a:r>
              <a:rPr lang="en-US" dirty="0">
                <a:solidFill>
                  <a:srgbClr val="FF0000"/>
                </a:solidFill>
              </a:rPr>
              <a:t>many</a:t>
            </a:r>
            <a:r>
              <a:rPr lang="en-US" dirty="0"/>
              <a:t> projects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One</a:t>
            </a:r>
            <a:r>
              <a:rPr lang="en-US" dirty="0"/>
              <a:t> project can have </a:t>
            </a:r>
            <a:r>
              <a:rPr lang="en-US" dirty="0">
                <a:solidFill>
                  <a:srgbClr val="FF0000"/>
                </a:solidFill>
              </a:rPr>
              <a:t>many</a:t>
            </a:r>
            <a:r>
              <a:rPr lang="en-US" dirty="0"/>
              <a:t> employees assigned to it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Here, each project MUST have at least one employee assigned to it</a:t>
            </a:r>
          </a:p>
          <a:p>
            <a:pPr lvl="1"/>
            <a:r>
              <a:rPr lang="en-US" dirty="0"/>
              <a:t>An employee may or (optionally) may not be assigned any project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69159-4313-FD46-9725-2B157E85AA0E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4327" y="2888197"/>
            <a:ext cx="7145102" cy="2260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0561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EB346-98F8-C64C-809C-40BC57F7E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Keys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0CD93-F112-5A46-A221-08E20C191D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Primary Key</a:t>
            </a:r>
          </a:p>
          <a:p>
            <a:pPr lvl="1"/>
            <a:r>
              <a:rPr lang="en-US" sz="3200" dirty="0"/>
              <a:t>Attribute or a combination of attributes that uniquely identifies each row in a relation </a:t>
            </a:r>
          </a:p>
          <a:p>
            <a:pPr lvl="1"/>
            <a:r>
              <a:rPr lang="en-US" sz="3200" dirty="0"/>
              <a:t>Allows efficient retrieval of a row of data from a relation </a:t>
            </a:r>
          </a:p>
          <a:p>
            <a:pPr lvl="1"/>
            <a:r>
              <a:rPr lang="en-US" sz="3200" dirty="0"/>
              <a:t>Designated by underlining the attribute name(s) </a:t>
            </a:r>
          </a:p>
          <a:p>
            <a:pPr lvl="2"/>
            <a:r>
              <a:rPr lang="en-US" sz="2800" dirty="0"/>
              <a:t>EMPLOYEE1(</a:t>
            </a:r>
            <a:r>
              <a:rPr lang="en-US" sz="2800" u="sng" dirty="0" err="1"/>
              <a:t>EmpID</a:t>
            </a:r>
            <a:r>
              <a:rPr lang="en-US" sz="2800" dirty="0"/>
              <a:t>, Name, </a:t>
            </a:r>
            <a:r>
              <a:rPr lang="en-US" sz="2800" dirty="0" err="1"/>
              <a:t>DeptName</a:t>
            </a:r>
            <a:r>
              <a:rPr lang="en-US" sz="2800" dirty="0"/>
              <a:t>, Salary)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5085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Keys </a:t>
            </a:r>
            <a:endParaRPr lang="en-US" dirty="0"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Composite key</a:t>
            </a:r>
          </a:p>
          <a:p>
            <a:pPr lvl="1"/>
            <a:r>
              <a:rPr lang="en-US" dirty="0"/>
              <a:t>Primary key that consists of more than one attribute </a:t>
            </a:r>
          </a:p>
          <a:p>
            <a:pPr lvl="2"/>
            <a:r>
              <a:rPr lang="en-US" dirty="0"/>
              <a:t>DEPENDENT(</a:t>
            </a:r>
            <a:r>
              <a:rPr lang="en-US" u="sng" dirty="0" err="1"/>
              <a:t>EmpID</a:t>
            </a:r>
            <a:r>
              <a:rPr lang="en-US" u="sng" dirty="0"/>
              <a:t>, </a:t>
            </a:r>
            <a:r>
              <a:rPr lang="en-US" u="sng" dirty="0" err="1"/>
              <a:t>DependentName</a:t>
            </a:r>
            <a:r>
              <a:rPr lang="en-US" dirty="0"/>
              <a:t>, </a:t>
            </a:r>
            <a:r>
              <a:rPr lang="en-US" dirty="0" err="1"/>
              <a:t>DependentAge</a:t>
            </a:r>
            <a:r>
              <a:rPr lang="en-US" dirty="0"/>
              <a:t>) </a:t>
            </a:r>
          </a:p>
          <a:p>
            <a:r>
              <a:rPr lang="en-US" dirty="0"/>
              <a:t>Foreign Key </a:t>
            </a:r>
            <a:r>
              <a:rPr lang="en-US" altLang="zh-Hans" dirty="0"/>
              <a:t>(Non-unique</a:t>
            </a:r>
            <a:r>
              <a:rPr lang="zh-Hans" altLang="en-US" dirty="0"/>
              <a:t> </a:t>
            </a:r>
            <a:r>
              <a:rPr lang="en-US" altLang="zh-Hans" dirty="0"/>
              <a:t>key)</a:t>
            </a:r>
            <a:endParaRPr lang="en-US" dirty="0"/>
          </a:p>
          <a:p>
            <a:pPr lvl="1"/>
            <a:r>
              <a:rPr lang="en-US" dirty="0"/>
              <a:t>Used to represent relationships between two table or relations </a:t>
            </a:r>
          </a:p>
          <a:p>
            <a:pPr lvl="1"/>
            <a:r>
              <a:rPr lang="en-US" dirty="0"/>
              <a:t>Attribute (possibly composite) in a relation that serves as the primary key of another relation</a:t>
            </a:r>
            <a:br>
              <a:rPr lang="en-US" dirty="0"/>
            </a:br>
            <a:r>
              <a:rPr lang="en-US" dirty="0"/>
              <a:t>	 </a:t>
            </a:r>
            <a:endParaRPr lang="en-US" dirty="0">
              <a:effectLst/>
            </a:endParaRPr>
          </a:p>
          <a:p>
            <a:pPr lvl="1"/>
            <a:endParaRPr lang="en-US" dirty="0">
              <a:effectLst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69159-4313-FD46-9725-2B157E85AA0E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3960" y="4759921"/>
            <a:ext cx="7311253" cy="904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6294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Integrity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Rules limiting acceptable values and actions, to facilitate maintaining the accuracy and integrity of data. </a:t>
            </a:r>
          </a:p>
          <a:p>
            <a:pPr lvl="1"/>
            <a:r>
              <a:rPr lang="en-US" sz="3200" dirty="0"/>
              <a:t>Domain Constraints </a:t>
            </a:r>
          </a:p>
          <a:p>
            <a:pPr lvl="1"/>
            <a:r>
              <a:rPr lang="en-US" sz="3200" dirty="0"/>
              <a:t>Entity Integrity </a:t>
            </a:r>
          </a:p>
          <a:p>
            <a:pPr lvl="1"/>
            <a:r>
              <a:rPr lang="en-US" sz="3200" dirty="0"/>
              <a:t>Referential Integrity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69159-4313-FD46-9725-2B157E85AA0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6599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Domain Constraints </a:t>
            </a:r>
            <a:endParaRPr lang="en-US" dirty="0"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Values that appear in a column of a relation must be from the same domain. </a:t>
            </a:r>
          </a:p>
          <a:p>
            <a:r>
              <a:rPr lang="en-US" sz="3600" dirty="0"/>
              <a:t>Domain </a:t>
            </a:r>
          </a:p>
          <a:p>
            <a:pPr lvl="1"/>
            <a:r>
              <a:rPr lang="en-US" sz="3200" dirty="0"/>
              <a:t>Set of values that may be assigned to an attribute. </a:t>
            </a:r>
          </a:p>
          <a:p>
            <a:pPr lvl="1"/>
            <a:r>
              <a:rPr lang="en-US" sz="3200" dirty="0"/>
              <a:t>Consists of domain name, meaning, data type, size (or length), and allowable values or allowable range </a:t>
            </a:r>
            <a:endParaRPr lang="en-US" sz="3200" dirty="0">
              <a:effectLst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69159-4313-FD46-9725-2B157E85AA0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7753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Domain Constraints </a:t>
            </a:r>
            <a:endParaRPr lang="en-US" dirty="0">
              <a:effectLst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69159-4313-FD46-9725-2B157E85AA0E}" type="slidenum">
              <a:rPr lang="en-US" smtClean="0"/>
              <a:t>12</a:t>
            </a:fld>
            <a:endParaRPr lang="en-US"/>
          </a:p>
        </p:txBody>
      </p:sp>
      <p:pic>
        <p:nvPicPr>
          <p:cNvPr id="1025" name="Picture 1" descr="age17image803705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7822" y="1344915"/>
            <a:ext cx="9429007" cy="4966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38847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Entity Integrity Constraint </a:t>
            </a:r>
            <a:endParaRPr lang="en-US" dirty="0"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65662"/>
          </a:xfrm>
        </p:spPr>
        <p:txBody>
          <a:bodyPr>
            <a:noAutofit/>
          </a:bodyPr>
          <a:lstStyle/>
          <a:p>
            <a:r>
              <a:rPr lang="en-US" sz="3200" dirty="0"/>
              <a:t>A rule that states that no primary key attribute (or component of a primary key attribute) may be null</a:t>
            </a:r>
          </a:p>
          <a:p>
            <a:pPr lvl="1"/>
            <a:r>
              <a:rPr lang="en-US" sz="2800" dirty="0"/>
              <a:t>Ensure that every relation has a primary key </a:t>
            </a:r>
          </a:p>
          <a:p>
            <a:pPr lvl="1"/>
            <a:r>
              <a:rPr lang="en-US" sz="2800" dirty="0"/>
              <a:t>Data values for that primary key are all valid </a:t>
            </a:r>
          </a:p>
          <a:p>
            <a:pPr lvl="2"/>
            <a:r>
              <a:rPr lang="en-US" sz="2800" dirty="0"/>
              <a:t>In particular, it guarantees that every primary key attribute is non-null </a:t>
            </a:r>
          </a:p>
          <a:p>
            <a:pPr lvl="3"/>
            <a:r>
              <a:rPr lang="en-US" sz="2400" dirty="0"/>
              <a:t>Null is </a:t>
            </a:r>
            <a:r>
              <a:rPr lang="en-US" altLang="zh-CN" sz="2400" dirty="0"/>
              <a:t>a</a:t>
            </a:r>
            <a:r>
              <a:rPr lang="en-US" sz="2400" dirty="0"/>
              <a:t> value that may be assigned to an attribute when no other value applies or when the applicable value is unknown. </a:t>
            </a:r>
          </a:p>
          <a:p>
            <a:pPr lvl="3"/>
            <a:r>
              <a:rPr lang="en-US" sz="2400" dirty="0"/>
              <a:t>We cannot compare two null values</a:t>
            </a:r>
          </a:p>
          <a:p>
            <a:pPr lvl="3"/>
            <a:r>
              <a:rPr lang="en-US" sz="2400" dirty="0"/>
              <a:t>Null is NOT the same as an empty string or zero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69159-4313-FD46-9725-2B157E85AA0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7454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Referential Integrity Constraint 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96606" y="1577361"/>
            <a:ext cx="11391441" cy="4638102"/>
          </a:xfrm>
        </p:spPr>
        <p:txBody>
          <a:bodyPr/>
          <a:lstStyle/>
          <a:p>
            <a:r>
              <a:rPr lang="en-US" dirty="0"/>
              <a:t>If there is a foreign key in one relation, either each foreign key value must </a:t>
            </a:r>
            <a:r>
              <a:rPr lang="en-US" dirty="0">
                <a:solidFill>
                  <a:srgbClr val="FF0000"/>
                </a:solidFill>
              </a:rPr>
              <a:t>match</a:t>
            </a:r>
            <a:r>
              <a:rPr lang="en-US" dirty="0"/>
              <a:t> a primary key value in another relation or the foreign key value must </a:t>
            </a:r>
            <a:r>
              <a:rPr lang="en-US" dirty="0">
                <a:solidFill>
                  <a:srgbClr val="FF0000"/>
                </a:solidFill>
              </a:rPr>
              <a:t>be null </a:t>
            </a:r>
          </a:p>
          <a:p>
            <a:r>
              <a:rPr lang="en-US" dirty="0"/>
              <a:t>Represented by an arrow from foreign key towards associated primary key 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69159-4313-FD46-9725-2B157E85AA0E}" type="slidenum">
              <a:rPr lang="en-US" smtClean="0"/>
              <a:t>14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417" y="3653220"/>
            <a:ext cx="11093730" cy="1995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1289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Referential Integrity Constraint </a:t>
            </a:r>
            <a:endParaRPr lang="en-US" dirty="0"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Null Foreign Keys</a:t>
            </a:r>
          </a:p>
          <a:p>
            <a:pPr lvl="1"/>
            <a:r>
              <a:rPr lang="en-US" sz="3200" dirty="0"/>
              <a:t>Mandatory associations between two tables cannot allow null foreign keys </a:t>
            </a:r>
          </a:p>
          <a:p>
            <a:pPr lvl="1"/>
            <a:r>
              <a:rPr lang="en-US" sz="3200" dirty="0"/>
              <a:t>For example, if we want to enforce that each Order needs to be associated to a Customer, then, the </a:t>
            </a:r>
            <a:r>
              <a:rPr lang="en-US" sz="3200" dirty="0" err="1"/>
              <a:t>CustomerID</a:t>
            </a:r>
            <a:r>
              <a:rPr lang="en-US" sz="3200" dirty="0"/>
              <a:t> in ORDER cannot be null </a:t>
            </a:r>
          </a:p>
          <a:p>
            <a:pPr lvl="2"/>
            <a:r>
              <a:rPr lang="en-US" sz="2800" dirty="0"/>
              <a:t>Null/non-null constraint can be defined in database implementation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69159-4313-FD46-9725-2B157E85AA0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983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Referential Integrity Constraint </a:t>
            </a:r>
            <a:endParaRPr lang="en-US" dirty="0"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Deleting Records in the “master” table</a:t>
            </a:r>
          </a:p>
          <a:p>
            <a:pPr lvl="1"/>
            <a:r>
              <a:rPr lang="en-US" sz="2800" dirty="0"/>
              <a:t>Different rules can apply when deleting a record from the master table that has an associated record </a:t>
            </a:r>
          </a:p>
          <a:p>
            <a:pPr lvl="1"/>
            <a:r>
              <a:rPr lang="en-US" sz="2800" dirty="0"/>
              <a:t>Consider what should happen if we delete a record from Customer table who already has an order in the Order table </a:t>
            </a:r>
          </a:p>
          <a:p>
            <a:pPr lvl="2"/>
            <a:r>
              <a:rPr lang="en-US" sz="2400" dirty="0"/>
              <a:t>Should we prevent the deletion of such a record until the order details has been deleted first </a:t>
            </a:r>
          </a:p>
          <a:p>
            <a:pPr lvl="2"/>
            <a:r>
              <a:rPr lang="en-US" sz="2400" dirty="0"/>
              <a:t>Should we allow deletion of the customer and cascade the deletion of the order </a:t>
            </a:r>
          </a:p>
          <a:p>
            <a:pPr lvl="2"/>
            <a:r>
              <a:rPr lang="en-US" sz="2400" dirty="0"/>
              <a:t>Should we allow deletion of the customer and set the </a:t>
            </a:r>
            <a:r>
              <a:rPr lang="en-US" sz="2400" dirty="0" err="1"/>
              <a:t>CustomerID</a:t>
            </a:r>
            <a:r>
              <a:rPr lang="en-US" sz="2400" dirty="0"/>
              <a:t> in the Order table to null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69159-4313-FD46-9725-2B157E85AA0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6793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542361"/>
            <a:ext cx="10515600" cy="4638102"/>
          </a:xfrm>
        </p:spPr>
        <p:txBody>
          <a:bodyPr>
            <a:normAutofit/>
          </a:bodyPr>
          <a:lstStyle/>
          <a:p>
            <a:r>
              <a:rPr lang="en-US" altLang="zh-Hans" dirty="0"/>
              <a:t>Normalization:</a:t>
            </a:r>
            <a:r>
              <a:rPr lang="zh-Hans" altLang="en-US" dirty="0"/>
              <a:t> </a:t>
            </a:r>
            <a:r>
              <a:rPr lang="en-US" dirty="0"/>
              <a:t>The process of decomposing</a:t>
            </a:r>
            <a:r>
              <a:rPr lang="zh-Hans" altLang="en-US" dirty="0"/>
              <a:t> </a:t>
            </a:r>
            <a:r>
              <a:rPr lang="en-US" dirty="0"/>
              <a:t>relations with anomalies to produce</a:t>
            </a:r>
            <a:r>
              <a:rPr lang="zh-Hans" altLang="en-US" dirty="0"/>
              <a:t> </a:t>
            </a:r>
            <a:r>
              <a:rPr lang="en-US" dirty="0"/>
              <a:t>smaller, well-structured relations;</a:t>
            </a:r>
          </a:p>
          <a:p>
            <a:r>
              <a:rPr lang="en-US" dirty="0"/>
              <a:t>A denormalized table: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Management Systems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69159-4313-FD46-9725-2B157E85AA0E}" type="slidenum">
              <a:rPr lang="en-US" smtClean="0"/>
              <a:t>17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08117C-6423-1947-9AB1-DAB652D632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406" y="2985139"/>
            <a:ext cx="11691188" cy="3553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7997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89227-D4E9-7B48-8902-DA2DEF66D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After the Normalization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30CBAF-651A-6D4D-8B67-D55976800A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329" y="1957809"/>
            <a:ext cx="6350000" cy="1828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93AB04-9C95-E94E-9AFD-34EB617C49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8491" y="3932524"/>
            <a:ext cx="4686300" cy="2387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FB4A1E-AB1F-CF4D-BA15-DE212B4F7221}"/>
              </a:ext>
            </a:extLst>
          </p:cNvPr>
          <p:cNvSpPr txBox="1"/>
          <p:nvPr/>
        </p:nvSpPr>
        <p:spPr>
          <a:xfrm>
            <a:off x="838200" y="4864050"/>
            <a:ext cx="5233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ans" sz="2400" i="1" dirty="0">
                <a:solidFill>
                  <a:srgbClr val="FF0000"/>
                </a:solidFill>
              </a:rPr>
              <a:t>Usually,</a:t>
            </a:r>
            <a:r>
              <a:rPr lang="zh-Hans" altLang="en-US" sz="2400" i="1" dirty="0">
                <a:solidFill>
                  <a:srgbClr val="FF0000"/>
                </a:solidFill>
              </a:rPr>
              <a:t> </a:t>
            </a:r>
            <a:r>
              <a:rPr lang="en-US" altLang="zh-Hans" sz="2400" i="1" dirty="0">
                <a:solidFill>
                  <a:srgbClr val="FF0000"/>
                </a:solidFill>
              </a:rPr>
              <a:t>a</a:t>
            </a:r>
            <a:r>
              <a:rPr lang="zh-Hans" altLang="en-US" sz="2400" i="1" dirty="0">
                <a:solidFill>
                  <a:srgbClr val="FF0000"/>
                </a:solidFill>
              </a:rPr>
              <a:t> </a:t>
            </a:r>
            <a:r>
              <a:rPr lang="en-US" altLang="zh-Hans" sz="2400" i="1" dirty="0">
                <a:solidFill>
                  <a:srgbClr val="FF0000"/>
                </a:solidFill>
              </a:rPr>
              <a:t>normalized</a:t>
            </a:r>
            <a:r>
              <a:rPr lang="zh-Hans" altLang="en-US" sz="2400" i="1" dirty="0">
                <a:solidFill>
                  <a:srgbClr val="FF0000"/>
                </a:solidFill>
              </a:rPr>
              <a:t> </a:t>
            </a:r>
            <a:r>
              <a:rPr lang="en-US" altLang="zh-Hans" sz="2400" i="1" dirty="0">
                <a:solidFill>
                  <a:srgbClr val="FF0000"/>
                </a:solidFill>
              </a:rPr>
              <a:t>table</a:t>
            </a:r>
            <a:r>
              <a:rPr lang="zh-Hans" altLang="en-US" sz="2400" i="1" dirty="0">
                <a:solidFill>
                  <a:srgbClr val="FF0000"/>
                </a:solidFill>
              </a:rPr>
              <a:t> </a:t>
            </a:r>
            <a:r>
              <a:rPr lang="en-US" altLang="zh-Hans" sz="2400" i="1" dirty="0">
                <a:solidFill>
                  <a:srgbClr val="FF0000"/>
                </a:solidFill>
              </a:rPr>
              <a:t>contains</a:t>
            </a:r>
            <a:r>
              <a:rPr lang="zh-Hans" altLang="en-US" sz="2400" i="1" dirty="0">
                <a:solidFill>
                  <a:srgbClr val="FF0000"/>
                </a:solidFill>
              </a:rPr>
              <a:t> </a:t>
            </a:r>
            <a:r>
              <a:rPr lang="en-US" altLang="zh-Hans" sz="2400" i="1" dirty="0">
                <a:solidFill>
                  <a:srgbClr val="FF0000"/>
                </a:solidFill>
              </a:rPr>
              <a:t>only</a:t>
            </a:r>
            <a:r>
              <a:rPr lang="zh-Hans" altLang="en-US" sz="2400" i="1" dirty="0">
                <a:solidFill>
                  <a:srgbClr val="FF0000"/>
                </a:solidFill>
              </a:rPr>
              <a:t> </a:t>
            </a:r>
            <a:r>
              <a:rPr lang="en-US" altLang="zh-Hans" sz="2400" i="1" dirty="0">
                <a:solidFill>
                  <a:srgbClr val="FF0000"/>
                </a:solidFill>
              </a:rPr>
              <a:t>one</a:t>
            </a:r>
            <a:r>
              <a:rPr lang="zh-Hans" altLang="en-US" sz="2400" i="1" dirty="0">
                <a:solidFill>
                  <a:srgbClr val="FF0000"/>
                </a:solidFill>
              </a:rPr>
              <a:t> </a:t>
            </a:r>
            <a:r>
              <a:rPr lang="en-US" altLang="zh-Hans" sz="2400" i="1" dirty="0">
                <a:solidFill>
                  <a:srgbClr val="FF0000"/>
                </a:solidFill>
              </a:rPr>
              <a:t>business</a:t>
            </a:r>
            <a:r>
              <a:rPr lang="zh-Hans" altLang="en-US" sz="2400" i="1" dirty="0">
                <a:solidFill>
                  <a:srgbClr val="FF0000"/>
                </a:solidFill>
              </a:rPr>
              <a:t> </a:t>
            </a:r>
            <a:r>
              <a:rPr lang="en-US" altLang="zh-Hans" sz="2400" i="1" dirty="0">
                <a:solidFill>
                  <a:srgbClr val="FF0000"/>
                </a:solidFill>
              </a:rPr>
              <a:t>object</a:t>
            </a:r>
            <a:endParaRPr lang="en-US" sz="2400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84463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</TotalTime>
  <Words>809</Words>
  <Application>Microsoft Macintosh PowerPoint</Application>
  <PresentationFormat>Widescreen</PresentationFormat>
  <Paragraphs>127</Paragraphs>
  <Slides>18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Wingdings</vt:lpstr>
      <vt:lpstr>Office Theme</vt:lpstr>
      <vt:lpstr>Database Key Components Review</vt:lpstr>
      <vt:lpstr>Entity Relationship Model</vt:lpstr>
      <vt:lpstr>Entity Relationship Model</vt:lpstr>
      <vt:lpstr>Cardinality Constraints</vt:lpstr>
      <vt:lpstr>Cardinality Constraint</vt:lpstr>
      <vt:lpstr>Cardinality Constraint</vt:lpstr>
      <vt:lpstr>Cardinality Constraints</vt:lpstr>
      <vt:lpstr>Relational Keys </vt:lpstr>
      <vt:lpstr>Relational Keys </vt:lpstr>
      <vt:lpstr>Integrity Constraints</vt:lpstr>
      <vt:lpstr>Domain Constraints </vt:lpstr>
      <vt:lpstr>Domain Constraints </vt:lpstr>
      <vt:lpstr>Entity Integrity Constraint </vt:lpstr>
      <vt:lpstr>Referential Integrity Constraint </vt:lpstr>
      <vt:lpstr>Referential Integrity Constraint </vt:lpstr>
      <vt:lpstr>Referential Integrity Constraint </vt:lpstr>
      <vt:lpstr>Normalization</vt:lpstr>
      <vt:lpstr>After the Normalization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Key Components Review</dc:title>
  <dc:creator>Microsoft Office User</dc:creator>
  <cp:lastModifiedBy>Microsoft Office User</cp:lastModifiedBy>
  <cp:revision>11</cp:revision>
  <dcterms:created xsi:type="dcterms:W3CDTF">2020-08-10T23:43:18Z</dcterms:created>
  <dcterms:modified xsi:type="dcterms:W3CDTF">2020-08-11T03:16:02Z</dcterms:modified>
</cp:coreProperties>
</file>