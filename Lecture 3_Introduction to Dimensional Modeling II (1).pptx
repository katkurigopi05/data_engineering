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0" r:id="rId3"/>
    <p:sldId id="301" r:id="rId4"/>
    <p:sldId id="302" r:id="rId5"/>
    <p:sldId id="303" r:id="rId6"/>
    <p:sldId id="304" r:id="rId7"/>
    <p:sldId id="328" r:id="rId8"/>
    <p:sldId id="329" r:id="rId9"/>
    <p:sldId id="282" r:id="rId10"/>
    <p:sldId id="298" r:id="rId11"/>
    <p:sldId id="332" r:id="rId12"/>
    <p:sldId id="283" r:id="rId13"/>
    <p:sldId id="299" r:id="rId14"/>
    <p:sldId id="305" r:id="rId15"/>
    <p:sldId id="266" r:id="rId16"/>
    <p:sldId id="306" r:id="rId17"/>
    <p:sldId id="307" r:id="rId18"/>
    <p:sldId id="308" r:id="rId19"/>
    <p:sldId id="311" r:id="rId20"/>
    <p:sldId id="312" r:id="rId21"/>
    <p:sldId id="313" r:id="rId22"/>
    <p:sldId id="309" r:id="rId23"/>
    <p:sldId id="310" r:id="rId24"/>
    <p:sldId id="320" r:id="rId25"/>
    <p:sldId id="323" r:id="rId26"/>
    <p:sldId id="322" r:id="rId27"/>
    <p:sldId id="324" r:id="rId28"/>
    <p:sldId id="330" r:id="rId29"/>
    <p:sldId id="314" r:id="rId30"/>
    <p:sldId id="315" r:id="rId31"/>
    <p:sldId id="317" r:id="rId32"/>
    <p:sldId id="316" r:id="rId33"/>
    <p:sldId id="325" r:id="rId34"/>
    <p:sldId id="326" r:id="rId35"/>
    <p:sldId id="318" r:id="rId36"/>
    <p:sldId id="327" r:id="rId37"/>
    <p:sldId id="319" r:id="rId38"/>
    <p:sldId id="32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4DDB-7AD7-9044-843D-7419217FB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B8949-4A1E-2040-B7C4-C48CFD671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1434B-60E7-5C41-8006-5C392CF6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EB48C-8E61-B84C-92CA-464F6C00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77085-6271-234E-9928-901BD967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5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226F-1B92-8D49-B5CE-D97CDDC8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6A0A4-DEE6-664F-A144-1FAA8075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47FFB-643F-A34A-9D9F-6A0D0F9F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FDADC-BE25-C341-AE6A-800A42F1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C5BC-8137-7A48-AB98-4D5C17E5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73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EA21-89B3-3C48-99DC-D175A479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FFBC-C9C5-F545-AFEE-2BF43070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AC66E-3F84-4140-9BAF-3DCAF3CE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2D6-0DF0-E34E-AAC3-648525E7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49F4-AFCC-E249-B449-E50F83CC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7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1A01-15AB-AB46-AED4-B8EC4CDD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8DC4-EA03-614C-8F03-9F6EBE2C1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1E9B1-20CE-6641-8FC5-BC8905012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7089B-3F1C-EA48-8A0C-6A5A853C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46F30-A4F8-6F4F-8CF0-6CFB5D3F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E526C-130D-8C47-95FE-CAABD754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4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4826-84C7-8C46-880A-6C798C22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06F4E-9DCC-4A47-81CB-8CFE83548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DE87D-4021-274A-B9B8-E14DB5837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99F14-D6D5-6949-B57F-7C8B3DB7C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0CFD6-5CA8-5244-B81A-8C7EEF048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103FD6-6EC9-6740-A4FE-829FD531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1B2D0-999D-8945-B8FA-C2CB56AD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77DA9-1DB6-0D49-BC9C-72F85411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5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172C-41CB-0B40-BAC1-201C26BD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03AB4-8429-0145-BD67-E070A42B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5E219-59AA-754D-8C54-497FFF75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52BFC-02BB-5C47-A871-81FE36DD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6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01375-BFA5-B643-BC85-CD4E3FE5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967E3-690C-DF43-BF2C-2AAFFCD5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08C6D-461B-4B4A-AF21-D597911B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7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C88C-0771-544F-ACD7-77ADDA35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DEE6D-BF2A-6244-9F15-04B0FDA78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786F2-2A37-8349-8E00-199712FA4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C8BC8-FD38-9D45-80B0-364C18B3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257C5-F108-C946-B710-08F4E4EF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BF589-F56B-C048-8221-B74C4C79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6F48-DFD3-3C43-9826-6CA894EF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688EC1-FDD2-5E4D-8547-1B996AA77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3E9DB-3644-DA45-AFC6-BE4CCD3EE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597D1-1244-9140-BC21-F2EBEFB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D099B-0FA6-A547-97B1-196ACF53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A8A83-3CA2-E543-BD56-5B488D79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2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D1B5-A337-F045-BDFA-E0108586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A2202-4AB2-AD47-BD20-AD8E0966E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C23B9-F068-4A47-95E6-87FDB5C1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F835F-6EA1-254C-896D-29018B7A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27E8-2342-9B4B-9FCC-196CC423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5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FEC46B-3A94-A345-81AA-0A09A51D2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A26BD-AF3B-2B4A-A229-B56CC96D7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D90C7-E9B2-A843-AF1D-AFF20079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C39EE-AE02-5141-98DA-F48FF50D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0DCC-84EC-5A45-9DE5-017033B3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4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FA0C1-C5B9-6649-879A-BD82B470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9BE48-6EA4-3444-81BD-082F7B4A1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4B45-56BF-C542-835B-8D9D3E200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66F8-987C-BE41-9F77-E45A71A55187}" type="datetimeFigureOut">
              <a:rPr lang="en-US" smtClean="0"/>
              <a:t>1/31/23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F01C9-D2DA-B34A-8985-D46A054A1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27578-6F00-7240-9C68-CCC094AC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DADB7-6F13-934E-9B8B-B6D82E4D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0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7126-1585-5C46-805E-27E7F7C11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Dimensional Modeling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2054D-3A6E-F846-B35B-E3AD43657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3 and Chapter 4</a:t>
            </a:r>
          </a:p>
        </p:txBody>
      </p:sp>
    </p:spTree>
    <p:extLst>
      <p:ext uri="{BB962C8B-B14F-4D97-AF65-F5344CB8AC3E}">
        <p14:creationId xmlns:p14="http://schemas.microsoft.com/office/powerpoint/2010/main" val="138796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862F-BCA1-6C41-9098-D50D919A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and Fact Table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C4FF-4F9A-C044-92DF-629D6CF67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Dimension Table Surrogate Keys</a:t>
            </a:r>
          </a:p>
          <a:p>
            <a:pPr lvl="1"/>
            <a:r>
              <a:rPr lang="en-US" dirty="0"/>
              <a:t>Unique primary key of a dimension table (meaningless keys, integer keys, non-natural keys, artificial keys, and synthetic keys);</a:t>
            </a:r>
          </a:p>
          <a:p>
            <a:pPr lvl="1"/>
            <a:r>
              <a:rPr lang="en-US" dirty="0"/>
              <a:t>Simply integers that are assigned sequentially as needed to populate a dimension;</a:t>
            </a:r>
          </a:p>
          <a:p>
            <a:pPr lvl="1"/>
            <a:r>
              <a:rPr lang="en-US" dirty="0"/>
              <a:t>Denoted as PK in the table;</a:t>
            </a:r>
          </a:p>
          <a:p>
            <a:pPr lvl="1"/>
            <a:r>
              <a:rPr lang="en-US" dirty="0"/>
              <a:t>Used for Joins between dimension and fact tables in the data warehouse;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What is the difference between dimension table and fact table? - Quora">
            <a:extLst>
              <a:ext uri="{FF2B5EF4-FFF2-40B4-BE49-F238E27FC236}">
                <a16:creationId xmlns:a16="http://schemas.microsoft.com/office/drawing/2014/main" id="{56336D1C-5700-A24C-9667-014730BF1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655" y="1690688"/>
            <a:ext cx="3654520" cy="237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rrogate Key - an overview | ScienceDirect Topics">
            <a:extLst>
              <a:ext uri="{FF2B5EF4-FFF2-40B4-BE49-F238E27FC236}">
                <a16:creationId xmlns:a16="http://schemas.microsoft.com/office/drawing/2014/main" id="{86A5774D-93DF-5549-AE78-2E504D3D7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468" y="4194174"/>
            <a:ext cx="2884655" cy="2384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8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F97B-1AC3-2D43-B8B2-4925DD99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and Fact Table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7A688-D020-544C-ADD0-55C943EF8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Advantages of using Surrogate Keys as PK:</a:t>
            </a:r>
          </a:p>
          <a:p>
            <a:pPr lvl="1"/>
            <a:r>
              <a:rPr lang="en-US" sz="2800" dirty="0"/>
              <a:t>1. Buffer the data warehouse from operational changes. </a:t>
            </a:r>
          </a:p>
          <a:p>
            <a:pPr lvl="1"/>
            <a:r>
              <a:rPr lang="en-US" sz="2800" dirty="0"/>
              <a:t>2. Integrate multiple source systems. </a:t>
            </a:r>
          </a:p>
          <a:p>
            <a:pPr lvl="1"/>
            <a:r>
              <a:rPr lang="en-US" sz="2800" dirty="0"/>
              <a:t>3. Improve performance. </a:t>
            </a:r>
          </a:p>
          <a:p>
            <a:pPr lvl="1"/>
            <a:r>
              <a:rPr lang="en-US" sz="2800" dirty="0"/>
              <a:t>4. Handle null or unknown conditions. </a:t>
            </a:r>
          </a:p>
          <a:p>
            <a:pPr lvl="1"/>
            <a:r>
              <a:rPr lang="en-US" sz="2800" dirty="0"/>
              <a:t>5. Support dimension attribute change tracking.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1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B979-0944-3C45-884B-99A378AB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and Fact Table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4CD1F-F176-1744-B0C6-8BC16613B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74" y="1806118"/>
            <a:ext cx="6515911" cy="4351338"/>
          </a:xfrm>
        </p:spPr>
        <p:txBody>
          <a:bodyPr>
            <a:normAutofit/>
          </a:bodyPr>
          <a:lstStyle/>
          <a:p>
            <a:r>
              <a:rPr lang="en-US" dirty="0"/>
              <a:t>Dimension Natural Keys </a:t>
            </a:r>
            <a:endParaRPr lang="en-US" dirty="0">
              <a:effectLst/>
            </a:endParaRPr>
          </a:p>
          <a:p>
            <a:pPr lvl="1"/>
            <a:r>
              <a:rPr lang="en-US" dirty="0"/>
              <a:t>Assigned and used by operational source systems;</a:t>
            </a:r>
          </a:p>
          <a:p>
            <a:pPr lvl="1"/>
            <a:r>
              <a:rPr lang="en-US" dirty="0"/>
              <a:t>Handled as a dimension attribute/attributes</a:t>
            </a:r>
          </a:p>
          <a:p>
            <a:pPr lvl="1"/>
            <a:r>
              <a:rPr lang="en-US" dirty="0"/>
              <a:t>Business keys, production keys, and operational keys;</a:t>
            </a:r>
          </a:p>
          <a:p>
            <a:pPr lvl="1"/>
            <a:r>
              <a:rPr lang="en-US" dirty="0">
                <a:effectLst/>
              </a:rPr>
              <a:t>Denoted as NK;</a:t>
            </a:r>
          </a:p>
          <a:p>
            <a:pPr lvl="1"/>
            <a:r>
              <a:rPr lang="en-US" dirty="0"/>
              <a:t>If the natural key comes from multiple sources: character data type that prepends a source code, such as SAP|43251 or CRM|6539152 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  <p:pic>
        <p:nvPicPr>
          <p:cNvPr id="2050" name="Picture 2" descr="10 SQL Server Data Warehouse Design Best Practices to Follow (Part ...">
            <a:extLst>
              <a:ext uri="{FF2B5EF4-FFF2-40B4-BE49-F238E27FC236}">
                <a16:creationId xmlns:a16="http://schemas.microsoft.com/office/drawing/2014/main" id="{99A54137-B272-3E43-9A5D-6886D7DE2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930" y="3065177"/>
            <a:ext cx="4800806" cy="183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31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093E-6029-3846-9113-3B2799E0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and Fact Table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B671F-DAB1-B44C-96E4-D7B6A51DF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1179" cy="26622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Supernatural keys </a:t>
            </a:r>
          </a:p>
          <a:p>
            <a:pPr lvl="1"/>
            <a:r>
              <a:rPr lang="en-US" dirty="0"/>
              <a:t>If the dimension’s natural keys are not absolutely protected and preserved over time, the ETL system needs to assign permanent durable identifiers;</a:t>
            </a:r>
          </a:p>
          <a:p>
            <a:r>
              <a:rPr lang="en-US" dirty="0"/>
              <a:t>Durable supernatural key </a:t>
            </a:r>
          </a:p>
          <a:p>
            <a:pPr lvl="1"/>
            <a:r>
              <a:rPr lang="en-US" dirty="0"/>
              <a:t>Controlled by the DW/ BI system and remains immutable for the life of the system;</a:t>
            </a:r>
          </a:p>
          <a:p>
            <a:pPr lvl="1"/>
            <a:r>
              <a:rPr lang="en-US" dirty="0"/>
              <a:t>A simple integer sequentially assigned;</a:t>
            </a:r>
          </a:p>
          <a:p>
            <a:pPr lvl="1"/>
            <a:r>
              <a:rPr lang="en-US" dirty="0"/>
              <a:t>Handled as a dimension attribute; 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Design Tip #147 Durable “Super-Natural” Keys - Kimball Group">
            <a:extLst>
              <a:ext uri="{FF2B5EF4-FFF2-40B4-BE49-F238E27FC236}">
                <a16:creationId xmlns:a16="http://schemas.microsoft.com/office/drawing/2014/main" id="{CFE1CAB4-0B86-1240-B393-7E3ACCF5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992" y="4487863"/>
            <a:ext cx="7620000" cy="168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87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E137-9392-0347-BD2A-47844E76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and Fact Table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096F-69DD-8840-98D0-0A6A0997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0166" cy="4351338"/>
          </a:xfrm>
        </p:spPr>
        <p:txBody>
          <a:bodyPr/>
          <a:lstStyle/>
          <a:p>
            <a:r>
              <a:rPr lang="en-US" dirty="0"/>
              <a:t>Date Dimension Smart Keys </a:t>
            </a:r>
          </a:p>
          <a:p>
            <a:pPr lvl="1"/>
            <a:r>
              <a:rPr lang="en-US" dirty="0"/>
              <a:t>Using a smart </a:t>
            </a:r>
            <a:r>
              <a:rPr lang="en-US" dirty="0" err="1"/>
              <a:t>yyyymmdd</a:t>
            </a:r>
            <a:r>
              <a:rPr lang="en-US" dirty="0"/>
              <a:t> key provides the benefits of a surrogate;</a:t>
            </a:r>
          </a:p>
          <a:p>
            <a:pPr lvl="1"/>
            <a:r>
              <a:rPr lang="en-US" dirty="0"/>
              <a:t>Easier partition management;</a:t>
            </a:r>
          </a:p>
          <a:p>
            <a:endParaRPr lang="en-US" dirty="0"/>
          </a:p>
        </p:txBody>
      </p:sp>
      <p:pic>
        <p:nvPicPr>
          <p:cNvPr id="4098" name="Picture 2" descr="Create and Populate Date Dimension for Data Warehouse - CodeProject">
            <a:extLst>
              <a:ext uri="{FF2B5EF4-FFF2-40B4-BE49-F238E27FC236}">
                <a16:creationId xmlns:a16="http://schemas.microsoft.com/office/drawing/2014/main" id="{91297472-D9C0-534A-B648-9C8CB6915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5" y="3768970"/>
            <a:ext cx="10382655" cy="209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99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4F09-BF33-B348-91CA-F861BBA6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 Surrogate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57E2-372B-C04E-8446-B81CA131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Fact table surrogate keys</a:t>
            </a:r>
            <a:r>
              <a:rPr lang="en-US" dirty="0"/>
              <a:t>, which are not associated with any dimension, are assigned sequentially during the ETL load process:</a:t>
            </a:r>
          </a:p>
          <a:p>
            <a:pPr lvl="1"/>
            <a:r>
              <a:rPr lang="en-US" dirty="0"/>
              <a:t>1) as the single column primary key of the fact table;</a:t>
            </a:r>
          </a:p>
          <a:p>
            <a:pPr lvl="1"/>
            <a:r>
              <a:rPr lang="en-US" dirty="0"/>
              <a:t>2) to serve as an immediate identiﬁer of a fact table row without navigating multiple dimensions for ETL purposes;</a:t>
            </a:r>
          </a:p>
          <a:p>
            <a:pPr lvl="1"/>
            <a:r>
              <a:rPr lang="en-US" dirty="0"/>
              <a:t>3) to allow an interrupted load process to either back out or resume;</a:t>
            </a:r>
          </a:p>
          <a:p>
            <a:pPr lvl="1"/>
            <a:r>
              <a:rPr lang="en-US" dirty="0"/>
              <a:t>4) to allow fact table update operations to be decomposed into less risky inserts plus deletes;</a:t>
            </a:r>
          </a:p>
        </p:txBody>
      </p:sp>
    </p:spTree>
    <p:extLst>
      <p:ext uri="{BB962C8B-B14F-4D97-AF65-F5344CB8AC3E}">
        <p14:creationId xmlns:p14="http://schemas.microsoft.com/office/powerpoint/2010/main" val="3593982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D2D2-54D9-1843-8D4E-04E79D2F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 Surrogate Keys</a:t>
            </a:r>
          </a:p>
        </p:txBody>
      </p:sp>
      <p:pic>
        <p:nvPicPr>
          <p:cNvPr id="3074" name="Picture 2" descr="What and Why?? Surroagate keys in your Data Warehouse… | Mahaveer's Blog">
            <a:extLst>
              <a:ext uri="{FF2B5EF4-FFF2-40B4-BE49-F238E27FC236}">
                <a16:creationId xmlns:a16="http://schemas.microsoft.com/office/drawing/2014/main" id="{E2BA7CFA-8D58-0941-886A-FF379861D8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724" y="2050408"/>
            <a:ext cx="7091464" cy="395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725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EBDC-9953-C343-ACDF-9E0DEEDA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7AD79-D4DF-E942-8AB7-76485BC3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Snowflaked</a:t>
            </a:r>
            <a:r>
              <a:rPr lang="en-US" i="1" dirty="0"/>
              <a:t> Dimensions </a:t>
            </a:r>
            <a:endParaRPr lang="en-US" dirty="0"/>
          </a:p>
          <a:p>
            <a:pPr lvl="1"/>
            <a:r>
              <a:rPr lang="en-US" dirty="0"/>
              <a:t>When a hierarchical relationship in a dimension table is normalized, low-cardinality attributes appear as </a:t>
            </a:r>
            <a:r>
              <a:rPr lang="en-US" dirty="0">
                <a:solidFill>
                  <a:srgbClr val="FF0000"/>
                </a:solidFill>
              </a:rPr>
              <a:t>secondary tables </a:t>
            </a:r>
            <a:r>
              <a:rPr lang="en-US" dirty="0"/>
              <a:t>connected to the base dimension table by </a:t>
            </a:r>
            <a:r>
              <a:rPr lang="en-US" dirty="0">
                <a:solidFill>
                  <a:srgbClr val="FF0000"/>
                </a:solidFill>
              </a:rPr>
              <a:t>an attribute key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characteristic multilevel structure is created that is called a </a:t>
            </a:r>
            <a:r>
              <a:rPr lang="en-US" i="1" dirty="0">
                <a:solidFill>
                  <a:srgbClr val="FF0000"/>
                </a:solidFill>
              </a:rPr>
              <a:t>snowflake</a:t>
            </a:r>
            <a:r>
              <a:rPr lang="en-US" dirty="0"/>
              <a:t>. </a:t>
            </a:r>
          </a:p>
          <a:p>
            <a:r>
              <a:rPr lang="en-US" dirty="0"/>
              <a:t>Should avoid snowflakes:</a:t>
            </a:r>
          </a:p>
          <a:p>
            <a:pPr lvl="1"/>
            <a:r>
              <a:rPr lang="en-US" dirty="0"/>
              <a:t>it is difficult to </a:t>
            </a:r>
            <a:r>
              <a:rPr lang="en-US" dirty="0">
                <a:solidFill>
                  <a:srgbClr val="FF0000"/>
                </a:solidFill>
              </a:rPr>
              <a:t>understand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navigate</a:t>
            </a:r>
            <a:r>
              <a:rPr lang="en-US" dirty="0"/>
              <a:t> snowflakes;</a:t>
            </a:r>
          </a:p>
          <a:p>
            <a:pPr lvl="1"/>
            <a:r>
              <a:rPr lang="en-US" dirty="0"/>
              <a:t>Negatively impact </a:t>
            </a:r>
            <a:r>
              <a:rPr lang="en-US" dirty="0">
                <a:solidFill>
                  <a:srgbClr val="FF0000"/>
                </a:solidFill>
              </a:rPr>
              <a:t>query performance</a:t>
            </a:r>
            <a:r>
              <a:rPr lang="en-US" dirty="0"/>
              <a:t>;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1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AB4A-91A6-7249-B8A4-04614A0E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27C0-39B8-A84F-90DE-2044C870F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09" y="1821838"/>
            <a:ext cx="5257800" cy="4351338"/>
          </a:xfrm>
        </p:spPr>
        <p:txBody>
          <a:bodyPr>
            <a:normAutofit/>
          </a:bodyPr>
          <a:lstStyle/>
          <a:p>
            <a:r>
              <a:rPr lang="en-US" i="1" dirty="0" err="1"/>
              <a:t>Snowflaked</a:t>
            </a:r>
            <a:r>
              <a:rPr lang="en-US" i="1" dirty="0"/>
              <a:t> Dimensions</a:t>
            </a:r>
          </a:p>
          <a:p>
            <a:pPr lvl="1"/>
            <a:r>
              <a:rPr lang="en-US" dirty="0"/>
              <a:t>A much more complex presentation </a:t>
            </a:r>
            <a:endParaRPr lang="en-US" b="1" i="1" dirty="0"/>
          </a:p>
          <a:p>
            <a:pPr lvl="1"/>
            <a:r>
              <a:rPr lang="en-US" dirty="0"/>
              <a:t>Slower query performance. </a:t>
            </a:r>
          </a:p>
          <a:p>
            <a:pPr lvl="1"/>
            <a:r>
              <a:rPr lang="en-US" dirty="0"/>
              <a:t>Insignificant disk space savings. </a:t>
            </a:r>
          </a:p>
          <a:p>
            <a:pPr lvl="1"/>
            <a:r>
              <a:rPr lang="en-US" dirty="0"/>
              <a:t>Negatively impacts the users’ ability to browse within a dimension.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30D8A-967F-4341-B002-19ADA044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021" y="2276502"/>
            <a:ext cx="7138480" cy="344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9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2631-DB36-568E-BD7B-EC4C77E7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292A2-75DE-801E-DE4A-FD00C9ED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/>
              <a:t>Snowflaked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7FDB1-4EA0-48D5-A45B-7C90B9C6FE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33333"/>
                </a:solidFill>
                <a:latin typeface="barlow" panose="020F0502020204030204" pitchFamily="34" charset="0"/>
              </a:rPr>
              <a:t>C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anose="020F0502020204030204" pitchFamily="34" charset="0"/>
              </a:rPr>
              <a:t>entral fact table</a:t>
            </a:r>
          </a:p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anose="020F0502020204030204" pitchFamily="34" charset="0"/>
              </a:rPr>
              <a:t>Normalized dimension tables</a:t>
            </a:r>
          </a:p>
          <a:p>
            <a:r>
              <a:rPr lang="en-US" dirty="0">
                <a:solidFill>
                  <a:srgbClr val="333333"/>
                </a:solidFill>
                <a:latin typeface="barlow" pitchFamily="2" charset="77"/>
              </a:rPr>
              <a:t>M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itchFamily="2" charset="77"/>
              </a:rPr>
              <a:t>ore storage efficiency</a:t>
            </a:r>
          </a:p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itchFamily="2" charset="77"/>
              </a:rPr>
              <a:t>Rigid data model</a:t>
            </a:r>
          </a:p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itchFamily="2" charset="77"/>
              </a:rPr>
              <a:t>Lots of overhead upon initial setup</a:t>
            </a:r>
          </a:p>
          <a:p>
            <a:r>
              <a:rPr lang="en-US" dirty="0">
                <a:solidFill>
                  <a:srgbClr val="333333"/>
                </a:solidFill>
                <a:latin typeface="barlow" pitchFamily="2" charset="77"/>
              </a:rPr>
              <a:t>Easier to Update</a:t>
            </a:r>
            <a:endParaRPr lang="en-US" b="0" i="0" u="none" strike="noStrike" dirty="0">
              <a:solidFill>
                <a:srgbClr val="333333"/>
              </a:solidFill>
              <a:effectLst/>
              <a:latin typeface="barlow" pitchFamily="2" charset="77"/>
            </a:endParaRPr>
          </a:p>
          <a:p>
            <a:endParaRPr lang="en-US" b="0" i="0" u="none" strike="noStrike" dirty="0">
              <a:solidFill>
                <a:srgbClr val="333333"/>
              </a:solidFill>
              <a:effectLst/>
              <a:latin typeface="barlow" pitchFamily="2" charset="77"/>
            </a:endParaRPr>
          </a:p>
          <a:p>
            <a:endParaRPr lang="en-US" b="0" i="0" u="none" strike="noStrike" dirty="0">
              <a:solidFill>
                <a:srgbClr val="333333"/>
              </a:solidFill>
              <a:effectLst/>
              <a:latin typeface="barlow" pitchFamily="2" charset="77"/>
            </a:endParaRP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1FA7C-1F12-2C82-3A0F-0B3BD2D59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73A95-FE33-C796-E139-B99C30825E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itchFamily="2" charset="77"/>
              </a:rPr>
              <a:t>Central fact table</a:t>
            </a:r>
          </a:p>
          <a:p>
            <a:r>
              <a:rPr lang="en-US" dirty="0">
                <a:solidFill>
                  <a:srgbClr val="333333"/>
                </a:solidFill>
                <a:latin typeface="Optimo-Plain"/>
              </a:rPr>
              <a:t>D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Optimo-Plain"/>
              </a:rPr>
              <a:t>enormalized dimension tables</a:t>
            </a:r>
            <a:endParaRPr lang="en-US" b="0" i="0" u="none" strike="noStrike" dirty="0">
              <a:solidFill>
                <a:srgbClr val="333333"/>
              </a:solidFill>
              <a:effectLst/>
              <a:latin typeface="barlow" pitchFamily="2" charset="77"/>
            </a:endParaRPr>
          </a:p>
          <a:p>
            <a:r>
              <a:rPr lang="en-US" dirty="0">
                <a:solidFill>
                  <a:srgbClr val="333333"/>
                </a:solidFill>
                <a:latin typeface="Optimo-Plain"/>
              </a:rPr>
              <a:t>E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Optimo-Plain"/>
              </a:rPr>
              <a:t>asier to design</a:t>
            </a:r>
            <a:endParaRPr lang="en-US" b="0" i="0" u="none" strike="noStrike" dirty="0">
              <a:solidFill>
                <a:srgbClr val="333333"/>
              </a:solidFill>
              <a:effectLst/>
              <a:latin typeface="barlow" pitchFamily="2" charset="77"/>
            </a:endParaRPr>
          </a:p>
          <a:p>
            <a:r>
              <a:rPr lang="en-US" dirty="0">
                <a:solidFill>
                  <a:srgbClr val="333333"/>
                </a:solidFill>
                <a:latin typeface="barlow" pitchFamily="2" charset="77"/>
              </a:rPr>
              <a:t>D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barlow" pitchFamily="2" charset="77"/>
              </a:rPr>
              <a:t>ata redundancy (duplication of data)</a:t>
            </a:r>
            <a:r>
              <a:rPr lang="en-US" dirty="0"/>
              <a:t> </a:t>
            </a:r>
          </a:p>
          <a:p>
            <a:r>
              <a:rPr lang="en-US" dirty="0"/>
              <a:t>Faster Query Performance</a:t>
            </a:r>
          </a:p>
          <a:p>
            <a:r>
              <a:rPr lang="en-US" dirty="0">
                <a:solidFill>
                  <a:srgbClr val="333333"/>
                </a:solidFill>
                <a:latin typeface="Optimo-Plain"/>
              </a:rPr>
              <a:t>D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Optimo-Plain"/>
              </a:rPr>
              <a:t>ifficult to update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89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2082-BA9F-A041-A136-6EBEA766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C718-8BE6-AF46-B6A9-6E67CB99D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/>
              <a:t>Outrigger Dimensions </a:t>
            </a:r>
            <a:endParaRPr lang="en-US" sz="3200" dirty="0"/>
          </a:p>
          <a:p>
            <a:pPr lvl="1"/>
            <a:r>
              <a:rPr lang="en-US" sz="2800" dirty="0"/>
              <a:t>A dimension can contain a reference to another dimension table. </a:t>
            </a:r>
          </a:p>
          <a:p>
            <a:pPr lvl="1"/>
            <a:r>
              <a:rPr lang="en-US" sz="2800" dirty="0"/>
              <a:t>The secondary dimension references are called </a:t>
            </a:r>
            <a:r>
              <a:rPr lang="en-US" sz="2800" i="1" dirty="0"/>
              <a:t>outrigger dimensions</a:t>
            </a:r>
            <a:r>
              <a:rPr lang="en-US" sz="2800" dirty="0"/>
              <a:t>.</a:t>
            </a:r>
          </a:p>
          <a:p>
            <a:pPr lvl="2"/>
            <a:r>
              <a:rPr lang="en-US" sz="2400" dirty="0"/>
              <a:t>Bank account dimension refer to a separate dimension representing the open date the account.</a:t>
            </a:r>
          </a:p>
          <a:p>
            <a:pPr lvl="1"/>
            <a:r>
              <a:rPr lang="en-US" sz="2800" dirty="0"/>
              <a:t>More often, the correlations between dimensions should be demoted to a fact table, where both dimensions are represented as separate foreign keys.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6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4CD4-A972-6B4D-BAEA-32262E2D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25B5A-B42A-D741-8713-BA364051E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905" y="1690687"/>
            <a:ext cx="4103452" cy="4802187"/>
          </a:xfrm>
        </p:spPr>
        <p:txBody>
          <a:bodyPr>
            <a:normAutofit fontScale="92500"/>
          </a:bodyPr>
          <a:lstStyle/>
          <a:p>
            <a:r>
              <a:rPr lang="en-US" dirty="0"/>
              <a:t>Outriggers</a:t>
            </a:r>
          </a:p>
          <a:p>
            <a:pPr lvl="1"/>
            <a:r>
              <a:rPr lang="en-US" dirty="0"/>
              <a:t>Save Space and ensure consistent attributes reference;</a:t>
            </a:r>
          </a:p>
          <a:p>
            <a:pPr lvl="1"/>
            <a:r>
              <a:rPr lang="en-US" dirty="0"/>
              <a:t>Introduce more joins, which can negatively impact performance;</a:t>
            </a:r>
          </a:p>
          <a:p>
            <a:pPr lvl="1"/>
            <a:r>
              <a:rPr lang="en-US" dirty="0"/>
              <a:t>Difficult to browse the attributes within a single dimension;</a:t>
            </a:r>
          </a:p>
          <a:p>
            <a:pPr lvl="1"/>
            <a:r>
              <a:rPr lang="en-US" dirty="0"/>
              <a:t>Large number of attributes;</a:t>
            </a:r>
          </a:p>
          <a:p>
            <a:pPr lvl="1"/>
            <a:r>
              <a:rPr lang="en-US" dirty="0"/>
              <a:t>Different grain;</a:t>
            </a:r>
          </a:p>
          <a:p>
            <a:pPr lvl="1"/>
            <a:r>
              <a:rPr lang="en-US" dirty="0"/>
              <a:t>Different update frequency;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CA119-8DA9-954B-8BE3-68B02441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804" y="1690686"/>
            <a:ext cx="8048361" cy="394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45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23A3-3D47-DC42-A8F1-C7C8C581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E3426-F784-EE44-AB2D-5B69C096F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801" y="1690688"/>
            <a:ext cx="644781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Centipede Fact Tables with Too Many Dimensions </a:t>
            </a:r>
          </a:p>
          <a:p>
            <a:pPr lvl="1"/>
            <a:r>
              <a:rPr lang="en-US" dirty="0" err="1"/>
              <a:t>Denormalize</a:t>
            </a:r>
            <a:r>
              <a:rPr lang="en-US" dirty="0"/>
              <a:t> the dimension table;</a:t>
            </a:r>
          </a:p>
          <a:p>
            <a:pPr lvl="1"/>
            <a:r>
              <a:rPr lang="en-US" dirty="0"/>
              <a:t>The normalized tables end up joined to the fact table;</a:t>
            </a:r>
          </a:p>
          <a:p>
            <a:pPr lvl="1"/>
            <a:r>
              <a:rPr lang="en-US" dirty="0"/>
              <a:t>The fact table include foreign keys for the frequently analyzed elements on the product hierarchy, such as brand, category, and department. </a:t>
            </a:r>
          </a:p>
          <a:p>
            <a:r>
              <a:rPr lang="en-US" dirty="0"/>
              <a:t>Most business processes can be represented with </a:t>
            </a:r>
            <a:r>
              <a:rPr lang="en-US" b="1" i="1" dirty="0">
                <a:solidFill>
                  <a:srgbClr val="FF0000"/>
                </a:solidFill>
              </a:rPr>
              <a:t>less than 20 </a:t>
            </a:r>
            <a:r>
              <a:rPr lang="en-US" dirty="0"/>
              <a:t>dimensions in the fact table.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439BD-4AAD-DA49-B0F0-7F68BB9E4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618" y="1690688"/>
            <a:ext cx="5087023" cy="374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68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ABB6-1683-954B-9A0F-141BB588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Graceful Extensions to Dimensional Models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DA738-58B4-0048-83EC-E55B3FEA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Dimensional models </a:t>
            </a:r>
            <a:r>
              <a:rPr lang="en-US" dirty="0"/>
              <a:t>are </a:t>
            </a:r>
            <a:r>
              <a:rPr lang="en-US" b="1" dirty="0">
                <a:solidFill>
                  <a:srgbClr val="FF0000"/>
                </a:solidFill>
              </a:rPr>
              <a:t>resilient</a:t>
            </a:r>
            <a:r>
              <a:rPr lang="en-US" dirty="0"/>
              <a:t> when data relationships change. </a:t>
            </a:r>
          </a:p>
          <a:p>
            <a:pPr lvl="1"/>
            <a:r>
              <a:rPr lang="en-US" dirty="0"/>
              <a:t>Facts can be added by creating new columns; </a:t>
            </a:r>
          </a:p>
          <a:p>
            <a:pPr lvl="1"/>
            <a:r>
              <a:rPr lang="en-US" dirty="0"/>
              <a:t>Dimensions can be added to an existing fact table by creating new foreign key columns;</a:t>
            </a:r>
          </a:p>
          <a:p>
            <a:pPr lvl="1"/>
            <a:r>
              <a:rPr lang="en-US" dirty="0"/>
              <a:t>Attributes can be added to an existing dimension table by creating new columns;</a:t>
            </a:r>
          </a:p>
          <a:p>
            <a:pPr lvl="1"/>
            <a:r>
              <a:rPr lang="en-US" dirty="0"/>
              <a:t>The grain of a fact table can be made more atomic by adding attributes to an existing dimension table, and then restating the fact table at the lower grain;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43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66F5-84A9-C44B-8D13-C2120050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Value Chains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A5B9-9403-4144-B435-4A9263598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9017" cy="4351338"/>
          </a:xfrm>
        </p:spPr>
        <p:txBody>
          <a:bodyPr>
            <a:normAutofit/>
          </a:bodyPr>
          <a:lstStyle/>
          <a:p>
            <a:r>
              <a:rPr lang="en-US" dirty="0"/>
              <a:t>There is an underlying value chain of key business processes;</a:t>
            </a:r>
          </a:p>
          <a:p>
            <a:r>
              <a:rPr lang="en-US" dirty="0"/>
              <a:t>A </a:t>
            </a:r>
            <a:r>
              <a:rPr lang="en-US" dirty="0">
                <a:solidFill>
                  <a:srgbClr val="FF0000"/>
                </a:solidFill>
              </a:rPr>
              <a:t>value chain </a:t>
            </a:r>
            <a:r>
              <a:rPr lang="en-US" dirty="0"/>
              <a:t>is a set of activities that a firm operating in a specific industry performs in order to deliver a valuable product (i.e., good and/or service) for the market. 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F0843-BE5D-1D42-A30E-B85DDA52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9" y="1911618"/>
            <a:ext cx="6350173" cy="3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2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62BF-7DB1-3D49-825C-97EEE56C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Value Chains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FAD5D-B4D4-3347-B2E3-5F8952692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objective of most analytic DW/BI systems is to monitor the performance results of these key processes. </a:t>
            </a:r>
          </a:p>
          <a:p>
            <a:r>
              <a:rPr lang="en-US" dirty="0"/>
              <a:t>Each process typically spawns one or more fact tables. </a:t>
            </a:r>
          </a:p>
          <a:p>
            <a:r>
              <a:rPr lang="en-US" dirty="0"/>
              <a:t>The value chain provides high-level insight into the overall data architecture for an enterprise DW/BI environment.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48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3857-187C-3945-918B-B879EF77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Fact Table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11545-0F2C-CF45-A988-1054591CE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Periodic Snapshots;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Transaction;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Accumulating Snapshots;</a:t>
            </a:r>
          </a:p>
          <a:p>
            <a:endParaRPr lang="en-US" dirty="0"/>
          </a:p>
        </p:txBody>
      </p:sp>
      <p:pic>
        <p:nvPicPr>
          <p:cNvPr id="5122" name="Picture 2" descr="Periodic Snapshots with Tableau Incremental Refresh | VizPainter">
            <a:extLst>
              <a:ext uri="{FF2B5EF4-FFF2-40B4-BE49-F238E27FC236}">
                <a16:creationId xmlns:a16="http://schemas.microsoft.com/office/drawing/2014/main" id="{77A0802A-B4DE-4C43-90F8-27607AF73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752" y="1428041"/>
            <a:ext cx="6836788" cy="169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he Basic Structure of a Fact Table in Data Warehouse ETL Toolkit ...">
            <a:extLst>
              <a:ext uri="{FF2B5EF4-FFF2-40B4-BE49-F238E27FC236}">
                <a16:creationId xmlns:a16="http://schemas.microsoft.com/office/drawing/2014/main" id="{16CCC5FF-8EC7-314F-A0B4-73A3847DA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508" y="3260886"/>
            <a:ext cx="2031730" cy="338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Using Accumulating Snapshot Fact table to Monitor Status | Data ...">
            <a:extLst>
              <a:ext uri="{FF2B5EF4-FFF2-40B4-BE49-F238E27FC236}">
                <a16:creationId xmlns:a16="http://schemas.microsoft.com/office/drawing/2014/main" id="{73560C8C-BAB9-1443-B387-A777310BB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19" y="4837800"/>
            <a:ext cx="6992701" cy="118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039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C82C-F90C-D54B-BBF3-19CC0E01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Fact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F415-25BE-3044-8758-7FE4DE3B0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row in a </a:t>
            </a:r>
            <a:r>
              <a:rPr lang="en-US" i="1" dirty="0"/>
              <a:t>transaction fact table </a:t>
            </a:r>
            <a:r>
              <a:rPr lang="en-US" dirty="0"/>
              <a:t>corresponds to a measurement event at a point in space and time.</a:t>
            </a:r>
          </a:p>
          <a:p>
            <a:pPr lvl="1"/>
            <a:r>
              <a:rPr lang="en-US" dirty="0"/>
              <a:t>Atomic transaction grain fact tables are the most dimensional and expressive fact tables;</a:t>
            </a:r>
          </a:p>
          <a:p>
            <a:r>
              <a:rPr lang="en-US" dirty="0"/>
              <a:t>Transaction fact tables may be dense or sparse because rows exist only if measurements take place.</a:t>
            </a:r>
          </a:p>
          <a:p>
            <a:pPr lvl="1"/>
            <a:r>
              <a:rPr lang="en-US" dirty="0"/>
              <a:t>The fact tables always contain a foreign key for each associated dimension</a:t>
            </a:r>
          </a:p>
          <a:p>
            <a:pPr lvl="1"/>
            <a:r>
              <a:rPr lang="en-US" dirty="0"/>
              <a:t>Contain precise time stamps and optionally degenerate dimension keys. 	</a:t>
            </a:r>
          </a:p>
          <a:p>
            <a:pPr lvl="1"/>
            <a:r>
              <a:rPr lang="en-US" dirty="0"/>
              <a:t>The measured numeric facts must be consistent with the transaction grain.</a:t>
            </a:r>
          </a:p>
        </p:txBody>
      </p:sp>
    </p:spTree>
    <p:extLst>
      <p:ext uri="{BB962C8B-B14F-4D97-AF65-F5344CB8AC3E}">
        <p14:creationId xmlns:p14="http://schemas.microsoft.com/office/powerpoint/2010/main" val="2140998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151E-30C3-6D49-A66D-F5F4A41B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Transactions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90E38-5D0C-F247-A3DD-16A90F4B3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 every transaction that affects inventory to model an inventory business process: </a:t>
            </a:r>
          </a:p>
          <a:p>
            <a:pPr lvl="1"/>
            <a:r>
              <a:rPr lang="en-US" dirty="0"/>
              <a:t>Receive product. Place product in bin. Pick product from bin. Package product for shipment. Ship product to customer. Receive product from customer. Remove product from inventory….</a:t>
            </a:r>
          </a:p>
          <a:p>
            <a:r>
              <a:rPr lang="en-US" dirty="0"/>
              <a:t>Inventory Transaction Fact Tables:</a:t>
            </a:r>
          </a:p>
          <a:p>
            <a:pPr lvl="1"/>
            <a:r>
              <a:rPr lang="en-US" dirty="0"/>
              <a:t>Is useful for measuring the </a:t>
            </a:r>
            <a:r>
              <a:rPr lang="en-US" i="1" dirty="0">
                <a:solidFill>
                  <a:srgbClr val="FF0000"/>
                </a:solidFill>
              </a:rPr>
              <a:t>frequency and timing </a:t>
            </a:r>
            <a:r>
              <a:rPr lang="en-US" dirty="0"/>
              <a:t>of specific transaction types;</a:t>
            </a:r>
          </a:p>
          <a:p>
            <a:pPr lvl="1"/>
            <a:r>
              <a:rPr lang="en-US" dirty="0"/>
              <a:t>The granularity is </a:t>
            </a:r>
            <a:r>
              <a:rPr lang="en-US" i="1" dirty="0">
                <a:solidFill>
                  <a:srgbClr val="FF0000"/>
                </a:solidFill>
              </a:rPr>
              <a:t>one row per inventory transaction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Each inventory transaction identifies the </a:t>
            </a:r>
            <a:r>
              <a:rPr lang="en-US" i="1" dirty="0">
                <a:solidFill>
                  <a:srgbClr val="FF0000"/>
                </a:solidFill>
              </a:rPr>
              <a:t>date, product, warehouse, vendor, transaction type, the inventory quantity</a:t>
            </a:r>
            <a:r>
              <a:rPr lang="en-US" dirty="0"/>
              <a:t> impact caused by the transaction. </a:t>
            </a:r>
          </a:p>
          <a:p>
            <a:pPr lvl="1"/>
            <a:r>
              <a:rPr lang="en-US" dirty="0"/>
              <a:t>Will contain multiple tables, if transactions’ dimensionality varies by event;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49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5F63-A43B-2547-B0EF-C12E3B88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Transactions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F8283-D872-6846-9972-9FFB77335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72" y="1829130"/>
            <a:ext cx="9679022" cy="409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16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76E3-71A3-8647-AA10-E4BBC37E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 Snapshot Fact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6920-D8A2-F34A-8D79-7FD62489C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row in a </a:t>
            </a:r>
            <a:r>
              <a:rPr lang="en-US" i="1" dirty="0"/>
              <a:t>periodic snapshot fact table</a:t>
            </a:r>
            <a:r>
              <a:rPr lang="en-US" dirty="0"/>
              <a:t> summarizes many measurement events occurring over a standard period, such as a day, a week, or a month.</a:t>
            </a:r>
          </a:p>
          <a:p>
            <a:r>
              <a:rPr lang="en-US" dirty="0"/>
              <a:t>The grain is the period, not the individual transaction. </a:t>
            </a:r>
          </a:p>
          <a:p>
            <a:r>
              <a:rPr lang="en-US" dirty="0"/>
              <a:t>Often contain many facts because any measurement event consistent with the fact table grain is permissible. </a:t>
            </a:r>
          </a:p>
          <a:p>
            <a:pPr lvl="1"/>
            <a:r>
              <a:rPr lang="en-US" dirty="0"/>
              <a:t>These fact tables are uniformly dense in their foreign keys </a:t>
            </a:r>
          </a:p>
          <a:p>
            <a:pPr lvl="1"/>
            <a:r>
              <a:rPr lang="en-US" dirty="0"/>
              <a:t>Even if no activity takes place during the period, a row is typically inserted in the fact table containing a zero or null for each fact.</a:t>
            </a:r>
          </a:p>
        </p:txBody>
      </p:sp>
    </p:spTree>
    <p:extLst>
      <p:ext uri="{BB962C8B-B14F-4D97-AF65-F5344CB8AC3E}">
        <p14:creationId xmlns:p14="http://schemas.microsoft.com/office/powerpoint/2010/main" val="3258126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69DE-F043-EE47-B728-D4F1EF21D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Periodic Snapshot (the most common inventory schema)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938E-97D4-0842-AC3D-1FF4BEA3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74392"/>
          </a:xfrm>
        </p:spPr>
        <p:txBody>
          <a:bodyPr/>
          <a:lstStyle/>
          <a:p>
            <a:r>
              <a:rPr lang="en-US" dirty="0"/>
              <a:t>The most atomic level of detail provided by the operational inventory system is a daily inventory for each product in each store. </a:t>
            </a:r>
          </a:p>
          <a:p>
            <a:pPr lvl="1"/>
            <a:r>
              <a:rPr lang="en-US" dirty="0"/>
              <a:t>The simplest view of inventory involves only a single fact: </a:t>
            </a:r>
            <a:r>
              <a:rPr lang="en-US" i="1" dirty="0">
                <a:solidFill>
                  <a:srgbClr val="FF0000"/>
                </a:solidFill>
              </a:rPr>
              <a:t>quantity on hand</a:t>
            </a:r>
            <a:r>
              <a:rPr lang="en-US" dirty="0"/>
              <a:t>. </a:t>
            </a:r>
          </a:p>
          <a:p>
            <a:r>
              <a:rPr lang="en-US" dirty="0"/>
              <a:t>Challenge: Inventory generates dense snapshot tables. </a:t>
            </a:r>
          </a:p>
          <a:p>
            <a:pPr lvl="1"/>
            <a:r>
              <a:rPr lang="en-US" dirty="0"/>
              <a:t>There may be a row in the fact table for every product in every store every day.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08959-5CFD-6B42-BEE0-0503E42E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370" y="4144800"/>
            <a:ext cx="9237899" cy="249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56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C804-55EA-DA41-A0F1-A81ED7F8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Fact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A3C9F-8FB3-E244-B7DD-DBD4479DE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Semi-Additive Facts </a:t>
            </a:r>
          </a:p>
          <a:p>
            <a:pPr lvl="1"/>
            <a:r>
              <a:rPr lang="en-US" i="1" dirty="0"/>
              <a:t>Semi-additive </a:t>
            </a:r>
            <a:r>
              <a:rPr lang="en-US" dirty="0"/>
              <a:t>measures can be summed across some dimensions, but not all; </a:t>
            </a:r>
          </a:p>
          <a:p>
            <a:pPr lvl="1"/>
            <a:r>
              <a:rPr lang="en-US" dirty="0"/>
              <a:t>The quantity on hand can be summarized across products or stores and result in a valid total. </a:t>
            </a:r>
          </a:p>
          <a:p>
            <a:r>
              <a:rPr lang="en-US" i="1" dirty="0"/>
              <a:t>Enhanced Inventory Facts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DD46C-95FF-3B49-99A5-2B543B8D5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883" y="4001294"/>
            <a:ext cx="7956823" cy="23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36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4DA2-960A-0F41-B8AF-017E0C4B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Periodic Snapshot Fact Tables and Transactional fact table Comparison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36B4-AE93-0741-AF37-A0894C142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3102" cy="4351338"/>
          </a:xfrm>
        </p:spPr>
        <p:txBody>
          <a:bodyPr/>
          <a:lstStyle/>
          <a:p>
            <a:r>
              <a:rPr lang="en-US" b="1" dirty="0"/>
              <a:t>Transactional fact table</a:t>
            </a:r>
            <a:endParaRPr lang="en-US" dirty="0"/>
          </a:p>
          <a:p>
            <a:r>
              <a:rPr lang="en-US" dirty="0"/>
              <a:t>Transactional fact tables capture the measurement at its most atomic dimensional level, at the point-in-time of the transaction.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B85DF-19A1-E045-A74E-36D62E098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866" y="1825625"/>
            <a:ext cx="5046294" cy="406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66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6DCE-C739-3841-9912-3DF96156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20" y="472130"/>
            <a:ext cx="7089843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Periodic Snapshot Fact Tables and Transactional fact table Comparison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C9A01-7A88-C94F-A6BD-CB31EA65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257800" cy="4351338"/>
          </a:xfrm>
        </p:spPr>
        <p:txBody>
          <a:bodyPr/>
          <a:lstStyle/>
          <a:p>
            <a:r>
              <a:rPr lang="en-US" b="1" dirty="0"/>
              <a:t>Snapshot Fact Tables: </a:t>
            </a:r>
            <a:endParaRPr lang="en-US" dirty="0"/>
          </a:p>
          <a:p>
            <a:r>
              <a:rPr lang="en-US" i="1" dirty="0"/>
              <a:t>Snapshot</a:t>
            </a:r>
            <a:r>
              <a:rPr lang="en-US" dirty="0"/>
              <a:t> fact tables capture the state of the measures based on the occurrence of a status event or at a specified point-in-time or over specified time intervals (day, week, month, quarter, year, etc.).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1298D0-C473-D042-97E4-A0CC6E4D8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463" y="0"/>
            <a:ext cx="3614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17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6DFA-FA05-084C-84EB-605436DC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 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E614-92A6-4849-B039-DFB1EE8A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3511" cy="1812520"/>
          </a:xfrm>
        </p:spPr>
        <p:txBody>
          <a:bodyPr/>
          <a:lstStyle/>
          <a:p>
            <a:r>
              <a:rPr lang="en-US" b="1" dirty="0"/>
              <a:t>Snapshot Fact Tables (daily)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78C73-47BC-D149-A1A1-0C1EE5E5E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82" y="4074406"/>
            <a:ext cx="9439072" cy="2418469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494E7D3-51ED-3743-85D0-68BBEE146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687156"/>
              </p:ext>
            </p:extLst>
          </p:nvPr>
        </p:nvGraphicFramePr>
        <p:xfrm>
          <a:off x="1351064" y="2402551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354844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4569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40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DateID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id refer to date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57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WalletID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Wallet id refer to wallet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45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 left for each account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0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595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88E8-F228-BD44-8ABC-66356E71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Fact Table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FC9C-D0C4-9947-B741-1404FCBF8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6957" cy="4351338"/>
          </a:xfrm>
        </p:spPr>
        <p:txBody>
          <a:bodyPr/>
          <a:lstStyle/>
          <a:p>
            <a:r>
              <a:rPr lang="en-US" dirty="0"/>
              <a:t>Types Of Fact Tables:-</a:t>
            </a:r>
          </a:p>
          <a:p>
            <a:pPr lvl="1"/>
            <a:r>
              <a:rPr lang="en-US" dirty="0"/>
              <a:t>Transaction:</a:t>
            </a:r>
          </a:p>
          <a:p>
            <a:pPr lvl="2"/>
            <a:r>
              <a:rPr lang="en-US" dirty="0"/>
              <a:t>Most Common.</a:t>
            </a:r>
          </a:p>
          <a:p>
            <a:pPr lvl="2"/>
            <a:r>
              <a:rPr lang="en-US" dirty="0"/>
              <a:t>Usually additive measures.</a:t>
            </a:r>
          </a:p>
          <a:p>
            <a:pPr lvl="1"/>
            <a:r>
              <a:rPr lang="en-US" dirty="0"/>
              <a:t>Snapshot:</a:t>
            </a:r>
          </a:p>
          <a:p>
            <a:pPr lvl="2"/>
            <a:r>
              <a:rPr lang="en-US" dirty="0"/>
              <a:t>Periodic or accumulating.</a:t>
            </a:r>
          </a:p>
          <a:p>
            <a:pPr lvl="2"/>
            <a:r>
              <a:rPr lang="en-US" dirty="0"/>
              <a:t>Usually semi-additive.</a:t>
            </a:r>
          </a:p>
          <a:p>
            <a:pPr lvl="1"/>
            <a:r>
              <a:rPr lang="en-US" dirty="0" err="1"/>
              <a:t>Factless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Event Occurrence.</a:t>
            </a:r>
          </a:p>
          <a:p>
            <a:pPr lvl="2"/>
            <a:r>
              <a:rPr lang="en-US" dirty="0"/>
              <a:t>No measures, just FKs. </a:t>
            </a:r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7F7D551-41FB-9C46-B35A-51DEABA61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973" y="1916348"/>
            <a:ext cx="6459529" cy="355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460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D6F8-C477-6F4A-A3AD-49A0ED30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Accumulating Snapshot Fact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328A5-6DBD-4644-B0AF-F4830A30E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row in an </a:t>
            </a:r>
            <a:r>
              <a:rPr lang="en-US" i="1" dirty="0"/>
              <a:t>accumulating snapshot fact table </a:t>
            </a:r>
            <a:r>
              <a:rPr lang="en-US" dirty="0"/>
              <a:t>summarizes the measurement events occurring at predictable steps between the </a:t>
            </a:r>
            <a:r>
              <a:rPr lang="en-US" dirty="0">
                <a:solidFill>
                  <a:srgbClr val="FF0000"/>
                </a:solidFill>
              </a:rPr>
              <a:t>beginning</a:t>
            </a:r>
            <a:r>
              <a:rPr lang="en-US" dirty="0"/>
              <a:t> and the </a:t>
            </a:r>
            <a:r>
              <a:rPr lang="en-US" dirty="0">
                <a:solidFill>
                  <a:srgbClr val="FF0000"/>
                </a:solidFill>
              </a:rPr>
              <a:t>end</a:t>
            </a:r>
            <a:r>
              <a:rPr lang="en-US" dirty="0"/>
              <a:t> of a process.</a:t>
            </a:r>
          </a:p>
          <a:p>
            <a:pPr lvl="1"/>
            <a:r>
              <a:rPr lang="en-US" dirty="0"/>
              <a:t>Pipeline or workﬂow processes, such as order fulﬁllment or claim processing (a deﬁned start point, standard intermediate steps, and deﬁned end point)</a:t>
            </a:r>
          </a:p>
          <a:p>
            <a:pPr lvl="1"/>
            <a:r>
              <a:rPr lang="en-US" dirty="0"/>
              <a:t>There is a </a:t>
            </a:r>
            <a:r>
              <a:rPr lang="en-US" i="1" dirty="0">
                <a:solidFill>
                  <a:srgbClr val="FF0000"/>
                </a:solidFill>
              </a:rPr>
              <a:t>date foreign key </a:t>
            </a:r>
            <a:r>
              <a:rPr lang="en-US" dirty="0"/>
              <a:t>for each critical milestone in the process. </a:t>
            </a:r>
          </a:p>
          <a:p>
            <a:pPr lvl="1"/>
            <a:r>
              <a:rPr lang="en-US" dirty="0"/>
              <a:t>An individual row is initially inserted when the order line is created.</a:t>
            </a:r>
          </a:p>
          <a:p>
            <a:pPr lvl="1"/>
            <a:r>
              <a:rPr lang="en-US" dirty="0"/>
              <a:t>As pipeline progress occurs, the accumulating fact table row is revisited and updated.</a:t>
            </a:r>
          </a:p>
          <a:p>
            <a:pPr lvl="1"/>
            <a:r>
              <a:rPr lang="en-US" dirty="0"/>
              <a:t>Often include numeric lag measurements consistent with the grain, with milestone completion counters.</a:t>
            </a:r>
          </a:p>
        </p:txBody>
      </p:sp>
    </p:spTree>
    <p:extLst>
      <p:ext uri="{BB962C8B-B14F-4D97-AF65-F5344CB8AC3E}">
        <p14:creationId xmlns:p14="http://schemas.microsoft.com/office/powerpoint/2010/main" val="2785339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CB5A-E8BB-984A-8F0C-9CFDB566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Accumulating Snapshot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5A7C-D18C-7F4B-8FE4-A20EB8F6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1740" cy="4351338"/>
          </a:xfrm>
        </p:spPr>
        <p:txBody>
          <a:bodyPr/>
          <a:lstStyle/>
          <a:p>
            <a:r>
              <a:rPr lang="en-US" dirty="0"/>
              <a:t>Inventory levels for a product lot captured a series of events or milestones as it moves through the warehouse, such as </a:t>
            </a:r>
            <a:r>
              <a:rPr lang="en-US" dirty="0">
                <a:solidFill>
                  <a:srgbClr val="FF0000"/>
                </a:solidFill>
              </a:rPr>
              <a:t>receiving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inspection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bin placement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shipping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2B291-BBA0-A04B-8994-D0E6A58B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45" y="1825625"/>
            <a:ext cx="6416902" cy="391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32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81EB-0F1D-DB46-8A73-6F77645C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Lags Between Milestones and Milestone Counts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92964-AEDC-1F46-9E98-4EDD28EBF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 table typically contains metrics representing the </a:t>
            </a:r>
            <a:r>
              <a:rPr lang="en-US" i="1" dirty="0">
                <a:solidFill>
                  <a:srgbClr val="FF0000"/>
                </a:solidFill>
              </a:rPr>
              <a:t>durations or lags between key milestones</a:t>
            </a:r>
            <a:r>
              <a:rPr lang="en-US" dirty="0"/>
              <a:t>. </a:t>
            </a:r>
          </a:p>
          <a:p>
            <a:r>
              <a:rPr lang="en-US" dirty="0"/>
              <a:t>Accumulating snapshot fact tables sometimes include </a:t>
            </a:r>
            <a:r>
              <a:rPr lang="en-US" i="1" dirty="0">
                <a:solidFill>
                  <a:srgbClr val="FF0000"/>
                </a:solidFill>
              </a:rPr>
              <a:t>milestone completion counters</a:t>
            </a:r>
            <a:r>
              <a:rPr lang="en-US" dirty="0"/>
              <a:t>, valued as either 0 or 1. </a:t>
            </a:r>
          </a:p>
          <a:p>
            <a:r>
              <a:rPr lang="en-US" dirty="0"/>
              <a:t>Accumulating snapshots often have a foreign key to a status dimension, which is </a:t>
            </a:r>
            <a:r>
              <a:rPr lang="en-US" i="1" dirty="0">
                <a:solidFill>
                  <a:srgbClr val="FF0000"/>
                </a:solidFill>
              </a:rPr>
              <a:t>updated to reflect the pipeline’s latest status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33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2A4D-3BBE-E64C-ABD8-78377FC7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Accumulating Snapshot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6F5BE-04E4-4E47-AED5-D64FC989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617"/>
            <a:ext cx="10515600" cy="4351338"/>
          </a:xfrm>
        </p:spPr>
        <p:txBody>
          <a:bodyPr/>
          <a:lstStyle/>
          <a:p>
            <a:r>
              <a:rPr lang="en-US" sz="2400" dirty="0"/>
              <a:t>The accumulating snapshot fact table provides an updated status of the lot as it moves through </a:t>
            </a:r>
            <a:r>
              <a:rPr lang="en-US" sz="2400" i="1" dirty="0">
                <a:solidFill>
                  <a:srgbClr val="FF0000"/>
                </a:solidFill>
              </a:rPr>
              <a:t>standard milestones </a:t>
            </a:r>
            <a:r>
              <a:rPr lang="en-US" sz="2400" dirty="0"/>
              <a:t>represented by </a:t>
            </a:r>
            <a:r>
              <a:rPr lang="en-US" sz="2400" i="1" dirty="0">
                <a:solidFill>
                  <a:srgbClr val="FF0000"/>
                </a:solidFill>
              </a:rPr>
              <a:t>multiple date-valued foreign keys</a:t>
            </a:r>
            <a:r>
              <a:rPr lang="en-US" sz="2400" dirty="0"/>
              <a:t>. </a:t>
            </a:r>
          </a:p>
          <a:p>
            <a:r>
              <a:rPr lang="en-US" sz="2400" dirty="0"/>
              <a:t>Each accumulating snapshot fact table row is </a:t>
            </a:r>
            <a:r>
              <a:rPr lang="en-US" sz="2400" i="1" dirty="0">
                <a:solidFill>
                  <a:srgbClr val="FF0000"/>
                </a:solidFill>
              </a:rPr>
              <a:t>updated</a:t>
            </a:r>
            <a:r>
              <a:rPr lang="en-US" sz="2400" dirty="0"/>
              <a:t> repeatedly until the products received in a lot are completely depleted from the warehouse;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160EC-8BD0-074D-BC4A-C630842CD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08" y="3664956"/>
            <a:ext cx="7108643" cy="282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99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FE7D-D519-EC46-B1F8-87A4829A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of Accumulating Snapshot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3FE8-1015-2A4A-A0AE-31906A62E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 Processing</a:t>
            </a:r>
          </a:p>
          <a:p>
            <a:endParaRPr lang="en-US" dirty="0"/>
          </a:p>
          <a:p>
            <a:r>
              <a:rPr lang="en-US" i="1" dirty="0"/>
              <a:t>Lags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0F6D1-FC62-4041-BA69-09CF0CAE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730" y="1535940"/>
            <a:ext cx="252730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79BB1-EF9B-0144-A7E9-5F77CF430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08" y="2199633"/>
            <a:ext cx="2616200" cy="215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68395-0BB2-7A47-9FE4-1B618969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93570"/>
            <a:ext cx="10625847" cy="197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84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58EB-E444-9C47-8220-D7310688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Accumulating snapshot tables are helpful when: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07C5-42B9-694A-B09E-735668E1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Accumulating snapshot tables are helpful when:</a:t>
            </a:r>
          </a:p>
          <a:p>
            <a:pPr lvl="1"/>
            <a:r>
              <a:rPr lang="en-US" dirty="0"/>
              <a:t>You are studying the time between linear and predictable milestones</a:t>
            </a:r>
          </a:p>
          <a:p>
            <a:pPr lvl="1"/>
            <a:r>
              <a:rPr lang="en-US" dirty="0"/>
              <a:t>You are looking to avoid the complexity of correlated subqueries or the possible performance issues of drilling across fact tables.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15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77020-F2CC-7D43-879D-CF398303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 Types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950DF-E624-7D43-9AAF-F07DBF8C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060156" cy="441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19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9766-26F8-B443-9981-DC2A8340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 Types Comparison cont.</a:t>
            </a:r>
          </a:p>
        </p:txBody>
      </p:sp>
      <p:pic>
        <p:nvPicPr>
          <p:cNvPr id="1026" name="Picture 2" descr="SQL Server Performance Tuning : Slowly Changing Facts? | Garrett Edmondson">
            <a:extLst>
              <a:ext uri="{FF2B5EF4-FFF2-40B4-BE49-F238E27FC236}">
                <a16:creationId xmlns:a16="http://schemas.microsoft.com/office/drawing/2014/main" id="{6AD00C4D-F9AD-7849-9A96-C2899C6D5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141" y="1600333"/>
            <a:ext cx="8274050" cy="465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35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8BD7-EFA2-BF44-8414-0F5D8D53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Complementary Fact Table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18AC8-5BD3-BB4E-8DDE-11C13024C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Accumulating and periodic snapshots work in conjunction with one another;</a:t>
            </a:r>
          </a:p>
          <a:p>
            <a:pPr lvl="1"/>
            <a:r>
              <a:rPr lang="en-US" dirty="0"/>
              <a:t>When you incrementally build the </a:t>
            </a:r>
            <a:r>
              <a:rPr lang="en-US" dirty="0">
                <a:solidFill>
                  <a:srgbClr val="FF0000"/>
                </a:solidFill>
              </a:rPr>
              <a:t>monthly snapshot </a:t>
            </a:r>
            <a:r>
              <a:rPr lang="en-US" dirty="0"/>
              <a:t>by adding the effect of each day’s transactions to a </a:t>
            </a:r>
            <a:r>
              <a:rPr lang="en-US" dirty="0">
                <a:solidFill>
                  <a:srgbClr val="FF0000"/>
                </a:solidFill>
              </a:rPr>
              <a:t>rolling accumulating snapshot </a:t>
            </a:r>
            <a:r>
              <a:rPr lang="en-US" dirty="0"/>
              <a:t>while also storing 36 months of historical data in a periodic snapshot. </a:t>
            </a:r>
          </a:p>
          <a:p>
            <a:r>
              <a:rPr lang="en-US" dirty="0"/>
              <a:t>Transactions and snapshots are the yin and yang of dimensional designs. </a:t>
            </a:r>
          </a:p>
          <a:p>
            <a:pPr lvl="1"/>
            <a:r>
              <a:rPr lang="en-US" dirty="0"/>
              <a:t>Used together, companion transaction and snapshot fact tables provide a complete view of the business.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498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7BCD-91AF-E34D-ABB9-FB8AA7F9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Chain Integration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979BD-4030-EF4D-A888-D374FAFD9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separate fact tables in separate dimensional schemas represent the data from each process, the models share several common business dimensions: date, product, and store.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AF2E8-8C30-4E4C-9895-9B001DEC3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791" y="3303256"/>
            <a:ext cx="8714767" cy="263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55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1903</Words>
  <Application>Microsoft Macintosh PowerPoint</Application>
  <PresentationFormat>Widescreen</PresentationFormat>
  <Paragraphs>209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Optimo-Plain</vt:lpstr>
      <vt:lpstr>Arial</vt:lpstr>
      <vt:lpstr>barlow</vt:lpstr>
      <vt:lpstr>Calibri</vt:lpstr>
      <vt:lpstr>Calibri Light</vt:lpstr>
      <vt:lpstr>Office Theme</vt:lpstr>
      <vt:lpstr>Introduction to Dimensional Modeling II</vt:lpstr>
      <vt:lpstr>Dimension and Fact Table Keys</vt:lpstr>
      <vt:lpstr>Dimension and Fact Table Keys</vt:lpstr>
      <vt:lpstr>Dimension and Fact Table Keys</vt:lpstr>
      <vt:lpstr>Dimension and Fact Table Keys</vt:lpstr>
      <vt:lpstr>Dimension and Fact Table Keys</vt:lpstr>
      <vt:lpstr>Fact Table Surrogate Keys</vt:lpstr>
      <vt:lpstr>Fact Table Surrogate Keys</vt:lpstr>
      <vt:lpstr>Basic Dimension Table Techniques </vt:lpstr>
      <vt:lpstr>Retail Case Study</vt:lpstr>
      <vt:lpstr>Comparison</vt:lpstr>
      <vt:lpstr>Basic Dimension Table Techniques </vt:lpstr>
      <vt:lpstr>Retail Case Study</vt:lpstr>
      <vt:lpstr>Basic Dimension Table Techniques </vt:lpstr>
      <vt:lpstr>Graceful Extensions to Dimensional Models </vt:lpstr>
      <vt:lpstr>Organizational Value Chains </vt:lpstr>
      <vt:lpstr>Organizational Value Chains </vt:lpstr>
      <vt:lpstr>Three Fact Table Types </vt:lpstr>
      <vt:lpstr>Transaction Fact Tables</vt:lpstr>
      <vt:lpstr>Inventory Transactions </vt:lpstr>
      <vt:lpstr>Inventory Transactions </vt:lpstr>
      <vt:lpstr>Periodic Snapshot Fact Tables</vt:lpstr>
      <vt:lpstr>Inventory Periodic Snapshot (the most common inventory schema)</vt:lpstr>
      <vt:lpstr>Additional Fact Techniques</vt:lpstr>
      <vt:lpstr>Periodic Snapshot Fact Tables and Transactional fact table Comparison</vt:lpstr>
      <vt:lpstr>Periodic Snapshot Fact Tables and Transactional fact table Comparison</vt:lpstr>
      <vt:lpstr>Lab 1 Question 1</vt:lpstr>
      <vt:lpstr>Common Fact Table Examples</vt:lpstr>
      <vt:lpstr>Accumulating Snapshot Fact Tables</vt:lpstr>
      <vt:lpstr>Inventory Accumulating Snapshot </vt:lpstr>
      <vt:lpstr>Lags Between Milestones and Milestone Counts </vt:lpstr>
      <vt:lpstr>Inventory Accumulating Snapshot </vt:lpstr>
      <vt:lpstr>More examples of Accumulating Snapshot </vt:lpstr>
      <vt:lpstr>Accumulating snapshot tables are helpful when:</vt:lpstr>
      <vt:lpstr>Fact Table Types Comparison</vt:lpstr>
      <vt:lpstr>Fact Table Types Comparison cont.</vt:lpstr>
      <vt:lpstr>Complementary Fact Table Types </vt:lpstr>
      <vt:lpstr>Value Chain Integration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Dimensional Modeling II</dc:title>
  <dc:creator>Microsoft Office User</dc:creator>
  <cp:lastModifiedBy>Microsoft Office User</cp:lastModifiedBy>
  <cp:revision>72</cp:revision>
  <dcterms:created xsi:type="dcterms:W3CDTF">2020-08-16T16:41:21Z</dcterms:created>
  <dcterms:modified xsi:type="dcterms:W3CDTF">2023-01-31T21:46:29Z</dcterms:modified>
</cp:coreProperties>
</file>