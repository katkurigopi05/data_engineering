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2" r:id="rId21"/>
    <p:sldId id="275" r:id="rId22"/>
    <p:sldId id="276" r:id="rId23"/>
    <p:sldId id="283" r:id="rId24"/>
    <p:sldId id="277" r:id="rId25"/>
    <p:sldId id="278" r:id="rId26"/>
    <p:sldId id="279" r:id="rId27"/>
    <p:sldId id="284" r:id="rId28"/>
    <p:sldId id="280" r:id="rId29"/>
    <p:sldId id="28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787"/>
    <p:restoredTop sz="94677"/>
  </p:normalViewPr>
  <p:slideViewPr>
    <p:cSldViewPr snapToGrid="0" snapToObjects="1">
      <p:cViewPr>
        <p:scale>
          <a:sx n="100" d="100"/>
          <a:sy n="100" d="100"/>
        </p:scale>
        <p:origin x="11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DE5D7-77F4-884E-B7BF-C11A7B0AE2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BB8917B-ECA8-2F4E-8C1E-F8CDC9659B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F9E651-BB24-E043-B9D5-691DC724E986}"/>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5" name="Footer Placeholder 4">
            <a:extLst>
              <a:ext uri="{FF2B5EF4-FFF2-40B4-BE49-F238E27FC236}">
                <a16:creationId xmlns:a16="http://schemas.microsoft.com/office/drawing/2014/main" id="{7595D7D1-4CD0-1546-966E-B07090F414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E587AB-D79D-0F41-8428-8B0DFE654966}"/>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42514171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B1231-B86A-154E-800D-E9F3660D42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D57290-9E16-2846-BED7-4AD1621953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388F75-F2E0-E24B-959F-18D6079C58FC}"/>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5" name="Footer Placeholder 4">
            <a:extLst>
              <a:ext uri="{FF2B5EF4-FFF2-40B4-BE49-F238E27FC236}">
                <a16:creationId xmlns:a16="http://schemas.microsoft.com/office/drawing/2014/main" id="{41AE5846-686F-6546-9C45-B8C5730235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2F1097-351D-2040-8585-B3E63297CDC6}"/>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16146401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7284E-47F0-1248-98BD-E6608859C5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1EEA03-C827-2F46-B66F-85C82F1AF8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254A61-C320-CD48-B623-777FF9373E38}"/>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5" name="Footer Placeholder 4">
            <a:extLst>
              <a:ext uri="{FF2B5EF4-FFF2-40B4-BE49-F238E27FC236}">
                <a16:creationId xmlns:a16="http://schemas.microsoft.com/office/drawing/2014/main" id="{8D76C793-DE56-1547-B20D-3731553640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A462B-0F81-614A-B694-8550E7931F0A}"/>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3338610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DD052-A21B-AD49-87A0-5B5553F68C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85C0BA-9D66-DE49-9787-261B811E71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BC5B46-3AA0-DB4C-8AB2-C86344E7FE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800FA9-F358-8347-A644-738CE9470C4B}"/>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6" name="Footer Placeholder 5">
            <a:extLst>
              <a:ext uri="{FF2B5EF4-FFF2-40B4-BE49-F238E27FC236}">
                <a16:creationId xmlns:a16="http://schemas.microsoft.com/office/drawing/2014/main" id="{7527EA67-0E97-3247-964F-5E5CD42B32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75C722-1786-9346-BD24-ACF253CE2369}"/>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1751269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FF9A7-4ECC-A04C-AFC6-79DC5C8F33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C79D70-E9EC-CA48-AE8B-1345249EDF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7722B8-44D3-5D40-9D54-9A20BA8F9E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2F133B-34EA-8B48-8116-5E090D0C9B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1AD014-1816-AD45-BC91-3A8525F0F0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A34E1D-4565-3A43-A27F-2C3B5BF1077B}"/>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8" name="Footer Placeholder 7">
            <a:extLst>
              <a:ext uri="{FF2B5EF4-FFF2-40B4-BE49-F238E27FC236}">
                <a16:creationId xmlns:a16="http://schemas.microsoft.com/office/drawing/2014/main" id="{838537E5-68DE-C84D-8DC6-1E6E5EA591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C04D6EE-DF77-7D49-8342-65CB5EEE7498}"/>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1265776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3035B-C11B-8446-8040-A96700E400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481250-B3E4-2548-9003-9F38012CC6A3}"/>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4" name="Footer Placeholder 3">
            <a:extLst>
              <a:ext uri="{FF2B5EF4-FFF2-40B4-BE49-F238E27FC236}">
                <a16:creationId xmlns:a16="http://schemas.microsoft.com/office/drawing/2014/main" id="{DB38DA2F-B73B-9C4B-BAEE-F46D45DA6D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D8DFB6-8E50-6247-A4BA-FC62A904923F}"/>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1364648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503943-2F40-E040-8E36-5DB72BE1F8B6}"/>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3" name="Footer Placeholder 2">
            <a:extLst>
              <a:ext uri="{FF2B5EF4-FFF2-40B4-BE49-F238E27FC236}">
                <a16:creationId xmlns:a16="http://schemas.microsoft.com/office/drawing/2014/main" id="{7306E629-1844-624D-8859-BF857AAB43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0245C2-E2C1-724A-B778-403609003E76}"/>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3342436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9161D-EFC9-B747-8FD9-0315B12FE1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64588B-3531-F443-BD16-7F002D8E42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67D944-7E76-8B4E-989C-AE0749BAB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66DD57-5A3A-8B4E-B68B-D440F44A6CE5}"/>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6" name="Footer Placeholder 5">
            <a:extLst>
              <a:ext uri="{FF2B5EF4-FFF2-40B4-BE49-F238E27FC236}">
                <a16:creationId xmlns:a16="http://schemas.microsoft.com/office/drawing/2014/main" id="{FC31F14F-5EC8-0246-8685-2B0425074F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7EA42-EAE9-D74E-BDED-BDE7D75A751B}"/>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218427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7401-8FCC-8248-B5C3-2889DCD20F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62C5B2-F00E-374B-8ECF-73FE2E2F58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99763A-53CA-3449-BBF8-BBE0455FB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750F15-3E98-2944-896C-76CDD4ADBCA5}"/>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6" name="Footer Placeholder 5">
            <a:extLst>
              <a:ext uri="{FF2B5EF4-FFF2-40B4-BE49-F238E27FC236}">
                <a16:creationId xmlns:a16="http://schemas.microsoft.com/office/drawing/2014/main" id="{2197B36E-B510-DA48-B641-B819248888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9E35D1-627D-9E41-A97D-33252840199A}"/>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1757920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0124-5A3A-DA4B-9BF4-9720910EA3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48E1F1-8234-0B44-AAF2-792D597BF2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AFEC9A-4B71-C94C-9807-42C4907A0D04}"/>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5" name="Footer Placeholder 4">
            <a:extLst>
              <a:ext uri="{FF2B5EF4-FFF2-40B4-BE49-F238E27FC236}">
                <a16:creationId xmlns:a16="http://schemas.microsoft.com/office/drawing/2014/main" id="{0C646B9B-F0F5-774A-9124-309859F361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15B30D-E230-104F-B93C-9F6D3CB5DD94}"/>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888688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DEF82E-6E59-A14C-95FE-B90DB590121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348A3D-09A0-A14E-BF32-0F5013BAE9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F236B2-48A1-F44E-8200-DFE5B3A3265B}"/>
              </a:ext>
            </a:extLst>
          </p:cNvPr>
          <p:cNvSpPr>
            <a:spLocks noGrp="1"/>
          </p:cNvSpPr>
          <p:nvPr>
            <p:ph type="dt" sz="half" idx="10"/>
          </p:nvPr>
        </p:nvSpPr>
        <p:spPr/>
        <p:txBody>
          <a:bodyPr/>
          <a:lstStyle/>
          <a:p>
            <a:fld id="{DDC7F673-E7ED-1649-ADCF-63E53774D171}" type="datetimeFigureOut">
              <a:rPr lang="en-US" smtClean="0"/>
              <a:t>9/15/20</a:t>
            </a:fld>
            <a:endParaRPr lang="en-US"/>
          </a:p>
        </p:txBody>
      </p:sp>
      <p:sp>
        <p:nvSpPr>
          <p:cNvPr id="5" name="Footer Placeholder 4">
            <a:extLst>
              <a:ext uri="{FF2B5EF4-FFF2-40B4-BE49-F238E27FC236}">
                <a16:creationId xmlns:a16="http://schemas.microsoft.com/office/drawing/2014/main" id="{7795499A-5BFF-1E43-9B3F-978C9CB7D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520093-8A62-5440-B9EA-D7D85EA89848}"/>
              </a:ext>
            </a:extLst>
          </p:cNvPr>
          <p:cNvSpPr>
            <a:spLocks noGrp="1"/>
          </p:cNvSpPr>
          <p:nvPr>
            <p:ph type="sldNum" sz="quarter" idx="12"/>
          </p:nvPr>
        </p:nvSpPr>
        <p:spPr/>
        <p:txBody>
          <a:bodyPr/>
          <a:lstStyle/>
          <a:p>
            <a:fld id="{02B6E35B-3797-3248-BD14-E9E393990742}" type="slidenum">
              <a:rPr lang="en-US" smtClean="0"/>
              <a:t>‹#›</a:t>
            </a:fld>
            <a:endParaRPr lang="en-US"/>
          </a:p>
        </p:txBody>
      </p:sp>
    </p:spTree>
    <p:extLst>
      <p:ext uri="{BB962C8B-B14F-4D97-AF65-F5344CB8AC3E}">
        <p14:creationId xmlns:p14="http://schemas.microsoft.com/office/powerpoint/2010/main" val="2756739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03387F-8C07-8B4D-8255-BCB8720693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48C05D-5D5A-FE4F-9283-115D5FEC9F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5B2008-65B5-824B-9BAC-0E26A5099C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C7F673-E7ED-1649-ADCF-63E53774D171}" type="datetimeFigureOut">
              <a:rPr lang="en-US" smtClean="0"/>
              <a:t>9/15/20</a:t>
            </a:fld>
            <a:endParaRPr lang="en-US"/>
          </a:p>
        </p:txBody>
      </p:sp>
      <p:sp>
        <p:nvSpPr>
          <p:cNvPr id="5" name="Footer Placeholder 4">
            <a:extLst>
              <a:ext uri="{FF2B5EF4-FFF2-40B4-BE49-F238E27FC236}">
                <a16:creationId xmlns:a16="http://schemas.microsoft.com/office/drawing/2014/main" id="{45707127-67C9-8440-A051-6F9310DC66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8582A1-A6C2-CE42-8A9E-570F9CE4B8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B6E35B-3797-3248-BD14-E9E393990742}" type="slidenum">
              <a:rPr lang="en-US" smtClean="0"/>
              <a:t>‹#›</a:t>
            </a:fld>
            <a:endParaRPr lang="en-US"/>
          </a:p>
        </p:txBody>
      </p:sp>
    </p:spTree>
    <p:extLst>
      <p:ext uri="{BB962C8B-B14F-4D97-AF65-F5344CB8AC3E}">
        <p14:creationId xmlns:p14="http://schemas.microsoft.com/office/powerpoint/2010/main" val="3371605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055FB-8F83-1342-A967-E90F56936FAE}"/>
              </a:ext>
            </a:extLst>
          </p:cNvPr>
          <p:cNvSpPr>
            <a:spLocks noGrp="1"/>
          </p:cNvSpPr>
          <p:nvPr>
            <p:ph type="ctrTitle"/>
          </p:nvPr>
        </p:nvSpPr>
        <p:spPr/>
        <p:txBody>
          <a:bodyPr/>
          <a:lstStyle/>
          <a:p>
            <a:r>
              <a:rPr lang="en-US" dirty="0"/>
              <a:t>Lecture 5: Procurement and Slowly Changing Dimensions</a:t>
            </a:r>
          </a:p>
        </p:txBody>
      </p:sp>
      <p:sp>
        <p:nvSpPr>
          <p:cNvPr id="3" name="Subtitle 2">
            <a:extLst>
              <a:ext uri="{FF2B5EF4-FFF2-40B4-BE49-F238E27FC236}">
                <a16:creationId xmlns:a16="http://schemas.microsoft.com/office/drawing/2014/main" id="{BE46D695-A3CB-CE4F-BCDE-2CDBE8929B6A}"/>
              </a:ext>
            </a:extLst>
          </p:cNvPr>
          <p:cNvSpPr>
            <a:spLocks noGrp="1"/>
          </p:cNvSpPr>
          <p:nvPr>
            <p:ph type="subTitle" idx="1"/>
          </p:nvPr>
        </p:nvSpPr>
        <p:spPr/>
        <p:txBody>
          <a:bodyPr/>
          <a:lstStyle/>
          <a:p>
            <a:r>
              <a:rPr lang="en-US" dirty="0"/>
              <a:t>Chapter 5</a:t>
            </a:r>
          </a:p>
        </p:txBody>
      </p:sp>
    </p:spTree>
    <p:extLst>
      <p:ext uri="{BB962C8B-B14F-4D97-AF65-F5344CB8AC3E}">
        <p14:creationId xmlns:p14="http://schemas.microsoft.com/office/powerpoint/2010/main" val="908623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46773-EFD3-914A-B0B0-43B104366566}"/>
              </a:ext>
            </a:extLst>
          </p:cNvPr>
          <p:cNvSpPr>
            <a:spLocks noGrp="1"/>
          </p:cNvSpPr>
          <p:nvPr>
            <p:ph type="title"/>
          </p:nvPr>
        </p:nvSpPr>
        <p:spPr/>
        <p:txBody>
          <a:bodyPr/>
          <a:lstStyle/>
          <a:p>
            <a:r>
              <a:rPr lang="en-US" dirty="0"/>
              <a:t>Procurement Processes</a:t>
            </a:r>
          </a:p>
        </p:txBody>
      </p:sp>
      <p:sp>
        <p:nvSpPr>
          <p:cNvPr id="3" name="Content Placeholder 2">
            <a:extLst>
              <a:ext uri="{FF2B5EF4-FFF2-40B4-BE49-F238E27FC236}">
                <a16:creationId xmlns:a16="http://schemas.microsoft.com/office/drawing/2014/main" id="{20FFF668-3830-914D-B753-C01008D73EBD}"/>
              </a:ext>
            </a:extLst>
          </p:cNvPr>
          <p:cNvSpPr>
            <a:spLocks noGrp="1"/>
          </p:cNvSpPr>
          <p:nvPr>
            <p:ph idx="1"/>
          </p:nvPr>
        </p:nvSpPr>
        <p:spPr>
          <a:xfrm>
            <a:off x="838200" y="1589320"/>
            <a:ext cx="10515600" cy="4351338"/>
          </a:xfrm>
        </p:spPr>
        <p:txBody>
          <a:bodyPr/>
          <a:lstStyle/>
          <a:p>
            <a:r>
              <a:rPr lang="en-US" sz="2400" dirty="0"/>
              <a:t>Procurement is a critical business activity: (1). Effective procurement of products at the right price for resale; (2). buys products as raw materials for manufacturing;</a:t>
            </a:r>
          </a:p>
          <a:p>
            <a:r>
              <a:rPr lang="en-US" sz="2400" dirty="0"/>
              <a:t>Procurement involves activities from negotiating contracts to issuing purchase requisitions and purchase orders (POs) to tracking receipts and authorizing payments. </a:t>
            </a:r>
          </a:p>
          <a:p>
            <a:pPr lvl="1"/>
            <a:r>
              <a:rPr lang="en-US" sz="2000" dirty="0"/>
              <a:t>Significant cost savings opportunities are associated with reducing the number of suppliers and negotiating agreements with preferred suppliers. </a:t>
            </a:r>
          </a:p>
          <a:p>
            <a:endParaRPr lang="en-US" sz="2400"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791D21E2-B7B1-E24F-B2EC-D14CA96F617F}"/>
              </a:ext>
            </a:extLst>
          </p:cNvPr>
          <p:cNvPicPr>
            <a:picLocks noChangeAspect="1"/>
          </p:cNvPicPr>
          <p:nvPr/>
        </p:nvPicPr>
        <p:blipFill>
          <a:blip r:embed="rId2"/>
          <a:stretch>
            <a:fillRect/>
          </a:stretch>
        </p:blipFill>
        <p:spPr>
          <a:xfrm>
            <a:off x="2065105" y="4589851"/>
            <a:ext cx="7783487" cy="1739030"/>
          </a:xfrm>
          <a:prstGeom prst="rect">
            <a:avLst/>
          </a:prstGeom>
        </p:spPr>
      </p:pic>
    </p:spTree>
    <p:extLst>
      <p:ext uri="{BB962C8B-B14F-4D97-AF65-F5344CB8AC3E}">
        <p14:creationId xmlns:p14="http://schemas.microsoft.com/office/powerpoint/2010/main" val="2390217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E98D0-3951-2143-99A5-372FF84B2884}"/>
              </a:ext>
            </a:extLst>
          </p:cNvPr>
          <p:cNvSpPr>
            <a:spLocks noGrp="1"/>
          </p:cNvSpPr>
          <p:nvPr>
            <p:ph type="title"/>
          </p:nvPr>
        </p:nvSpPr>
        <p:spPr/>
        <p:txBody>
          <a:bodyPr/>
          <a:lstStyle/>
          <a:p>
            <a:r>
              <a:rPr lang="en-US" dirty="0"/>
              <a:t>Procurement Transactions and Bus Matrix</a:t>
            </a:r>
          </a:p>
        </p:txBody>
      </p:sp>
      <p:sp>
        <p:nvSpPr>
          <p:cNvPr id="3" name="Content Placeholder 2">
            <a:extLst>
              <a:ext uri="{FF2B5EF4-FFF2-40B4-BE49-F238E27FC236}">
                <a16:creationId xmlns:a16="http://schemas.microsoft.com/office/drawing/2014/main" id="{38A872A2-7310-0B40-AFF3-E86FFA1659FE}"/>
              </a:ext>
            </a:extLst>
          </p:cNvPr>
          <p:cNvSpPr>
            <a:spLocks noGrp="1"/>
          </p:cNvSpPr>
          <p:nvPr>
            <p:ph idx="1"/>
          </p:nvPr>
        </p:nvSpPr>
        <p:spPr/>
        <p:txBody>
          <a:bodyPr/>
          <a:lstStyle/>
          <a:p>
            <a:r>
              <a:rPr lang="en-US" dirty="0"/>
              <a:t>A collection of procurement transactions, such as purchase requisitions, purchase orders, shipping notifications, receipts, and payments. </a:t>
            </a:r>
          </a:p>
          <a:p>
            <a:r>
              <a:rPr lang="en-US" dirty="0"/>
              <a:t>Grain: one row per procurement transaction;</a:t>
            </a:r>
          </a:p>
          <a:p>
            <a:r>
              <a:rPr lang="en-US" dirty="0"/>
              <a:t>Key dimensions: transaction date, product, vendor, contract terms, and procurement transaction type; </a:t>
            </a:r>
          </a:p>
          <a:p>
            <a:r>
              <a:rPr lang="en-US" dirty="0"/>
              <a:t>Facts: The procurement transaction quantity and dollar amount;</a:t>
            </a:r>
            <a:endParaRPr lang="en-US" dirty="0">
              <a:effectLst/>
            </a:endParaRPr>
          </a:p>
          <a:p>
            <a:endParaRPr lang="en-US" dirty="0"/>
          </a:p>
        </p:txBody>
      </p:sp>
    </p:spTree>
    <p:extLst>
      <p:ext uri="{BB962C8B-B14F-4D97-AF65-F5344CB8AC3E}">
        <p14:creationId xmlns:p14="http://schemas.microsoft.com/office/powerpoint/2010/main" val="3444836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0C87-1143-C442-A689-F20B0BAF0D53}"/>
              </a:ext>
            </a:extLst>
          </p:cNvPr>
          <p:cNvSpPr>
            <a:spLocks noGrp="1"/>
          </p:cNvSpPr>
          <p:nvPr>
            <p:ph type="title"/>
          </p:nvPr>
        </p:nvSpPr>
        <p:spPr/>
        <p:txBody>
          <a:bodyPr>
            <a:normAutofit/>
          </a:bodyPr>
          <a:lstStyle/>
          <a:p>
            <a:r>
              <a:rPr lang="en-US" dirty="0"/>
              <a:t>Procurement fact table with multiple transaction types </a:t>
            </a:r>
          </a:p>
        </p:txBody>
      </p:sp>
      <p:sp>
        <p:nvSpPr>
          <p:cNvPr id="3" name="Content Placeholder 2">
            <a:extLst>
              <a:ext uri="{FF2B5EF4-FFF2-40B4-BE49-F238E27FC236}">
                <a16:creationId xmlns:a16="http://schemas.microsoft.com/office/drawing/2014/main" id="{4CFE2F5A-61B4-CC4E-9AAC-73C3283AEB5F}"/>
              </a:ext>
            </a:extLst>
          </p:cNvPr>
          <p:cNvSpPr>
            <a:spLocks noGrp="1"/>
          </p:cNvSpPr>
          <p:nvPr>
            <p:ph idx="1"/>
          </p:nvPr>
        </p:nvSpPr>
        <p:spPr>
          <a:xfrm>
            <a:off x="355314" y="1860478"/>
            <a:ext cx="4555733" cy="4351338"/>
          </a:xfrm>
        </p:spPr>
        <p:txBody>
          <a:bodyPr>
            <a:normAutofit fontScale="85000" lnSpcReduction="10000"/>
          </a:bodyPr>
          <a:lstStyle/>
          <a:p>
            <a:r>
              <a:rPr lang="en-US" dirty="0"/>
              <a:t>The vendor dimension contains one row for each vendor;</a:t>
            </a:r>
          </a:p>
          <a:p>
            <a:r>
              <a:rPr lang="en-US" dirty="0"/>
              <a:t>The contract terms dimension contains one row for each generalized set of negotiated terms;</a:t>
            </a:r>
          </a:p>
          <a:p>
            <a:r>
              <a:rPr lang="en-US" dirty="0"/>
              <a:t>The procurement transaction type dimension enables grouping or filtering on transaction types, such as purchase orders;</a:t>
            </a:r>
          </a:p>
          <a:p>
            <a:r>
              <a:rPr lang="en-US" dirty="0"/>
              <a:t>The contract number is a degenerate dimension; </a:t>
            </a:r>
          </a:p>
          <a:p>
            <a:pPr marL="0" indent="0">
              <a:buNone/>
            </a:pPr>
            <a:endParaRPr lang="en-US" dirty="0"/>
          </a:p>
          <a:p>
            <a:endParaRPr lang="en-US" dirty="0"/>
          </a:p>
        </p:txBody>
      </p:sp>
      <p:pic>
        <p:nvPicPr>
          <p:cNvPr id="7" name="Picture 6">
            <a:extLst>
              <a:ext uri="{FF2B5EF4-FFF2-40B4-BE49-F238E27FC236}">
                <a16:creationId xmlns:a16="http://schemas.microsoft.com/office/drawing/2014/main" id="{C8EF259B-EBF7-4C45-8C81-CB41F9841AEC}"/>
              </a:ext>
            </a:extLst>
          </p:cNvPr>
          <p:cNvPicPr>
            <a:picLocks noChangeAspect="1"/>
          </p:cNvPicPr>
          <p:nvPr/>
        </p:nvPicPr>
        <p:blipFill>
          <a:blip r:embed="rId2"/>
          <a:stretch>
            <a:fillRect/>
          </a:stretch>
        </p:blipFill>
        <p:spPr>
          <a:xfrm>
            <a:off x="4797654" y="1860478"/>
            <a:ext cx="7309941" cy="3276601"/>
          </a:xfrm>
          <a:prstGeom prst="rect">
            <a:avLst/>
          </a:prstGeom>
        </p:spPr>
      </p:pic>
    </p:spTree>
    <p:extLst>
      <p:ext uri="{BB962C8B-B14F-4D97-AF65-F5344CB8AC3E}">
        <p14:creationId xmlns:p14="http://schemas.microsoft.com/office/powerpoint/2010/main" val="1350127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992F4-918A-5E40-9CBF-E31D9E10D846}"/>
              </a:ext>
            </a:extLst>
          </p:cNvPr>
          <p:cNvSpPr>
            <a:spLocks noGrp="1"/>
          </p:cNvSpPr>
          <p:nvPr>
            <p:ph type="title"/>
          </p:nvPr>
        </p:nvSpPr>
        <p:spPr/>
        <p:txBody>
          <a:bodyPr/>
          <a:lstStyle/>
          <a:p>
            <a:r>
              <a:rPr lang="en-US" dirty="0"/>
              <a:t>Single Versus Multiple Transaction Fact Tables </a:t>
            </a:r>
          </a:p>
        </p:txBody>
      </p:sp>
      <p:sp>
        <p:nvSpPr>
          <p:cNvPr id="3" name="Content Placeholder 2">
            <a:extLst>
              <a:ext uri="{FF2B5EF4-FFF2-40B4-BE49-F238E27FC236}">
                <a16:creationId xmlns:a16="http://schemas.microsoft.com/office/drawing/2014/main" id="{7D6B569D-92E2-254A-8C50-CB1926C46B4D}"/>
              </a:ext>
            </a:extLst>
          </p:cNvPr>
          <p:cNvSpPr>
            <a:spLocks noGrp="1"/>
          </p:cNvSpPr>
          <p:nvPr>
            <p:ph idx="1"/>
          </p:nvPr>
        </p:nvSpPr>
        <p:spPr/>
        <p:txBody>
          <a:bodyPr>
            <a:normAutofit/>
          </a:bodyPr>
          <a:lstStyle/>
          <a:p>
            <a:r>
              <a:rPr lang="en-US" dirty="0"/>
              <a:t>To the business, purchase orders, shipping notices, warehouse receipts, and vendor payments are all viewed as separate and unique processes. </a:t>
            </a:r>
          </a:p>
          <a:p>
            <a:r>
              <a:rPr lang="en-US" dirty="0"/>
              <a:t>Several transaction types have different dimensionality.</a:t>
            </a:r>
          </a:p>
          <a:p>
            <a:pPr lvl="1"/>
            <a:r>
              <a:rPr lang="en-US" dirty="0"/>
              <a:t>Discounts taken are applicable to vendor payments but not to the other transaction types. </a:t>
            </a:r>
          </a:p>
          <a:p>
            <a:r>
              <a:rPr lang="en-US" dirty="0"/>
              <a:t>Different control numbers, such as purchase order and payment check numbers, created at various steps in the procurement pipeline.</a:t>
            </a:r>
          </a:p>
          <a:p>
            <a:pPr lvl="1"/>
            <a:r>
              <a:rPr lang="en-US" dirty="0"/>
              <a:t>Candidates for degenerate dimensions; </a:t>
            </a:r>
          </a:p>
          <a:p>
            <a:pPr lvl="1"/>
            <a:r>
              <a:rPr lang="en-US" dirty="0"/>
              <a:t>More than one control number may apply for certain transaction types. </a:t>
            </a:r>
          </a:p>
          <a:p>
            <a:endParaRPr lang="en-US" dirty="0"/>
          </a:p>
        </p:txBody>
      </p:sp>
    </p:spTree>
    <p:extLst>
      <p:ext uri="{BB962C8B-B14F-4D97-AF65-F5344CB8AC3E}">
        <p14:creationId xmlns:p14="http://schemas.microsoft.com/office/powerpoint/2010/main" val="4220758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96FBD-8C90-8248-A122-51AA9DBAF156}"/>
              </a:ext>
            </a:extLst>
          </p:cNvPr>
          <p:cNvSpPr>
            <a:spLocks noGrp="1"/>
          </p:cNvSpPr>
          <p:nvPr>
            <p:ph type="title"/>
          </p:nvPr>
        </p:nvSpPr>
        <p:spPr/>
        <p:txBody>
          <a:bodyPr/>
          <a:lstStyle/>
          <a:p>
            <a:r>
              <a:rPr lang="en-US" dirty="0"/>
              <a:t>Single Versus Multiple Transaction Fact Tables </a:t>
            </a:r>
          </a:p>
        </p:txBody>
      </p:sp>
      <p:sp>
        <p:nvSpPr>
          <p:cNvPr id="3" name="Content Placeholder 2">
            <a:extLst>
              <a:ext uri="{FF2B5EF4-FFF2-40B4-BE49-F238E27FC236}">
                <a16:creationId xmlns:a16="http://schemas.microsoft.com/office/drawing/2014/main" id="{DFA25D86-20F7-D044-A0E9-807D40BFBA9A}"/>
              </a:ext>
            </a:extLst>
          </p:cNvPr>
          <p:cNvSpPr>
            <a:spLocks noGrp="1"/>
          </p:cNvSpPr>
          <p:nvPr>
            <p:ph idx="1"/>
          </p:nvPr>
        </p:nvSpPr>
        <p:spPr/>
        <p:txBody>
          <a:bodyPr>
            <a:normAutofit fontScale="92500" lnSpcReduction="20000"/>
          </a:bodyPr>
          <a:lstStyle/>
          <a:p>
            <a:r>
              <a:rPr lang="en-US" dirty="0"/>
              <a:t>Should you build a blended transaction fact table, or do you build separate fact tables for each transaction type? </a:t>
            </a:r>
          </a:p>
          <a:p>
            <a:r>
              <a:rPr lang="en-US" b="1" dirty="0"/>
              <a:t>What are the users’ analytic requirements? </a:t>
            </a:r>
          </a:p>
          <a:p>
            <a:pPr lvl="1"/>
            <a:r>
              <a:rPr lang="en-US" dirty="0"/>
              <a:t>The goal is to reduce complexity by presenting the data in the most effective form for business users. </a:t>
            </a:r>
            <a:endParaRPr lang="en-US" b="1" dirty="0"/>
          </a:p>
          <a:p>
            <a:r>
              <a:rPr lang="en-US" b="1" dirty="0"/>
              <a:t>Are there really multiple unique business processes? </a:t>
            </a:r>
          </a:p>
          <a:p>
            <a:pPr lvl="1"/>
            <a:r>
              <a:rPr lang="en-US" dirty="0"/>
              <a:t>Buying products (purchase orders) is distinctly different from receiving products (receipts). </a:t>
            </a:r>
          </a:p>
          <a:p>
            <a:r>
              <a:rPr lang="en-US" b="1" dirty="0"/>
              <a:t>Are multiple source systems capturing metrics with unique granularities? </a:t>
            </a:r>
          </a:p>
          <a:p>
            <a:pPr lvl="1"/>
            <a:r>
              <a:rPr lang="en-US" dirty="0"/>
              <a:t>Three separate source systems: purchasing, warehousing, and accounts payable. </a:t>
            </a:r>
          </a:p>
          <a:p>
            <a:r>
              <a:rPr lang="en-US" b="1" dirty="0"/>
              <a:t>What is the dimensionality of the facts? </a:t>
            </a:r>
          </a:p>
          <a:p>
            <a:pPr lvl="1"/>
            <a:r>
              <a:rPr lang="en-US" dirty="0"/>
              <a:t>Several dimensions are applicable to some transaction types but not to others. </a:t>
            </a:r>
          </a:p>
          <a:p>
            <a:endParaRPr lang="en-US" dirty="0"/>
          </a:p>
          <a:p>
            <a:endParaRPr lang="en-US" dirty="0"/>
          </a:p>
          <a:p>
            <a:endParaRPr lang="en-US" dirty="0"/>
          </a:p>
        </p:txBody>
      </p:sp>
    </p:spTree>
    <p:extLst>
      <p:ext uri="{BB962C8B-B14F-4D97-AF65-F5344CB8AC3E}">
        <p14:creationId xmlns:p14="http://schemas.microsoft.com/office/powerpoint/2010/main" val="1888788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676B2-E54C-554B-BBC3-B77536E013A0}"/>
              </a:ext>
            </a:extLst>
          </p:cNvPr>
          <p:cNvSpPr>
            <a:spLocks noGrp="1"/>
          </p:cNvSpPr>
          <p:nvPr>
            <p:ph type="title"/>
          </p:nvPr>
        </p:nvSpPr>
        <p:spPr/>
        <p:txBody>
          <a:bodyPr>
            <a:normAutofit/>
          </a:bodyPr>
          <a:lstStyle/>
          <a:p>
            <a:r>
              <a:rPr lang="en-US" dirty="0"/>
              <a:t>Sample bus matrix rows for procurement processes. </a:t>
            </a:r>
          </a:p>
        </p:txBody>
      </p:sp>
      <p:pic>
        <p:nvPicPr>
          <p:cNvPr id="5" name="Content Placeholder 4">
            <a:extLst>
              <a:ext uri="{FF2B5EF4-FFF2-40B4-BE49-F238E27FC236}">
                <a16:creationId xmlns:a16="http://schemas.microsoft.com/office/drawing/2014/main" id="{3C8E0828-9853-F74E-B34F-8872C654A7F7}"/>
              </a:ext>
            </a:extLst>
          </p:cNvPr>
          <p:cNvPicPr>
            <a:picLocks noGrp="1" noChangeAspect="1"/>
          </p:cNvPicPr>
          <p:nvPr>
            <p:ph idx="1"/>
          </p:nvPr>
        </p:nvPicPr>
        <p:blipFill>
          <a:blip r:embed="rId2"/>
          <a:stretch>
            <a:fillRect/>
          </a:stretch>
        </p:blipFill>
        <p:spPr>
          <a:xfrm>
            <a:off x="838200" y="2072332"/>
            <a:ext cx="10515600" cy="3857924"/>
          </a:xfrm>
        </p:spPr>
      </p:pic>
    </p:spTree>
    <p:extLst>
      <p:ext uri="{BB962C8B-B14F-4D97-AF65-F5344CB8AC3E}">
        <p14:creationId xmlns:p14="http://schemas.microsoft.com/office/powerpoint/2010/main" val="1613088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C4402-9ED4-9F4D-A613-39C0BA955D0A}"/>
              </a:ext>
            </a:extLst>
          </p:cNvPr>
          <p:cNvSpPr>
            <a:spLocks noGrp="1"/>
          </p:cNvSpPr>
          <p:nvPr>
            <p:ph type="title"/>
          </p:nvPr>
        </p:nvSpPr>
        <p:spPr/>
        <p:txBody>
          <a:bodyPr/>
          <a:lstStyle/>
          <a:p>
            <a:r>
              <a:rPr lang="en-US" dirty="0"/>
              <a:t>What is the trade-off?</a:t>
            </a:r>
          </a:p>
        </p:txBody>
      </p:sp>
      <p:sp>
        <p:nvSpPr>
          <p:cNvPr id="3" name="Content Placeholder 2">
            <a:extLst>
              <a:ext uri="{FF2B5EF4-FFF2-40B4-BE49-F238E27FC236}">
                <a16:creationId xmlns:a16="http://schemas.microsoft.com/office/drawing/2014/main" id="{41C73EF0-0BB0-174D-A50F-73DB43DA29A0}"/>
              </a:ext>
            </a:extLst>
          </p:cNvPr>
          <p:cNvSpPr>
            <a:spLocks noGrp="1"/>
          </p:cNvSpPr>
          <p:nvPr>
            <p:ph idx="1"/>
          </p:nvPr>
        </p:nvSpPr>
        <p:spPr/>
        <p:txBody>
          <a:bodyPr>
            <a:normAutofit fontScale="92500" lnSpcReduction="10000"/>
          </a:bodyPr>
          <a:lstStyle/>
          <a:p>
            <a:r>
              <a:rPr lang="en-US" dirty="0"/>
              <a:t>Multiple fact tables:</a:t>
            </a:r>
          </a:p>
          <a:p>
            <a:r>
              <a:rPr lang="en-US" dirty="0"/>
              <a:t>enable richer, more descriptive dimensions and attributes;</a:t>
            </a:r>
          </a:p>
          <a:p>
            <a:r>
              <a:rPr lang="en-US" dirty="0"/>
              <a:t>may require more time to manage and administer because there are more tables to load, index, and aggregate </a:t>
            </a:r>
          </a:p>
          <a:p>
            <a:endParaRPr lang="en-US" dirty="0"/>
          </a:p>
          <a:p>
            <a:r>
              <a:rPr lang="en-US" dirty="0"/>
              <a:t>The single fact table:</a:t>
            </a:r>
          </a:p>
          <a:p>
            <a:r>
              <a:rPr lang="en-US" dirty="0"/>
              <a:t>Require generalized labeling for some dimensions. </a:t>
            </a:r>
          </a:p>
          <a:p>
            <a:r>
              <a:rPr lang="en-US" dirty="0"/>
              <a:t>For example, purchase order date and receipt date would likely have been generalized to simply transaction date. Likewise, purchasing agent and receiving clerk would become employee </a:t>
            </a:r>
          </a:p>
          <a:p>
            <a:endParaRPr lang="en-US" dirty="0"/>
          </a:p>
          <a:p>
            <a:endParaRPr lang="en-US" dirty="0"/>
          </a:p>
          <a:p>
            <a:endParaRPr lang="en-US" dirty="0"/>
          </a:p>
        </p:txBody>
      </p:sp>
    </p:spTree>
    <p:extLst>
      <p:ext uri="{BB962C8B-B14F-4D97-AF65-F5344CB8AC3E}">
        <p14:creationId xmlns:p14="http://schemas.microsoft.com/office/powerpoint/2010/main" val="27814590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71177-0D03-1842-BA10-2B1769900BFA}"/>
              </a:ext>
            </a:extLst>
          </p:cNvPr>
          <p:cNvSpPr>
            <a:spLocks noGrp="1"/>
          </p:cNvSpPr>
          <p:nvPr>
            <p:ph type="title"/>
          </p:nvPr>
        </p:nvSpPr>
        <p:spPr>
          <a:xfrm>
            <a:off x="838200" y="365125"/>
            <a:ext cx="6158501" cy="1325563"/>
          </a:xfrm>
        </p:spPr>
        <p:txBody>
          <a:bodyPr>
            <a:normAutofit/>
          </a:bodyPr>
          <a:lstStyle/>
          <a:p>
            <a:r>
              <a:rPr lang="en-US" dirty="0"/>
              <a:t>Multiple fact tables for </a:t>
            </a:r>
            <a:br>
              <a:rPr lang="en-US" dirty="0"/>
            </a:br>
            <a:r>
              <a:rPr lang="en-US" dirty="0"/>
              <a:t>procurement processes. </a:t>
            </a:r>
          </a:p>
        </p:txBody>
      </p:sp>
      <p:pic>
        <p:nvPicPr>
          <p:cNvPr id="5" name="Content Placeholder 4">
            <a:extLst>
              <a:ext uri="{FF2B5EF4-FFF2-40B4-BE49-F238E27FC236}">
                <a16:creationId xmlns:a16="http://schemas.microsoft.com/office/drawing/2014/main" id="{159F7F13-7DB4-E242-B44D-CEE73A8D417A}"/>
              </a:ext>
            </a:extLst>
          </p:cNvPr>
          <p:cNvPicPr>
            <a:picLocks noGrp="1" noChangeAspect="1"/>
          </p:cNvPicPr>
          <p:nvPr>
            <p:ph idx="1"/>
          </p:nvPr>
        </p:nvPicPr>
        <p:blipFill>
          <a:blip r:embed="rId2"/>
          <a:stretch>
            <a:fillRect/>
          </a:stretch>
        </p:blipFill>
        <p:spPr>
          <a:xfrm>
            <a:off x="720413" y="1887270"/>
            <a:ext cx="6477123" cy="4351338"/>
          </a:xfrm>
        </p:spPr>
      </p:pic>
      <p:pic>
        <p:nvPicPr>
          <p:cNvPr id="7" name="Picture 6">
            <a:extLst>
              <a:ext uri="{FF2B5EF4-FFF2-40B4-BE49-F238E27FC236}">
                <a16:creationId xmlns:a16="http://schemas.microsoft.com/office/drawing/2014/main" id="{8B366330-FE0E-9E45-A8E8-F52FA35AADEA}"/>
              </a:ext>
            </a:extLst>
          </p:cNvPr>
          <p:cNvPicPr>
            <a:picLocks noChangeAspect="1"/>
          </p:cNvPicPr>
          <p:nvPr/>
        </p:nvPicPr>
        <p:blipFill>
          <a:blip r:embed="rId3"/>
          <a:stretch>
            <a:fillRect/>
          </a:stretch>
        </p:blipFill>
        <p:spPr>
          <a:xfrm>
            <a:off x="7458526" y="385441"/>
            <a:ext cx="3709542" cy="6200454"/>
          </a:xfrm>
          <a:prstGeom prst="rect">
            <a:avLst/>
          </a:prstGeom>
        </p:spPr>
      </p:pic>
    </p:spTree>
    <p:extLst>
      <p:ext uri="{BB962C8B-B14F-4D97-AF65-F5344CB8AC3E}">
        <p14:creationId xmlns:p14="http://schemas.microsoft.com/office/powerpoint/2010/main" val="4048517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9964A-D198-D94D-B7AE-3281DB283397}"/>
              </a:ext>
            </a:extLst>
          </p:cNvPr>
          <p:cNvSpPr>
            <a:spLocks noGrp="1"/>
          </p:cNvSpPr>
          <p:nvPr>
            <p:ph type="title"/>
          </p:nvPr>
        </p:nvSpPr>
        <p:spPr/>
        <p:txBody>
          <a:bodyPr>
            <a:normAutofit fontScale="90000"/>
          </a:bodyPr>
          <a:lstStyle/>
          <a:p>
            <a:r>
              <a:rPr lang="en-US" dirty="0"/>
              <a:t>Complementary Procurement Snapshot: Procurement pipeline accumulating snapshot schema </a:t>
            </a:r>
          </a:p>
        </p:txBody>
      </p:sp>
      <p:pic>
        <p:nvPicPr>
          <p:cNvPr id="5" name="Content Placeholder 4">
            <a:extLst>
              <a:ext uri="{FF2B5EF4-FFF2-40B4-BE49-F238E27FC236}">
                <a16:creationId xmlns:a16="http://schemas.microsoft.com/office/drawing/2014/main" id="{8544ED8C-C8DE-424F-97CA-7528C25C54CA}"/>
              </a:ext>
            </a:extLst>
          </p:cNvPr>
          <p:cNvPicPr>
            <a:picLocks noGrp="1" noChangeAspect="1"/>
          </p:cNvPicPr>
          <p:nvPr>
            <p:ph idx="1"/>
          </p:nvPr>
        </p:nvPicPr>
        <p:blipFill>
          <a:blip r:embed="rId2"/>
          <a:stretch>
            <a:fillRect/>
          </a:stretch>
        </p:blipFill>
        <p:spPr>
          <a:xfrm>
            <a:off x="2984703" y="1597827"/>
            <a:ext cx="6222594" cy="5121080"/>
          </a:xfrm>
        </p:spPr>
      </p:pic>
    </p:spTree>
    <p:extLst>
      <p:ext uri="{BB962C8B-B14F-4D97-AF65-F5344CB8AC3E}">
        <p14:creationId xmlns:p14="http://schemas.microsoft.com/office/powerpoint/2010/main" val="2844367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DF743-F8BF-FE45-86E5-4AA3DEFA951A}"/>
              </a:ext>
            </a:extLst>
          </p:cNvPr>
          <p:cNvSpPr>
            <a:spLocks noGrp="1"/>
          </p:cNvSpPr>
          <p:nvPr>
            <p:ph type="title"/>
          </p:nvPr>
        </p:nvSpPr>
        <p:spPr/>
        <p:txBody>
          <a:bodyPr/>
          <a:lstStyle/>
          <a:p>
            <a:r>
              <a:rPr lang="en-US" dirty="0"/>
              <a:t>Slowly Changing Dimension Basics </a:t>
            </a:r>
          </a:p>
        </p:txBody>
      </p:sp>
      <p:sp>
        <p:nvSpPr>
          <p:cNvPr id="3" name="Content Placeholder 2">
            <a:extLst>
              <a:ext uri="{FF2B5EF4-FFF2-40B4-BE49-F238E27FC236}">
                <a16:creationId xmlns:a16="http://schemas.microsoft.com/office/drawing/2014/main" id="{9869446A-68F2-B049-8AFD-0030A9186DE3}"/>
              </a:ext>
            </a:extLst>
          </p:cNvPr>
          <p:cNvSpPr>
            <a:spLocks noGrp="1"/>
          </p:cNvSpPr>
          <p:nvPr>
            <p:ph idx="1"/>
          </p:nvPr>
        </p:nvSpPr>
        <p:spPr/>
        <p:txBody>
          <a:bodyPr>
            <a:normAutofit/>
          </a:bodyPr>
          <a:lstStyle/>
          <a:p>
            <a:r>
              <a:rPr lang="en-US" dirty="0"/>
              <a:t>SCDs - attribute values that change slowly and unpredictably over time; Different type of SCDs - different change tracking techniques</a:t>
            </a:r>
          </a:p>
          <a:p>
            <a:endParaRPr lang="en-US" dirty="0"/>
          </a:p>
          <a:p>
            <a:r>
              <a:rPr lang="en-US" dirty="0"/>
              <a:t>Type 0: Retain Original </a:t>
            </a:r>
          </a:p>
          <a:p>
            <a:r>
              <a:rPr lang="en-US" dirty="0"/>
              <a:t>Type 1: Overwrite </a:t>
            </a:r>
          </a:p>
          <a:p>
            <a:r>
              <a:rPr lang="en-US" dirty="0"/>
              <a:t>Type 2: Add New Row </a:t>
            </a:r>
          </a:p>
          <a:p>
            <a:r>
              <a:rPr lang="en-US" dirty="0"/>
              <a:t>Type 3: Add New Attribute </a:t>
            </a:r>
          </a:p>
          <a:p>
            <a:r>
              <a:rPr lang="en-US" dirty="0"/>
              <a:t>Type 4: Add Mini-Dimension </a:t>
            </a:r>
          </a:p>
          <a:p>
            <a:endParaRPr lang="en-US" dirty="0"/>
          </a:p>
        </p:txBody>
      </p:sp>
    </p:spTree>
    <p:extLst>
      <p:ext uri="{BB962C8B-B14F-4D97-AF65-F5344CB8AC3E}">
        <p14:creationId xmlns:p14="http://schemas.microsoft.com/office/powerpoint/2010/main" val="1248683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5A6C9-8E3A-B846-8F43-74A1EBFC8E4F}"/>
              </a:ext>
            </a:extLst>
          </p:cNvPr>
          <p:cNvSpPr>
            <a:spLocks noGrp="1"/>
          </p:cNvSpPr>
          <p:nvPr>
            <p:ph type="title"/>
          </p:nvPr>
        </p:nvSpPr>
        <p:spPr/>
        <p:txBody>
          <a:bodyPr/>
          <a:lstStyle/>
          <a:p>
            <a:r>
              <a:rPr lang="en-US" dirty="0"/>
              <a:t>Type 0: Retain Original </a:t>
            </a:r>
          </a:p>
        </p:txBody>
      </p:sp>
      <p:sp>
        <p:nvSpPr>
          <p:cNvPr id="3" name="Content Placeholder 2">
            <a:extLst>
              <a:ext uri="{FF2B5EF4-FFF2-40B4-BE49-F238E27FC236}">
                <a16:creationId xmlns:a16="http://schemas.microsoft.com/office/drawing/2014/main" id="{47769C83-595B-3549-B960-03062AE3DAD1}"/>
              </a:ext>
            </a:extLst>
          </p:cNvPr>
          <p:cNvSpPr>
            <a:spLocks noGrp="1"/>
          </p:cNvSpPr>
          <p:nvPr>
            <p:ph idx="1"/>
          </p:nvPr>
        </p:nvSpPr>
        <p:spPr/>
        <p:txBody>
          <a:bodyPr/>
          <a:lstStyle/>
          <a:p>
            <a:r>
              <a:rPr lang="en-US" dirty="0"/>
              <a:t>With type 0, the dimension attribute value never changes, so facts are always grouped by this original value </a:t>
            </a:r>
          </a:p>
          <a:p>
            <a:r>
              <a:rPr lang="en-US" dirty="0"/>
              <a:t>Once we load it, we don’t change it</a:t>
            </a:r>
            <a:r>
              <a:rPr lang="en-US" altLang="zh-CN" dirty="0"/>
              <a:t>;</a:t>
            </a:r>
            <a:r>
              <a:rPr lang="zh-CN" altLang="en-US" dirty="0"/>
              <a:t> </a:t>
            </a:r>
            <a:r>
              <a:rPr lang="en-US" dirty="0"/>
              <a:t>All changes are disregarded;</a:t>
            </a:r>
          </a:p>
          <a:p>
            <a:r>
              <a:rPr lang="en-US" dirty="0"/>
              <a:t>Type 0 is appropriate for any attribute labeled “original”;</a:t>
            </a:r>
          </a:p>
          <a:p>
            <a:pPr lvl="1"/>
            <a:r>
              <a:rPr lang="en-US" dirty="0"/>
              <a:t>Customer original credit score. </a:t>
            </a:r>
          </a:p>
          <a:p>
            <a:pPr lvl="1"/>
            <a:r>
              <a:rPr lang="en-US" dirty="0"/>
              <a:t>Most attributes in a date dimension;</a:t>
            </a:r>
          </a:p>
          <a:p>
            <a:r>
              <a:rPr lang="en-US" dirty="0"/>
              <a:t>Persistent durable keys are always type 0 attributes </a:t>
            </a:r>
          </a:p>
          <a:p>
            <a:endParaRPr lang="en-US" dirty="0"/>
          </a:p>
          <a:p>
            <a:endParaRPr lang="en-US" dirty="0"/>
          </a:p>
          <a:p>
            <a:endParaRPr lang="en-US" dirty="0"/>
          </a:p>
        </p:txBody>
      </p:sp>
    </p:spTree>
    <p:extLst>
      <p:ext uri="{BB962C8B-B14F-4D97-AF65-F5344CB8AC3E}">
        <p14:creationId xmlns:p14="http://schemas.microsoft.com/office/powerpoint/2010/main" val="3894408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50B4D-09C4-D64F-96BB-9CDD6EE984EB}"/>
              </a:ext>
            </a:extLst>
          </p:cNvPr>
          <p:cNvSpPr>
            <a:spLocks noGrp="1"/>
          </p:cNvSpPr>
          <p:nvPr>
            <p:ph type="title"/>
          </p:nvPr>
        </p:nvSpPr>
        <p:spPr/>
        <p:txBody>
          <a:bodyPr/>
          <a:lstStyle/>
          <a:p>
            <a:r>
              <a:rPr lang="en-US" dirty="0"/>
              <a:t>Type 1: Overwrite</a:t>
            </a:r>
          </a:p>
        </p:txBody>
      </p:sp>
      <p:sp>
        <p:nvSpPr>
          <p:cNvPr id="3" name="Content Placeholder 2">
            <a:extLst>
              <a:ext uri="{FF2B5EF4-FFF2-40B4-BE49-F238E27FC236}">
                <a16:creationId xmlns:a16="http://schemas.microsoft.com/office/drawing/2014/main" id="{E4F2D3F0-41D3-5C4D-B9FC-93780BD2D6D1}"/>
              </a:ext>
            </a:extLst>
          </p:cNvPr>
          <p:cNvSpPr>
            <a:spLocks noGrp="1"/>
          </p:cNvSpPr>
          <p:nvPr>
            <p:ph idx="1"/>
          </p:nvPr>
        </p:nvSpPr>
        <p:spPr/>
        <p:txBody>
          <a:bodyPr/>
          <a:lstStyle/>
          <a:p>
            <a:pPr marL="457200" indent="-457200"/>
            <a:r>
              <a:rPr lang="en-US" dirty="0"/>
              <a:t>The old value is overwritten by the new value</a:t>
            </a:r>
          </a:p>
          <a:p>
            <a:pPr marL="457200" indent="-457200"/>
            <a:r>
              <a:rPr lang="en-US" dirty="0"/>
              <a:t>Reflects only the most recent assignment</a:t>
            </a:r>
          </a:p>
          <a:p>
            <a:pPr marL="457200" indent="-457200"/>
            <a:r>
              <a:rPr lang="en-US" dirty="0"/>
              <a:t>No history</a:t>
            </a:r>
          </a:p>
          <a:p>
            <a:endParaRPr lang="en-US" dirty="0"/>
          </a:p>
        </p:txBody>
      </p:sp>
      <p:pic>
        <p:nvPicPr>
          <p:cNvPr id="4" name="Picture 3">
            <a:extLst>
              <a:ext uri="{FF2B5EF4-FFF2-40B4-BE49-F238E27FC236}">
                <a16:creationId xmlns:a16="http://schemas.microsoft.com/office/drawing/2014/main" id="{A43D5922-3EA7-D647-AB66-2785ECE8E48D}"/>
              </a:ext>
            </a:extLst>
          </p:cNvPr>
          <p:cNvPicPr>
            <a:picLocks noChangeAspect="1"/>
          </p:cNvPicPr>
          <p:nvPr/>
        </p:nvPicPr>
        <p:blipFill>
          <a:blip r:embed="rId2"/>
          <a:stretch>
            <a:fillRect/>
          </a:stretch>
        </p:blipFill>
        <p:spPr>
          <a:xfrm>
            <a:off x="7488568" y="794349"/>
            <a:ext cx="3073122" cy="467114"/>
          </a:xfrm>
          <a:prstGeom prst="rect">
            <a:avLst/>
          </a:prstGeom>
        </p:spPr>
      </p:pic>
      <p:pic>
        <p:nvPicPr>
          <p:cNvPr id="5" name="Picture 4">
            <a:extLst>
              <a:ext uri="{FF2B5EF4-FFF2-40B4-BE49-F238E27FC236}">
                <a16:creationId xmlns:a16="http://schemas.microsoft.com/office/drawing/2014/main" id="{906FEDD1-0F1A-EC4B-B48E-4F714CF7B5C7}"/>
              </a:ext>
            </a:extLst>
          </p:cNvPr>
          <p:cNvPicPr>
            <a:picLocks noChangeAspect="1"/>
          </p:cNvPicPr>
          <p:nvPr/>
        </p:nvPicPr>
        <p:blipFill>
          <a:blip r:embed="rId3"/>
          <a:stretch>
            <a:fillRect/>
          </a:stretch>
        </p:blipFill>
        <p:spPr>
          <a:xfrm>
            <a:off x="1450504" y="4049486"/>
            <a:ext cx="7315200" cy="600075"/>
          </a:xfrm>
          <a:prstGeom prst="rect">
            <a:avLst/>
          </a:prstGeom>
          <a:ln>
            <a:solidFill>
              <a:schemeClr val="tx1"/>
            </a:solidFill>
          </a:ln>
        </p:spPr>
      </p:pic>
      <p:sp>
        <p:nvSpPr>
          <p:cNvPr id="6" name="TextBox 5">
            <a:extLst>
              <a:ext uri="{FF2B5EF4-FFF2-40B4-BE49-F238E27FC236}">
                <a16:creationId xmlns:a16="http://schemas.microsoft.com/office/drawing/2014/main" id="{770D3F6D-EA62-3B47-9DB9-F7A259218EB6}"/>
              </a:ext>
            </a:extLst>
          </p:cNvPr>
          <p:cNvSpPr txBox="1"/>
          <p:nvPr/>
        </p:nvSpPr>
        <p:spPr>
          <a:xfrm>
            <a:off x="1450504" y="3592286"/>
            <a:ext cx="1554480" cy="457200"/>
          </a:xfrm>
          <a:prstGeom prst="rect">
            <a:avLst/>
          </a:prstGeom>
          <a:noFill/>
        </p:spPr>
        <p:txBody>
          <a:bodyPr wrap="none" rtlCol="0">
            <a:spAutoFit/>
          </a:bodyPr>
          <a:lstStyle/>
          <a:p>
            <a:r>
              <a:rPr lang="en-US" dirty="0"/>
              <a:t>Before Change</a:t>
            </a:r>
          </a:p>
        </p:txBody>
      </p:sp>
      <p:sp>
        <p:nvSpPr>
          <p:cNvPr id="7" name="TextBox 6">
            <a:extLst>
              <a:ext uri="{FF2B5EF4-FFF2-40B4-BE49-F238E27FC236}">
                <a16:creationId xmlns:a16="http://schemas.microsoft.com/office/drawing/2014/main" id="{5BD04925-2392-C44D-8671-02D7D3F67300}"/>
              </a:ext>
            </a:extLst>
          </p:cNvPr>
          <p:cNvSpPr txBox="1"/>
          <p:nvPr/>
        </p:nvSpPr>
        <p:spPr>
          <a:xfrm>
            <a:off x="1450504" y="4751031"/>
            <a:ext cx="1411348" cy="457200"/>
          </a:xfrm>
          <a:prstGeom prst="rect">
            <a:avLst/>
          </a:prstGeom>
          <a:noFill/>
        </p:spPr>
        <p:txBody>
          <a:bodyPr wrap="none" rtlCol="0">
            <a:spAutoFit/>
          </a:bodyPr>
          <a:lstStyle/>
          <a:p>
            <a:r>
              <a:rPr lang="en-US" dirty="0"/>
              <a:t>After Change</a:t>
            </a:r>
          </a:p>
        </p:txBody>
      </p:sp>
      <p:pic>
        <p:nvPicPr>
          <p:cNvPr id="8" name="Picture 7">
            <a:extLst>
              <a:ext uri="{FF2B5EF4-FFF2-40B4-BE49-F238E27FC236}">
                <a16:creationId xmlns:a16="http://schemas.microsoft.com/office/drawing/2014/main" id="{FE9BC997-2E36-0A4C-80A6-7E1489DFDFD3}"/>
              </a:ext>
            </a:extLst>
          </p:cNvPr>
          <p:cNvPicPr>
            <a:picLocks noChangeAspect="1"/>
          </p:cNvPicPr>
          <p:nvPr/>
        </p:nvPicPr>
        <p:blipFill>
          <a:blip r:embed="rId4"/>
          <a:stretch>
            <a:fillRect/>
          </a:stretch>
        </p:blipFill>
        <p:spPr>
          <a:xfrm>
            <a:off x="1450504" y="5218145"/>
            <a:ext cx="7334250" cy="628650"/>
          </a:xfrm>
          <a:prstGeom prst="rect">
            <a:avLst/>
          </a:prstGeom>
          <a:ln>
            <a:solidFill>
              <a:schemeClr val="tx1"/>
            </a:solidFill>
          </a:ln>
        </p:spPr>
      </p:pic>
    </p:spTree>
    <p:extLst>
      <p:ext uri="{BB962C8B-B14F-4D97-AF65-F5344CB8AC3E}">
        <p14:creationId xmlns:p14="http://schemas.microsoft.com/office/powerpoint/2010/main" val="1693172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84E03-9C88-604D-8C63-A4C09491E67D}"/>
              </a:ext>
            </a:extLst>
          </p:cNvPr>
          <p:cNvSpPr>
            <a:spLocks noGrp="1"/>
          </p:cNvSpPr>
          <p:nvPr>
            <p:ph type="title"/>
          </p:nvPr>
        </p:nvSpPr>
        <p:spPr/>
        <p:txBody>
          <a:bodyPr/>
          <a:lstStyle/>
          <a:p>
            <a:r>
              <a:rPr lang="en-US" dirty="0"/>
              <a:t>Type 2: Add New Row</a:t>
            </a:r>
          </a:p>
        </p:txBody>
      </p:sp>
      <p:sp>
        <p:nvSpPr>
          <p:cNvPr id="3" name="Content Placeholder 2">
            <a:extLst>
              <a:ext uri="{FF2B5EF4-FFF2-40B4-BE49-F238E27FC236}">
                <a16:creationId xmlns:a16="http://schemas.microsoft.com/office/drawing/2014/main" id="{1063BA16-C5E4-F944-B81F-92F4B07ABA32}"/>
              </a:ext>
            </a:extLst>
          </p:cNvPr>
          <p:cNvSpPr>
            <a:spLocks noGrp="1"/>
          </p:cNvSpPr>
          <p:nvPr>
            <p:ph idx="1"/>
          </p:nvPr>
        </p:nvSpPr>
        <p:spPr/>
        <p:txBody>
          <a:bodyPr/>
          <a:lstStyle/>
          <a:p>
            <a:pPr marL="457200" indent="-457200"/>
            <a:r>
              <a:rPr lang="en-US" dirty="0"/>
              <a:t>Represents the history of changing attribute values</a:t>
            </a:r>
          </a:p>
          <a:p>
            <a:pPr marL="457200" indent="-457200"/>
            <a:r>
              <a:rPr lang="en-US" dirty="0"/>
              <a:t>A new dimension row is inserted</a:t>
            </a:r>
          </a:p>
          <a:p>
            <a:pPr marL="457200" indent="-457200"/>
            <a:r>
              <a:rPr lang="en-US" dirty="0"/>
              <a:t>New surrogate key is assigned</a:t>
            </a:r>
          </a:p>
          <a:p>
            <a:endParaRPr lang="en-US" dirty="0"/>
          </a:p>
        </p:txBody>
      </p:sp>
      <p:pic>
        <p:nvPicPr>
          <p:cNvPr id="8" name="Picture 7">
            <a:extLst>
              <a:ext uri="{FF2B5EF4-FFF2-40B4-BE49-F238E27FC236}">
                <a16:creationId xmlns:a16="http://schemas.microsoft.com/office/drawing/2014/main" id="{A2162B21-3752-DC43-8746-ACEF68A2FF98}"/>
              </a:ext>
            </a:extLst>
          </p:cNvPr>
          <p:cNvPicPr>
            <a:picLocks noChangeAspect="1"/>
          </p:cNvPicPr>
          <p:nvPr/>
        </p:nvPicPr>
        <p:blipFill>
          <a:blip r:embed="rId2"/>
          <a:stretch>
            <a:fillRect/>
          </a:stretch>
        </p:blipFill>
        <p:spPr>
          <a:xfrm>
            <a:off x="1951804" y="3416163"/>
            <a:ext cx="7657162" cy="1361319"/>
          </a:xfrm>
          <a:prstGeom prst="rect">
            <a:avLst/>
          </a:prstGeom>
        </p:spPr>
      </p:pic>
      <p:pic>
        <p:nvPicPr>
          <p:cNvPr id="10" name="Picture 9">
            <a:extLst>
              <a:ext uri="{FF2B5EF4-FFF2-40B4-BE49-F238E27FC236}">
                <a16:creationId xmlns:a16="http://schemas.microsoft.com/office/drawing/2014/main" id="{AC661827-E6E7-F547-9EBC-430241C0C64C}"/>
              </a:ext>
            </a:extLst>
          </p:cNvPr>
          <p:cNvPicPr>
            <a:picLocks noChangeAspect="1"/>
          </p:cNvPicPr>
          <p:nvPr/>
        </p:nvPicPr>
        <p:blipFill>
          <a:blip r:embed="rId3"/>
          <a:stretch>
            <a:fillRect/>
          </a:stretch>
        </p:blipFill>
        <p:spPr>
          <a:xfrm>
            <a:off x="1951804" y="5049787"/>
            <a:ext cx="7600451" cy="1553499"/>
          </a:xfrm>
          <a:prstGeom prst="rect">
            <a:avLst/>
          </a:prstGeom>
        </p:spPr>
      </p:pic>
      <p:pic>
        <p:nvPicPr>
          <p:cNvPr id="11" name="Picture 10">
            <a:extLst>
              <a:ext uri="{FF2B5EF4-FFF2-40B4-BE49-F238E27FC236}">
                <a16:creationId xmlns:a16="http://schemas.microsoft.com/office/drawing/2014/main" id="{CE62F5F9-A5F7-FD4D-803E-FCCADAEC6890}"/>
              </a:ext>
            </a:extLst>
          </p:cNvPr>
          <p:cNvPicPr>
            <a:picLocks noChangeAspect="1"/>
          </p:cNvPicPr>
          <p:nvPr/>
        </p:nvPicPr>
        <p:blipFill>
          <a:blip r:embed="rId4"/>
          <a:stretch>
            <a:fillRect/>
          </a:stretch>
        </p:blipFill>
        <p:spPr>
          <a:xfrm>
            <a:off x="9552255" y="575119"/>
            <a:ext cx="1282881" cy="719191"/>
          </a:xfrm>
          <a:prstGeom prst="rect">
            <a:avLst/>
          </a:prstGeom>
        </p:spPr>
      </p:pic>
    </p:spTree>
    <p:extLst>
      <p:ext uri="{BB962C8B-B14F-4D97-AF65-F5344CB8AC3E}">
        <p14:creationId xmlns:p14="http://schemas.microsoft.com/office/powerpoint/2010/main" val="3850740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37EAE-03EA-2940-906B-0BD23A90CE20}"/>
              </a:ext>
            </a:extLst>
          </p:cNvPr>
          <p:cNvSpPr>
            <a:spLocks noGrp="1"/>
          </p:cNvSpPr>
          <p:nvPr>
            <p:ph type="title"/>
          </p:nvPr>
        </p:nvSpPr>
        <p:spPr/>
        <p:txBody>
          <a:bodyPr/>
          <a:lstStyle/>
          <a:p>
            <a:r>
              <a:rPr lang="en-US" dirty="0"/>
              <a:t>Type 2: Add New Row</a:t>
            </a:r>
          </a:p>
        </p:txBody>
      </p:sp>
      <p:sp>
        <p:nvSpPr>
          <p:cNvPr id="3" name="Content Placeholder 2">
            <a:extLst>
              <a:ext uri="{FF2B5EF4-FFF2-40B4-BE49-F238E27FC236}">
                <a16:creationId xmlns:a16="http://schemas.microsoft.com/office/drawing/2014/main" id="{FD5DDC06-2551-7845-BABA-8E4E979BFEB0}"/>
              </a:ext>
            </a:extLst>
          </p:cNvPr>
          <p:cNvSpPr>
            <a:spLocks noGrp="1"/>
          </p:cNvSpPr>
          <p:nvPr>
            <p:ph idx="1"/>
          </p:nvPr>
        </p:nvSpPr>
        <p:spPr>
          <a:xfrm>
            <a:off x="838200" y="1825625"/>
            <a:ext cx="4925602" cy="4351338"/>
          </a:xfrm>
        </p:spPr>
        <p:txBody>
          <a:bodyPr/>
          <a:lstStyle/>
          <a:p>
            <a:r>
              <a:rPr lang="en-US" dirty="0"/>
              <a:t>No need to revisit preexisting aggregation tables;</a:t>
            </a:r>
          </a:p>
          <a:p>
            <a:r>
              <a:rPr lang="en-US" dirty="0"/>
              <a:t>Use the SKU natural key attribute as the basis of the distinct count rather than the surrogate key; </a:t>
            </a:r>
          </a:p>
          <a:p>
            <a:r>
              <a:rPr lang="en-US" dirty="0"/>
              <a:t>The natural key column becomes the glue that holds the separate type 2 rows for a single product together. </a:t>
            </a:r>
          </a:p>
          <a:p>
            <a:endParaRPr lang="en-US" dirty="0"/>
          </a:p>
        </p:txBody>
      </p:sp>
      <p:sp>
        <p:nvSpPr>
          <p:cNvPr id="4" name="Rectangle 3">
            <a:extLst>
              <a:ext uri="{FF2B5EF4-FFF2-40B4-BE49-F238E27FC236}">
                <a16:creationId xmlns:a16="http://schemas.microsoft.com/office/drawing/2014/main" id="{2079EDC5-ECC2-334D-A8ED-FEA8E4165FB2}"/>
              </a:ext>
            </a:extLst>
          </p:cNvPr>
          <p:cNvSpPr/>
          <p:nvPr/>
        </p:nvSpPr>
        <p:spPr>
          <a:xfrm>
            <a:off x="6428200" y="913984"/>
            <a:ext cx="5257800" cy="5262979"/>
          </a:xfrm>
          <a:prstGeom prst="rect">
            <a:avLst/>
          </a:prstGeom>
        </p:spPr>
        <p:txBody>
          <a:bodyPr wrap="square">
            <a:spAutoFit/>
          </a:bodyPr>
          <a:lstStyle/>
          <a:p>
            <a:r>
              <a:rPr lang="en-US" sz="2800" b="1" i="1" dirty="0">
                <a:solidFill>
                  <a:srgbClr val="FF0000"/>
                </a:solidFill>
              </a:rPr>
              <a:t>Type 2 Effective and Expiration Dates </a:t>
            </a:r>
            <a:endParaRPr lang="en-US" sz="2800" b="1" dirty="0">
              <a:solidFill>
                <a:srgbClr val="FF0000"/>
              </a:solidFill>
            </a:endParaRPr>
          </a:p>
          <a:p>
            <a:r>
              <a:rPr lang="en-US" sz="2800" dirty="0"/>
              <a:t>Effective and expiration dates or date/time stamps are necessary in the ETL system because it needs to know which surrogate key is valid when loading historical fact rows;</a:t>
            </a:r>
          </a:p>
          <a:p>
            <a:r>
              <a:rPr lang="en-US" sz="2800" b="1" i="1" dirty="0">
                <a:solidFill>
                  <a:srgbClr val="FF0000"/>
                </a:solidFill>
              </a:rPr>
              <a:t>Type 1 Attributes in Type 2 Dimensions </a:t>
            </a:r>
            <a:endParaRPr lang="en-US" sz="2800" b="1" dirty="0">
              <a:solidFill>
                <a:srgbClr val="FF0000"/>
              </a:solidFill>
            </a:endParaRPr>
          </a:p>
          <a:p>
            <a:r>
              <a:rPr lang="en-US" sz="2800" dirty="0"/>
              <a:t>Mix multiple slowly changing dimension techniques within the same dimension. </a:t>
            </a:r>
          </a:p>
        </p:txBody>
      </p:sp>
    </p:spTree>
    <p:extLst>
      <p:ext uri="{BB962C8B-B14F-4D97-AF65-F5344CB8AC3E}">
        <p14:creationId xmlns:p14="http://schemas.microsoft.com/office/powerpoint/2010/main" val="9274529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38F0B-E993-D044-BBC6-6A5B2E30546E}"/>
              </a:ext>
            </a:extLst>
          </p:cNvPr>
          <p:cNvSpPr>
            <a:spLocks noGrp="1"/>
          </p:cNvSpPr>
          <p:nvPr>
            <p:ph type="title"/>
          </p:nvPr>
        </p:nvSpPr>
        <p:spPr/>
        <p:txBody>
          <a:bodyPr/>
          <a:lstStyle/>
          <a:p>
            <a:r>
              <a:rPr lang="en-US" dirty="0"/>
              <a:t>Type 2: Add New Row</a:t>
            </a:r>
          </a:p>
        </p:txBody>
      </p:sp>
      <p:pic>
        <p:nvPicPr>
          <p:cNvPr id="5" name="Picture 4">
            <a:extLst>
              <a:ext uri="{FF2B5EF4-FFF2-40B4-BE49-F238E27FC236}">
                <a16:creationId xmlns:a16="http://schemas.microsoft.com/office/drawing/2014/main" id="{631432BD-228F-6F4E-9CB4-44BC3F12BCE3}"/>
              </a:ext>
            </a:extLst>
          </p:cNvPr>
          <p:cNvPicPr>
            <a:picLocks noChangeAspect="1"/>
          </p:cNvPicPr>
          <p:nvPr/>
        </p:nvPicPr>
        <p:blipFill>
          <a:blip r:embed="rId2"/>
          <a:stretch>
            <a:fillRect/>
          </a:stretch>
        </p:blipFill>
        <p:spPr>
          <a:xfrm>
            <a:off x="533405" y="1577671"/>
            <a:ext cx="11279594" cy="4277241"/>
          </a:xfrm>
          <a:prstGeom prst="rect">
            <a:avLst/>
          </a:prstGeom>
        </p:spPr>
      </p:pic>
    </p:spTree>
    <p:extLst>
      <p:ext uri="{BB962C8B-B14F-4D97-AF65-F5344CB8AC3E}">
        <p14:creationId xmlns:p14="http://schemas.microsoft.com/office/powerpoint/2010/main" val="1305653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47932-313A-3941-BD57-431DA35D67D7}"/>
              </a:ext>
            </a:extLst>
          </p:cNvPr>
          <p:cNvSpPr>
            <a:spLocks noGrp="1"/>
          </p:cNvSpPr>
          <p:nvPr>
            <p:ph type="title"/>
          </p:nvPr>
        </p:nvSpPr>
        <p:spPr/>
        <p:txBody>
          <a:bodyPr/>
          <a:lstStyle/>
          <a:p>
            <a:r>
              <a:rPr lang="en-US" dirty="0"/>
              <a:t>Type 3: Add New Attribute </a:t>
            </a:r>
          </a:p>
        </p:txBody>
      </p:sp>
      <p:sp>
        <p:nvSpPr>
          <p:cNvPr id="3" name="Content Placeholder 2">
            <a:extLst>
              <a:ext uri="{FF2B5EF4-FFF2-40B4-BE49-F238E27FC236}">
                <a16:creationId xmlns:a16="http://schemas.microsoft.com/office/drawing/2014/main" id="{6E6568B3-3EB0-5940-9D69-046E1A11AAF8}"/>
              </a:ext>
            </a:extLst>
          </p:cNvPr>
          <p:cNvSpPr>
            <a:spLocks noGrp="1"/>
          </p:cNvSpPr>
          <p:nvPr>
            <p:ph idx="1"/>
          </p:nvPr>
        </p:nvSpPr>
        <p:spPr>
          <a:xfrm>
            <a:off x="838200" y="1825625"/>
            <a:ext cx="5257800" cy="4351338"/>
          </a:xfrm>
        </p:spPr>
        <p:txBody>
          <a:bodyPr>
            <a:normAutofit fontScale="85000" lnSpcReduction="20000"/>
          </a:bodyPr>
          <a:lstStyle/>
          <a:p>
            <a:pPr marL="457200" indent="-457200"/>
            <a:r>
              <a:rPr lang="en-US" dirty="0"/>
              <a:t>Additional column is used</a:t>
            </a:r>
          </a:p>
          <a:p>
            <a:pPr marL="457200" indent="-457200"/>
            <a:r>
              <a:rPr lang="en-US" dirty="0"/>
              <a:t>Original value is overwritten (SCD 1)</a:t>
            </a:r>
          </a:p>
          <a:p>
            <a:pPr marL="457200" indent="-457200"/>
            <a:r>
              <a:rPr lang="en-US" dirty="0"/>
              <a:t>Reports can still use the old value</a:t>
            </a:r>
            <a:endParaRPr lang="en-US" dirty="0">
              <a:solidFill>
                <a:srgbClr val="FF0000"/>
              </a:solidFill>
            </a:endParaRPr>
          </a:p>
          <a:p>
            <a:pPr marL="457200" indent="-457200"/>
            <a:r>
              <a:rPr lang="en-US" dirty="0"/>
              <a:t>Sometimes called “Alternate Reality”</a:t>
            </a:r>
          </a:p>
          <a:p>
            <a:pPr marL="457200" indent="-457200"/>
            <a:r>
              <a:rPr lang="en-US" dirty="0"/>
              <a:t>When there’s a significant change impacting many rows in the dimension table;</a:t>
            </a:r>
          </a:p>
          <a:p>
            <a:pPr marL="457200" indent="-457200"/>
            <a:r>
              <a:rPr lang="en-US" dirty="0"/>
              <a:t>Infrequently used: strong need to support two views of the world simultaneously;</a:t>
            </a:r>
          </a:p>
          <a:p>
            <a:pPr marL="457200" indent="-457200"/>
            <a:r>
              <a:rPr lang="en-US" dirty="0"/>
              <a:t>Not useful for attributes that change unpredictably;</a:t>
            </a:r>
          </a:p>
          <a:p>
            <a:pPr marL="914400" lvl="1" indent="-457200"/>
            <a:r>
              <a:rPr lang="en-US" dirty="0"/>
              <a:t>Customer’s home state </a:t>
            </a:r>
          </a:p>
          <a:p>
            <a:pPr marL="457200" indent="-457200"/>
            <a:endParaRPr lang="en-US" dirty="0"/>
          </a:p>
          <a:p>
            <a:pPr marL="457200" indent="-457200"/>
            <a:endParaRPr lang="en-US" dirty="0"/>
          </a:p>
          <a:p>
            <a:pPr marL="457200" indent="-457200"/>
            <a:endParaRPr lang="en-US" dirty="0"/>
          </a:p>
          <a:p>
            <a:pPr marL="457200" indent="-457200"/>
            <a:endParaRPr lang="en-US" dirty="0"/>
          </a:p>
          <a:p>
            <a:pPr marL="457200" indent="-457200"/>
            <a:endParaRPr lang="en-US" dirty="0">
              <a:solidFill>
                <a:srgbClr val="FF0000"/>
              </a:solidFill>
            </a:endParaRPr>
          </a:p>
          <a:p>
            <a:endParaRPr lang="en-US" dirty="0"/>
          </a:p>
        </p:txBody>
      </p:sp>
      <p:pic>
        <p:nvPicPr>
          <p:cNvPr id="4" name="Picture 3">
            <a:extLst>
              <a:ext uri="{FF2B5EF4-FFF2-40B4-BE49-F238E27FC236}">
                <a16:creationId xmlns:a16="http://schemas.microsoft.com/office/drawing/2014/main" id="{84BA0DCA-DB74-8044-B6CF-EFF8638100B6}"/>
              </a:ext>
            </a:extLst>
          </p:cNvPr>
          <p:cNvPicPr>
            <a:picLocks noChangeAspect="1"/>
          </p:cNvPicPr>
          <p:nvPr/>
        </p:nvPicPr>
        <p:blipFill>
          <a:blip r:embed="rId2"/>
          <a:stretch>
            <a:fillRect/>
          </a:stretch>
        </p:blipFill>
        <p:spPr>
          <a:xfrm>
            <a:off x="8143110" y="795955"/>
            <a:ext cx="3210690" cy="463902"/>
          </a:xfrm>
          <a:prstGeom prst="rect">
            <a:avLst/>
          </a:prstGeom>
        </p:spPr>
      </p:pic>
      <p:pic>
        <p:nvPicPr>
          <p:cNvPr id="6" name="Picture 5">
            <a:extLst>
              <a:ext uri="{FF2B5EF4-FFF2-40B4-BE49-F238E27FC236}">
                <a16:creationId xmlns:a16="http://schemas.microsoft.com/office/drawing/2014/main" id="{8A77D8A4-100C-D442-B924-B2B2DA714437}"/>
              </a:ext>
            </a:extLst>
          </p:cNvPr>
          <p:cNvPicPr>
            <a:picLocks noChangeAspect="1"/>
          </p:cNvPicPr>
          <p:nvPr/>
        </p:nvPicPr>
        <p:blipFill>
          <a:blip r:embed="rId3"/>
          <a:stretch>
            <a:fillRect/>
          </a:stretch>
        </p:blipFill>
        <p:spPr>
          <a:xfrm>
            <a:off x="6373402" y="2178121"/>
            <a:ext cx="5518688" cy="2745840"/>
          </a:xfrm>
          <a:prstGeom prst="rect">
            <a:avLst/>
          </a:prstGeom>
        </p:spPr>
      </p:pic>
    </p:spTree>
    <p:extLst>
      <p:ext uri="{BB962C8B-B14F-4D97-AF65-F5344CB8AC3E}">
        <p14:creationId xmlns:p14="http://schemas.microsoft.com/office/powerpoint/2010/main" val="605853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1A2D-B861-1E4E-816E-DD02E18DB009}"/>
              </a:ext>
            </a:extLst>
          </p:cNvPr>
          <p:cNvSpPr>
            <a:spLocks noGrp="1"/>
          </p:cNvSpPr>
          <p:nvPr>
            <p:ph type="title"/>
          </p:nvPr>
        </p:nvSpPr>
        <p:spPr/>
        <p:txBody>
          <a:bodyPr/>
          <a:lstStyle/>
          <a:p>
            <a:r>
              <a:rPr lang="en-US" dirty="0"/>
              <a:t>Type 3: Add New Attribute </a:t>
            </a:r>
          </a:p>
        </p:txBody>
      </p:sp>
      <p:sp>
        <p:nvSpPr>
          <p:cNvPr id="3" name="Content Placeholder 2">
            <a:extLst>
              <a:ext uri="{FF2B5EF4-FFF2-40B4-BE49-F238E27FC236}">
                <a16:creationId xmlns:a16="http://schemas.microsoft.com/office/drawing/2014/main" id="{7A5E068E-E564-D546-8EC7-4051D657F9A0}"/>
              </a:ext>
            </a:extLst>
          </p:cNvPr>
          <p:cNvSpPr>
            <a:spLocks noGrp="1"/>
          </p:cNvSpPr>
          <p:nvPr>
            <p:ph idx="1"/>
          </p:nvPr>
        </p:nvSpPr>
        <p:spPr/>
        <p:txBody>
          <a:bodyPr/>
          <a:lstStyle/>
          <a:p>
            <a:r>
              <a:rPr lang="en-US" i="1" dirty="0"/>
              <a:t>Multiple Type 3 Attributes </a:t>
            </a:r>
            <a:endParaRPr lang="en-US" dirty="0"/>
          </a:p>
          <a:p>
            <a:r>
              <a:rPr lang="en-US" dirty="0"/>
              <a:t>Imagine the product line is recategorized at the start of every year and the business wants to look at multiple years of historic facts based on the department assignment for the current year or any prior year. </a:t>
            </a:r>
          </a:p>
          <a:p>
            <a:endParaRPr lang="en-US" dirty="0"/>
          </a:p>
        </p:txBody>
      </p:sp>
      <p:pic>
        <p:nvPicPr>
          <p:cNvPr id="5" name="Picture 4">
            <a:extLst>
              <a:ext uri="{FF2B5EF4-FFF2-40B4-BE49-F238E27FC236}">
                <a16:creationId xmlns:a16="http://schemas.microsoft.com/office/drawing/2014/main" id="{85FD3267-689C-F945-B3E4-23282C82B73C}"/>
              </a:ext>
            </a:extLst>
          </p:cNvPr>
          <p:cNvPicPr>
            <a:picLocks noChangeAspect="1"/>
          </p:cNvPicPr>
          <p:nvPr/>
        </p:nvPicPr>
        <p:blipFill>
          <a:blip r:embed="rId2"/>
          <a:stretch>
            <a:fillRect/>
          </a:stretch>
        </p:blipFill>
        <p:spPr>
          <a:xfrm>
            <a:off x="1044112" y="4070645"/>
            <a:ext cx="9220200" cy="2044700"/>
          </a:xfrm>
          <a:prstGeom prst="rect">
            <a:avLst/>
          </a:prstGeom>
        </p:spPr>
      </p:pic>
    </p:spTree>
    <p:extLst>
      <p:ext uri="{BB962C8B-B14F-4D97-AF65-F5344CB8AC3E}">
        <p14:creationId xmlns:p14="http://schemas.microsoft.com/office/powerpoint/2010/main" val="2189139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B085A-4D1D-1649-9171-17A278B5FCA9}"/>
              </a:ext>
            </a:extLst>
          </p:cNvPr>
          <p:cNvSpPr>
            <a:spLocks noGrp="1"/>
          </p:cNvSpPr>
          <p:nvPr>
            <p:ph type="title"/>
          </p:nvPr>
        </p:nvSpPr>
        <p:spPr/>
        <p:txBody>
          <a:bodyPr/>
          <a:lstStyle/>
          <a:p>
            <a:r>
              <a:rPr lang="en-US" dirty="0"/>
              <a:t>Type 4: Add Mini-Dimension</a:t>
            </a:r>
          </a:p>
        </p:txBody>
      </p:sp>
      <p:sp>
        <p:nvSpPr>
          <p:cNvPr id="3" name="Content Placeholder 2">
            <a:extLst>
              <a:ext uri="{FF2B5EF4-FFF2-40B4-BE49-F238E27FC236}">
                <a16:creationId xmlns:a16="http://schemas.microsoft.com/office/drawing/2014/main" id="{26520106-E344-C946-A03A-29F26AC8740C}"/>
              </a:ext>
            </a:extLst>
          </p:cNvPr>
          <p:cNvSpPr>
            <a:spLocks noGrp="1"/>
          </p:cNvSpPr>
          <p:nvPr>
            <p:ph idx="1"/>
          </p:nvPr>
        </p:nvSpPr>
        <p:spPr>
          <a:xfrm>
            <a:off x="838200" y="1825625"/>
            <a:ext cx="10977081" cy="4351338"/>
          </a:xfrm>
        </p:spPr>
        <p:txBody>
          <a:bodyPr/>
          <a:lstStyle/>
          <a:p>
            <a:pPr marL="457200" indent="-457200"/>
            <a:r>
              <a:rPr lang="en-US" dirty="0"/>
              <a:t>Attributes are split off to a mini-dimension</a:t>
            </a:r>
          </a:p>
          <a:p>
            <a:pPr marL="457200" indent="-457200"/>
            <a:r>
              <a:rPr lang="en-US" dirty="0"/>
              <a:t>Applied to:</a:t>
            </a:r>
            <a:br>
              <a:rPr lang="en-US" dirty="0"/>
            </a:br>
            <a:r>
              <a:rPr lang="en-US" dirty="0"/>
              <a:t>- </a:t>
            </a:r>
            <a:r>
              <a:rPr lang="en-US" b="1" dirty="0"/>
              <a:t>Rapidly Changing Dimensions (RCD)</a:t>
            </a:r>
            <a:br>
              <a:rPr lang="en-US" b="1" dirty="0"/>
            </a:br>
            <a:r>
              <a:rPr lang="en-US" dirty="0"/>
              <a:t>- to frequently used attributes in multimillion-row dimensions</a:t>
            </a:r>
          </a:p>
          <a:p>
            <a:pPr marL="457200" indent="-457200"/>
            <a:r>
              <a:rPr lang="en-US" dirty="0"/>
              <a:t>Fact tables capture the both surrogate keys</a:t>
            </a:r>
          </a:p>
          <a:p>
            <a:endParaRPr lang="en-US" dirty="0"/>
          </a:p>
        </p:txBody>
      </p:sp>
      <p:pic>
        <p:nvPicPr>
          <p:cNvPr id="6" name="Picture 5">
            <a:extLst>
              <a:ext uri="{FF2B5EF4-FFF2-40B4-BE49-F238E27FC236}">
                <a16:creationId xmlns:a16="http://schemas.microsoft.com/office/drawing/2014/main" id="{788E983D-297C-EB47-8FDB-196A7E566EDE}"/>
              </a:ext>
            </a:extLst>
          </p:cNvPr>
          <p:cNvPicPr>
            <a:picLocks noChangeAspect="1"/>
          </p:cNvPicPr>
          <p:nvPr/>
        </p:nvPicPr>
        <p:blipFill>
          <a:blip r:embed="rId2"/>
          <a:stretch>
            <a:fillRect/>
          </a:stretch>
        </p:blipFill>
        <p:spPr>
          <a:xfrm>
            <a:off x="5476411" y="4288854"/>
            <a:ext cx="5877389" cy="2204021"/>
          </a:xfrm>
          <a:prstGeom prst="rect">
            <a:avLst/>
          </a:prstGeom>
        </p:spPr>
      </p:pic>
      <p:pic>
        <p:nvPicPr>
          <p:cNvPr id="8" name="Picture 7">
            <a:extLst>
              <a:ext uri="{FF2B5EF4-FFF2-40B4-BE49-F238E27FC236}">
                <a16:creationId xmlns:a16="http://schemas.microsoft.com/office/drawing/2014/main" id="{6924CEF9-3B9A-5C40-96B0-867DCA6E6BC4}"/>
              </a:ext>
            </a:extLst>
          </p:cNvPr>
          <p:cNvPicPr>
            <a:picLocks noChangeAspect="1"/>
          </p:cNvPicPr>
          <p:nvPr/>
        </p:nvPicPr>
        <p:blipFill>
          <a:blip r:embed="rId3"/>
          <a:stretch>
            <a:fillRect/>
          </a:stretch>
        </p:blipFill>
        <p:spPr>
          <a:xfrm>
            <a:off x="1253447" y="4170490"/>
            <a:ext cx="3339386" cy="2440748"/>
          </a:xfrm>
          <a:prstGeom prst="rect">
            <a:avLst/>
          </a:prstGeom>
        </p:spPr>
      </p:pic>
    </p:spTree>
    <p:extLst>
      <p:ext uri="{BB962C8B-B14F-4D97-AF65-F5344CB8AC3E}">
        <p14:creationId xmlns:p14="http://schemas.microsoft.com/office/powerpoint/2010/main" val="3063596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C66DB-402F-7F4C-AE71-0355F1383A3D}"/>
              </a:ext>
            </a:extLst>
          </p:cNvPr>
          <p:cNvSpPr>
            <a:spLocks noGrp="1"/>
          </p:cNvSpPr>
          <p:nvPr>
            <p:ph type="title"/>
          </p:nvPr>
        </p:nvSpPr>
        <p:spPr/>
        <p:txBody>
          <a:bodyPr/>
          <a:lstStyle/>
          <a:p>
            <a:r>
              <a:rPr lang="en-US" dirty="0"/>
              <a:t>Type 4</a:t>
            </a:r>
            <a:r>
              <a:rPr lang="zh-CN" altLang="en-US" dirty="0"/>
              <a:t> </a:t>
            </a:r>
            <a:r>
              <a:rPr lang="en-US" altLang="zh-CN" dirty="0"/>
              <a:t>Examples:</a:t>
            </a:r>
            <a:endParaRPr lang="en-US" dirty="0"/>
          </a:p>
        </p:txBody>
      </p:sp>
      <p:pic>
        <p:nvPicPr>
          <p:cNvPr id="5" name="Content Placeholder 4">
            <a:extLst>
              <a:ext uri="{FF2B5EF4-FFF2-40B4-BE49-F238E27FC236}">
                <a16:creationId xmlns:a16="http://schemas.microsoft.com/office/drawing/2014/main" id="{3ED4E035-6F4F-9C47-84BB-F38F4F0E2139}"/>
              </a:ext>
            </a:extLst>
          </p:cNvPr>
          <p:cNvPicPr>
            <a:picLocks noGrp="1" noChangeAspect="1"/>
          </p:cNvPicPr>
          <p:nvPr>
            <p:ph idx="1"/>
          </p:nvPr>
        </p:nvPicPr>
        <p:blipFill>
          <a:blip r:embed="rId2"/>
          <a:stretch>
            <a:fillRect/>
          </a:stretch>
        </p:blipFill>
        <p:spPr>
          <a:xfrm>
            <a:off x="2268858" y="1452368"/>
            <a:ext cx="7654283" cy="4826195"/>
          </a:xfrm>
        </p:spPr>
      </p:pic>
    </p:spTree>
    <p:extLst>
      <p:ext uri="{BB962C8B-B14F-4D97-AF65-F5344CB8AC3E}">
        <p14:creationId xmlns:p14="http://schemas.microsoft.com/office/powerpoint/2010/main" val="6322547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402FA-DA69-424C-ABC7-D843931D5907}"/>
              </a:ext>
            </a:extLst>
          </p:cNvPr>
          <p:cNvSpPr>
            <a:spLocks noGrp="1"/>
          </p:cNvSpPr>
          <p:nvPr>
            <p:ph type="title"/>
          </p:nvPr>
        </p:nvSpPr>
        <p:spPr/>
        <p:txBody>
          <a:bodyPr>
            <a:normAutofit/>
          </a:bodyPr>
          <a:lstStyle/>
          <a:p>
            <a:r>
              <a:rPr lang="en-US" dirty="0"/>
              <a:t>Hybrid Slowly Changing Dimension Techniques </a:t>
            </a:r>
          </a:p>
        </p:txBody>
      </p:sp>
      <p:sp>
        <p:nvSpPr>
          <p:cNvPr id="3" name="Content Placeholder 2">
            <a:extLst>
              <a:ext uri="{FF2B5EF4-FFF2-40B4-BE49-F238E27FC236}">
                <a16:creationId xmlns:a16="http://schemas.microsoft.com/office/drawing/2014/main" id="{696858AE-4D55-AC4E-B7C8-1A84C8A625D1}"/>
              </a:ext>
            </a:extLst>
          </p:cNvPr>
          <p:cNvSpPr>
            <a:spLocks noGrp="1"/>
          </p:cNvSpPr>
          <p:nvPr>
            <p:ph idx="1"/>
          </p:nvPr>
        </p:nvSpPr>
        <p:spPr/>
        <p:txBody>
          <a:bodyPr/>
          <a:lstStyle/>
          <a:p>
            <a:r>
              <a:rPr lang="en-US" dirty="0"/>
              <a:t>Type 5: Add Mini-Dimension and Type 1 Outrigger</a:t>
            </a:r>
          </a:p>
          <a:p>
            <a:pPr lvl="1"/>
            <a:r>
              <a:rPr lang="en-US" dirty="0"/>
              <a:t>This technique is named type </a:t>
            </a:r>
            <a:r>
              <a:rPr lang="ru-RU" dirty="0"/>
              <a:t>5</a:t>
            </a:r>
            <a:r>
              <a:rPr lang="en-US" dirty="0"/>
              <a:t> because </a:t>
            </a:r>
            <a:r>
              <a:rPr lang="ru-RU" dirty="0"/>
              <a:t>4</a:t>
            </a:r>
            <a:r>
              <a:rPr lang="en-US" dirty="0"/>
              <a:t> + 1 equal</a:t>
            </a:r>
            <a:r>
              <a:rPr lang="de-DE" dirty="0"/>
              <a:t>s</a:t>
            </a:r>
            <a:r>
              <a:rPr lang="en-US" dirty="0"/>
              <a:t> 5</a:t>
            </a:r>
          </a:p>
          <a:p>
            <a:pPr lvl="1"/>
            <a:endParaRPr lang="en-US" dirty="0"/>
          </a:p>
          <a:p>
            <a:r>
              <a:rPr lang="en-US" dirty="0"/>
              <a:t>Type 6: Add Type 1 Attributes to Type 2 Dimension</a:t>
            </a:r>
          </a:p>
          <a:p>
            <a:pPr lvl="1"/>
            <a:r>
              <a:rPr lang="en-US" dirty="0"/>
              <a:t>This technique is named type 6 because 3 + 2 + 1 and 3 x 2 x 1 both equal 6</a:t>
            </a:r>
          </a:p>
          <a:p>
            <a:endParaRPr lang="en-US" dirty="0"/>
          </a:p>
          <a:p>
            <a:r>
              <a:rPr lang="en-US" dirty="0"/>
              <a:t>Type 7: Dual Type 1 and Type 2 Dimensions</a:t>
            </a:r>
          </a:p>
          <a:p>
            <a:endParaRPr lang="en-US" dirty="0"/>
          </a:p>
        </p:txBody>
      </p:sp>
    </p:spTree>
    <p:extLst>
      <p:ext uri="{BB962C8B-B14F-4D97-AF65-F5344CB8AC3E}">
        <p14:creationId xmlns:p14="http://schemas.microsoft.com/office/powerpoint/2010/main" val="1878808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4117-9B18-D14B-89A3-DF46B3C033DB}"/>
              </a:ext>
            </a:extLst>
          </p:cNvPr>
          <p:cNvSpPr>
            <a:spLocks noGrp="1"/>
          </p:cNvSpPr>
          <p:nvPr>
            <p:ph type="title"/>
          </p:nvPr>
        </p:nvSpPr>
        <p:spPr/>
        <p:txBody>
          <a:bodyPr/>
          <a:lstStyle/>
          <a:p>
            <a:r>
              <a:rPr lang="en-US" dirty="0"/>
              <a:t>Type 5: Add Mini-Dimension and Type 1 Outrigger</a:t>
            </a:r>
          </a:p>
        </p:txBody>
      </p:sp>
      <p:sp>
        <p:nvSpPr>
          <p:cNvPr id="3" name="Content Placeholder 2">
            <a:extLst>
              <a:ext uri="{FF2B5EF4-FFF2-40B4-BE49-F238E27FC236}">
                <a16:creationId xmlns:a16="http://schemas.microsoft.com/office/drawing/2014/main" id="{C994FD96-F023-1F41-AC23-91A36856EC8E}"/>
              </a:ext>
            </a:extLst>
          </p:cNvPr>
          <p:cNvSpPr>
            <a:spLocks noGrp="1"/>
          </p:cNvSpPr>
          <p:nvPr>
            <p:ph idx="1"/>
          </p:nvPr>
        </p:nvSpPr>
        <p:spPr>
          <a:xfrm>
            <a:off x="838200" y="1825625"/>
            <a:ext cx="10515600" cy="2808020"/>
          </a:xfrm>
        </p:spPr>
        <p:txBody>
          <a:bodyPr>
            <a:normAutofit fontScale="85000" lnSpcReduction="10000"/>
          </a:bodyPr>
          <a:lstStyle/>
          <a:p>
            <a:pPr marL="457200" indent="-457200"/>
            <a:r>
              <a:rPr lang="en-US" b="1" dirty="0"/>
              <a:t>SCD 5</a:t>
            </a:r>
            <a:r>
              <a:rPr lang="en-US" dirty="0"/>
              <a:t> is an enhancement to </a:t>
            </a:r>
            <a:r>
              <a:rPr lang="en-US" b="1" dirty="0"/>
              <a:t>SCD 4</a:t>
            </a:r>
            <a:r>
              <a:rPr lang="en-US" dirty="0"/>
              <a:t> technic</a:t>
            </a:r>
          </a:p>
          <a:p>
            <a:pPr marL="457200" indent="-457200"/>
            <a:r>
              <a:rPr lang="en-US" dirty="0"/>
              <a:t>A mini-dimension primary key is added to the base dimension as </a:t>
            </a:r>
            <a:r>
              <a:rPr lang="en-US" b="1" dirty="0"/>
              <a:t>SCD 1</a:t>
            </a:r>
            <a:r>
              <a:rPr lang="en-US" dirty="0"/>
              <a:t> attribute</a:t>
            </a:r>
          </a:p>
          <a:p>
            <a:pPr marL="457200" indent="-457200"/>
            <a:r>
              <a:rPr lang="en-US" dirty="0"/>
              <a:t>Allows to:</a:t>
            </a:r>
            <a:br>
              <a:rPr lang="en-US" dirty="0"/>
            </a:br>
            <a:r>
              <a:rPr lang="en-US" dirty="0"/>
              <a:t>- analyze current mini-dimension attribute values without involving a fact table</a:t>
            </a:r>
            <a:br>
              <a:rPr lang="en-US" dirty="0"/>
            </a:br>
            <a:r>
              <a:rPr lang="en-US" dirty="0"/>
              <a:t>- roll up historical facts based on the current mini-dimension attribute values </a:t>
            </a:r>
          </a:p>
          <a:p>
            <a:pPr marL="914400" lvl="1" indent="-457200"/>
            <a:r>
              <a:rPr lang="en-US" dirty="0"/>
              <a:t>(roll up historical facts based on the customer’s current profile) </a:t>
            </a:r>
          </a:p>
          <a:p>
            <a:pPr marL="457200" indent="-457200"/>
            <a:endParaRPr lang="en-US" dirty="0"/>
          </a:p>
          <a:p>
            <a:endParaRPr lang="en-US" dirty="0"/>
          </a:p>
        </p:txBody>
      </p:sp>
      <p:pic>
        <p:nvPicPr>
          <p:cNvPr id="5" name="Picture 4">
            <a:extLst>
              <a:ext uri="{FF2B5EF4-FFF2-40B4-BE49-F238E27FC236}">
                <a16:creationId xmlns:a16="http://schemas.microsoft.com/office/drawing/2014/main" id="{399980AB-BDD0-6148-A8C2-36BB48841FE7}"/>
              </a:ext>
            </a:extLst>
          </p:cNvPr>
          <p:cNvPicPr>
            <a:picLocks noChangeAspect="1"/>
          </p:cNvPicPr>
          <p:nvPr/>
        </p:nvPicPr>
        <p:blipFill>
          <a:blip r:embed="rId2"/>
          <a:stretch>
            <a:fillRect/>
          </a:stretch>
        </p:blipFill>
        <p:spPr>
          <a:xfrm>
            <a:off x="745304" y="4397339"/>
            <a:ext cx="10701391" cy="2232261"/>
          </a:xfrm>
          <a:prstGeom prst="rect">
            <a:avLst/>
          </a:prstGeom>
        </p:spPr>
      </p:pic>
    </p:spTree>
    <p:extLst>
      <p:ext uri="{BB962C8B-B14F-4D97-AF65-F5344CB8AC3E}">
        <p14:creationId xmlns:p14="http://schemas.microsoft.com/office/powerpoint/2010/main" val="3687426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3BE8B-F79C-504C-875D-2D93E7DA97B2}"/>
              </a:ext>
            </a:extLst>
          </p:cNvPr>
          <p:cNvSpPr>
            <a:spLocks noGrp="1"/>
          </p:cNvSpPr>
          <p:nvPr>
            <p:ph type="title"/>
          </p:nvPr>
        </p:nvSpPr>
        <p:spPr/>
        <p:txBody>
          <a:bodyPr/>
          <a:lstStyle/>
          <a:p>
            <a:r>
              <a:rPr lang="en-US" altLang="zh-CN" dirty="0"/>
              <a:t>Type</a:t>
            </a:r>
            <a:r>
              <a:rPr lang="zh-CN" altLang="en-US" dirty="0"/>
              <a:t> </a:t>
            </a:r>
            <a:r>
              <a:rPr lang="en-US" altLang="zh-CN" dirty="0"/>
              <a:t>5</a:t>
            </a:r>
            <a:r>
              <a:rPr lang="zh-CN" altLang="en-US" dirty="0"/>
              <a:t> </a:t>
            </a:r>
            <a:r>
              <a:rPr lang="en-US" altLang="zh-CN" dirty="0"/>
              <a:t>Examples:</a:t>
            </a:r>
            <a:endParaRPr lang="en-US" dirty="0"/>
          </a:p>
        </p:txBody>
      </p:sp>
      <p:pic>
        <p:nvPicPr>
          <p:cNvPr id="5" name="Content Placeholder 4">
            <a:extLst>
              <a:ext uri="{FF2B5EF4-FFF2-40B4-BE49-F238E27FC236}">
                <a16:creationId xmlns:a16="http://schemas.microsoft.com/office/drawing/2014/main" id="{ECF514E2-25B3-054D-A664-6BD40A82FEC7}"/>
              </a:ext>
            </a:extLst>
          </p:cNvPr>
          <p:cNvPicPr>
            <a:picLocks noGrp="1" noChangeAspect="1"/>
          </p:cNvPicPr>
          <p:nvPr>
            <p:ph idx="1"/>
          </p:nvPr>
        </p:nvPicPr>
        <p:blipFill>
          <a:blip r:embed="rId2"/>
          <a:stretch>
            <a:fillRect/>
          </a:stretch>
        </p:blipFill>
        <p:spPr>
          <a:xfrm>
            <a:off x="2316412" y="1318324"/>
            <a:ext cx="8122987" cy="5049139"/>
          </a:xfrm>
        </p:spPr>
      </p:pic>
    </p:spTree>
    <p:extLst>
      <p:ext uri="{BB962C8B-B14F-4D97-AF65-F5344CB8AC3E}">
        <p14:creationId xmlns:p14="http://schemas.microsoft.com/office/powerpoint/2010/main" val="1686220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FFC64-F82B-5547-BF12-B84D787CA064}"/>
              </a:ext>
            </a:extLst>
          </p:cNvPr>
          <p:cNvSpPr>
            <a:spLocks noGrp="1"/>
          </p:cNvSpPr>
          <p:nvPr>
            <p:ph type="title"/>
          </p:nvPr>
        </p:nvSpPr>
        <p:spPr/>
        <p:txBody>
          <a:bodyPr/>
          <a:lstStyle/>
          <a:p>
            <a:r>
              <a:rPr lang="en-US" dirty="0"/>
              <a:t>Type 5: Logical Representation to the BI tools</a:t>
            </a:r>
          </a:p>
        </p:txBody>
      </p:sp>
      <p:sp>
        <p:nvSpPr>
          <p:cNvPr id="3" name="Content Placeholder 2">
            <a:extLst>
              <a:ext uri="{FF2B5EF4-FFF2-40B4-BE49-F238E27FC236}">
                <a16:creationId xmlns:a16="http://schemas.microsoft.com/office/drawing/2014/main" id="{B84F58A4-6C1F-FD42-9A31-C7EE93C86625}"/>
              </a:ext>
            </a:extLst>
          </p:cNvPr>
          <p:cNvSpPr>
            <a:spLocks noGrp="1"/>
          </p:cNvSpPr>
          <p:nvPr>
            <p:ph idx="1"/>
          </p:nvPr>
        </p:nvSpPr>
        <p:spPr/>
        <p:txBody>
          <a:bodyPr/>
          <a:lstStyle/>
          <a:p>
            <a:r>
              <a:rPr lang="en-US" dirty="0"/>
              <a:t>The base dimension and the mini-dimension outrigger are represented as a singe table in the presentation area for the BI tools</a:t>
            </a:r>
          </a:p>
          <a:p>
            <a:endParaRPr lang="en-US" dirty="0"/>
          </a:p>
        </p:txBody>
      </p:sp>
      <p:pic>
        <p:nvPicPr>
          <p:cNvPr id="5" name="Picture 4">
            <a:extLst>
              <a:ext uri="{FF2B5EF4-FFF2-40B4-BE49-F238E27FC236}">
                <a16:creationId xmlns:a16="http://schemas.microsoft.com/office/drawing/2014/main" id="{4E7D8F5A-EC87-A34C-A9ED-E1144A5E09BD}"/>
              </a:ext>
            </a:extLst>
          </p:cNvPr>
          <p:cNvPicPr>
            <a:picLocks noChangeAspect="1"/>
          </p:cNvPicPr>
          <p:nvPr/>
        </p:nvPicPr>
        <p:blipFill>
          <a:blip r:embed="rId2"/>
          <a:stretch>
            <a:fillRect/>
          </a:stretch>
        </p:blipFill>
        <p:spPr>
          <a:xfrm>
            <a:off x="669367" y="3025305"/>
            <a:ext cx="10684433" cy="2676853"/>
          </a:xfrm>
          <a:prstGeom prst="rect">
            <a:avLst/>
          </a:prstGeom>
        </p:spPr>
      </p:pic>
    </p:spTree>
    <p:extLst>
      <p:ext uri="{BB962C8B-B14F-4D97-AF65-F5344CB8AC3E}">
        <p14:creationId xmlns:p14="http://schemas.microsoft.com/office/powerpoint/2010/main" val="3586873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01550-339E-6E4B-B0C4-9F205D71DE77}"/>
              </a:ext>
            </a:extLst>
          </p:cNvPr>
          <p:cNvSpPr>
            <a:spLocks noGrp="1"/>
          </p:cNvSpPr>
          <p:nvPr>
            <p:ph type="title"/>
          </p:nvPr>
        </p:nvSpPr>
        <p:spPr/>
        <p:txBody>
          <a:bodyPr/>
          <a:lstStyle/>
          <a:p>
            <a:r>
              <a:rPr lang="en-US" dirty="0"/>
              <a:t>Type 6: Add Type 1 Attributes to Type 2 Dimension</a:t>
            </a:r>
          </a:p>
        </p:txBody>
      </p:sp>
      <p:sp>
        <p:nvSpPr>
          <p:cNvPr id="3" name="Content Placeholder 2">
            <a:extLst>
              <a:ext uri="{FF2B5EF4-FFF2-40B4-BE49-F238E27FC236}">
                <a16:creationId xmlns:a16="http://schemas.microsoft.com/office/drawing/2014/main" id="{E8DE1326-2059-FE40-82BF-84E239131DC9}"/>
              </a:ext>
            </a:extLst>
          </p:cNvPr>
          <p:cNvSpPr>
            <a:spLocks noGrp="1"/>
          </p:cNvSpPr>
          <p:nvPr>
            <p:ph idx="1"/>
          </p:nvPr>
        </p:nvSpPr>
        <p:spPr>
          <a:xfrm>
            <a:off x="375863" y="1842998"/>
            <a:ext cx="4566007" cy="4351338"/>
          </a:xfrm>
        </p:spPr>
        <p:txBody>
          <a:bodyPr>
            <a:normAutofit lnSpcReduction="10000"/>
          </a:bodyPr>
          <a:lstStyle/>
          <a:p>
            <a:pPr marL="457200" indent="-457200"/>
            <a:r>
              <a:rPr lang="en-US" dirty="0"/>
              <a:t>Additional column (</a:t>
            </a:r>
            <a:r>
              <a:rPr lang="en-US" b="1" dirty="0"/>
              <a:t>SCD 3</a:t>
            </a:r>
            <a:r>
              <a:rPr lang="en-US" dirty="0"/>
              <a:t>) for the attribute:</a:t>
            </a:r>
            <a:br>
              <a:rPr lang="en-US" dirty="0"/>
            </a:br>
            <a:r>
              <a:rPr lang="en-US" dirty="0"/>
              <a:t>- one for tracking historic values (</a:t>
            </a:r>
            <a:r>
              <a:rPr lang="en-US" b="1" dirty="0"/>
              <a:t>SCD 2</a:t>
            </a:r>
            <a:r>
              <a:rPr lang="en-US" dirty="0"/>
              <a:t>)</a:t>
            </a:r>
            <a:br>
              <a:rPr lang="en-US" dirty="0"/>
            </a:br>
            <a:r>
              <a:rPr lang="en-US" dirty="0"/>
              <a:t>- one for representing the current assignment </a:t>
            </a:r>
            <a:r>
              <a:rPr lang="en-US" b="1" dirty="0"/>
              <a:t>(SCD 1) </a:t>
            </a:r>
          </a:p>
          <a:p>
            <a:pPr marL="457200" indent="-457200"/>
            <a:r>
              <a:rPr lang="en-US" dirty="0"/>
              <a:t>Allows to analyze historic facts based on historic attribute values as well as on the current ones</a:t>
            </a:r>
          </a:p>
          <a:p>
            <a:endParaRPr lang="en-US" dirty="0"/>
          </a:p>
        </p:txBody>
      </p:sp>
      <p:pic>
        <p:nvPicPr>
          <p:cNvPr id="5" name="Picture 4">
            <a:extLst>
              <a:ext uri="{FF2B5EF4-FFF2-40B4-BE49-F238E27FC236}">
                <a16:creationId xmlns:a16="http://schemas.microsoft.com/office/drawing/2014/main" id="{913AD1EF-1D58-8E44-B2FB-FA9E42E90204}"/>
              </a:ext>
            </a:extLst>
          </p:cNvPr>
          <p:cNvPicPr>
            <a:picLocks noChangeAspect="1"/>
          </p:cNvPicPr>
          <p:nvPr/>
        </p:nvPicPr>
        <p:blipFill>
          <a:blip r:embed="rId2"/>
          <a:stretch>
            <a:fillRect/>
          </a:stretch>
        </p:blipFill>
        <p:spPr>
          <a:xfrm>
            <a:off x="4935612" y="1842998"/>
            <a:ext cx="7134071" cy="4136562"/>
          </a:xfrm>
          <a:prstGeom prst="rect">
            <a:avLst/>
          </a:prstGeom>
        </p:spPr>
      </p:pic>
    </p:spTree>
    <p:extLst>
      <p:ext uri="{BB962C8B-B14F-4D97-AF65-F5344CB8AC3E}">
        <p14:creationId xmlns:p14="http://schemas.microsoft.com/office/powerpoint/2010/main" val="4030813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18163-5492-C249-AE30-0282A42F661D}"/>
              </a:ext>
            </a:extLst>
          </p:cNvPr>
          <p:cNvSpPr>
            <a:spLocks noGrp="1"/>
          </p:cNvSpPr>
          <p:nvPr>
            <p:ph type="title"/>
          </p:nvPr>
        </p:nvSpPr>
        <p:spPr/>
        <p:txBody>
          <a:bodyPr/>
          <a:lstStyle/>
          <a:p>
            <a:r>
              <a:rPr lang="en-US" dirty="0"/>
              <a:t>Type 7: Dual Type 1 and Type 2 Dimensions</a:t>
            </a:r>
          </a:p>
        </p:txBody>
      </p:sp>
      <p:sp>
        <p:nvSpPr>
          <p:cNvPr id="3" name="Content Placeholder 2">
            <a:extLst>
              <a:ext uri="{FF2B5EF4-FFF2-40B4-BE49-F238E27FC236}">
                <a16:creationId xmlns:a16="http://schemas.microsoft.com/office/drawing/2014/main" id="{06207416-B745-3B43-8F74-0CD4D247BB6C}"/>
              </a:ext>
            </a:extLst>
          </p:cNvPr>
          <p:cNvSpPr>
            <a:spLocks noGrp="1"/>
          </p:cNvSpPr>
          <p:nvPr>
            <p:ph idx="1"/>
          </p:nvPr>
        </p:nvSpPr>
        <p:spPr>
          <a:xfrm>
            <a:off x="838200" y="1825625"/>
            <a:ext cx="11007903" cy="4351338"/>
          </a:xfrm>
        </p:spPr>
        <p:txBody>
          <a:bodyPr>
            <a:normAutofit/>
          </a:bodyPr>
          <a:lstStyle/>
          <a:p>
            <a:pPr marL="457200" indent="-457200"/>
            <a:r>
              <a:rPr lang="en-US" dirty="0"/>
              <a:t>Supports both current and historic perspectives for many attributes</a:t>
            </a:r>
          </a:p>
          <a:p>
            <a:pPr marL="457200" indent="-457200"/>
            <a:r>
              <a:rPr lang="en-US" dirty="0"/>
              <a:t>Both business key and surrogate key are included into a fact table</a:t>
            </a:r>
          </a:p>
          <a:p>
            <a:pPr marL="457200" indent="-457200"/>
            <a:r>
              <a:rPr lang="en-US" dirty="0"/>
              <a:t>The business key joins to a dimension with the current values (SCD 1)</a:t>
            </a:r>
          </a:p>
          <a:p>
            <a:pPr marL="457200" indent="-457200"/>
            <a:r>
              <a:rPr lang="en-US" dirty="0"/>
              <a:t>Queries based on current attribute values filter on a smaller dimension table </a:t>
            </a:r>
          </a:p>
          <a:p>
            <a:endParaRPr lang="en-US" dirty="0"/>
          </a:p>
        </p:txBody>
      </p:sp>
      <p:pic>
        <p:nvPicPr>
          <p:cNvPr id="5" name="Picture 4">
            <a:extLst>
              <a:ext uri="{FF2B5EF4-FFF2-40B4-BE49-F238E27FC236}">
                <a16:creationId xmlns:a16="http://schemas.microsoft.com/office/drawing/2014/main" id="{5BC07627-C59E-9543-8280-A130C4D635DF}"/>
              </a:ext>
            </a:extLst>
          </p:cNvPr>
          <p:cNvPicPr>
            <a:picLocks noChangeAspect="1"/>
          </p:cNvPicPr>
          <p:nvPr/>
        </p:nvPicPr>
        <p:blipFill>
          <a:blip r:embed="rId2"/>
          <a:stretch>
            <a:fillRect/>
          </a:stretch>
        </p:blipFill>
        <p:spPr>
          <a:xfrm>
            <a:off x="2845384" y="3870789"/>
            <a:ext cx="7244195" cy="2701889"/>
          </a:xfrm>
          <a:prstGeom prst="rect">
            <a:avLst/>
          </a:prstGeom>
        </p:spPr>
      </p:pic>
    </p:spTree>
    <p:extLst>
      <p:ext uri="{BB962C8B-B14F-4D97-AF65-F5344CB8AC3E}">
        <p14:creationId xmlns:p14="http://schemas.microsoft.com/office/powerpoint/2010/main" val="1914229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C5D7D-CCFA-DC46-8E88-BA49B8C284B2}"/>
              </a:ext>
            </a:extLst>
          </p:cNvPr>
          <p:cNvSpPr>
            <a:spLocks noGrp="1"/>
          </p:cNvSpPr>
          <p:nvPr>
            <p:ph type="title"/>
          </p:nvPr>
        </p:nvSpPr>
        <p:spPr/>
        <p:txBody>
          <a:bodyPr/>
          <a:lstStyle/>
          <a:p>
            <a:r>
              <a:rPr lang="en-US" dirty="0"/>
              <a:t>Type 7</a:t>
            </a:r>
            <a:r>
              <a:rPr lang="zh-CN" altLang="en-US" dirty="0"/>
              <a:t> </a:t>
            </a:r>
            <a:r>
              <a:rPr lang="en-US" altLang="zh-CN" dirty="0"/>
              <a:t>Examples</a:t>
            </a:r>
            <a:endParaRPr lang="en-US" dirty="0"/>
          </a:p>
        </p:txBody>
      </p:sp>
      <p:pic>
        <p:nvPicPr>
          <p:cNvPr id="5" name="Content Placeholder 4">
            <a:extLst>
              <a:ext uri="{FF2B5EF4-FFF2-40B4-BE49-F238E27FC236}">
                <a16:creationId xmlns:a16="http://schemas.microsoft.com/office/drawing/2014/main" id="{803372AF-CB5B-8544-9C61-BD5DCD05FBE3}"/>
              </a:ext>
            </a:extLst>
          </p:cNvPr>
          <p:cNvPicPr>
            <a:picLocks noGrp="1" noChangeAspect="1"/>
          </p:cNvPicPr>
          <p:nvPr>
            <p:ph idx="1"/>
          </p:nvPr>
        </p:nvPicPr>
        <p:blipFill>
          <a:blip r:embed="rId2"/>
          <a:stretch>
            <a:fillRect/>
          </a:stretch>
        </p:blipFill>
        <p:spPr>
          <a:xfrm>
            <a:off x="3674944" y="1422400"/>
            <a:ext cx="6891456" cy="4970463"/>
          </a:xfrm>
        </p:spPr>
      </p:pic>
    </p:spTree>
    <p:extLst>
      <p:ext uri="{BB962C8B-B14F-4D97-AF65-F5344CB8AC3E}">
        <p14:creationId xmlns:p14="http://schemas.microsoft.com/office/powerpoint/2010/main" val="1039698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E4616-D351-614C-9CA2-84F1F032A282}"/>
              </a:ext>
            </a:extLst>
          </p:cNvPr>
          <p:cNvSpPr>
            <a:spLocks noGrp="1"/>
          </p:cNvSpPr>
          <p:nvPr>
            <p:ph type="title"/>
          </p:nvPr>
        </p:nvSpPr>
        <p:spPr/>
        <p:txBody>
          <a:bodyPr/>
          <a:lstStyle/>
          <a:p>
            <a:r>
              <a:rPr lang="en-US" dirty="0"/>
              <a:t>Type 7: Alternative Approach with Single Surrogate Key</a:t>
            </a:r>
          </a:p>
        </p:txBody>
      </p:sp>
      <p:sp>
        <p:nvSpPr>
          <p:cNvPr id="3" name="Content Placeholder 2">
            <a:extLst>
              <a:ext uri="{FF2B5EF4-FFF2-40B4-BE49-F238E27FC236}">
                <a16:creationId xmlns:a16="http://schemas.microsoft.com/office/drawing/2014/main" id="{12CCA533-99C4-0D4A-B714-5DFAAAC0FD8E}"/>
              </a:ext>
            </a:extLst>
          </p:cNvPr>
          <p:cNvSpPr>
            <a:spLocks noGrp="1"/>
          </p:cNvSpPr>
          <p:nvPr>
            <p:ph idx="1"/>
          </p:nvPr>
        </p:nvSpPr>
        <p:spPr>
          <a:xfrm>
            <a:off x="838200" y="1825625"/>
            <a:ext cx="4319427" cy="4351338"/>
          </a:xfrm>
        </p:spPr>
        <p:txBody>
          <a:bodyPr/>
          <a:lstStyle/>
          <a:p>
            <a:pPr marL="457200" indent="-457200"/>
            <a:r>
              <a:rPr lang="en-US" dirty="0"/>
              <a:t>Each surrogate key is associated with the current value</a:t>
            </a:r>
          </a:p>
          <a:p>
            <a:pPr marL="457200" indent="-457200"/>
            <a:r>
              <a:rPr lang="en-US" dirty="0"/>
              <a:t>Both dimensions in this case have equal number of rows</a:t>
            </a:r>
            <a:endParaRPr lang="en-US" dirty="0">
              <a:solidFill>
                <a:srgbClr val="FF0000"/>
              </a:solidFill>
            </a:endParaRPr>
          </a:p>
          <a:p>
            <a:endParaRPr lang="en-US" dirty="0"/>
          </a:p>
        </p:txBody>
      </p:sp>
      <p:pic>
        <p:nvPicPr>
          <p:cNvPr id="5" name="Picture 4">
            <a:extLst>
              <a:ext uri="{FF2B5EF4-FFF2-40B4-BE49-F238E27FC236}">
                <a16:creationId xmlns:a16="http://schemas.microsoft.com/office/drawing/2014/main" id="{9B561DB6-A35D-6F4B-9526-40EB36CC581A}"/>
              </a:ext>
            </a:extLst>
          </p:cNvPr>
          <p:cNvPicPr>
            <a:picLocks noChangeAspect="1"/>
          </p:cNvPicPr>
          <p:nvPr/>
        </p:nvPicPr>
        <p:blipFill>
          <a:blip r:embed="rId2"/>
          <a:stretch>
            <a:fillRect/>
          </a:stretch>
        </p:blipFill>
        <p:spPr>
          <a:xfrm>
            <a:off x="5270813" y="1284760"/>
            <a:ext cx="6921187" cy="2516795"/>
          </a:xfrm>
          <a:prstGeom prst="rect">
            <a:avLst/>
          </a:prstGeom>
        </p:spPr>
      </p:pic>
      <p:pic>
        <p:nvPicPr>
          <p:cNvPr id="7" name="Picture 6">
            <a:extLst>
              <a:ext uri="{FF2B5EF4-FFF2-40B4-BE49-F238E27FC236}">
                <a16:creationId xmlns:a16="http://schemas.microsoft.com/office/drawing/2014/main" id="{6E685DED-FAEF-D349-B885-21D504940E0C}"/>
              </a:ext>
            </a:extLst>
          </p:cNvPr>
          <p:cNvPicPr>
            <a:picLocks noChangeAspect="1"/>
          </p:cNvPicPr>
          <p:nvPr/>
        </p:nvPicPr>
        <p:blipFill>
          <a:blip r:embed="rId3"/>
          <a:stretch>
            <a:fillRect/>
          </a:stretch>
        </p:blipFill>
        <p:spPr>
          <a:xfrm>
            <a:off x="3534309" y="4043651"/>
            <a:ext cx="5976135" cy="2742430"/>
          </a:xfrm>
          <a:prstGeom prst="rect">
            <a:avLst/>
          </a:prstGeom>
        </p:spPr>
      </p:pic>
    </p:spTree>
    <p:extLst>
      <p:ext uri="{BB962C8B-B14F-4D97-AF65-F5344CB8AC3E}">
        <p14:creationId xmlns:p14="http://schemas.microsoft.com/office/powerpoint/2010/main" val="2227444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132C5-9CA1-E14A-B34F-7B9E59303597}"/>
              </a:ext>
            </a:extLst>
          </p:cNvPr>
          <p:cNvSpPr>
            <a:spLocks noGrp="1"/>
          </p:cNvSpPr>
          <p:nvPr>
            <p:ph type="title"/>
          </p:nvPr>
        </p:nvSpPr>
        <p:spPr>
          <a:xfrm>
            <a:off x="612167" y="169916"/>
            <a:ext cx="11141467" cy="1325563"/>
          </a:xfrm>
        </p:spPr>
        <p:txBody>
          <a:bodyPr>
            <a:normAutofit/>
          </a:bodyPr>
          <a:lstStyle/>
          <a:p>
            <a:r>
              <a:rPr lang="en-US" dirty="0"/>
              <a:t>Slowly changing dimension techniques summary </a:t>
            </a:r>
          </a:p>
        </p:txBody>
      </p:sp>
      <p:pic>
        <p:nvPicPr>
          <p:cNvPr id="5" name="Content Placeholder 4">
            <a:extLst>
              <a:ext uri="{FF2B5EF4-FFF2-40B4-BE49-F238E27FC236}">
                <a16:creationId xmlns:a16="http://schemas.microsoft.com/office/drawing/2014/main" id="{A61249FE-582D-9048-B269-379631EB8B76}"/>
              </a:ext>
            </a:extLst>
          </p:cNvPr>
          <p:cNvPicPr>
            <a:picLocks noGrp="1" noChangeAspect="1"/>
          </p:cNvPicPr>
          <p:nvPr>
            <p:ph idx="1"/>
          </p:nvPr>
        </p:nvPicPr>
        <p:blipFill>
          <a:blip r:embed="rId2"/>
          <a:stretch>
            <a:fillRect/>
          </a:stretch>
        </p:blipFill>
        <p:spPr>
          <a:xfrm>
            <a:off x="2178123" y="1291368"/>
            <a:ext cx="8333198" cy="5065802"/>
          </a:xfrm>
        </p:spPr>
      </p:pic>
    </p:spTree>
    <p:extLst>
      <p:ext uri="{BB962C8B-B14F-4D97-AF65-F5344CB8AC3E}">
        <p14:creationId xmlns:p14="http://schemas.microsoft.com/office/powerpoint/2010/main" val="9699506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1581</TotalTime>
  <Words>1299</Words>
  <Application>Microsoft Macintosh PowerPoint</Application>
  <PresentationFormat>Widescreen</PresentationFormat>
  <Paragraphs>133</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等线</vt:lpstr>
      <vt:lpstr>等线 Light</vt:lpstr>
      <vt:lpstr>Arial</vt:lpstr>
      <vt:lpstr>Calibri</vt:lpstr>
      <vt:lpstr>Calibri Light</vt:lpstr>
      <vt:lpstr>Office Theme</vt:lpstr>
      <vt:lpstr>Lecture 5: Procurement and Slowly Changing Dimensions</vt:lpstr>
      <vt:lpstr>Procurement Processes</vt:lpstr>
      <vt:lpstr>Procurement Transactions and Bus Matrix</vt:lpstr>
      <vt:lpstr>Procurement fact table with multiple transaction types </vt:lpstr>
      <vt:lpstr>Single Versus Multiple Transaction Fact Tables </vt:lpstr>
      <vt:lpstr>Single Versus Multiple Transaction Fact Tables </vt:lpstr>
      <vt:lpstr>Sample bus matrix rows for procurement processes. </vt:lpstr>
      <vt:lpstr>What is the trade-off?</vt:lpstr>
      <vt:lpstr>Multiple fact tables for  procurement processes. </vt:lpstr>
      <vt:lpstr>Complementary Procurement Snapshot: Procurement pipeline accumulating snapshot schema </vt:lpstr>
      <vt:lpstr>Slowly Changing Dimension Basics </vt:lpstr>
      <vt:lpstr>Type 0: Retain Original </vt:lpstr>
      <vt:lpstr>Type 1: Overwrite</vt:lpstr>
      <vt:lpstr>Type 2: Add New Row</vt:lpstr>
      <vt:lpstr>Type 2: Add New Row</vt:lpstr>
      <vt:lpstr>Type 2: Add New Row</vt:lpstr>
      <vt:lpstr>Type 3: Add New Attribute </vt:lpstr>
      <vt:lpstr>Type 3: Add New Attribute </vt:lpstr>
      <vt:lpstr>Type 4: Add Mini-Dimension</vt:lpstr>
      <vt:lpstr>Type 4 Examples:</vt:lpstr>
      <vt:lpstr>Hybrid Slowly Changing Dimension Techniques </vt:lpstr>
      <vt:lpstr>Type 5: Add Mini-Dimension and Type 1 Outrigger</vt:lpstr>
      <vt:lpstr>Type 5 Examples:</vt:lpstr>
      <vt:lpstr>Type 5: Logical Representation to the BI tools</vt:lpstr>
      <vt:lpstr>Type 6: Add Type 1 Attributes to Type 2 Dimension</vt:lpstr>
      <vt:lpstr>Type 7: Dual Type 1 and Type 2 Dimensions</vt:lpstr>
      <vt:lpstr>Type 7 Examples</vt:lpstr>
      <vt:lpstr>Type 7: Alternative Approach with Single Surrogate Key</vt:lpstr>
      <vt:lpstr>Slowly changing dimension techniques summary </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5: Procurement and Slowly Changing Dimensions</dc:title>
  <dc:creator>Microsoft Office User</dc:creator>
  <cp:lastModifiedBy>Yuanyuan Gao</cp:lastModifiedBy>
  <cp:revision>55</cp:revision>
  <dcterms:created xsi:type="dcterms:W3CDTF">2020-09-10T16:58:27Z</dcterms:created>
  <dcterms:modified xsi:type="dcterms:W3CDTF">2020-09-16T01:58:48Z</dcterms:modified>
</cp:coreProperties>
</file>