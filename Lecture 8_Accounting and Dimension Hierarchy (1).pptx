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4" r:id="rId3"/>
    <p:sldId id="269" r:id="rId4"/>
    <p:sldId id="281" r:id="rId5"/>
    <p:sldId id="259" r:id="rId6"/>
    <p:sldId id="282" r:id="rId7"/>
    <p:sldId id="270" r:id="rId8"/>
    <p:sldId id="283" r:id="rId9"/>
    <p:sldId id="271" r:id="rId10"/>
    <p:sldId id="284" r:id="rId11"/>
    <p:sldId id="288" r:id="rId12"/>
    <p:sldId id="274" r:id="rId13"/>
    <p:sldId id="291" r:id="rId14"/>
    <p:sldId id="292" r:id="rId15"/>
    <p:sldId id="260" r:id="rId16"/>
    <p:sldId id="273" r:id="rId17"/>
    <p:sldId id="285" r:id="rId18"/>
    <p:sldId id="286" r:id="rId19"/>
    <p:sldId id="287" r:id="rId20"/>
    <p:sldId id="272" r:id="rId21"/>
    <p:sldId id="275" r:id="rId22"/>
    <p:sldId id="276" r:id="rId23"/>
    <p:sldId id="277" r:id="rId24"/>
    <p:sldId id="278" r:id="rId25"/>
    <p:sldId id="289" r:id="rId26"/>
    <p:sldId id="279" r:id="rId27"/>
    <p:sldId id="290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77"/>
  </p:normalViewPr>
  <p:slideViewPr>
    <p:cSldViewPr snapToGrid="0" snapToObjects="1">
      <p:cViewPr varScale="1">
        <p:scale>
          <a:sx n="84" d="100"/>
          <a:sy n="84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06133-9E93-544E-90AF-AAF9E57210F8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5F3B-4723-5C4B-8045-5F68FC7A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0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Accounting Processes</a:t>
            </a:r>
          </a:p>
          <a:p>
            <a:endParaRPr lang="en-US" dirty="0"/>
          </a:p>
          <a:p>
            <a:r>
              <a:rPr lang="en-US" dirty="0"/>
              <a:t>Journal- All</a:t>
            </a:r>
            <a:r>
              <a:rPr lang="en-US" baseline="0" dirty="0"/>
              <a:t> transactions are recorded in a journal as debit credit</a:t>
            </a:r>
          </a:p>
          <a:p>
            <a:r>
              <a:rPr lang="en-US" baseline="0" dirty="0"/>
              <a:t>Accounts – different accounts are debited or credited</a:t>
            </a:r>
            <a:endParaRPr lang="en-US" dirty="0"/>
          </a:p>
          <a:p>
            <a:r>
              <a:rPr lang="en-US" dirty="0"/>
              <a:t>Ledger – Sales, Purchase, General (Asset, Liabilities, Income,</a:t>
            </a:r>
            <a:r>
              <a:rPr lang="en-US" baseline="0" dirty="0"/>
              <a:t> Expense, Capital)</a:t>
            </a:r>
          </a:p>
          <a:p>
            <a:endParaRPr lang="en-US" baseline="0" dirty="0"/>
          </a:p>
          <a:p>
            <a:r>
              <a:rPr lang="en-US" baseline="0" dirty="0"/>
              <a:t>Purpose-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6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68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7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70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17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6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30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07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21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Ragged hierarchy </a:t>
            </a:r>
            <a:r>
              <a:rPr lang="en-US" dirty="0" err="1"/>
              <a:t>pg</a:t>
            </a:r>
            <a:r>
              <a:rPr lang="en-US"/>
              <a:t> 216</a:t>
            </a:r>
          </a:p>
          <a:p>
            <a:r>
              <a:rPr lang="en-US" dirty="0"/>
              <a:t>Recursive keys (</a:t>
            </a:r>
            <a:r>
              <a:rPr lang="en-US" dirty="0" err="1"/>
              <a:t>pg</a:t>
            </a:r>
            <a:r>
              <a:rPr lang="en-US" dirty="0"/>
              <a:t> 217) hard to maintain</a:t>
            </a:r>
            <a:r>
              <a:rPr lang="en-US" baseline="0" dirty="0"/>
              <a:t> with type 2 changes – cascade.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66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Ragged hierarchy </a:t>
            </a:r>
            <a:r>
              <a:rPr lang="en-US" dirty="0" err="1"/>
              <a:t>pg</a:t>
            </a:r>
            <a:r>
              <a:rPr lang="en-US"/>
              <a:t> 216</a:t>
            </a:r>
          </a:p>
          <a:p>
            <a:r>
              <a:rPr lang="en-US" dirty="0"/>
              <a:t>Recursive keys (</a:t>
            </a:r>
            <a:r>
              <a:rPr lang="en-US" dirty="0" err="1"/>
              <a:t>pg</a:t>
            </a:r>
            <a:r>
              <a:rPr lang="en-US" dirty="0"/>
              <a:t> 217) hard to maintain</a:t>
            </a:r>
            <a:r>
              <a:rPr lang="en-US" baseline="0" dirty="0"/>
              <a:t> with type 2 changes – cascade.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98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Ragged hierarchy </a:t>
            </a:r>
            <a:r>
              <a:rPr lang="en-US" dirty="0" err="1"/>
              <a:t>pg</a:t>
            </a:r>
            <a:r>
              <a:rPr lang="en-US"/>
              <a:t> 216</a:t>
            </a:r>
          </a:p>
          <a:p>
            <a:r>
              <a:rPr lang="en-US" dirty="0"/>
              <a:t>Recursive keys (</a:t>
            </a:r>
            <a:r>
              <a:rPr lang="en-US" dirty="0" err="1"/>
              <a:t>pg</a:t>
            </a:r>
            <a:r>
              <a:rPr lang="en-US" dirty="0"/>
              <a:t> 217) hard to maintain</a:t>
            </a:r>
            <a:r>
              <a:rPr lang="en-US" baseline="0" dirty="0"/>
              <a:t> with type 2 changes – cascade.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58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Ragged hierarchy </a:t>
            </a:r>
            <a:r>
              <a:rPr lang="en-US" dirty="0" err="1"/>
              <a:t>pg</a:t>
            </a:r>
            <a:r>
              <a:rPr lang="en-US"/>
              <a:t> 216</a:t>
            </a:r>
          </a:p>
          <a:p>
            <a:r>
              <a:rPr lang="en-US" dirty="0"/>
              <a:t>Recursive keys (</a:t>
            </a:r>
            <a:r>
              <a:rPr lang="en-US" dirty="0" err="1"/>
              <a:t>pg</a:t>
            </a:r>
            <a:r>
              <a:rPr lang="en-US" dirty="0"/>
              <a:t> 217) hard to maintain</a:t>
            </a:r>
            <a:r>
              <a:rPr lang="en-US" baseline="0" dirty="0"/>
              <a:t> with type 2 changes – cascade.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80F08-C16E-4565-BC7A-E171E0C9B2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34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2916-3026-D742-A3C6-7471EB81A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0E330-BC8E-5340-BEF9-E2B218B2E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78257-6711-954C-B4E7-D5B6E354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F6E59-585F-E746-8E4C-727B1BF5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96BA0-B970-2C49-B0AF-2D171FD2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9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C43F8-55AE-714E-ABBD-DF459364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10A8-C9E8-364B-B5CA-0B1BDA967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13E2A-1FC8-7D44-8360-9E0DD04F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32F9-7BAF-2844-885F-4EB532F9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FDFE5-1C37-BA4C-8C94-2E3383E6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6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52E4-6719-9F43-A1DC-6DC33029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3DA54-018C-2244-9CB7-3FE5E1EB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3092B-82D5-BE4F-82BF-04EB647A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9552-F0F3-2842-982F-94DD1FBB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63A88-A765-E449-B09B-12B9EB3B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5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AB94-6612-DA4E-B3DB-9634C4F6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DEC8-CDBB-7E42-AA8E-5F0F622D1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008FA-455D-7444-9F0E-59F9EC5DA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E6F75-3CFE-7F46-ADCD-4C3296F3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7E211-9FBC-CE41-9F85-E906EAF7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E5A7E-153D-C74E-B8A9-BE8AEF8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CB3A-20DC-B545-8933-0AB7C1A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E6FE-E748-E944-8A95-8C23A9C3C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16875-C44F-ED4A-9BC3-FB1A3B8AD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EA5D5-BD05-484A-BB78-8B843571C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56E13-714E-024B-B28B-38B4445F7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3F924-D8D8-AA44-BCA0-508C9A8A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D3177-CD05-2A49-A1E3-BE9DF13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9C381-92D6-3F41-A9A8-D02E6ABE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0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C5C3-023D-B541-B40B-3E2BD640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70770-0B96-2D42-AFFC-BC5B900A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81351-ACA2-0540-97B5-DD860FCD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C34F5-97E3-4D4D-8427-818A0A2A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3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7CAD2-D80D-2048-896F-759B218B6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66D05-3F4F-2049-AFAB-01BD0A7B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3BCBD-4D2F-F84A-890F-9F8BCA3B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0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850E-68B4-804C-82D2-268A6C142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27C38-C7E1-D044-B95A-B8EF24988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8E64-1D76-024C-B5F0-547B28E0A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BFACF-45D0-9549-9402-A1AB7B8E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54C2F-E512-1F46-8C7F-E9FC83D0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58A1F-6538-8B45-8994-5AC312C7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4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CF92-4A3B-EA41-AE9B-E4261BBC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EC047-E860-7041-8B1D-F0C05D806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21C3-FA32-9249-903C-17089283C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6517B-A53F-C54B-B6E5-20C10542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34BD5-C575-6A4E-8BE9-1E3BCF0A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34186-97AF-FA45-A4C6-3944E759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4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F4F8-1EAE-AC4E-84DD-01500687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B761C-56A8-1040-930E-83CFB2720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4B7A0-5EBB-264B-A153-FFA0973C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C3064-45D9-A043-BD5F-2FAF8EE3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C920F-5A23-A14A-ADED-F74F917E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3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AF493-06AD-3C46-922F-AB5AD32A6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0A899-1E3B-8F40-A812-65BEA1715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5A6B8-35FA-1942-ADA7-AF324615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AD7B-523F-C049-AA5A-8B03F70A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12090-ABB8-1648-BD44-E03D8D23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6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74EA0-215C-0641-8CFB-ED1F7190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CFCAF-9638-C442-ABCA-41EA7C779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5B10D-4399-A043-B227-08AC5B0F0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2878C-1B8E-5C44-8299-90BA6A878D15}" type="datetimeFigureOut">
              <a:rPr lang="en-US" smtClean="0"/>
              <a:t>10/14/20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A65C1-58F5-7E4C-8539-817B66B25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293A2-AF59-4E48-AF5F-270F99D40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16884-E44C-3445-87F7-EA2BA7B94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6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630B-45F1-2E4B-A7C1-6C50DBFE6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8: Accounting </a:t>
            </a:r>
            <a:r>
              <a:rPr lang="en-US" dirty="0"/>
              <a:t>and Dimension Hierarchy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79967-3E43-5045-9F54-3968DC93F5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E7EFE-2A8A-A042-93BE-B35E445E03AA}"/>
              </a:ext>
            </a:extLst>
          </p:cNvPr>
          <p:cNvSpPr txBox="1"/>
          <p:nvPr/>
        </p:nvSpPr>
        <p:spPr>
          <a:xfrm>
            <a:off x="1950720" y="22402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20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Accounting as support process in value chain</a:t>
            </a:r>
          </a:p>
          <a:p>
            <a:r>
              <a:rPr lang="en-US" dirty="0">
                <a:solidFill>
                  <a:srgbClr val="002060"/>
                </a:solidFill>
              </a:rPr>
              <a:t>Accounting Processes</a:t>
            </a:r>
          </a:p>
          <a:p>
            <a:pPr lvl="1"/>
            <a:r>
              <a:rPr lang="en-US" dirty="0"/>
              <a:t>Journals/ledger entry</a:t>
            </a:r>
          </a:p>
          <a:p>
            <a:pPr lvl="1"/>
            <a:r>
              <a:rPr lang="en-US" dirty="0"/>
              <a:t>Invoicing</a:t>
            </a:r>
          </a:p>
          <a:p>
            <a:pPr lvl="1"/>
            <a:r>
              <a:rPr lang="en-US" dirty="0"/>
              <a:t>Account receivable/payable</a:t>
            </a:r>
          </a:p>
          <a:p>
            <a:pPr lvl="1"/>
            <a:r>
              <a:rPr lang="en-US" dirty="0"/>
              <a:t>Fixed asset</a:t>
            </a:r>
          </a:p>
          <a:p>
            <a:pPr lvl="1"/>
            <a:r>
              <a:rPr lang="en-US" dirty="0"/>
              <a:t>Budgeting</a:t>
            </a:r>
          </a:p>
          <a:p>
            <a:endParaRPr lang="en-US" dirty="0"/>
          </a:p>
          <a:p>
            <a:r>
              <a:rPr lang="en-US" dirty="0">
                <a:solidFill>
                  <a:srgbClr val="002060"/>
                </a:solidFill>
              </a:rPr>
              <a:t>DW/BI system provides a single source of usable, understandable financial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400954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Matrix Rows for Accounting Processes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163" y="1678304"/>
            <a:ext cx="10251827" cy="4646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436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3F81-E7BD-A845-979F-51CCE69F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Dimensional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D7DBD-114E-5F4F-8876-07B043372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﻿General Ledger Data</a:t>
            </a:r>
          </a:p>
          <a:p>
            <a:r>
              <a:rPr lang="en-US" dirty="0"/>
              <a:t>﻿The general ledger (G/L) is a core foundation financial system that ties together the detailed information collected by subledgers or separate systems for purchasing, payables (what you owe to others), and receivables (what others owe you).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35658-3307-3F45-8F17-1A1F3442A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380" y="3936345"/>
            <a:ext cx="5031740" cy="292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4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Dimensional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>
                <a:solidFill>
                  <a:srgbClr val="002060"/>
                </a:solidFill>
              </a:rPr>
              <a:t>General Ledger Periodic Snapshot</a:t>
            </a:r>
          </a:p>
          <a:p>
            <a:r>
              <a:rPr lang="en-US" dirty="0"/>
              <a:t>Snapshot of general ledger account at the </a:t>
            </a:r>
            <a:r>
              <a:rPr lang="en-US" dirty="0">
                <a:solidFill>
                  <a:srgbClr val="FF0000"/>
                </a:solidFill>
              </a:rPr>
              <a:t>end of each fiscal period</a:t>
            </a:r>
          </a:p>
          <a:p>
            <a:r>
              <a:rPr lang="en-US" dirty="0"/>
              <a:t> Grain: One row per accounting period.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>
                <a:solidFill>
                  <a:srgbClr val="002060"/>
                </a:solidFill>
              </a:rPr>
              <a:t>General Ledge Journal Transaction Fact Table</a:t>
            </a:r>
          </a:p>
          <a:p>
            <a:r>
              <a:rPr lang="en-US" dirty="0"/>
              <a:t>Grain is one row for every general ledger entry</a:t>
            </a:r>
          </a:p>
          <a:p>
            <a:r>
              <a:rPr lang="en-US" dirty="0"/>
              <a:t>Each row in the journal entry fact table is identified as either a credit or a debit</a:t>
            </a:r>
          </a:p>
        </p:txBody>
      </p:sp>
    </p:spTree>
    <p:extLst>
      <p:ext uri="{BB962C8B-B14F-4D97-AF65-F5344CB8AC3E}">
        <p14:creationId xmlns:p14="http://schemas.microsoft.com/office/powerpoint/2010/main" val="37719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B5B1-2DD3-8C4D-941A-500A0BB6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﻿General Ledger Periodic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035E-25D0-6845-B260-C9B065DF3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﻿Chart of Accounts</a:t>
            </a:r>
          </a:p>
          <a:p>
            <a:r>
              <a:rPr lang="en-US" dirty="0"/>
              <a:t>﻿The cornerstone of the general ledger is the chart of accounts.</a:t>
            </a:r>
          </a:p>
          <a:p>
            <a:endParaRPr lang="en-US" dirty="0"/>
          </a:p>
          <a:p>
            <a:r>
              <a:rPr lang="en-US" dirty="0"/>
              <a:t>﻿Period Close</a:t>
            </a:r>
          </a:p>
          <a:p>
            <a:r>
              <a:rPr lang="en-US" dirty="0"/>
              <a:t> Analyzing the closed financial results;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24D3D-D35A-B742-A4A5-4E688975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775" y="3211354"/>
            <a:ext cx="4841400" cy="265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8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Ledger Periodic Snapshot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287" y="2734906"/>
            <a:ext cx="9653425" cy="39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AB21CD-3632-774C-A33B-6C486203020A}"/>
              </a:ext>
            </a:extLst>
          </p:cNvPr>
          <p:cNvSpPr/>
          <p:nvPr/>
        </p:nvSpPr>
        <p:spPr>
          <a:xfrm>
            <a:off x="838200" y="1409343"/>
            <a:ext cx="10287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﻿</a:t>
            </a:r>
            <a:r>
              <a:rPr lang="en-US" sz="2400" dirty="0"/>
              <a:t>General ledger account balances at the end of each accounting period: ﻿account rankings, trending patterns, and period-to-period comparisons</a:t>
            </a:r>
          </a:p>
          <a:p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415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D229-4499-704D-878B-CCBF52DA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A10B-9F14-E54D-B612-33031D416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﻿The </a:t>
            </a:r>
            <a:r>
              <a:rPr lang="en-US" b="1" i="1" dirty="0"/>
              <a:t>ledger dimension </a:t>
            </a:r>
            <a:r>
              <a:rPr lang="en-US" dirty="0"/>
              <a:t>is a convenient and intuitive dimension that enables multiple ledgers to be stored in the same fact table. </a:t>
            </a:r>
          </a:p>
          <a:p>
            <a:pPr lvl="1"/>
            <a:r>
              <a:rPr lang="en-US" dirty="0"/>
              <a:t>﻿every query that accesses this fact table must constrain the ledger dimension to a single value (for example, Final Approved Domestic Ledger) </a:t>
            </a:r>
          </a:p>
          <a:p>
            <a:r>
              <a:rPr lang="en-US" dirty="0"/>
              <a:t>﻿The </a:t>
            </a:r>
            <a:r>
              <a:rPr lang="en-US" b="1" i="1" dirty="0"/>
              <a:t>account dimension </a:t>
            </a:r>
            <a:r>
              <a:rPr lang="en-US" dirty="0"/>
              <a:t>is carefully derived from the uniform chart of accounts in the enterprise. </a:t>
            </a:r>
          </a:p>
          <a:p>
            <a:r>
              <a:rPr lang="en-US" dirty="0"/>
              <a:t>The </a:t>
            </a:r>
            <a:r>
              <a:rPr lang="en-US" b="1" i="1" dirty="0"/>
              <a:t>organization dimension </a:t>
            </a:r>
            <a:r>
              <a:rPr lang="en-US" dirty="0"/>
              <a:t>describes the financial reporting entities in the enterprise. </a:t>
            </a:r>
          </a:p>
        </p:txBody>
      </p:sp>
    </p:spTree>
    <p:extLst>
      <p:ext uri="{BB962C8B-B14F-4D97-AF65-F5344CB8AC3E}">
        <p14:creationId xmlns:p14="http://schemas.microsoft.com/office/powerpoint/2010/main" val="1826079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General Ledger Journal Entry Transaction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23" y="1972628"/>
            <a:ext cx="11450725" cy="330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909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FDCB7-1165-314E-9CF7-79883AA4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﻿General Ledger Journal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03023-FE6C-2143-A4F8-3D2447EF8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﻿Each row in the journal entry fact table is identified as either a credit or a debit.</a:t>
            </a:r>
          </a:p>
          <a:p>
            <a:r>
              <a:rPr lang="en-US" dirty="0"/>
              <a:t>The debit/credit indicator takes on two, and only two, values.</a:t>
            </a:r>
          </a:p>
          <a:p>
            <a:r>
              <a:rPr lang="en-US" dirty="0"/>
              <a:t>﻿</a:t>
            </a:r>
            <a:r>
              <a:rPr lang="en-US" altLang="zh-CN" dirty="0"/>
              <a:t>C</a:t>
            </a:r>
            <a:r>
              <a:rPr lang="en-US" dirty="0"/>
              <a:t>apture journal entry transactions by transaction posting date,</a:t>
            </a:r>
            <a:r>
              <a:rPr lang="zh-CN" altLang="en-US" dirty="0"/>
              <a:t> </a:t>
            </a:r>
            <a:r>
              <a:rPr lang="en-US" dirty="0"/>
              <a:t>so use a daily-grained date table in this schema</a:t>
            </a:r>
            <a:r>
              <a:rPr lang="en-US" altLang="zh-CN" dirty="0"/>
              <a:t>;</a:t>
            </a:r>
          </a:p>
          <a:p>
            <a:r>
              <a:rPr lang="en-US" dirty="0"/>
              <a:t>﻿The journal entry number is likely a degenerate dimension with no linkage to</a:t>
            </a:r>
            <a:r>
              <a:rPr lang="zh-CN" altLang="en-US" dirty="0"/>
              <a:t> </a:t>
            </a:r>
            <a:r>
              <a:rPr lang="en-US" dirty="0"/>
              <a:t>an associated dimension table. </a:t>
            </a:r>
          </a:p>
        </p:txBody>
      </p:sp>
    </p:spTree>
    <p:extLst>
      <p:ext uri="{BB962C8B-B14F-4D97-AF65-F5344CB8AC3E}">
        <p14:creationId xmlns:p14="http://schemas.microsoft.com/office/powerpoint/2010/main" val="258256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C523-FCC6-4F47-9FFE-98A96E85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 Multilevel Hierarchy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dirty="0"/>
              <a:t>General Ledger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8DCAB3-18A9-0E4E-95AD-8ED76007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3740" y="1195070"/>
            <a:ext cx="5227320" cy="566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89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Drilling Down a Multilevel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Multiple ledgers arranged in ascending hierarchy</a:t>
            </a:r>
          </a:p>
          <a:p>
            <a:r>
              <a:rPr lang="en-US" dirty="0"/>
              <a:t>Department -&gt; division -&gt; enterprise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44" y="2957513"/>
            <a:ext cx="10116773" cy="348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4556760" y="3337560"/>
            <a:ext cx="2773680" cy="1844040"/>
            <a:chOff x="4556760" y="3337560"/>
            <a:chExt cx="2773680" cy="1844040"/>
          </a:xfrm>
        </p:grpSpPr>
        <p:sp>
          <p:nvSpPr>
            <p:cNvPr id="5" name="Rounded Rectangle 4"/>
            <p:cNvSpPr/>
            <p:nvPr/>
          </p:nvSpPr>
          <p:spPr>
            <a:xfrm>
              <a:off x="4556760" y="4892040"/>
              <a:ext cx="2392680" cy="28956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56760" y="3337560"/>
              <a:ext cx="2773680" cy="28956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5" idx="3"/>
            </p:cNvCxnSpPr>
            <p:nvPr/>
          </p:nvCxnSpPr>
          <p:spPr>
            <a:xfrm flipV="1">
              <a:off x="6949440" y="3627120"/>
              <a:ext cx="243840" cy="14097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088" y="2957513"/>
            <a:ext cx="4102495" cy="2932924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9225129" y="2349795"/>
            <a:ext cx="901029" cy="16464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39761" y="1980961"/>
            <a:ext cx="229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level ledger entry</a:t>
            </a:r>
          </a:p>
        </p:txBody>
      </p:sp>
    </p:spTree>
    <p:extLst>
      <p:ext uri="{BB962C8B-B14F-4D97-AF65-F5344CB8AC3E}">
        <p14:creationId xmlns:p14="http://schemas.microsoft.com/office/powerpoint/2010/main" val="183226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09B9-620C-6B49-BCA5-39928C55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 Up and Drill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0147-7182-C544-A958-AB72CF086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Roll-up performs aggregation in any of the following ways:</a:t>
            </a:r>
          </a:p>
          <a:p>
            <a:pPr lvl="1"/>
            <a:r>
              <a:rPr lang="en-US" sz="2800" dirty="0"/>
              <a:t>By climbing up a concept hierarchy for a dimension</a:t>
            </a:r>
          </a:p>
          <a:p>
            <a:pPr lvl="1"/>
            <a:r>
              <a:rPr lang="en-US" sz="2800" dirty="0"/>
              <a:t>By dimension reduction</a:t>
            </a:r>
          </a:p>
          <a:p>
            <a:pPr lvl="2"/>
            <a:r>
              <a:rPr lang="en-US" sz="2400" dirty="0"/>
              <a:t>Initially the concept hierarchy was "street &lt; city &lt; province &lt; country".</a:t>
            </a:r>
          </a:p>
          <a:p>
            <a:pPr lvl="2"/>
            <a:r>
              <a:rPr lang="en-US" sz="2400" dirty="0"/>
              <a:t>On rolling up, the data is aggregated by ascending the location hierarchy from the level of city to the level of country.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586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79CE-E0B2-9F46-8375-D9F4C693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 Up and Drill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C4DC-BAF6-E846-81DC-7FB6FBE15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Drill-down is the reverse operation of roll-up. It is performed by either of the following ways:</a:t>
            </a:r>
          </a:p>
          <a:p>
            <a:pPr lvl="1"/>
            <a:r>
              <a:rPr lang="en-US" sz="2800" dirty="0"/>
              <a:t>By stepping down a concept hierarchy for a dimension</a:t>
            </a:r>
          </a:p>
          <a:p>
            <a:pPr lvl="1"/>
            <a:r>
              <a:rPr lang="en-US" sz="2800" dirty="0"/>
              <a:t>By introducing a new dimension.</a:t>
            </a:r>
          </a:p>
          <a:p>
            <a:pPr lvl="2"/>
            <a:r>
              <a:rPr lang="en-US" sz="2400" dirty="0"/>
              <a:t>Initially the concept hierarchy was "day &lt; month &lt; quarter &lt; year."</a:t>
            </a:r>
          </a:p>
          <a:p>
            <a:pPr lvl="2"/>
            <a:r>
              <a:rPr lang="en-US" sz="2400" dirty="0"/>
              <a:t>On drilling down, the time dimension is descended from the level of quarter to the level of month.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64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Budgeting chain is a series of fact tables</a:t>
            </a:r>
          </a:p>
          <a:p>
            <a:r>
              <a:rPr lang="en-US" dirty="0">
                <a:solidFill>
                  <a:srgbClr val="002060"/>
                </a:solidFill>
              </a:rPr>
              <a:t>Budget Fact </a:t>
            </a:r>
            <a:r>
              <a:rPr lang="en-US" dirty="0"/>
              <a:t>-&gt; Establish budget for each division and account</a:t>
            </a:r>
          </a:p>
          <a:p>
            <a:r>
              <a:rPr lang="en-US" dirty="0">
                <a:solidFill>
                  <a:srgbClr val="002060"/>
                </a:solidFill>
              </a:rPr>
              <a:t>Commitment Fact </a:t>
            </a:r>
            <a:r>
              <a:rPr lang="en-US" dirty="0"/>
              <a:t>-&gt; Make commitments against each budget</a:t>
            </a:r>
          </a:p>
          <a:p>
            <a:r>
              <a:rPr lang="en-US" dirty="0">
                <a:solidFill>
                  <a:srgbClr val="002060"/>
                </a:solidFill>
              </a:rPr>
              <a:t>Payment Fact</a:t>
            </a:r>
            <a:r>
              <a:rPr lang="en-US" dirty="0"/>
              <a:t> -&gt; Make payments against each commitments</a:t>
            </a:r>
          </a:p>
        </p:txBody>
      </p:sp>
    </p:spTree>
    <p:extLst>
      <p:ext uri="{BB962C8B-B14F-4D97-AF65-F5344CB8AC3E}">
        <p14:creationId xmlns:p14="http://schemas.microsoft.com/office/powerpoint/2010/main" val="148208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730885"/>
            <a:ext cx="2484120" cy="4252595"/>
          </a:xfrm>
        </p:spPr>
        <p:txBody>
          <a:bodyPr>
            <a:normAutofit/>
          </a:bodyPr>
          <a:lstStyle/>
          <a:p>
            <a:r>
              <a:rPr lang="en-US" dirty="0"/>
              <a:t>Chain of Budget Processes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033" y="76200"/>
            <a:ext cx="7038975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046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5C5A-90C0-EA40-9B87-CE805E09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Budget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36744-DFAD-C541-B9E1-C1E6E2F8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﻿For an expense budget line item, each row</a:t>
            </a:r>
            <a:r>
              <a:rPr lang="zh-CN" altLang="en-US" dirty="0"/>
              <a:t> </a:t>
            </a:r>
            <a:r>
              <a:rPr lang="en-US" dirty="0"/>
              <a:t>identifies what an organization in the company is allowed to spend for what purpose</a:t>
            </a:r>
            <a:r>
              <a:rPr lang="zh-CN" altLang="en-US" dirty="0"/>
              <a:t> </a:t>
            </a:r>
            <a:r>
              <a:rPr lang="en-US" dirty="0"/>
              <a:t>during a given time frame. </a:t>
            </a:r>
          </a:p>
          <a:p>
            <a:r>
              <a:rPr lang="en-US" dirty="0"/>
              <a:t>﻿</a:t>
            </a:r>
            <a:r>
              <a:rPr lang="en-US" altLang="zh-CN" dirty="0"/>
              <a:t>I</a:t>
            </a:r>
            <a:r>
              <a:rPr lang="en-US" dirty="0"/>
              <a:t>f the line item reflects an income forecast,</a:t>
            </a:r>
            <a:r>
              <a:rPr lang="zh-CN" altLang="en-US" dirty="0"/>
              <a:t> </a:t>
            </a:r>
            <a:r>
              <a:rPr lang="en-US" dirty="0"/>
              <a:t>which is just another variation of a budget, it would identify what an organization</a:t>
            </a:r>
            <a:r>
              <a:rPr lang="zh-CN" altLang="en-US" dirty="0"/>
              <a:t> </a:t>
            </a:r>
            <a:r>
              <a:rPr lang="en-US" dirty="0"/>
              <a:t>intends to earn from what source during a time frame.</a:t>
            </a:r>
          </a:p>
          <a:p>
            <a:r>
              <a:rPr lang="en-US" dirty="0"/>
              <a:t>﻿</a:t>
            </a:r>
            <a:r>
              <a:rPr lang="en-US" altLang="zh-CN" dirty="0"/>
              <a:t>B</a:t>
            </a:r>
            <a:r>
              <a:rPr lang="en-US" dirty="0"/>
              <a:t>udget amount fact is fully additive</a:t>
            </a:r>
            <a:r>
              <a:rPr lang="en-US" altLang="zh-CN" dirty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72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C516-807E-FC43-BA06-5D0E4109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Commitment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EAAC-0A44-5144-BB26-DD44CB25D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﻿When the budget year begins, managers make commitments to spend the budget</a:t>
            </a:r>
            <a:r>
              <a:rPr lang="zh-CN" altLang="en-US" dirty="0"/>
              <a:t> </a:t>
            </a:r>
            <a:r>
              <a:rPr lang="en-US" dirty="0"/>
              <a:t>through purchase orders, work orders, or other forms of contracts.</a:t>
            </a:r>
          </a:p>
          <a:p>
            <a:r>
              <a:rPr lang="en-US" dirty="0"/>
              <a:t>In addition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the specific commitment document (purchase order,</a:t>
            </a:r>
            <a:r>
              <a:rPr lang="zh-CN" altLang="en-US" dirty="0"/>
              <a:t> </a:t>
            </a:r>
            <a:r>
              <a:rPr lang="en-US" dirty="0"/>
              <a:t>work order, or contract) and commitment party. </a:t>
            </a:r>
          </a:p>
          <a:p>
            <a:r>
              <a:rPr lang="en-US" dirty="0"/>
              <a:t>The fact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the</a:t>
            </a:r>
            <a:r>
              <a:rPr lang="zh-CN" altLang="en-US" dirty="0"/>
              <a:t> </a:t>
            </a:r>
            <a:r>
              <a:rPr lang="en-US" dirty="0"/>
              <a:t>committed amount.</a:t>
            </a:r>
          </a:p>
        </p:txBody>
      </p:sp>
    </p:spTree>
    <p:extLst>
      <p:ext uri="{BB962C8B-B14F-4D97-AF65-F5344CB8AC3E}">
        <p14:creationId xmlns:p14="http://schemas.microsoft.com/office/powerpoint/2010/main" val="2348808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90C1-9E5E-4C45-B491-4E252C64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Payment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D251-70EA-D24F-83F2-8827231A4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﻿Finally, payments are made as monies are transferred to the party named in the</a:t>
            </a:r>
            <a:r>
              <a:rPr lang="zh-CN" altLang="en-US" dirty="0"/>
              <a:t> </a:t>
            </a:r>
            <a:r>
              <a:rPr lang="en-US" dirty="0"/>
              <a:t>commitment.</a:t>
            </a:r>
          </a:p>
          <a:p>
            <a:r>
              <a:rPr lang="en-US" dirty="0"/>
              <a:t>﻿</a:t>
            </a:r>
            <a:r>
              <a:rPr lang="en-US" altLang="zh-CN" dirty="0"/>
              <a:t>T</a:t>
            </a:r>
            <a:r>
              <a:rPr lang="en-US" dirty="0"/>
              <a:t>he finance department is interested</a:t>
            </a:r>
            <a:r>
              <a:rPr lang="zh-CN" altLang="en-US" dirty="0"/>
              <a:t> </a:t>
            </a:r>
            <a:r>
              <a:rPr lang="en-US" dirty="0"/>
              <a:t>in the relationship between commitments and payments because it manages the</a:t>
            </a:r>
            <a:r>
              <a:rPr lang="zh-CN" altLang="en-US" dirty="0"/>
              <a:t> </a:t>
            </a:r>
            <a:r>
              <a:rPr lang="en-US" dirty="0"/>
              <a:t>company’s cash. </a:t>
            </a:r>
          </a:p>
          <a:p>
            <a:r>
              <a:rPr lang="en-US" dirty="0"/>
              <a:t>The dimensions associated with the payments fact table would</a:t>
            </a:r>
            <a:r>
              <a:rPr lang="zh-CN" altLang="en-US" dirty="0"/>
              <a:t> </a:t>
            </a:r>
            <a:r>
              <a:rPr lang="en-US" dirty="0"/>
              <a:t>include the commitment fact table dimensions, a payment dimension to identify</a:t>
            </a:r>
            <a:r>
              <a:rPr lang="zh-CN" altLang="en-US" dirty="0"/>
              <a:t> </a:t>
            </a:r>
            <a:r>
              <a:rPr lang="en-US" dirty="0"/>
              <a:t>the type of payment, the payee to whom the payment was actually made.</a:t>
            </a:r>
          </a:p>
        </p:txBody>
      </p:sp>
    </p:spTree>
    <p:extLst>
      <p:ext uri="{BB962C8B-B14F-4D97-AF65-F5344CB8AC3E}">
        <p14:creationId xmlns:p14="http://schemas.microsoft.com/office/powerpoint/2010/main" val="238097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Depth Positional Hierarchies</a:t>
            </a:r>
          </a:p>
          <a:p>
            <a:r>
              <a:rPr lang="en-US" dirty="0"/>
              <a:t>Slightly Ragged Variable Depth Hierarchy</a:t>
            </a:r>
          </a:p>
          <a:p>
            <a:r>
              <a:rPr lang="en-US" dirty="0"/>
              <a:t>Ragged Hierarchies</a:t>
            </a:r>
          </a:p>
        </p:txBody>
      </p:sp>
    </p:spTree>
    <p:extLst>
      <p:ext uri="{BB962C8B-B14F-4D97-AF65-F5344CB8AC3E}">
        <p14:creationId xmlns:p14="http://schemas.microsoft.com/office/powerpoint/2010/main" val="292015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6390"/>
            <a:ext cx="10515600" cy="1325563"/>
          </a:xfrm>
        </p:spPr>
        <p:txBody>
          <a:bodyPr/>
          <a:lstStyle/>
          <a:p>
            <a:r>
              <a:rPr lang="en-US" dirty="0"/>
              <a:t>Fixed Depth Positional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Has fixed set of levels</a:t>
            </a:r>
          </a:p>
          <a:p>
            <a:r>
              <a:rPr lang="en-US" dirty="0"/>
              <a:t>Day -&gt; month -&gt; year (Many-to-one)</a:t>
            </a:r>
          </a:p>
          <a:p>
            <a:r>
              <a:rPr lang="en-US" dirty="0"/>
              <a:t>Day -&gt; fiscal period -&gt; year</a:t>
            </a:r>
          </a:p>
          <a:p>
            <a:r>
              <a:rPr lang="en-US" dirty="0"/>
              <a:t>Manager level -&gt; director level -&gt; executive level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91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Slightly Ragged Variable Depth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Geographic hierarchy</a:t>
            </a:r>
          </a:p>
          <a:p>
            <a:r>
              <a:rPr lang="en-US" dirty="0">
                <a:solidFill>
                  <a:srgbClr val="002060"/>
                </a:solidFill>
              </a:rPr>
              <a:t>Simple Location</a:t>
            </a:r>
            <a:r>
              <a:rPr lang="en-US" dirty="0"/>
              <a:t>: Address -&gt; city -&gt; state -&gt; country</a:t>
            </a:r>
          </a:p>
          <a:p>
            <a:r>
              <a:rPr lang="en-US" dirty="0">
                <a:solidFill>
                  <a:srgbClr val="002060"/>
                </a:solidFill>
              </a:rPr>
              <a:t>Medium Location</a:t>
            </a:r>
            <a:r>
              <a:rPr lang="en-US" dirty="0"/>
              <a:t>: Address -&gt; city -&gt; </a:t>
            </a:r>
            <a:r>
              <a:rPr lang="en-US" dirty="0">
                <a:solidFill>
                  <a:srgbClr val="FF0000"/>
                </a:solidFill>
              </a:rPr>
              <a:t>zone</a:t>
            </a:r>
            <a:r>
              <a:rPr lang="en-US" dirty="0"/>
              <a:t> -&gt; state -&gt; country</a:t>
            </a:r>
          </a:p>
          <a:p>
            <a:r>
              <a:rPr lang="en-US" dirty="0">
                <a:solidFill>
                  <a:srgbClr val="002060"/>
                </a:solidFill>
              </a:rPr>
              <a:t>Complex Location</a:t>
            </a:r>
            <a:r>
              <a:rPr lang="en-US" dirty="0"/>
              <a:t>: Address -&gt; city -&gt; </a:t>
            </a:r>
            <a:r>
              <a:rPr lang="en-US" dirty="0">
                <a:solidFill>
                  <a:srgbClr val="FF0000"/>
                </a:solidFill>
              </a:rPr>
              <a:t>District -&gt; zone </a:t>
            </a:r>
            <a:r>
              <a:rPr lang="en-US" dirty="0"/>
              <a:t>-&gt; state -&gt; country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310" y="3995738"/>
            <a:ext cx="5612130" cy="2708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46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Ragged Variable Depth Hierarchy (Tree)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5518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Organization structure hierarchy: </a:t>
            </a:r>
            <a:r>
              <a:rPr lang="en-US" dirty="0">
                <a:solidFill>
                  <a:srgbClr val="FF0000"/>
                </a:solidFill>
              </a:rPr>
              <a:t>Arbitrary rollup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427" y="2512377"/>
            <a:ext cx="3601403" cy="3613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12377"/>
            <a:ext cx="5715000" cy="183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897880" y="4582633"/>
            <a:ext cx="6111240" cy="216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</a:t>
            </a:r>
            <a:r>
              <a:rPr lang="en-US" dirty="0">
                <a:solidFill>
                  <a:srgbClr val="FF0000"/>
                </a:solidFill>
              </a:rPr>
              <a:t>recursive pointers </a:t>
            </a:r>
            <a:r>
              <a:rPr lang="en-US" dirty="0"/>
              <a:t>from each row to its parent. </a:t>
            </a:r>
          </a:p>
          <a:p>
            <a:r>
              <a:rPr lang="en-US" dirty="0"/>
              <a:t>However, recursive pointers are hard to maintain with type 2 changes due to the cascading effect.</a:t>
            </a:r>
          </a:p>
        </p:txBody>
      </p:sp>
    </p:spTree>
    <p:extLst>
      <p:ext uri="{BB962C8B-B14F-4D97-AF65-F5344CB8AC3E}">
        <p14:creationId xmlns:p14="http://schemas.microsoft.com/office/powerpoint/2010/main" val="42989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Ragged Variable Depth Hierarchy (Tree)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498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represent arbitrary rollup structures?</a:t>
            </a:r>
          </a:p>
          <a:p>
            <a:r>
              <a:rPr lang="en-US" dirty="0"/>
              <a:t>Build a </a:t>
            </a:r>
            <a:r>
              <a:rPr lang="en-US" dirty="0">
                <a:solidFill>
                  <a:srgbClr val="FF0000"/>
                </a:solidFill>
              </a:rPr>
              <a:t>bridge table </a:t>
            </a:r>
            <a:r>
              <a:rPr lang="en-US" dirty="0"/>
              <a:t>that is independent of from the primary dimension table and contains all information about the rollup.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4" y="3720463"/>
            <a:ext cx="8980615" cy="260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4450080" y="5425440"/>
            <a:ext cx="2392680" cy="28956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3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E15C-38F5-A249-BA34-DCF59D59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Organization</a:t>
            </a:r>
            <a:r>
              <a:rPr lang="zh-CN" altLang="en-US" dirty="0"/>
              <a:t> </a:t>
            </a:r>
            <a:r>
              <a:rPr lang="en-US" altLang="zh-CN" dirty="0"/>
              <a:t>Map</a:t>
            </a:r>
            <a:r>
              <a:rPr lang="zh-CN" altLang="en-US" dirty="0"/>
              <a:t> </a:t>
            </a:r>
            <a:r>
              <a:rPr lang="en-US" altLang="zh-CN" dirty="0"/>
              <a:t>Bridge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21C8F-8004-A940-A8E6-8813A16F2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</a:t>
            </a:r>
            <a:r>
              <a:rPr lang="en-US" altLang="zh-CN" dirty="0"/>
              <a:t>T</a:t>
            </a:r>
            <a:r>
              <a:rPr lang="en-US" dirty="0"/>
              <a:t>he grain of this bridge table is</a:t>
            </a:r>
            <a:r>
              <a:rPr lang="zh-CN" altLang="en-US" dirty="0"/>
              <a:t> </a:t>
            </a:r>
            <a:r>
              <a:rPr lang="en-US" altLang="zh-CN" dirty="0"/>
              <a:t>each path in the tree from a parent to all the children below that parent;</a:t>
            </a:r>
          </a:p>
          <a:p>
            <a:r>
              <a:rPr lang="en-US" dirty="0"/>
              <a:t>﻿The first column in the map table is the primary key of the parent,</a:t>
            </a:r>
            <a:r>
              <a:rPr lang="zh-CN" altLang="en-US" dirty="0"/>
              <a:t> </a:t>
            </a:r>
            <a:r>
              <a:rPr lang="en-US" dirty="0"/>
              <a:t>and the second column is the primary key of the child. </a:t>
            </a:r>
          </a:p>
          <a:p>
            <a:r>
              <a:rPr lang="en-US" dirty="0"/>
              <a:t>﻿A row must be constructed from each possible parent to each possible child, including a row that connects the parent to itself.</a:t>
            </a:r>
          </a:p>
          <a:p>
            <a:r>
              <a:rPr lang="en-US" dirty="0"/>
              <a:t>The highest parent flag in the map table means the particular path comes from the highest parent in the tree. The lowest child flag means the particular path ends in a “leaf node” of the tree</a:t>
            </a:r>
          </a:p>
        </p:txBody>
      </p:sp>
    </p:spTree>
    <p:extLst>
      <p:ext uri="{BB962C8B-B14F-4D97-AF65-F5344CB8AC3E}">
        <p14:creationId xmlns:p14="http://schemas.microsoft.com/office/powerpoint/2010/main" val="1493105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051560"/>
            <a:ext cx="71437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1162050"/>
            <a:ext cx="47244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3668232"/>
            <a:ext cx="2290358" cy="229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30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1FE7-0A26-344B-806C-75B5A931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﻿Shared Ownership in a Ragged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FBA0-8E98-BA43-B2B2-CE50DEBF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﻿The map table can represent partial or shared ownership:</a:t>
            </a:r>
          </a:p>
          <a:p>
            <a:pPr lvl="1"/>
            <a:r>
              <a:rPr lang="en-US" dirty="0"/>
              <a:t>Node 4 is 60% owned by node 5, and 40% owned by node 2;</a:t>
            </a:r>
          </a:p>
          <a:p>
            <a:pPr lvl="1"/>
            <a:r>
              <a:rPr lang="en-US" dirty="0"/>
              <a:t>﻿Example of a shared ownership.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BA140-9084-304F-84C8-84AE02769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062" y="3794760"/>
            <a:ext cx="2989898" cy="1965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3E241C-F735-204D-9AEC-AAE8631DF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92" y="2773680"/>
            <a:ext cx="4463748" cy="36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19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Drill Across and Rolling Up the Budget Chain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528" y="1371600"/>
            <a:ext cx="71342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2042160" y="2042160"/>
            <a:ext cx="0" cy="370332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98890" y="3502521"/>
            <a:ext cx="16432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Drill Across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608320" y="5036820"/>
            <a:ext cx="291084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105" y="5283815"/>
            <a:ext cx="1452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Rolling Up</a:t>
            </a:r>
          </a:p>
        </p:txBody>
      </p:sp>
    </p:spTree>
    <p:extLst>
      <p:ext uri="{BB962C8B-B14F-4D97-AF65-F5344CB8AC3E}">
        <p14:creationId xmlns:p14="http://schemas.microsoft.com/office/powerpoint/2010/main" val="345477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1280</Words>
  <Application>Microsoft Macintosh PowerPoint</Application>
  <PresentationFormat>Widescreen</PresentationFormat>
  <Paragraphs>144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等线</vt:lpstr>
      <vt:lpstr>等线 Light</vt:lpstr>
      <vt:lpstr>Arial</vt:lpstr>
      <vt:lpstr>Calibri</vt:lpstr>
      <vt:lpstr>Calibri Light</vt:lpstr>
      <vt:lpstr>Office Theme</vt:lpstr>
      <vt:lpstr>Lecture 8: Accounting and Dimension Hierarchy </vt:lpstr>
      <vt:lpstr>Accounting Processes</vt:lpstr>
      <vt:lpstr>Bus Matrix Rows for Accounting Processes</vt:lpstr>
      <vt:lpstr>Accounting Dimensional Model</vt:lpstr>
      <vt:lpstr>Accounting Dimensional Model</vt:lpstr>
      <vt:lpstr>General Ledger Periodic Snapshot</vt:lpstr>
      <vt:lpstr>General Ledger Periodic Snapshot</vt:lpstr>
      <vt:lpstr>Important Dimensions</vt:lpstr>
      <vt:lpstr>General Ledger Journal Entry Transaction</vt:lpstr>
      <vt:lpstr>General Ledger Journal Transactions</vt:lpstr>
      <vt:lpstr>A Multilevel Hierarchy in General Ledger </vt:lpstr>
      <vt:lpstr>Drilling Down a Multilevel Hierarchy</vt:lpstr>
      <vt:lpstr>Roll Up and Drill Down</vt:lpstr>
      <vt:lpstr>Roll Up and Drill Down</vt:lpstr>
      <vt:lpstr>Budgeting Process</vt:lpstr>
      <vt:lpstr>Chain of Budget Processes</vt:lpstr>
      <vt:lpstr>Budget Fact Table</vt:lpstr>
      <vt:lpstr>Commitment Fact Table</vt:lpstr>
      <vt:lpstr>Payment Fact Table</vt:lpstr>
      <vt:lpstr>Hierarchies</vt:lpstr>
      <vt:lpstr>Fixed Depth Positional Hierarchy</vt:lpstr>
      <vt:lpstr>Slightly Ragged Variable Depth Hierarchy</vt:lpstr>
      <vt:lpstr>Ragged Variable Depth Hierarchy (Tree)</vt:lpstr>
      <vt:lpstr>Ragged Variable Depth Hierarchy (Tree)</vt:lpstr>
      <vt:lpstr>Organization Map Bridge Table</vt:lpstr>
      <vt:lpstr>PowerPoint Presentation</vt:lpstr>
      <vt:lpstr>Shared Ownership in a Ragged Hierarchy</vt:lpstr>
      <vt:lpstr>Drill Across and Rolling Up the Budget Chain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Accounting and Dimension Hierarchy </dc:title>
  <dc:creator>Yuanyuan Gao</dc:creator>
  <cp:lastModifiedBy>Yuanyuan Gao</cp:lastModifiedBy>
  <cp:revision>36</cp:revision>
  <dcterms:created xsi:type="dcterms:W3CDTF">2020-10-09T16:27:08Z</dcterms:created>
  <dcterms:modified xsi:type="dcterms:W3CDTF">2020-10-14T18:08:31Z</dcterms:modified>
</cp:coreProperties>
</file>