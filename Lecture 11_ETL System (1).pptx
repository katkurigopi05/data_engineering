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91" r:id="rId3"/>
    <p:sldId id="295" r:id="rId4"/>
    <p:sldId id="257" r:id="rId5"/>
    <p:sldId id="258" r:id="rId6"/>
    <p:sldId id="296" r:id="rId7"/>
    <p:sldId id="297" r:id="rId8"/>
    <p:sldId id="298" r:id="rId9"/>
    <p:sldId id="300" r:id="rId10"/>
    <p:sldId id="299" r:id="rId11"/>
    <p:sldId id="317" r:id="rId12"/>
    <p:sldId id="301" r:id="rId13"/>
    <p:sldId id="302" r:id="rId14"/>
    <p:sldId id="303" r:id="rId15"/>
    <p:sldId id="304" r:id="rId16"/>
    <p:sldId id="305" r:id="rId17"/>
    <p:sldId id="318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9" r:id="rId30"/>
    <p:sldId id="320" r:id="rId31"/>
    <p:sldId id="321" r:id="rId32"/>
    <p:sldId id="277" r:id="rId33"/>
    <p:sldId id="278" r:id="rId34"/>
    <p:sldId id="322" r:id="rId35"/>
    <p:sldId id="264" r:id="rId36"/>
    <p:sldId id="259" r:id="rId37"/>
    <p:sldId id="265" r:id="rId38"/>
    <p:sldId id="266" r:id="rId39"/>
    <p:sldId id="260" r:id="rId40"/>
    <p:sldId id="261" r:id="rId41"/>
    <p:sldId id="267" r:id="rId42"/>
    <p:sldId id="262" r:id="rId43"/>
    <p:sldId id="268" r:id="rId44"/>
    <p:sldId id="263" r:id="rId45"/>
    <p:sldId id="269" r:id="rId46"/>
    <p:sldId id="275" r:id="rId47"/>
    <p:sldId id="270" r:id="rId48"/>
    <p:sldId id="276" r:id="rId49"/>
    <p:sldId id="271" r:id="rId50"/>
    <p:sldId id="272" r:id="rId51"/>
    <p:sldId id="273" r:id="rId52"/>
    <p:sldId id="274" r:id="rId53"/>
    <p:sldId id="279" r:id="rId54"/>
    <p:sldId id="28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87"/>
    <p:restoredTop sz="94867"/>
  </p:normalViewPr>
  <p:slideViewPr>
    <p:cSldViewPr snapToGrid="0" snapToObjects="1">
      <p:cViewPr varScale="1">
        <p:scale>
          <a:sx n="131" d="100"/>
          <a:sy n="131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0AB0A-AB8D-8948-AF14-0918869BD8D2}" type="datetimeFigureOut">
              <a:rPr lang="en-US" smtClean="0"/>
              <a:t>5/3/25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81885-4CD9-3B40-8FF1-D98C9958F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4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A9A7-EDD5-46DD-BDFE-4DE7991E56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4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A9A7-EDD5-46DD-BDFE-4DE7991E56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37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A9A7-EDD5-46DD-BDFE-4DE7991E563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9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A9A7-EDD5-46DD-BDFE-4DE7991E563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0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A9A7-EDD5-46DD-BDFE-4DE7991E563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65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2C6F-F1F6-074E-9ABF-D2764A324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0C13E-6186-DC49-8C0D-2C1099FF0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D21C6-4A90-D44A-B06F-FA4817C0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7D6D0-B1BC-CC46-8D76-A60E89B3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18242-507D-4B49-9D16-D8329C31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8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268B-FFD5-3345-9339-4EB229EF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57A6E-5569-074A-97AD-E036D23E0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4D8DF-E750-6042-B267-9AD94202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E493F-1F1F-5043-A0E2-0F1F007A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8ECFC-B2C0-854F-93FC-B3EFC735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87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80E6-ED15-5A43-AF72-1B0589B31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5D1B3-6B23-4D4C-B7FE-7C7EB2800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0FB76-808D-5746-A34A-D0D7F57B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5E8B0-402D-DE4C-8D06-2989AC3F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09489-07B0-AB4A-98B8-5747B8E9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6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41376-2072-2E46-BC71-188005B4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BE576-CDA4-404C-8480-DEACA8876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5BE2A-5FC1-0343-AD52-A9C7A952A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580C-7CAD-0F40-A2CE-EB0FFEDF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3640-F7F0-F14A-9104-5AAE40C37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359C8-6F03-CB43-8BAA-EBA91D32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0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3000-E8B2-CA4D-8D25-E60E3608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0CEE6-A14C-B443-8943-D2F782DBE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B01FE-5670-DD4E-A496-3B89BA6D5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E4680-B31A-2442-8EF4-44D21BDAC4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215A7-2734-2F45-B480-B2A45F147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F6AB3-0087-E14D-BF23-850961EE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4A8E9C-3BE8-8F4F-A3E5-B550F3C9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569FE-5EFB-2641-8EE2-150919D5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9A4D-09A4-3346-872C-A19C1F7CC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267DE-F68B-3044-B0F4-5BA896B5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A0EF2-F133-FE48-9674-803DD3FF3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56E4C-8633-D345-9B4B-61128B33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2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16722-933D-A343-923B-3DB4314ED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14C8E-90E6-8049-8858-664BC6CB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5984F-A072-0C41-82C1-36018FD3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86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323D-F187-BB4A-8A8C-9F0A2C34A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0DF65-038B-E748-8DAA-C21C3CCFB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19256-74A4-CD40-AC5A-7C236B1E1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80168-450B-6343-81DB-F4565CF4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C66AE-B5FB-EC40-8EDD-B72FEE474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6951E-1CFF-7F46-A764-509127BC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9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FB17-896C-B34D-9B74-813A20E98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A78772-79E2-6747-B6DB-17E6E8AD9D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81C4A-DE6B-9948-8B83-D11A5A96B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BF1D5-4E58-0645-BE00-972580F4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DA653-1A6A-4A4C-AEFC-D4CC9111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7D006-FD9F-1F45-8AEE-DF02264D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7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F743-8B3A-B441-AD97-3B29F462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6725A-4993-E243-BAD5-0F4FF0CE8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02A4-AC7F-EF4B-80C5-6DB979A0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9D56F-A849-064F-8B2B-8AAFD82C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774BA-F10C-D34E-BEB2-295A5D5A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1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461BE4-864C-8547-844C-426270B96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65947-B054-994B-9412-516D28BB2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6489-ABCE-F046-A788-89C41506C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5A7BA-04B9-054A-A384-CADA62BAB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4A191-932D-1E48-AAC5-9B687834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1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5E882-5382-5240-90CC-1C1F88597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5C6F5-743A-A948-AF81-6C9F24263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A6BDD-3181-3448-885F-295020E56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3FC8C-BF3E-574B-B88F-36A7AC1D60ED}" type="datetimeFigureOut">
              <a:rPr lang="en-US" smtClean="0"/>
              <a:t>5/3/25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6657-AE31-1545-9D2E-522E16540E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C1F79-25F0-624B-AD84-63F408467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09B7B-D4D9-7F4A-B536-C4D1506F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3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tif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37D1-97E6-264F-AD6A-E00CDABFB8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/>
              <a:t>11:</a:t>
            </a:r>
            <a:r>
              <a:rPr lang="zh-CN" altLang="en-US" dirty="0"/>
              <a:t> </a:t>
            </a:r>
            <a:r>
              <a:rPr lang="en-US" altLang="zh-CN" dirty="0"/>
              <a:t>ETL</a:t>
            </a:r>
            <a:r>
              <a:rPr lang="zh-CN" altLang="en-US" dirty="0"/>
              <a:t> </a:t>
            </a:r>
            <a:r>
              <a:rPr lang="en-US" altLang="zh-CN" dirty="0"/>
              <a:t>Subsystems, Techniques and System Design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FCF56-6AEB-394C-BBF4-7C7634900C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Chapter</a:t>
            </a:r>
            <a:r>
              <a:rPr lang="zh-CN" altLang="en-US" dirty="0"/>
              <a:t> </a:t>
            </a:r>
            <a:r>
              <a:rPr lang="en-US" altLang="zh-CN" dirty="0"/>
              <a:t>19 and Chapter 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518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6880"/>
            <a:ext cx="10515600" cy="4770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What does ETL stands for?</a:t>
            </a:r>
          </a:p>
          <a:p>
            <a:r>
              <a:rPr lang="en-US" b="1" dirty="0"/>
              <a:t>Extract, Transformation, and Load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</a:rPr>
              <a:t>Extracting:</a:t>
            </a:r>
            <a:r>
              <a:rPr lang="en-US" sz="2600" dirty="0"/>
              <a:t> Gathering raw data from source system and writing it to disk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</a:rPr>
              <a:t>Transformation</a:t>
            </a:r>
            <a:r>
              <a:rPr lang="en-US" sz="2600" b="1" dirty="0">
                <a:solidFill>
                  <a:srgbClr val="FF0000"/>
                </a:solidFill>
              </a:rPr>
              <a:t>: </a:t>
            </a:r>
            <a:r>
              <a:rPr lang="en-US" altLang="zh-CN" sz="2600" dirty="0"/>
              <a:t>R</a:t>
            </a:r>
            <a:r>
              <a:rPr lang="en-US" sz="2600" dirty="0"/>
              <a:t>ules and regulations can be applied that ensure data quality and accessibility. </a:t>
            </a:r>
            <a:r>
              <a:rPr lang="en-US" altLang="zh-CN" sz="2600" dirty="0"/>
              <a:t>A</a:t>
            </a:r>
            <a:r>
              <a:rPr lang="en-US" sz="2600" dirty="0"/>
              <a:t>pply rules to help your company meet reporting requirements.</a:t>
            </a:r>
            <a:r>
              <a:rPr lang="zh-CN" altLang="en-US" sz="2600" dirty="0"/>
              <a:t> </a:t>
            </a:r>
            <a:endParaRPr lang="en-US" altLang="zh-CN" sz="2600" dirty="0"/>
          </a:p>
          <a:p>
            <a:r>
              <a:rPr lang="en-US" altLang="zh-CN" sz="2600" dirty="0"/>
              <a:t>Sub-systems:</a:t>
            </a:r>
            <a:r>
              <a:rPr lang="zh-CN" altLang="en-US" sz="2600" dirty="0"/>
              <a:t> </a:t>
            </a:r>
            <a:r>
              <a:rPr lang="en-US" sz="2600" dirty="0"/>
              <a:t>Cleansing</a:t>
            </a:r>
            <a:r>
              <a:rPr lang="en-US" altLang="zh-CN" sz="2600" dirty="0"/>
              <a:t>;</a:t>
            </a:r>
            <a:r>
              <a:rPr lang="zh-CN" altLang="en-US" sz="2600" dirty="0"/>
              <a:t> </a:t>
            </a:r>
            <a:r>
              <a:rPr lang="en-US" sz="2600" dirty="0"/>
              <a:t>Standardization</a:t>
            </a:r>
            <a:r>
              <a:rPr lang="en-US" altLang="zh-CN" sz="2600" dirty="0"/>
              <a:t>;</a:t>
            </a:r>
            <a:r>
              <a:rPr lang="zh-CN" altLang="en-US" sz="2600" dirty="0"/>
              <a:t> </a:t>
            </a:r>
            <a:r>
              <a:rPr lang="en-US" sz="2600" dirty="0"/>
              <a:t>Deduplication</a:t>
            </a:r>
            <a:r>
              <a:rPr lang="en-US" altLang="zh-CN" sz="2600" dirty="0"/>
              <a:t>;</a:t>
            </a:r>
            <a:r>
              <a:rPr lang="zh-CN" altLang="en-US" sz="2600" dirty="0"/>
              <a:t> </a:t>
            </a:r>
            <a:r>
              <a:rPr lang="en-US" sz="2600" dirty="0"/>
              <a:t>Verification</a:t>
            </a:r>
            <a:r>
              <a:rPr lang="en-US" altLang="zh-CN" sz="2600" dirty="0"/>
              <a:t>;</a:t>
            </a:r>
            <a:r>
              <a:rPr lang="zh-CN" altLang="en-US" sz="2600" dirty="0"/>
              <a:t> </a:t>
            </a:r>
            <a:r>
              <a:rPr lang="en-US" sz="2600" dirty="0"/>
              <a:t>Sorting</a:t>
            </a:r>
            <a:r>
              <a:rPr lang="en-US" altLang="zh-CN" sz="2600" dirty="0"/>
              <a:t>;</a:t>
            </a:r>
            <a:r>
              <a:rPr lang="zh-CN" altLang="en-US" sz="2600" dirty="0"/>
              <a:t> </a:t>
            </a:r>
            <a:r>
              <a:rPr lang="en-US" sz="2600" dirty="0"/>
              <a:t>Other tasks</a:t>
            </a:r>
            <a:r>
              <a:rPr lang="en-US" altLang="zh-CN" sz="2600" dirty="0"/>
              <a:t>;</a:t>
            </a:r>
            <a:r>
              <a:rPr lang="zh-CN" altLang="en-US" sz="2600" dirty="0"/>
              <a:t> 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</a:rPr>
              <a:t>Load</a:t>
            </a:r>
            <a:r>
              <a:rPr lang="en-US" sz="2600" b="1" dirty="0"/>
              <a:t>: </a:t>
            </a:r>
            <a:r>
              <a:rPr lang="en-US" sz="2600" dirty="0"/>
              <a:t>load the newly transformed data into a new destination. Data can be loaded all at once (full load) or at scheduled intervals (incremental load)</a:t>
            </a:r>
            <a:r>
              <a:rPr lang="en-US" altLang="zh-CN" sz="2600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67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Process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516" y="1432559"/>
            <a:ext cx="8319014" cy="5151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7806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D9600-36E8-AC48-92B2-47711F75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﻿Ten Requirements for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AF101-57A3-644B-BD9F-178478726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90165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1.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﻿Business Needs</a:t>
            </a:r>
          </a:p>
          <a:p>
            <a:pPr lvl="1"/>
            <a:r>
              <a:rPr lang="en-US" dirty="0"/>
              <a:t>﻿</a:t>
            </a:r>
            <a:r>
              <a:rPr lang="en-US" altLang="zh-CN" dirty="0"/>
              <a:t>T</a:t>
            </a:r>
            <a:r>
              <a:rPr lang="en-US" dirty="0"/>
              <a:t>he information content that business users need to make informed business</a:t>
            </a:r>
            <a:r>
              <a:rPr lang="zh-CN" altLang="en-US" dirty="0"/>
              <a:t> </a:t>
            </a:r>
            <a:r>
              <a:rPr lang="en-US" dirty="0"/>
              <a:t>decisions</a:t>
            </a:r>
            <a:r>
              <a:rPr lang="en-US" altLang="zh-CN" dirty="0"/>
              <a:t>;</a:t>
            </a:r>
          </a:p>
          <a:p>
            <a:r>
              <a:rPr lang="en-US" altLang="zh-CN" b="1" dirty="0">
                <a:solidFill>
                  <a:schemeClr val="accent1"/>
                </a:solidFill>
              </a:rPr>
              <a:t>2.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﻿Compliance</a:t>
            </a:r>
          </a:p>
          <a:p>
            <a:pPr lvl="1"/>
            <a:r>
              <a:rPr lang="en-US" dirty="0"/>
              <a:t>﻿list all data and final reports subject to compliance restrictions.</a:t>
            </a:r>
          </a:p>
          <a:p>
            <a:r>
              <a:rPr lang="en-US" altLang="zh-CN" b="1" dirty="0">
                <a:solidFill>
                  <a:schemeClr val="accent1"/>
                </a:solidFill>
              </a:rPr>
              <a:t>3.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﻿Data Quality</a:t>
            </a:r>
          </a:p>
          <a:p>
            <a:pPr lvl="1"/>
            <a:r>
              <a:rPr lang="en-US" dirty="0"/>
              <a:t>﻿List those data elements whose quality is known to be unacceptable.</a:t>
            </a:r>
          </a:p>
          <a:p>
            <a:r>
              <a:rPr lang="en-US" altLang="zh-CN" b="1" dirty="0">
                <a:solidFill>
                  <a:schemeClr val="accent1"/>
                </a:solidFill>
              </a:rPr>
              <a:t>4.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﻿Security</a:t>
            </a:r>
          </a:p>
          <a:p>
            <a:pPr lvl="1"/>
            <a:r>
              <a:rPr lang="en-US" dirty="0"/>
              <a:t>﻿data should be restricted to those with a need to know; ﻿</a:t>
            </a:r>
          </a:p>
          <a:p>
            <a:pPr lvl="1"/>
            <a:r>
              <a:rPr lang="en-US" dirty="0"/>
              <a:t>physical backups;</a:t>
            </a:r>
          </a:p>
          <a:p>
            <a:r>
              <a:rPr lang="en-US" b="1" dirty="0">
                <a:solidFill>
                  <a:schemeClr val="accent1"/>
                </a:solidFill>
              </a:rPr>
              <a:t>﻿</a:t>
            </a:r>
            <a:r>
              <a:rPr lang="en-US" altLang="zh-CN" b="1" dirty="0">
                <a:solidFill>
                  <a:schemeClr val="accent1"/>
                </a:solidFill>
              </a:rPr>
              <a:t>5.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Data Integration</a:t>
            </a:r>
          </a:p>
          <a:p>
            <a:pPr lvl="1"/>
            <a:r>
              <a:rPr lang="en-US" dirty="0"/>
              <a:t>conforming dimensions and conforming facts in the data warehouse</a:t>
            </a:r>
            <a:r>
              <a:rPr lang="en-US" altLang="zh-CN" dirty="0"/>
              <a:t>;</a:t>
            </a:r>
          </a:p>
          <a:p>
            <a:r>
              <a:rPr lang="en-US" altLang="zh-CN" b="1" dirty="0">
                <a:solidFill>
                  <a:schemeClr val="accent1"/>
                </a:solidFill>
              </a:rPr>
              <a:t>6.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Data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Latency</a:t>
            </a:r>
          </a:p>
          <a:p>
            <a:pPr lvl="1"/>
            <a:r>
              <a:rPr lang="en-US" dirty="0"/>
              <a:t>﻿how quickly source system data must be delivered to the</a:t>
            </a:r>
            <a:r>
              <a:rPr lang="zh-CN" altLang="en-US" dirty="0"/>
              <a:t> </a:t>
            </a:r>
            <a:r>
              <a:rPr lang="en-US" dirty="0"/>
              <a:t>business users via the DW/BI system. </a:t>
            </a:r>
          </a:p>
          <a:p>
            <a:endParaRPr lang="en-US" altLang="zh-CN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014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39A4-F1FE-8946-A579-CF0A5697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 Requirements for ETL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EA8BE-30CA-0E4F-82F8-9B26CC90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358" y="1813809"/>
            <a:ext cx="10515600" cy="4437089"/>
          </a:xfrm>
        </p:spPr>
        <p:txBody>
          <a:bodyPr>
            <a:no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</a:rPr>
              <a:t>7.</a:t>
            </a:r>
            <a:r>
              <a:rPr lang="zh-CN" altLang="en-US" sz="2400" b="1" dirty="0">
                <a:solidFill>
                  <a:schemeClr val="accent1"/>
                </a:solidFill>
              </a:rPr>
              <a:t> </a:t>
            </a:r>
            <a:r>
              <a:rPr lang="en-US" altLang="zh-CN" sz="2400" b="1" dirty="0">
                <a:solidFill>
                  <a:schemeClr val="accent1"/>
                </a:solidFill>
              </a:rPr>
              <a:t>Archiving and Lineage</a:t>
            </a:r>
          </a:p>
          <a:p>
            <a:pPr lvl="1"/>
            <a:r>
              <a:rPr lang="en-US" sz="2000" dirty="0"/>
              <a:t>﻿staging</a:t>
            </a:r>
            <a:r>
              <a:rPr lang="zh-CN" altLang="en-US" sz="2000" dirty="0"/>
              <a:t> </a:t>
            </a:r>
            <a:r>
              <a:rPr lang="en-US" sz="2000" dirty="0"/>
              <a:t>the data (writing it to disk) after each major activity of the ETL pipeline</a:t>
            </a:r>
            <a:r>
              <a:rPr lang="en-US" altLang="zh-CN" sz="2000" dirty="0"/>
              <a:t>;</a:t>
            </a:r>
          </a:p>
          <a:p>
            <a:r>
              <a:rPr lang="en-US" altLang="zh-CN" sz="2400" b="1" dirty="0">
                <a:solidFill>
                  <a:schemeClr val="accent1"/>
                </a:solidFill>
              </a:rPr>
              <a:t>8.</a:t>
            </a:r>
            <a:r>
              <a:rPr lang="zh-CN" altLang="en-US" sz="2400" b="1" dirty="0">
                <a:solidFill>
                  <a:schemeClr val="accent1"/>
                </a:solidFill>
              </a:rPr>
              <a:t> </a:t>
            </a:r>
            <a:r>
              <a:rPr lang="en-US" altLang="zh-CN" sz="2400" b="1" dirty="0">
                <a:solidFill>
                  <a:schemeClr val="accent1"/>
                </a:solidFill>
              </a:rPr>
              <a:t>BI Delivery Interfaces</a:t>
            </a:r>
          </a:p>
          <a:p>
            <a:pPr marL="685800" lvl="2">
              <a:spcBef>
                <a:spcPts val="1000"/>
              </a:spcBef>
            </a:pPr>
            <a:r>
              <a:rPr lang="en-US" dirty="0"/>
              <a:t>ETL team should work closely with modeling team;</a:t>
            </a:r>
          </a:p>
          <a:p>
            <a:pPr marL="685800" lvl="2">
              <a:spcBef>
                <a:spcPts val="1000"/>
              </a:spcBef>
            </a:pPr>
            <a:r>
              <a:rPr lang="en-US" dirty="0"/>
              <a:t>List all facts and dimension tables;</a:t>
            </a:r>
          </a:p>
          <a:p>
            <a:pPr marL="228600" lvl="1">
              <a:spcBef>
                <a:spcPts val="100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9.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Available Skills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/>
              <a:t>﻿</a:t>
            </a:r>
            <a:r>
              <a:rPr lang="en-US" dirty="0"/>
              <a:t>ETL tool,</a:t>
            </a:r>
            <a:r>
              <a:rPr lang="zh-CN" altLang="en-US" dirty="0"/>
              <a:t> </a:t>
            </a:r>
            <a:r>
              <a:rPr lang="en-US" dirty="0"/>
              <a:t>scripting language, programming language, SQL, DBMS, and OLAP skills</a:t>
            </a:r>
          </a:p>
          <a:p>
            <a:pPr marL="228600" lvl="1">
              <a:spcBef>
                <a:spcPts val="1000"/>
              </a:spcBef>
            </a:pPr>
            <a:r>
              <a:rPr lang="en-US" altLang="zh-CN" b="1" dirty="0">
                <a:solidFill>
                  <a:schemeClr val="accent1"/>
                </a:solidFill>
              </a:rPr>
              <a:t>10.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Legacy Licenses</a:t>
            </a:r>
          </a:p>
          <a:p>
            <a:pPr marL="685800" lvl="2">
              <a:spcBef>
                <a:spcPts val="1000"/>
              </a:spcBef>
            </a:pPr>
            <a:r>
              <a:rPr lang="en-US" dirty="0"/>
              <a:t>Legacy Licenses are historical licenses (a license type that is no longer offered and so cannot be renewed) </a:t>
            </a:r>
          </a:p>
        </p:txBody>
      </p:sp>
    </p:spTree>
    <p:extLst>
      <p:ext uri="{BB962C8B-B14F-4D97-AF65-F5344CB8AC3E}">
        <p14:creationId xmlns:p14="http://schemas.microsoft.com/office/powerpoint/2010/main" val="155747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3A0D-5F53-984C-B1E2-B5AC0B8B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﻿The 34 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6D76D-452B-F24C-AF14-DF1997016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﻿34 critical subsystems that form the architecture for every ETL system;</a:t>
            </a:r>
          </a:p>
          <a:p>
            <a:r>
              <a:rPr lang="en-US" dirty="0"/>
              <a:t>Major components: </a:t>
            </a:r>
          </a:p>
          <a:p>
            <a:r>
              <a:rPr lang="en-US" dirty="0"/>
              <a:t>﻿</a:t>
            </a:r>
            <a:r>
              <a:rPr lang="en-US" b="1" i="1" dirty="0">
                <a:solidFill>
                  <a:srgbClr val="C00000"/>
                </a:solidFill>
              </a:rPr>
              <a:t>Extracting</a:t>
            </a:r>
            <a:r>
              <a:rPr lang="en-US" dirty="0"/>
              <a:t>: ﻿Gathering raw data from the source systems and writing</a:t>
            </a:r>
            <a:r>
              <a:rPr lang="zh-CN" altLang="en-US" dirty="0"/>
              <a:t> </a:t>
            </a:r>
            <a:r>
              <a:rPr lang="en-US" dirty="0"/>
              <a:t>it to disk in the ETL environment</a:t>
            </a:r>
            <a:r>
              <a:rPr lang="zh-CN" altLang="en-US" dirty="0"/>
              <a:t> </a:t>
            </a:r>
            <a:r>
              <a:rPr lang="en-US" altLang="zh-CN" dirty="0"/>
              <a:t>before any significant restructuring</a:t>
            </a:r>
            <a:r>
              <a:rPr lang="zh-CN" altLang="en-US" dirty="0"/>
              <a:t> </a:t>
            </a:r>
            <a:r>
              <a:rPr lang="en-US" altLang="zh-CN" dirty="0"/>
              <a:t>(Subsystems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3);</a:t>
            </a:r>
          </a:p>
          <a:p>
            <a:r>
              <a:rPr lang="en-US" altLang="zh-CN" b="1" i="1" dirty="0">
                <a:solidFill>
                  <a:srgbClr val="C00000"/>
                </a:solidFill>
              </a:rPr>
              <a:t>Cleaning and conforming:</a:t>
            </a:r>
            <a:r>
              <a:rPr lang="zh-CN" altLang="en-US" b="1" i="1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Improve the quality of the data received from the</a:t>
            </a:r>
            <a:r>
              <a:rPr lang="zh-CN" altLang="en-US" dirty="0"/>
              <a:t> </a:t>
            </a:r>
            <a:r>
              <a:rPr lang="en-US" altLang="zh-CN" dirty="0"/>
              <a:t>source, and merging data from two or more sources to create and enforce conformed dimensions and conformed metrics</a:t>
            </a:r>
            <a:r>
              <a:rPr lang="zh-CN" altLang="en-US" dirty="0"/>
              <a:t> </a:t>
            </a:r>
            <a:r>
              <a:rPr lang="en-US" altLang="zh-CN" dirty="0"/>
              <a:t>(Subsystems</a:t>
            </a:r>
            <a:r>
              <a:rPr lang="zh-CN" altLang="en-US" dirty="0"/>
              <a:t> </a:t>
            </a:r>
            <a:r>
              <a:rPr lang="en-US" altLang="zh-CN" dirty="0"/>
              <a:t>4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8);</a:t>
            </a:r>
          </a:p>
          <a:p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369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E9C59-A1CF-0443-B55B-55F67DB75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34 Subsystems of ETL</a:t>
            </a:r>
            <a:r>
              <a:rPr lang="zh-CN" altLang="en-US" dirty="0"/>
              <a:t> </a:t>
            </a:r>
            <a:r>
              <a:rPr lang="en-US" altLang="zh-CN" dirty="0"/>
              <a:t>cont.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223A5-5A60-CC42-B0C6-4B35A2E61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</a:t>
            </a:r>
            <a:r>
              <a:rPr lang="en-US" b="1" i="1" dirty="0">
                <a:solidFill>
                  <a:srgbClr val="C00000"/>
                </a:solidFill>
              </a:rPr>
              <a:t>Delivering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Physically structuring and loading the data into the presentation</a:t>
            </a:r>
            <a:r>
              <a:rPr lang="zh-CN" altLang="en-US" dirty="0"/>
              <a:t> </a:t>
            </a:r>
            <a:r>
              <a:rPr lang="en-US" dirty="0"/>
              <a:t>server’s target dimensional models</a:t>
            </a:r>
            <a:r>
              <a:rPr lang="zh-CN" altLang="en-US" dirty="0"/>
              <a:t> </a:t>
            </a:r>
            <a:r>
              <a:rPr lang="en-US" altLang="zh-CN" dirty="0"/>
              <a:t>(Subsystems</a:t>
            </a:r>
            <a:r>
              <a:rPr lang="zh-CN" altLang="en-US" dirty="0"/>
              <a:t> </a:t>
            </a:r>
            <a:r>
              <a:rPr lang="en-US" altLang="zh-CN" dirty="0"/>
              <a:t>9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21);</a:t>
            </a:r>
          </a:p>
          <a:p>
            <a:r>
              <a:rPr lang="en-US" altLang="zh-CN" b="1" i="1" dirty="0">
                <a:solidFill>
                  <a:srgbClr val="C00000"/>
                </a:solidFill>
              </a:rPr>
              <a:t>Managing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Managing the related systems and processes of the ETL</a:t>
            </a:r>
            <a:r>
              <a:rPr lang="zh-CN" altLang="en-US" dirty="0"/>
              <a:t> </a:t>
            </a:r>
            <a:r>
              <a:rPr lang="en-US" altLang="zh-CN" dirty="0"/>
              <a:t>environment in a coherent manner</a:t>
            </a:r>
            <a:r>
              <a:rPr lang="zh-CN" altLang="en-US" dirty="0"/>
              <a:t> </a:t>
            </a:r>
            <a:r>
              <a:rPr lang="en-US" altLang="zh-CN" dirty="0"/>
              <a:t>(Subsystems</a:t>
            </a:r>
            <a:r>
              <a:rPr lang="zh-CN" altLang="en-US" dirty="0"/>
              <a:t> </a:t>
            </a:r>
            <a:r>
              <a:rPr lang="en-US" altLang="zh-CN" dirty="0"/>
              <a:t>22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34);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201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Extracting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Subsystem 1: Data Profiling</a:t>
            </a:r>
          </a:p>
          <a:p>
            <a:pPr lvl="1"/>
            <a:r>
              <a:rPr lang="en-US" dirty="0"/>
              <a:t>Describe the </a:t>
            </a:r>
            <a:r>
              <a:rPr lang="en-US" dirty="0">
                <a:solidFill>
                  <a:srgbClr val="FF0000"/>
                </a:solidFill>
              </a:rPr>
              <a:t>contents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consistency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structure</a:t>
            </a:r>
            <a:r>
              <a:rPr lang="zh-CN" altLang="en-US" dirty="0"/>
              <a:t> </a:t>
            </a:r>
            <a:r>
              <a:rPr lang="en-US" altLang="zh-CN" dirty="0"/>
              <a:t>(e.g.</a:t>
            </a:r>
            <a:r>
              <a:rPr lang="zh-CN" altLang="en-US" dirty="0"/>
              <a:t> </a:t>
            </a:r>
            <a:r>
              <a:rPr lang="en-US" altLang="zh-CN" dirty="0"/>
              <a:t>SELECT DISTINCT)</a:t>
            </a:r>
            <a:endParaRPr lang="en-US" dirty="0"/>
          </a:p>
          <a:p>
            <a:pPr lvl="1"/>
            <a:r>
              <a:rPr lang="en-US" dirty="0"/>
              <a:t>Provides information about data cleaning requirements</a:t>
            </a:r>
          </a:p>
          <a:p>
            <a:pPr lvl="1"/>
            <a:r>
              <a:rPr lang="en-US" dirty="0"/>
              <a:t>﻿Plays two distinct roles: strategic and tactical.</a:t>
            </a:r>
          </a:p>
          <a:p>
            <a:pPr lvl="1"/>
            <a:r>
              <a:rPr lang="en-US" dirty="0"/>
              <a:t>﻿Determine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source’s</a:t>
            </a:r>
            <a:r>
              <a:rPr lang="en-US" dirty="0"/>
              <a:t> suitability for inclusion in the data warehouse and provide an early</a:t>
            </a:r>
            <a:r>
              <a:rPr lang="zh-CN" altLang="en-US" dirty="0"/>
              <a:t> </a:t>
            </a:r>
            <a:r>
              <a:rPr lang="en-US" dirty="0"/>
              <a:t>go/no go decision.</a:t>
            </a:r>
          </a:p>
          <a:p>
            <a:pPr lvl="1"/>
            <a:r>
              <a:rPr lang="en-US" altLang="zh-CN" dirty="0"/>
              <a:t>P</a:t>
            </a:r>
            <a:r>
              <a:rPr lang="en-US" dirty="0"/>
              <a:t>rotects from missing major project milestones due to the unexpected diversion of building systems to deal with dirty data</a:t>
            </a:r>
            <a:r>
              <a:rPr lang="en-US" altLang="zh-CN" dirty="0"/>
              <a:t>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8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E9E5-F25D-EA4D-9175-870A7596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5C927-2E28-544A-9D42-B92066498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Extracting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002060"/>
                </a:solidFill>
              </a:rPr>
              <a:t>2.</a:t>
            </a:r>
            <a:r>
              <a:rPr lang="zh-CN" altLang="en-US" b="1" dirty="0">
                <a:solidFill>
                  <a:srgbClr val="002060"/>
                </a:solidFill>
              </a:rPr>
              <a:t>   </a:t>
            </a:r>
            <a:r>
              <a:rPr lang="en-US" b="1" dirty="0">
                <a:solidFill>
                  <a:srgbClr val="002060"/>
                </a:solidFill>
              </a:rPr>
              <a:t>Subsystem 2: Change Data Capture System</a:t>
            </a:r>
          </a:p>
          <a:p>
            <a:pPr lvl="1"/>
            <a:r>
              <a:rPr lang="en-US" dirty="0"/>
              <a:t>Isolate the latest source data</a:t>
            </a:r>
          </a:p>
          <a:p>
            <a:pPr lvl="1"/>
            <a:r>
              <a:rPr lang="en-US" dirty="0"/>
              <a:t>Just transfer the data that has changed since the last load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/>
              <a:t>Audit columns – stores date and time of each modification of a record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 Timed Extract – Time based selection is </a:t>
            </a:r>
            <a:r>
              <a:rPr lang="en-US" b="1" dirty="0">
                <a:solidFill>
                  <a:srgbClr val="C00000"/>
                </a:solidFill>
              </a:rPr>
              <a:t>not recommended</a:t>
            </a:r>
            <a:r>
              <a:rPr lang="en-US" altLang="zh-CN" b="1" dirty="0">
                <a:solidFill>
                  <a:srgbClr val="C00000"/>
                </a:solidFill>
              </a:rPr>
              <a:t>;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/>
              <a:t>Time-based data</a:t>
            </a:r>
            <a:r>
              <a:rPr lang="zh-CN" altLang="en-US" b="1" dirty="0"/>
              <a:t> </a:t>
            </a:r>
            <a:r>
              <a:rPr lang="en-US" altLang="zh-CN" b="1" dirty="0"/>
              <a:t>selection loads duplicate rows when it is restarted from mid-process failures;</a:t>
            </a:r>
            <a:r>
              <a:rPr lang="zh-CN" altLang="en-US" b="1" dirty="0"/>
              <a:t> </a:t>
            </a:r>
            <a:r>
              <a:rPr lang="en-US" altLang="zh-CN" b="1" dirty="0"/>
              <a:t>if the load process fails to run and skips a day, missed data will</a:t>
            </a:r>
            <a:r>
              <a:rPr lang="zh-CN" altLang="en-US" b="1" dirty="0"/>
              <a:t> </a:t>
            </a:r>
            <a:r>
              <a:rPr lang="en-US" altLang="zh-CN" b="1" dirty="0"/>
              <a:t>be</a:t>
            </a:r>
            <a:r>
              <a:rPr lang="zh-CN" altLang="en-US" b="1" dirty="0"/>
              <a:t> </a:t>
            </a:r>
            <a:r>
              <a:rPr lang="en-US" altLang="zh-CN" b="1" dirty="0"/>
              <a:t>missed</a:t>
            </a:r>
            <a:r>
              <a:rPr lang="zh-CN" altLang="en-US" b="1" dirty="0"/>
              <a:t> </a:t>
            </a:r>
            <a:r>
              <a:rPr lang="en-US" altLang="zh-CN" b="1" dirty="0"/>
              <a:t>forever;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 Full Diff Compare – identify the change by comparing record by record</a:t>
            </a:r>
            <a:r>
              <a:rPr lang="en-US" altLang="zh-CN" b="1" dirty="0"/>
              <a:t>;</a:t>
            </a:r>
            <a:r>
              <a:rPr lang="zh-CN" altLang="en-US" b="1" dirty="0"/>
              <a:t> </a:t>
            </a:r>
            <a:r>
              <a:rPr lang="en-US" altLang="zh-CN" b="1" dirty="0"/>
              <a:t>Very resource-intensive;</a:t>
            </a:r>
            <a:r>
              <a:rPr lang="zh-CN" altLang="en-US" b="1" dirty="0"/>
              <a:t> </a:t>
            </a:r>
            <a:r>
              <a:rPr lang="en-US" altLang="zh-CN" b="1" dirty="0"/>
              <a:t>Cyclic</a:t>
            </a:r>
            <a:r>
              <a:rPr lang="zh-CN" altLang="en-US" b="1" dirty="0"/>
              <a:t> </a:t>
            </a:r>
            <a:r>
              <a:rPr lang="en-US" altLang="zh-CN" b="1" dirty="0"/>
              <a:t>redundancy checksum (CRC) algorithms;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573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Extracting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b="1" dirty="0">
                <a:solidFill>
                  <a:srgbClr val="002060"/>
                </a:solidFill>
              </a:rPr>
              <a:t>Subsystem 3: Extract System</a:t>
            </a:r>
          </a:p>
          <a:p>
            <a:pPr lvl="1"/>
            <a:r>
              <a:rPr lang="en-US" dirty="0"/>
              <a:t>Each source might be in a </a:t>
            </a:r>
            <a:r>
              <a:rPr lang="en-US" dirty="0">
                <a:solidFill>
                  <a:srgbClr val="FF0000"/>
                </a:solidFill>
              </a:rPr>
              <a:t>different</a:t>
            </a:r>
            <a:r>
              <a:rPr lang="en-US" dirty="0"/>
              <a:t> system, environment or DBMS</a:t>
            </a:r>
          </a:p>
          <a:p>
            <a:pPr lvl="1"/>
            <a:r>
              <a:rPr lang="en-US" dirty="0"/>
              <a:t>Create MapReduce/Hadoop extract step to extract unstructured, </a:t>
            </a:r>
            <a:r>
              <a:rPr lang="en-US" dirty="0" err="1"/>
              <a:t>semistructured</a:t>
            </a:r>
            <a:r>
              <a:rPr lang="en-US" dirty="0"/>
              <a:t> “Big Data”.</a:t>
            </a:r>
          </a:p>
          <a:p>
            <a:pPr lvl="1"/>
            <a:r>
              <a:rPr lang="en-US" dirty="0"/>
              <a:t>﻿</a:t>
            </a:r>
            <a:r>
              <a:rPr lang="en-US" dirty="0">
                <a:solidFill>
                  <a:srgbClr val="FF0000"/>
                </a:solidFill>
              </a:rPr>
              <a:t>Data compression</a:t>
            </a:r>
            <a:r>
              <a:rPr lang="en-US" dirty="0"/>
              <a:t> is important if large amounts of data need to be transferred over</a:t>
            </a:r>
            <a:r>
              <a:rPr lang="zh-CN" altLang="en-US" dirty="0"/>
              <a:t> </a:t>
            </a:r>
            <a:r>
              <a:rPr lang="en-US" dirty="0"/>
              <a:t>a significant distance or through a public network.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﻿Data encryption</a:t>
            </a:r>
            <a:r>
              <a:rPr lang="en-US" dirty="0"/>
              <a:t> is important if data is transferred through a public network, or</a:t>
            </a:r>
            <a:r>
              <a:rPr lang="zh-CN" altLang="en-US" dirty="0"/>
              <a:t> </a:t>
            </a:r>
            <a:r>
              <a:rPr lang="en-US" dirty="0"/>
              <a:t>even internally in some situations. </a:t>
            </a:r>
          </a:p>
        </p:txBody>
      </p:sp>
    </p:spTree>
    <p:extLst>
      <p:ext uri="{BB962C8B-B14F-4D97-AF65-F5344CB8AC3E}">
        <p14:creationId xmlns:p14="http://schemas.microsoft.com/office/powerpoint/2010/main" val="261410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9091-94A4-CB4C-971A-07137267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Extracting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CA090D-8395-5644-9585-E304CDFDF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0359" y="1885585"/>
            <a:ext cx="7651281" cy="4485234"/>
          </a:xfrm>
        </p:spPr>
      </p:pic>
    </p:spTree>
    <p:extLst>
      <p:ext uri="{BB962C8B-B14F-4D97-AF65-F5344CB8AC3E}">
        <p14:creationId xmlns:p14="http://schemas.microsoft.com/office/powerpoint/2010/main" val="3730909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E9A5-0B04-C14E-8550-3CDB97341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A74E1-721E-CD4C-BA68-E4D41FB83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Cleaning and Conforming Data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b="1" dirty="0">
                <a:solidFill>
                  <a:srgbClr val="002060"/>
                </a:solidFill>
              </a:rPr>
              <a:t>Subsystem 4: Data Cleansing System</a:t>
            </a:r>
          </a:p>
          <a:p>
            <a:r>
              <a:rPr lang="en-US" dirty="0"/>
              <a:t>﻿</a:t>
            </a:r>
            <a:r>
              <a:rPr lang="en-US" altLang="zh-CN" dirty="0"/>
              <a:t>C</a:t>
            </a:r>
            <a:r>
              <a:rPr lang="en-US" dirty="0"/>
              <a:t>leansing data, capturing data quality events, as well as measuring</a:t>
            </a:r>
            <a:r>
              <a:rPr lang="zh-CN" altLang="en-US" dirty="0"/>
              <a:t> </a:t>
            </a:r>
            <a:r>
              <a:rPr lang="en-US" altLang="zh-CN" dirty="0"/>
              <a:t>and ultimately controlling data quality in the data warehouse. </a:t>
            </a:r>
          </a:p>
          <a:p>
            <a:r>
              <a:rPr lang="en-US" dirty="0"/>
              <a:t>﻿</a:t>
            </a:r>
            <a:r>
              <a:rPr lang="en-US" b="1" i="1" dirty="0"/>
              <a:t>Quality Screens</a:t>
            </a:r>
            <a:r>
              <a:rPr lang="zh-CN" altLang="en-US" i="1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Each quality screen is a test. diagnostic</a:t>
            </a:r>
            <a:r>
              <a:rPr lang="zh-CN" altLang="en-US" dirty="0"/>
              <a:t> </a:t>
            </a:r>
            <a:r>
              <a:rPr lang="en-US" altLang="zh-CN" dirty="0"/>
              <a:t>filters in the data flow pipelines;</a:t>
            </a:r>
            <a:r>
              <a:rPr lang="zh-CN" altLang="en-US" dirty="0"/>
              <a:t> </a:t>
            </a:r>
            <a:r>
              <a:rPr lang="en-US" altLang="zh-CN" dirty="0"/>
              <a:t>Column screens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Structure</a:t>
            </a:r>
            <a:r>
              <a:rPr lang="zh-CN" altLang="en-US" dirty="0"/>
              <a:t> </a:t>
            </a:r>
            <a:r>
              <a:rPr lang="en-US" altLang="zh-CN" dirty="0"/>
              <a:t>screens;</a:t>
            </a:r>
          </a:p>
          <a:p>
            <a:r>
              <a:rPr lang="en-US" dirty="0"/>
              <a:t>﻿</a:t>
            </a:r>
            <a:r>
              <a:rPr lang="en-US" b="1" i="1" dirty="0"/>
              <a:t>Responding to Quality Events</a:t>
            </a:r>
            <a:r>
              <a:rPr lang="en-US" altLang="zh-CN" b="1" i="1" dirty="0"/>
              <a:t>:</a:t>
            </a:r>
            <a:r>
              <a:rPr lang="zh-CN" altLang="en-US" b="1" i="1" dirty="0"/>
              <a:t> </a:t>
            </a:r>
            <a:r>
              <a:rPr lang="en-US" altLang="zh-CN" dirty="0"/>
              <a:t>Successful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nothing happens; Failed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actions:</a:t>
            </a:r>
            <a:r>
              <a:rPr lang="zh-CN" altLang="en-US" dirty="0"/>
              <a:t> </a:t>
            </a:r>
            <a:r>
              <a:rPr lang="en-US" altLang="zh-CN" dirty="0"/>
              <a:t>drop an error event,</a:t>
            </a:r>
            <a:r>
              <a:rPr lang="zh-CN" altLang="en-US" dirty="0"/>
              <a:t> </a:t>
            </a:r>
            <a:r>
              <a:rPr lang="en-US" altLang="zh-CN" dirty="0"/>
              <a:t>halt the process, send the oﬀending data into suspension, tag</a:t>
            </a:r>
            <a:r>
              <a:rPr lang="zh-CN" altLang="en-US" dirty="0"/>
              <a:t> </a:t>
            </a:r>
            <a:r>
              <a:rPr lang="en-US" altLang="zh-CN" dirty="0"/>
              <a:t>the data;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752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521D-010C-E042-AB26-0E7B38C7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AD99E-CC44-A448-B983-5A4E24DC3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Cleaning and Conforming Data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002060"/>
                </a:solidFill>
              </a:rPr>
              <a:t>5.</a:t>
            </a:r>
            <a:r>
              <a:rPr lang="zh-CN" altLang="en-US" b="1" dirty="0">
                <a:solidFill>
                  <a:srgbClr val="002060"/>
                </a:solidFill>
              </a:rPr>
              <a:t>   </a:t>
            </a:r>
            <a:r>
              <a:rPr lang="en-US" b="1" dirty="0">
                <a:solidFill>
                  <a:srgbClr val="002060"/>
                </a:solidFill>
              </a:rPr>
              <a:t>Subsystem 5: Error Event Schema</a:t>
            </a:r>
          </a:p>
          <a:p>
            <a:pPr lvl="1"/>
            <a:r>
              <a:rPr lang="en-US" dirty="0"/>
              <a:t>Record every error event identified by quality screen</a:t>
            </a:r>
          </a:p>
          <a:p>
            <a:pPr lvl="1"/>
            <a:r>
              <a:rPr lang="en-US" dirty="0"/>
              <a:t>﻿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r>
              <a:rPr lang="zh-CN" altLang="en-US" dirty="0"/>
              <a:t> </a:t>
            </a:r>
            <a:r>
              <a:rPr lang="en-US" altLang="zh-CN" dirty="0"/>
              <a:t>table’s</a:t>
            </a:r>
            <a:r>
              <a:rPr lang="en-US" dirty="0"/>
              <a:t> grain is every error thrown (produced) by a quality screen anywhere in the ETL system.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C499B-FEEE-8442-97A5-0F0927497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16" y="4014604"/>
            <a:ext cx="7899817" cy="216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55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90857-DC7C-B84F-BF0B-89E6ACF3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0984E-9B13-6548-9ED8-25C8306D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Cleaning and Conforming Data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6.</a:t>
            </a:r>
            <a:r>
              <a:rPr lang="zh-CN" altLang="en-US" b="1" dirty="0">
                <a:solidFill>
                  <a:srgbClr val="002060"/>
                </a:solidFill>
              </a:rPr>
              <a:t>  </a:t>
            </a:r>
            <a:r>
              <a:rPr lang="en-US" b="1" dirty="0">
                <a:solidFill>
                  <a:srgbClr val="002060"/>
                </a:solidFill>
              </a:rPr>
              <a:t>Subsystem 6: Audit Dimension Assembler</a:t>
            </a:r>
          </a:p>
          <a:p>
            <a:pPr lvl="1"/>
            <a:r>
              <a:rPr lang="en-US" dirty="0"/>
              <a:t>﻿The audit dimension is a special dimension that is assembled in the back room</a:t>
            </a:r>
            <a:r>
              <a:rPr lang="zh-CN" altLang="en-US" dirty="0"/>
              <a:t> </a:t>
            </a:r>
            <a:r>
              <a:rPr lang="en-US" dirty="0"/>
              <a:t>by the ETL system for </a:t>
            </a:r>
            <a:r>
              <a:rPr lang="en-US" altLang="zh-CN" dirty="0"/>
              <a:t>the</a:t>
            </a:r>
            <a:r>
              <a:rPr lang="en-US" dirty="0"/>
              <a:t> fact table</a:t>
            </a:r>
            <a:r>
              <a:rPr lang="en-US" altLang="zh-CN" dirty="0"/>
              <a:t>;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AD1B5-62CD-2B45-A437-8CA9220B1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081" y="3648014"/>
            <a:ext cx="5024411" cy="266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9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6A01-8A9A-2845-AC5E-C4F782EE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F9EC8-8B1C-A545-BD96-13F478E25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002060"/>
                </a:solidFill>
              </a:rPr>
              <a:t>7.</a:t>
            </a:r>
            <a:r>
              <a:rPr lang="zh-CN" altLang="en-US" b="1" dirty="0">
                <a:solidFill>
                  <a:srgbClr val="002060"/>
                </a:solidFill>
              </a:rPr>
              <a:t>  </a:t>
            </a:r>
            <a:r>
              <a:rPr lang="en-US" b="1" dirty="0">
                <a:solidFill>
                  <a:srgbClr val="002060"/>
                </a:solidFill>
              </a:rPr>
              <a:t>Subsystem </a:t>
            </a:r>
            <a:r>
              <a:rPr lang="en-US" altLang="zh-CN" b="1" dirty="0">
                <a:solidFill>
                  <a:srgbClr val="002060"/>
                </a:solidFill>
              </a:rPr>
              <a:t>7</a:t>
            </a:r>
            <a:r>
              <a:rPr lang="en-US" b="1" dirty="0">
                <a:solidFill>
                  <a:srgbClr val="002060"/>
                </a:solidFill>
              </a:rPr>
              <a:t>: ﻿Deduplication System</a:t>
            </a:r>
          </a:p>
          <a:p>
            <a:r>
              <a:rPr lang="en-US" sz="2400" dirty="0"/>
              <a:t>﻿Often dimensions are derived from several sources. </a:t>
            </a:r>
          </a:p>
          <a:p>
            <a:r>
              <a:rPr lang="en-US" sz="2400" dirty="0"/>
              <a:t>Customer information may need to be</a:t>
            </a:r>
            <a:r>
              <a:rPr lang="zh-CN" altLang="en-US" sz="2400" dirty="0"/>
              <a:t> </a:t>
            </a:r>
            <a:r>
              <a:rPr lang="en-US" sz="2400" dirty="0"/>
              <a:t>merged from several lines of business and outside sources. </a:t>
            </a:r>
          </a:p>
          <a:p>
            <a:r>
              <a:rPr lang="en-US" altLang="zh-CN" b="1" dirty="0">
                <a:solidFill>
                  <a:srgbClr val="002060"/>
                </a:solidFill>
              </a:rPr>
              <a:t>8.</a:t>
            </a:r>
            <a:r>
              <a:rPr lang="zh-CN" altLang="en-US" b="1" dirty="0">
                <a:solidFill>
                  <a:srgbClr val="002060"/>
                </a:solidFill>
              </a:rPr>
              <a:t>  </a:t>
            </a:r>
            <a:r>
              <a:rPr lang="en-US" b="1" dirty="0">
                <a:solidFill>
                  <a:srgbClr val="002060"/>
                </a:solidFill>
              </a:rPr>
              <a:t>Subsystem </a:t>
            </a:r>
            <a:r>
              <a:rPr lang="en-US" altLang="zh-CN" b="1" dirty="0">
                <a:solidFill>
                  <a:srgbClr val="002060"/>
                </a:solidFill>
              </a:rPr>
              <a:t>8</a:t>
            </a:r>
            <a:r>
              <a:rPr lang="en-US" b="1" dirty="0">
                <a:solidFill>
                  <a:srgbClr val="002060"/>
                </a:solidFill>
              </a:rPr>
              <a:t>: ﻿﻿Conforming System</a:t>
            </a:r>
          </a:p>
          <a:p>
            <a:r>
              <a:rPr lang="en-US" sz="2400" dirty="0">
                <a:solidFill>
                  <a:srgbClr val="002060"/>
                </a:solidFill>
              </a:rPr>
              <a:t>﻿</a:t>
            </a:r>
            <a:r>
              <a:rPr lang="en-US" altLang="zh-CN" sz="2400" dirty="0"/>
              <a:t>A</a:t>
            </a:r>
            <a:r>
              <a:rPr lang="en-US" sz="2400" dirty="0"/>
              <a:t>lign the content of some or all the</a:t>
            </a:r>
            <a:r>
              <a:rPr lang="zh-CN" altLang="en-US" sz="2400" dirty="0"/>
              <a:t> </a:t>
            </a:r>
            <a:r>
              <a:rPr lang="en-US" sz="2400" dirty="0"/>
              <a:t>columns in a dimension with columns in similar or identical dimensions in other</a:t>
            </a:r>
            <a:r>
              <a:rPr lang="zh-CN" altLang="en-US" sz="2400" dirty="0"/>
              <a:t> </a:t>
            </a:r>
            <a:r>
              <a:rPr lang="en-US" sz="2400" dirty="0"/>
              <a:t>parts of the data warehouse.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65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ETL: </a:t>
            </a:r>
            <a:r>
              <a:rPr lang="en-US" b="1" dirty="0">
                <a:solidFill>
                  <a:srgbClr val="002060"/>
                </a:solidFill>
              </a:rPr>
              <a:t>Conforming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7945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3" y="1362074"/>
            <a:ext cx="10621661" cy="5069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6539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BBAC-C387-2440-932C-391AF1891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Subsystems of ETL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Cleaning and Conforming Data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1A94EC-4148-1147-89D0-20D5D12E8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701" y="2020472"/>
            <a:ext cx="7748866" cy="4560761"/>
          </a:xfrm>
        </p:spPr>
      </p:pic>
    </p:spTree>
    <p:extLst>
      <p:ext uri="{BB962C8B-B14F-4D97-AF65-F5344CB8AC3E}">
        <p14:creationId xmlns:p14="http://schemas.microsoft.com/office/powerpoint/2010/main" val="466509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1BF0-004F-0647-9E2D-FDD04871D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C5C22-BCD0-AF41-B7B5-F13D8C134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Delivering: Prepare for Presentation</a:t>
            </a:r>
            <a:r>
              <a:rPr lang="en-US" altLang="zh-CN" dirty="0"/>
              <a:t>:</a:t>
            </a:r>
            <a:endParaRPr lang="en-US" dirty="0"/>
          </a:p>
          <a:p>
            <a:r>
              <a:rPr lang="en-US" dirty="0"/>
              <a:t>﻿The primary mission of the ETL system is the handoﬀ of the dimension and fact</a:t>
            </a:r>
            <a:r>
              <a:rPr lang="zh-CN" altLang="en-US" dirty="0"/>
              <a:t> </a:t>
            </a:r>
            <a:r>
              <a:rPr lang="en-US" dirty="0"/>
              <a:t>tables in the delivery step.</a:t>
            </a: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9.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Subsystem 9: Slowly Changing Dimension Manager</a:t>
            </a:r>
          </a:p>
          <a:p>
            <a:pPr lvl="1"/>
            <a:r>
              <a:rPr lang="en-US" altLang="zh-CN" dirty="0"/>
              <a:t>The ETL system must determine</a:t>
            </a:r>
            <a:r>
              <a:rPr lang="zh-CN" altLang="en-US" dirty="0"/>
              <a:t> </a:t>
            </a:r>
            <a:r>
              <a:rPr lang="en-US" altLang="zh-CN" dirty="0"/>
              <a:t>how to handle an attribute value that has changed from the value already stored</a:t>
            </a:r>
            <a:r>
              <a:rPr lang="zh-CN" altLang="en-US" dirty="0"/>
              <a:t> </a:t>
            </a:r>
            <a:r>
              <a:rPr lang="en-US" altLang="zh-CN" dirty="0"/>
              <a:t>in the data warehouse.</a:t>
            </a:r>
          </a:p>
          <a:p>
            <a:pPr lvl="1"/>
            <a:r>
              <a:rPr lang="en-US" altLang="zh-CN" dirty="0"/>
              <a:t>If the revised description is determined to be a legitimate</a:t>
            </a:r>
            <a:r>
              <a:rPr lang="zh-CN" altLang="en-US" dirty="0"/>
              <a:t> </a:t>
            </a:r>
            <a:r>
              <a:rPr lang="en-US" altLang="zh-CN" dirty="0"/>
              <a:t>and reliable update to previous information, the appropriate SCD technique must</a:t>
            </a:r>
            <a:r>
              <a:rPr lang="zh-CN" altLang="en-US" dirty="0"/>
              <a:t> </a:t>
            </a:r>
            <a:r>
              <a:rPr lang="en-US" altLang="zh-CN" dirty="0"/>
              <a:t>be applied.</a:t>
            </a:r>
          </a:p>
        </p:txBody>
      </p:sp>
    </p:spTree>
    <p:extLst>
      <p:ext uri="{BB962C8B-B14F-4D97-AF65-F5344CB8AC3E}">
        <p14:creationId xmlns:p14="http://schemas.microsoft.com/office/powerpoint/2010/main" val="1346712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34BA-5EBB-D545-B887-9192F490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﻿Processing flow for SCD surrogate key management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E4915B-B105-2448-9030-D614CD070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3063" y="1690688"/>
            <a:ext cx="5991130" cy="470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19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4A6C8-65A4-5B48-A29A-F49DF011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BB518-632C-EF4A-9660-10398FA64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Delivering</a:t>
            </a: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10.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Subsystem 10: Surrogate Key Generator</a:t>
            </a:r>
          </a:p>
          <a:p>
            <a:pPr lvl="1"/>
            <a:r>
              <a:rPr lang="en-US" altLang="zh-CN" dirty="0"/>
              <a:t>The goal of the surrogate</a:t>
            </a:r>
            <a:r>
              <a:rPr lang="zh-CN" altLang="en-US" dirty="0"/>
              <a:t> </a:t>
            </a:r>
            <a:r>
              <a:rPr lang="en-US" altLang="zh-CN" dirty="0"/>
              <a:t>key generator is to generate a meaningless key, typically an integer, to serve as the</a:t>
            </a:r>
            <a:r>
              <a:rPr lang="zh-CN" altLang="en-US" dirty="0"/>
              <a:t> </a:t>
            </a:r>
            <a:r>
              <a:rPr lang="en-US" altLang="zh-CN" dirty="0"/>
              <a:t>primary key for a dimension row.</a:t>
            </a:r>
          </a:p>
          <a:p>
            <a:pPr lvl="1"/>
            <a:r>
              <a:rPr lang="en-US" altLang="zh-CN" dirty="0"/>
              <a:t>Database triggers;</a:t>
            </a:r>
          </a:p>
          <a:p>
            <a:pPr lvl="1"/>
            <a:r>
              <a:rPr lang="en-US" altLang="zh-CN" dirty="0"/>
              <a:t>Database</a:t>
            </a:r>
            <a:r>
              <a:rPr lang="zh-CN" altLang="en-US" dirty="0"/>
              <a:t> </a:t>
            </a:r>
            <a:r>
              <a:rPr lang="en-US" altLang="zh-CN" dirty="0"/>
              <a:t>sequence generator;</a:t>
            </a: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11.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Subsystem 11: Hierarchy Manager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﻿</a:t>
            </a:r>
            <a:r>
              <a:rPr lang="en-US" altLang="zh-CN" dirty="0"/>
              <a:t>E</a:t>
            </a:r>
            <a:r>
              <a:rPr lang="en-US" dirty="0"/>
              <a:t>nforcing</a:t>
            </a:r>
            <a:r>
              <a:rPr lang="zh-CN" altLang="en-US" dirty="0"/>
              <a:t> </a:t>
            </a:r>
            <a:r>
              <a:rPr lang="en-US" dirty="0"/>
              <a:t>the business rules to assure the hierarchy is populated appropriately in the dimension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934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1D6A-09B1-7F42-BD56-D0E5A8A6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00E76-C242-A545-B766-B2607C5B9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Delivering</a:t>
            </a: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12.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Special Dimensions Manager</a:t>
            </a:r>
          </a:p>
          <a:p>
            <a:pPr lvl="1"/>
            <a:r>
              <a:rPr lang="en-US" altLang="zh-CN" dirty="0"/>
              <a:t>The special dimensions manager is a catch-all subsystem: a placeholder in the ETL</a:t>
            </a:r>
            <a:r>
              <a:rPr lang="zh-CN" altLang="en-US" dirty="0"/>
              <a:t> </a:t>
            </a:r>
            <a:r>
              <a:rPr lang="en-US" altLang="zh-CN" dirty="0"/>
              <a:t>architecture for supporting an organization’s specific dimensional design characteristics. </a:t>
            </a:r>
          </a:p>
          <a:p>
            <a:pPr lvl="1"/>
            <a:r>
              <a:rPr lang="en-US" dirty="0"/>
              <a:t>﻿Date/Time Dimensions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specified</a:t>
            </a:r>
            <a:r>
              <a:rPr lang="zh-CN" altLang="en-US" dirty="0"/>
              <a:t> </a:t>
            </a:r>
            <a:r>
              <a:rPr lang="en-US" altLang="zh-CN" dirty="0"/>
              <a:t>at the beginning of the data warehouse project, and they don’t have a conventional</a:t>
            </a:r>
            <a:r>
              <a:rPr lang="zh-CN" altLang="en-US" dirty="0"/>
              <a:t> </a:t>
            </a:r>
            <a:r>
              <a:rPr lang="en-US" altLang="zh-CN" dirty="0"/>
              <a:t>source;</a:t>
            </a:r>
          </a:p>
          <a:p>
            <a:pPr lvl="1"/>
            <a:r>
              <a:rPr lang="en-US" dirty="0"/>
              <a:t>﻿Junk Dimensions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CN" dirty="0"/>
              <a:t>Mini-Dimensions;</a:t>
            </a:r>
            <a:r>
              <a:rPr lang="zh-CN" altLang="en-US" dirty="0"/>
              <a:t> </a:t>
            </a:r>
            <a:r>
              <a:rPr lang="en-US" altLang="zh-CN" dirty="0"/>
              <a:t>Shrunken Subset Dimensions;</a:t>
            </a:r>
            <a:r>
              <a:rPr lang="zh-CN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91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3103-C3C1-BD44-BA93-65999749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﻿Architecture for building junk dimension rows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A18142-CD3B-7545-9225-13F9486AF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7974" y="1507359"/>
            <a:ext cx="5561351" cy="4914440"/>
          </a:xfrm>
        </p:spPr>
      </p:pic>
    </p:spTree>
    <p:extLst>
      <p:ext uri="{BB962C8B-B14F-4D97-AF65-F5344CB8AC3E}">
        <p14:creationId xmlns:p14="http://schemas.microsoft.com/office/powerpoint/2010/main" val="3792958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D70A1-5A35-AA4F-A25C-6FA3A1A3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10A5B-B35C-F04F-B2F8-A81590DB2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Delivering</a:t>
            </a: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13.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Subsystem 13: Fact Table Builders</a:t>
            </a:r>
          </a:p>
          <a:p>
            <a:pPr lvl="1"/>
            <a:r>
              <a:rPr lang="en-US" altLang="zh-CN" b="1" dirty="0"/>
              <a:t>Transaction Fact Table Loader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The transaction fact table loader receives data from the changed data</a:t>
            </a:r>
            <a:r>
              <a:rPr lang="zh-CN" altLang="en-US" dirty="0"/>
              <a:t> </a:t>
            </a:r>
            <a:r>
              <a:rPr lang="en-US" altLang="zh-CN" dirty="0"/>
              <a:t>capture system and loads it with the proper dimensional foreign keys.</a:t>
            </a:r>
          </a:p>
          <a:p>
            <a:pPr lvl="1"/>
            <a:r>
              <a:rPr lang="en-US" altLang="zh-CN" b="1" dirty="0"/>
              <a:t>Periodic Snapshot Fact Table Loader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All records for each periodic load can</a:t>
            </a:r>
            <a:r>
              <a:rPr lang="zh-CN" altLang="en-US" dirty="0"/>
              <a:t> </a:t>
            </a:r>
            <a:r>
              <a:rPr lang="en-US" altLang="zh-CN" dirty="0"/>
              <a:t>cluster in the most recent time partition. Traditionally, periodic snapshots have</a:t>
            </a:r>
            <a:r>
              <a:rPr lang="zh-CN" altLang="en-US" dirty="0"/>
              <a:t> </a:t>
            </a:r>
            <a:r>
              <a:rPr lang="en-US" altLang="zh-CN" dirty="0"/>
              <a:t>been loaded at the end of the appropriate period;</a:t>
            </a:r>
          </a:p>
          <a:p>
            <a:pPr lvl="1"/>
            <a:r>
              <a:rPr lang="en-US" altLang="zh-CN" b="1" dirty="0"/>
              <a:t>Accumulating Snapshot Fact Table Loader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changes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lead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destructively modified</a:t>
            </a:r>
            <a:r>
              <a:rPr lang="zh-CN" altLang="en-US" dirty="0"/>
              <a:t> </a:t>
            </a:r>
            <a:r>
              <a:rPr lang="en-US" altLang="zh-CN" dirty="0"/>
              <a:t>rows; The date foreign keys are overwritten, and various facts</a:t>
            </a:r>
            <a:r>
              <a:rPr lang="zh-CN" altLang="en-US" dirty="0"/>
              <a:t> </a:t>
            </a:r>
            <a:r>
              <a:rPr lang="en-US" altLang="zh-CN" dirty="0"/>
              <a:t>are updated;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variable row lengths;</a:t>
            </a:r>
          </a:p>
        </p:txBody>
      </p:sp>
    </p:spTree>
    <p:extLst>
      <p:ext uri="{BB962C8B-B14F-4D97-AF65-F5344CB8AC3E}">
        <p14:creationId xmlns:p14="http://schemas.microsoft.com/office/powerpoint/2010/main" val="2106357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BA6D9-539B-5B48-A413-B560997E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535FB-3A17-A44C-B9FE-825E8D6B8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Delivering</a:t>
            </a:r>
          </a:p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14.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Subsystem 14: Surrogate Key Pipeline</a:t>
            </a:r>
          </a:p>
          <a:p>
            <a:pPr lvl="1"/>
            <a:r>
              <a:rPr lang="en-US" altLang="zh-CN" dirty="0"/>
              <a:t>Replacing the operational natural keys</a:t>
            </a:r>
            <a:r>
              <a:rPr lang="zh-CN" altLang="en-US" dirty="0"/>
              <a:t> </a:t>
            </a:r>
            <a:r>
              <a:rPr lang="en-US" altLang="zh-CN" dirty="0"/>
              <a:t>in the incoming fact table row with the appropriate dimension surrogate</a:t>
            </a:r>
            <a:r>
              <a:rPr lang="zh-CN" altLang="en-US" dirty="0"/>
              <a:t> </a:t>
            </a:r>
            <a:r>
              <a:rPr lang="en-US" altLang="zh-CN" dirty="0"/>
              <a:t>keys;</a:t>
            </a:r>
          </a:p>
          <a:p>
            <a:pPr lvl="1"/>
            <a:r>
              <a:rPr lang="en-US" altLang="zh-CN" dirty="0"/>
              <a:t>The key lookup process should result in a match for every incoming natural key</a:t>
            </a:r>
            <a:r>
              <a:rPr lang="zh-CN" altLang="en-US" dirty="0"/>
              <a:t> </a:t>
            </a:r>
            <a:r>
              <a:rPr lang="en-US" altLang="zh-CN" dirty="0"/>
              <a:t>or a default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52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D5ADF-87BC-2545-8702-0B4FF185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﻿Replacing fact record’s operational natural keys with dimension</a:t>
            </a:r>
            <a:r>
              <a:rPr lang="zh-CN" altLang="en-US" dirty="0"/>
              <a:t> </a:t>
            </a:r>
            <a:r>
              <a:rPr lang="en-US" dirty="0"/>
              <a:t>surrogate keys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4186F6-8248-1E40-8FB1-10C358550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805" y="1825625"/>
            <a:ext cx="92903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67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6CA9-BBBA-6B47-BEA5-A11B6D461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00A9C5D-096F-EA46-AB5F-9E1507AEA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Subsystems of ETL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Delivering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41E158-6AF0-0640-8A53-EFD58F87E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037" y="1553355"/>
            <a:ext cx="8621426" cy="489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36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D7A2-1333-0C43-90AE-222903A8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7E0A3-4BEE-5041-A7DD-D5CE79473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﻿Managing the ETL Environment</a:t>
            </a:r>
            <a:r>
              <a:rPr lang="en-US" altLang="zh-CN" dirty="0"/>
              <a:t>:</a:t>
            </a:r>
          </a:p>
          <a:p>
            <a:r>
              <a:rPr lang="en-US" dirty="0">
                <a:solidFill>
                  <a:srgbClr val="002060"/>
                </a:solidFill>
              </a:rPr>
              <a:t>﻿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Reliability</a:t>
            </a:r>
            <a:r>
              <a:rPr lang="en-US" dirty="0"/>
              <a:t>. The ETL processes must consistently run. ﻿They must run t</a:t>
            </a:r>
            <a:r>
              <a:rPr lang="zh-CN" altLang="en-US" dirty="0"/>
              <a:t> </a:t>
            </a:r>
            <a:r>
              <a:rPr lang="en-US" dirty="0"/>
              <a:t>completion to provide data on a timely basis that is trustworthy at any level</a:t>
            </a:r>
            <a:r>
              <a:rPr lang="zh-CN" altLang="en-US" dirty="0"/>
              <a:t> </a:t>
            </a:r>
            <a:r>
              <a:rPr lang="en-US" dirty="0"/>
              <a:t>of detail.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﻿Availability</a:t>
            </a:r>
            <a:r>
              <a:rPr lang="en-US" dirty="0"/>
              <a:t>. The data warehouse must meet its service level agreements</a:t>
            </a:r>
            <a:r>
              <a:rPr lang="zh-CN" altLang="en-US" dirty="0"/>
              <a:t> </a:t>
            </a:r>
            <a:r>
              <a:rPr lang="en-US" dirty="0"/>
              <a:t>(SLAs). ﻿The warehouse should be up and available.</a:t>
            </a:r>
          </a:p>
          <a:p>
            <a:r>
              <a:rPr lang="en-US" dirty="0"/>
              <a:t>﻿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Manageability</a:t>
            </a:r>
            <a:r>
              <a:rPr lang="en-US" dirty="0"/>
              <a:t>. A successful data warehouse is never done. It constantly grows</a:t>
            </a:r>
            <a:r>
              <a:rPr lang="zh-CN" altLang="en-US" dirty="0"/>
              <a:t> </a:t>
            </a:r>
            <a:r>
              <a:rPr lang="en-US" dirty="0"/>
              <a:t>and changes along with the business. ﻿The ETL processes need to gracefully</a:t>
            </a:r>
            <a:r>
              <a:rPr lang="zh-CN" altLang="en-US" dirty="0"/>
              <a:t> </a:t>
            </a:r>
            <a:r>
              <a:rPr lang="en-US" dirty="0"/>
              <a:t>evolve.</a:t>
            </a:r>
          </a:p>
        </p:txBody>
      </p:sp>
    </p:spTree>
    <p:extLst>
      <p:ext uri="{BB962C8B-B14F-4D97-AF65-F5344CB8AC3E}">
        <p14:creationId xmlns:p14="http://schemas.microsoft.com/office/powerpoint/2010/main" val="2865852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A7A4F-7628-C448-B2BF-7EDF451C6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Subsystems of ETL</a:t>
            </a:r>
            <a:r>
              <a:rPr lang="en-US" altLang="zh-CN" dirty="0"/>
              <a:t>: </a:t>
            </a:r>
            <a:r>
              <a:rPr lang="en-US" b="1" dirty="0">
                <a:solidFill>
                  <a:srgbClr val="FF0000"/>
                </a:solidFill>
              </a:rPr>
              <a:t>Managing the ETL Environment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A6C965-F145-4D4D-B441-7C08446F3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9823" y="1825625"/>
            <a:ext cx="7652353" cy="4351338"/>
          </a:xfrm>
        </p:spPr>
      </p:pic>
    </p:spTree>
    <p:extLst>
      <p:ext uri="{BB962C8B-B14F-4D97-AF65-F5344CB8AC3E}">
        <p14:creationId xmlns:p14="http://schemas.microsoft.com/office/powerpoint/2010/main" val="3185112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74263-3136-DC49-98C8-931B22D5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ETL tool?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9461-BCE1-1B4F-98E7-8335591FD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Extract, Transform and Load (ETL)) is the process used to turn raw data into information that can be used for actionable business intelligence (BI). </a:t>
            </a:r>
          </a:p>
          <a:p>
            <a:r>
              <a:rPr lang="en-US" dirty="0"/>
              <a:t>An ETL tool is an instrument that automates this process by providing three essential functions:</a:t>
            </a:r>
          </a:p>
          <a:p>
            <a:pPr lvl="1"/>
            <a:r>
              <a:rPr lang="en-US" dirty="0"/>
              <a:t>Extraction of data from underlying data sources</a:t>
            </a:r>
          </a:p>
          <a:p>
            <a:pPr lvl="1"/>
            <a:r>
              <a:rPr lang="en-US" dirty="0"/>
              <a:t>Data transformation in order to meet the data model of enterprise repositories like data warehouses</a:t>
            </a:r>
          </a:p>
          <a:p>
            <a:pPr lvl="1"/>
            <a:r>
              <a:rPr lang="en-US" dirty="0"/>
              <a:t>Data loading into target destination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221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8677F-5986-8847-83C1-29D32B964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tools available in the market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7D8203-260F-D242-8BDB-0513A2E2E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70" y="3288851"/>
            <a:ext cx="3851952" cy="21909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A22C7C-6529-DE40-8227-81C6C567B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899" y="4655591"/>
            <a:ext cx="2857500" cy="1384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741962-E2EC-AE42-A13B-03D8FE88A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72" y="1638371"/>
            <a:ext cx="3891196" cy="14175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8ED731-C55C-FD4D-AE85-6E8EF3643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6667" y="1493243"/>
            <a:ext cx="4979961" cy="11199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4A07527-98D1-D048-B094-9DCA9C5E73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5570" y="2884440"/>
            <a:ext cx="2841885" cy="14998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4B8055-2DC0-0947-A811-C420E77164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3951" y="4760270"/>
            <a:ext cx="1905000" cy="1905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06C5D5F-0692-3349-8096-19B6BE8ABF21}"/>
              </a:ext>
            </a:extLst>
          </p:cNvPr>
          <p:cNvSpPr/>
          <p:nvPr/>
        </p:nvSpPr>
        <p:spPr>
          <a:xfrm>
            <a:off x="4214422" y="6156002"/>
            <a:ext cx="71393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veribilimleri.wordpress.com</a:t>
            </a:r>
            <a:r>
              <a:rPr lang="en-US" dirty="0"/>
              <a:t>/2017/03/30/</a:t>
            </a:r>
            <a:r>
              <a:rPr lang="en-US" dirty="0" err="1"/>
              <a:t>etl</a:t>
            </a:r>
            <a:r>
              <a:rPr lang="en-US" dirty="0"/>
              <a:t>-tools-comparison/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168FBE-3534-62C8-8FB9-5E66602C8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4675057" y="3582250"/>
            <a:ext cx="2841885" cy="1023690"/>
          </a:xfrm>
        </p:spPr>
      </p:pic>
    </p:spTree>
    <p:extLst>
      <p:ext uri="{BB962C8B-B14F-4D97-AF65-F5344CB8AC3E}">
        <p14:creationId xmlns:p14="http://schemas.microsoft.com/office/powerpoint/2010/main" val="933886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62BE-86E5-CF42-A6B8-15871D4F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Talend Studio?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6E22-09F9-E645-98B9-4CD964E3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Talend Studio is an architecture for data integration, data profiling, big data, cloud integration and more. </a:t>
            </a:r>
          </a:p>
          <a:p>
            <a:pPr lvl="1"/>
            <a:r>
              <a:rPr lang="en-US" dirty="0"/>
              <a:t>It is a GUI environment that offers more than 1000 pre-built connectors. </a:t>
            </a:r>
          </a:p>
          <a:p>
            <a:pPr lvl="1"/>
            <a:r>
              <a:rPr lang="en-US" dirty="0"/>
              <a:t>This makes it easy to perform operations like transform files, load data, move and rename files. </a:t>
            </a:r>
          </a:p>
          <a:p>
            <a:pPr lvl="1"/>
            <a:r>
              <a:rPr lang="en-US" dirty="0"/>
              <a:t>It allows each component to define complex processes. </a:t>
            </a:r>
          </a:p>
          <a:p>
            <a:r>
              <a:rPr lang="en-US" dirty="0"/>
              <a:t>Integration jobs are created from components that are configured instead of coded. </a:t>
            </a:r>
          </a:p>
          <a:p>
            <a:pPr lvl="1"/>
            <a:r>
              <a:rPr lang="en-US" altLang="zh-CN" dirty="0"/>
              <a:t>J</a:t>
            </a:r>
            <a:r>
              <a:rPr lang="en-US" dirty="0"/>
              <a:t>obs can be run from within the development environment, or it can be executed as standalone scripts.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A71625-77AB-2CBF-EB13-ABE0785A0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321" y="602456"/>
            <a:ext cx="23622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61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58E3-F54A-5546-BEAA-BBE9730D1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Process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DAD42-5119-5943-ADEF-E9FA5C684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Objective:</a:t>
            </a:r>
          </a:p>
          <a:p>
            <a:pPr lvl="1"/>
            <a:r>
              <a:rPr lang="en-US" dirty="0"/>
              <a:t>Outline ETL design and development process.</a:t>
            </a:r>
          </a:p>
          <a:p>
            <a:pPr lvl="1"/>
            <a:r>
              <a:rPr lang="en-US" dirty="0"/>
              <a:t>A “Recipe” for ETL</a:t>
            </a:r>
          </a:p>
          <a:p>
            <a:r>
              <a:rPr lang="en-US" b="1" dirty="0"/>
              <a:t>Before you begin, you’ll need </a:t>
            </a:r>
          </a:p>
          <a:p>
            <a:pPr lvl="1"/>
            <a:r>
              <a:rPr lang="en-US" dirty="0"/>
              <a:t>Physical Design – </a:t>
            </a:r>
            <a:br>
              <a:rPr lang="en-US" dirty="0"/>
            </a:br>
            <a:r>
              <a:rPr lang="en-US" dirty="0"/>
              <a:t>Star Schema implementation in OLAP, with initial load.</a:t>
            </a:r>
          </a:p>
          <a:p>
            <a:pPr lvl="1"/>
            <a:r>
              <a:rPr lang="en-US" dirty="0"/>
              <a:t>Architecture Plan – understanding of your DW/BI architecture.</a:t>
            </a:r>
          </a:p>
          <a:p>
            <a:pPr lvl="1"/>
            <a:r>
              <a:rPr lang="en-US" dirty="0"/>
              <a:t>Source to Target Mapping – Part of the detailed design process.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071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8DF0-270B-DC45-A084-21C87DAF1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Process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D8881-9CE2-C748-B6B5-FD44B0411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04360" cy="4351338"/>
          </a:xfrm>
        </p:spPr>
        <p:txBody>
          <a:bodyPr/>
          <a:lstStyle/>
          <a:p>
            <a:r>
              <a:rPr lang="en-US" sz="3200" b="1" dirty="0"/>
              <a:t>The Plan…</a:t>
            </a:r>
          </a:p>
          <a:p>
            <a:r>
              <a:rPr lang="en-US" dirty="0"/>
              <a:t>How the 34 subsystems map and are related to the 10 step plan. </a:t>
            </a:r>
          </a:p>
          <a:p>
            <a:r>
              <a:rPr lang="en-US" dirty="0"/>
              <a:t>According to Kimball.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D06D7-E3B7-E549-92C6-2E85809B7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6597"/>
            <a:ext cx="4572001" cy="675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157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8C442-D657-4C48-BF3A-87512477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﻿Develop the ETL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C6179-57B2-0A4F-ABD5-8F8DACAEC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12680" cy="4351338"/>
          </a:xfrm>
        </p:spPr>
        <p:txBody>
          <a:bodyPr>
            <a:normAutofit/>
          </a:bodyPr>
          <a:lstStyle/>
          <a:p>
            <a:r>
              <a:rPr lang="en-US" dirty="0"/>
              <a:t>﻿</a:t>
            </a:r>
            <a:r>
              <a:rPr lang="en-US" sz="3200" b="1" dirty="0"/>
              <a:t>Step 1: Draw the High-Level Plan</a:t>
            </a:r>
          </a:p>
          <a:p>
            <a:r>
              <a:rPr lang="en-US" dirty="0"/>
              <a:t>﻿</a:t>
            </a:r>
            <a:r>
              <a:rPr lang="en-US" altLang="zh-CN" dirty="0"/>
              <a:t>I</a:t>
            </a:r>
            <a:r>
              <a:rPr lang="en-US" dirty="0"/>
              <a:t>ndependent of any</a:t>
            </a:r>
            <a:r>
              <a:rPr lang="zh-CN" altLang="en-US" dirty="0"/>
              <a:t> </a:t>
            </a:r>
            <a:r>
              <a:rPr lang="en-US" dirty="0"/>
              <a:t>specific technology or approach.</a:t>
            </a:r>
          </a:p>
          <a:p>
            <a:r>
              <a:rPr lang="en-US" dirty="0"/>
              <a:t>﻿</a:t>
            </a:r>
            <a:r>
              <a:rPr lang="en-US" altLang="zh-CN" dirty="0"/>
              <a:t>A</a:t>
            </a:r>
            <a:r>
              <a:rPr lang="en-US" dirty="0"/>
              <a:t> simple one for communicating</a:t>
            </a:r>
            <a:r>
              <a:rPr lang="zh-CN" altLang="en-US" dirty="0"/>
              <a:t> </a:t>
            </a:r>
            <a:r>
              <a:rPr lang="en-US" altLang="zh-CN" dirty="0"/>
              <a:t>with people outside the team and a detailed version for internal DW/BI team</a:t>
            </a:r>
            <a:r>
              <a:rPr lang="zh-CN" altLang="en-US" dirty="0"/>
              <a:t> </a:t>
            </a:r>
            <a:r>
              <a:rPr lang="en-US" altLang="zh-CN" dirty="0"/>
              <a:t>documentation.</a:t>
            </a:r>
          </a:p>
          <a:p>
            <a:r>
              <a:rPr lang="en-US" dirty="0"/>
              <a:t>This is called a </a:t>
            </a:r>
            <a:r>
              <a:rPr lang="en-US" dirty="0">
                <a:solidFill>
                  <a:srgbClr val="FF0000"/>
                </a:solidFill>
              </a:rPr>
              <a:t>source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target</a:t>
            </a:r>
            <a:r>
              <a:rPr lang="en-US" dirty="0"/>
              <a:t> map.</a:t>
            </a:r>
          </a:p>
          <a:p>
            <a:r>
              <a:rPr lang="en-US" dirty="0"/>
              <a:t>Sources come from a variety of disparate areas.</a:t>
            </a:r>
          </a:p>
          <a:p>
            <a:r>
              <a:rPr lang="en-US" dirty="0"/>
              <a:t>Targets are </a:t>
            </a:r>
            <a:r>
              <a:rPr lang="en-US" dirty="0">
                <a:solidFill>
                  <a:srgbClr val="FF0000"/>
                </a:solidFill>
              </a:rPr>
              <a:t>Dimension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Fact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70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EF90-A85A-F242-A0CF-5FE5EC52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the ETL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014B0F-5CFE-414B-9C1F-27B276878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057" y="1798320"/>
            <a:ext cx="8467885" cy="405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2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3A8C-409C-5040-BF12-07235824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the ETL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55250-7632-A74C-97BF-481D07210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</a:t>
            </a:r>
            <a:r>
              <a:rPr lang="en-US" sz="3200" b="1" dirty="0"/>
              <a:t>Step 2: Choose an ETL Tool</a:t>
            </a:r>
          </a:p>
          <a:p>
            <a:r>
              <a:rPr lang="en-US" altLang="zh-CN" dirty="0"/>
              <a:t>ETL</a:t>
            </a:r>
            <a:r>
              <a:rPr lang="zh-CN" altLang="en-US" dirty="0"/>
              <a:t> </a:t>
            </a:r>
            <a:r>
              <a:rPr lang="en-US" altLang="zh-CN" dirty="0"/>
              <a:t>tool:</a:t>
            </a:r>
            <a:r>
              <a:rPr lang="zh-CN" altLang="en-US" dirty="0"/>
              <a:t> </a:t>
            </a:r>
            <a:r>
              <a:rPr lang="en-US" altLang="zh-CN" dirty="0"/>
              <a:t>read data from a range of sources, including flat files, ODBC, OLE DB,</a:t>
            </a:r>
            <a:r>
              <a:rPr lang="zh-CN" altLang="en-US" dirty="0"/>
              <a:t> </a:t>
            </a:r>
            <a:r>
              <a:rPr lang="en-US" altLang="zh-CN" dirty="0"/>
              <a:t>and native database drivers for most relational databases.</a:t>
            </a:r>
          </a:p>
          <a:p>
            <a:pPr lvl="1"/>
            <a:r>
              <a:rPr lang="en-US" dirty="0"/>
              <a:t>﻿</a:t>
            </a:r>
            <a:r>
              <a:rPr lang="en-US" altLang="zh-CN" dirty="0"/>
              <a:t>D</a:t>
            </a:r>
            <a:r>
              <a:rPr lang="en-US" dirty="0"/>
              <a:t>efining transformations on that data</a:t>
            </a:r>
            <a:r>
              <a:rPr lang="en-US" altLang="zh-CN" dirty="0"/>
              <a:t>;</a:t>
            </a:r>
          </a:p>
          <a:p>
            <a:pPr lvl="1"/>
            <a:r>
              <a:rPr lang="en-US" dirty="0"/>
              <a:t>﻿</a:t>
            </a:r>
            <a:r>
              <a:rPr lang="en-US" altLang="zh-CN" dirty="0"/>
              <a:t>I</a:t>
            </a:r>
            <a:r>
              <a:rPr lang="en-US" dirty="0"/>
              <a:t>ncluding lookups and other</a:t>
            </a:r>
            <a:r>
              <a:rPr lang="zh-CN" altLang="en-US" dirty="0"/>
              <a:t> </a:t>
            </a:r>
            <a:r>
              <a:rPr lang="en-US" dirty="0"/>
              <a:t>kinds of joins</a:t>
            </a:r>
            <a:r>
              <a:rPr lang="en-US" altLang="zh-CN" dirty="0"/>
              <a:t>;</a:t>
            </a:r>
          </a:p>
          <a:p>
            <a:pPr lvl="1"/>
            <a:r>
              <a:rPr lang="en-US" dirty="0"/>
              <a:t>﻿</a:t>
            </a:r>
            <a:r>
              <a:rPr lang="en-US" altLang="zh-CN" dirty="0"/>
              <a:t>W</a:t>
            </a:r>
            <a:r>
              <a:rPr lang="en-US" dirty="0"/>
              <a:t>rit</a:t>
            </a:r>
            <a:r>
              <a:rPr lang="en-US" altLang="zh-CN" dirty="0"/>
              <a:t>ing</a:t>
            </a:r>
            <a:r>
              <a:rPr lang="en-US" dirty="0"/>
              <a:t> data into a variety of target formats</a:t>
            </a:r>
            <a:r>
              <a:rPr lang="en-US" altLang="zh-CN" dirty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238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D31F-356D-344D-A89D-2A5316BE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the ETL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A5FB6-043E-E448-8265-2D6A7DD63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ETL tool is responsible for moving data from the various sources into the data warehouse.</a:t>
            </a:r>
          </a:p>
          <a:p>
            <a:r>
              <a:rPr lang="en-US" dirty="0"/>
              <a:t>Programming language vs. Graphical tool.</a:t>
            </a:r>
          </a:p>
          <a:p>
            <a:r>
              <a:rPr lang="en-US" dirty="0"/>
              <a:t>Programming </a:t>
            </a:r>
            <a:r>
              <a:rPr lang="en-US" dirty="0">
                <a:sym typeface="Wingdings" panose="05000000000000000000" pitchFamily="2" charset="2"/>
              </a:rPr>
              <a:t> Flexibility, Customizable</a:t>
            </a:r>
          </a:p>
          <a:p>
            <a:r>
              <a:rPr lang="en-US" dirty="0">
                <a:sym typeface="Wingdings" panose="05000000000000000000" pitchFamily="2" charset="2"/>
              </a:rPr>
              <a:t>Graphical  Self Documenting, Easy for beginners</a:t>
            </a: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The best solution is somewhere in the middle. 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996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FAB1-4BAF-5E41-924E-ABD027C6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the ETL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704AF-AE2A-3249-9FD7-1FD5F6E60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ETL: Code vs Tool</a:t>
            </a:r>
          </a:p>
          <a:p>
            <a:endParaRPr lang="en-US" dirty="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CAAAAB90-1A3A-5F4F-BE2B-E261FD1DA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002" y="2407920"/>
            <a:ext cx="3365513" cy="3568700"/>
          </a:xfrm>
          <a:prstGeom prst="rect">
            <a:avLst/>
          </a:prstGeom>
        </p:spPr>
      </p:pic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4A3B9D2C-CD19-F943-9308-C06300711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466" y="2407920"/>
            <a:ext cx="2914086" cy="3568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337360-8241-A642-8B41-69E2E7DC47A4}"/>
              </a:ext>
            </a:extLst>
          </p:cNvPr>
          <p:cNvSpPr/>
          <p:nvPr/>
        </p:nvSpPr>
        <p:spPr>
          <a:xfrm>
            <a:off x="3264638" y="6097250"/>
            <a:ext cx="5122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Which of these is easier to understand?</a:t>
            </a:r>
          </a:p>
        </p:txBody>
      </p:sp>
    </p:spTree>
    <p:extLst>
      <p:ext uri="{BB962C8B-B14F-4D97-AF65-F5344CB8AC3E}">
        <p14:creationId xmlns:p14="http://schemas.microsoft.com/office/powerpoint/2010/main" val="15701716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1E0F-9E48-7845-B270-884420D3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the ETL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E9752-DCE7-D34C-A44E-0E5CF01F7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﻿</a:t>
            </a:r>
            <a:r>
              <a:rPr lang="en-US" sz="3200" b="1" dirty="0"/>
              <a:t>Step 3: Develop Default Strategies</a:t>
            </a:r>
          </a:p>
          <a:p>
            <a:r>
              <a:rPr lang="en-US" dirty="0"/>
              <a:t>﻿</a:t>
            </a:r>
            <a:r>
              <a:rPr lang="en-US" altLang="zh-CN" dirty="0"/>
              <a:t>D</a:t>
            </a:r>
            <a:r>
              <a:rPr lang="en-US" dirty="0"/>
              <a:t>evelop a set of default strategies for the common activities in</a:t>
            </a:r>
            <a:r>
              <a:rPr lang="zh-CN" altLang="en-US" dirty="0"/>
              <a:t> </a:t>
            </a:r>
            <a:r>
              <a:rPr lang="en-US" dirty="0"/>
              <a:t>the ETL system. </a:t>
            </a:r>
          </a:p>
          <a:p>
            <a:r>
              <a:rPr lang="en-US" b="1" i="1" dirty="0"/>
              <a:t>﻿</a:t>
            </a:r>
            <a:r>
              <a:rPr lang="en-US" altLang="zh-CN" b="1" i="1" dirty="0"/>
              <a:t>a.</a:t>
            </a:r>
            <a:r>
              <a:rPr lang="zh-CN" altLang="en-US" b="1" i="1" dirty="0"/>
              <a:t> </a:t>
            </a:r>
            <a:r>
              <a:rPr lang="en-US" b="1" i="1" dirty="0"/>
              <a:t>Extract from each major source system. </a:t>
            </a:r>
          </a:p>
          <a:p>
            <a:pPr lvl="1"/>
            <a:r>
              <a:rPr lang="en-US" dirty="0"/>
              <a:t>﻿default method for extracting data from each source</a:t>
            </a:r>
            <a:r>
              <a:rPr lang="zh-CN" altLang="en-US" dirty="0"/>
              <a:t> </a:t>
            </a:r>
            <a:r>
              <a:rPr lang="en-US" dirty="0"/>
              <a:t>system. </a:t>
            </a:r>
          </a:p>
          <a:p>
            <a:r>
              <a:rPr lang="en-US" altLang="zh-CN" b="1" i="1" dirty="0"/>
              <a:t>b.</a:t>
            </a:r>
            <a:r>
              <a:rPr lang="zh-CN" altLang="en-US" b="1" i="1" dirty="0"/>
              <a:t> </a:t>
            </a:r>
            <a:r>
              <a:rPr lang="en-US" altLang="zh-CN" b="1" i="1" dirty="0"/>
              <a:t>Archive extracted and staged data.</a:t>
            </a:r>
          </a:p>
          <a:p>
            <a:pPr lvl="1"/>
            <a:r>
              <a:rPr lang="en-US" dirty="0"/>
              <a:t>archive extracted and staged data</a:t>
            </a:r>
            <a:r>
              <a:rPr lang="zh-CN" altLang="en-US" dirty="0"/>
              <a:t> </a:t>
            </a:r>
            <a:r>
              <a:rPr lang="en-US" altLang="zh-CN" dirty="0"/>
              <a:t>before it’s been</a:t>
            </a:r>
            <a:r>
              <a:rPr lang="zh-CN" altLang="en-US" dirty="0"/>
              <a:t> </a:t>
            </a:r>
            <a:r>
              <a:rPr lang="en-US" altLang="zh-CN" dirty="0"/>
              <a:t>transformed;</a:t>
            </a:r>
          </a:p>
          <a:p>
            <a:r>
              <a:rPr lang="en-US" altLang="zh-CN" b="1" i="1" dirty="0"/>
              <a:t>c.</a:t>
            </a:r>
            <a:r>
              <a:rPr lang="zh-CN" altLang="en-US" b="1" i="1" dirty="0"/>
              <a:t> </a:t>
            </a:r>
            <a:r>
              <a:rPr lang="en-US" altLang="zh-CN" b="1" i="1" dirty="0"/>
              <a:t>Police data quality for dimensions and particularly facts. </a:t>
            </a:r>
          </a:p>
          <a:p>
            <a:pPr lvl="1"/>
            <a:r>
              <a:rPr lang="en-US" dirty="0"/>
              <a:t>﻿Data quality must</a:t>
            </a:r>
            <a:r>
              <a:rPr lang="zh-CN" altLang="en-US" dirty="0"/>
              <a:t> </a:t>
            </a:r>
            <a:r>
              <a:rPr lang="en-US" dirty="0"/>
              <a:t>be monitored during the ETL process.</a:t>
            </a:r>
          </a:p>
        </p:txBody>
      </p:sp>
    </p:spTree>
    <p:extLst>
      <p:ext uri="{BB962C8B-B14F-4D97-AF65-F5344CB8AC3E}">
        <p14:creationId xmlns:p14="http://schemas.microsoft.com/office/powerpoint/2010/main" val="2612773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97E76-4867-994F-BBDD-2DA5AA231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the ETL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59520-B1AF-5542-AE6F-F361A6069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i="1" dirty="0"/>
              <a:t>d.</a:t>
            </a:r>
            <a:r>
              <a:rPr lang="zh-CN" altLang="en-US" b="1" i="1" dirty="0"/>
              <a:t> </a:t>
            </a:r>
            <a:r>
              <a:rPr lang="en-US" altLang="zh-CN" b="1" i="1" dirty="0"/>
              <a:t>Manage changes to dimension attributes.</a:t>
            </a:r>
          </a:p>
          <a:p>
            <a:r>
              <a:rPr lang="en-US" altLang="zh-CN" b="1" i="1" dirty="0"/>
              <a:t>e.</a:t>
            </a:r>
            <a:r>
              <a:rPr lang="zh-CN" altLang="en-US" b="1" i="1" dirty="0"/>
              <a:t> </a:t>
            </a:r>
            <a:r>
              <a:rPr lang="en-US" altLang="zh-CN" b="1" i="1" dirty="0"/>
              <a:t>Ensure the data warehouse and ETL system meet the system availability</a:t>
            </a:r>
            <a:r>
              <a:rPr lang="zh-CN" altLang="en-US" b="1" i="1" dirty="0"/>
              <a:t> </a:t>
            </a:r>
            <a:r>
              <a:rPr lang="en-US" altLang="zh-CN" b="1" i="1" dirty="0"/>
              <a:t>requirements. </a:t>
            </a:r>
          </a:p>
          <a:p>
            <a:pPr lvl="1"/>
            <a:r>
              <a:rPr lang="en-US" dirty="0"/>
              <a:t>﻿document when each data source becomes available</a:t>
            </a:r>
            <a:r>
              <a:rPr lang="zh-CN" altLang="en-US" dirty="0"/>
              <a:t> </a:t>
            </a:r>
            <a:r>
              <a:rPr lang="en-US" dirty="0"/>
              <a:t>and block out high-level job sequencing</a:t>
            </a:r>
            <a:r>
              <a:rPr lang="en-US" altLang="zh-CN" dirty="0"/>
              <a:t>;</a:t>
            </a:r>
          </a:p>
          <a:p>
            <a:r>
              <a:rPr lang="en-US" altLang="zh-CN" b="1" i="1" dirty="0"/>
              <a:t>f.</a:t>
            </a:r>
            <a:r>
              <a:rPr lang="zh-CN" altLang="en-US" b="1" i="1" dirty="0"/>
              <a:t> </a:t>
            </a:r>
            <a:r>
              <a:rPr lang="en-US" altLang="zh-CN" b="1" i="1" dirty="0"/>
              <a:t>Design the data auditing subsystem.</a:t>
            </a:r>
          </a:p>
          <a:p>
            <a:pPr lvl="1"/>
            <a:r>
              <a:rPr lang="en-US" dirty="0"/>
              <a:t>﻿Each row in the data warehouse tables</a:t>
            </a:r>
            <a:r>
              <a:rPr lang="zh-CN" altLang="en-US" dirty="0"/>
              <a:t> </a:t>
            </a:r>
            <a:r>
              <a:rPr lang="en-US" dirty="0"/>
              <a:t>should be tagged with auditing information</a:t>
            </a:r>
            <a:r>
              <a:rPr lang="en-US" altLang="zh-CN" dirty="0"/>
              <a:t>;</a:t>
            </a:r>
          </a:p>
          <a:p>
            <a:r>
              <a:rPr lang="en-US" altLang="zh-CN" b="1" i="1" dirty="0"/>
              <a:t>g.</a:t>
            </a:r>
            <a:r>
              <a:rPr lang="zh-CN" altLang="en-US" b="1" i="1" dirty="0"/>
              <a:t> </a:t>
            </a:r>
            <a:r>
              <a:rPr lang="en-US" b="1" i="1" dirty="0"/>
              <a:t>﻿Organize the ETL staging area.</a:t>
            </a:r>
          </a:p>
          <a:p>
            <a:pPr lvl="1"/>
            <a:r>
              <a:rPr lang="en-US" dirty="0"/>
              <a:t>﻿data will be written</a:t>
            </a:r>
            <a:r>
              <a:rPr lang="zh-CN" altLang="en-US" dirty="0"/>
              <a:t> </a:t>
            </a:r>
            <a:r>
              <a:rPr lang="en-US" dirty="0"/>
              <a:t>to disk for a later ETL step and for system recovery and archiving</a:t>
            </a:r>
            <a:r>
              <a:rPr lang="en-US" altLang="zh-CN" dirty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216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B15BC-7333-F144-8B50-46FBD2865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the ETL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639D-639C-4D41-99AA-57FFC9ABA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776"/>
            <a:ext cx="10515600" cy="4351338"/>
          </a:xfrm>
        </p:spPr>
        <p:txBody>
          <a:bodyPr/>
          <a:lstStyle/>
          <a:p>
            <a:r>
              <a:rPr lang="en-US" dirty="0"/>
              <a:t>The Role of the Staging</a:t>
            </a:r>
            <a:r>
              <a:rPr lang="en-US" altLang="zh-CN" dirty="0"/>
              <a:t>:</a:t>
            </a:r>
          </a:p>
          <a:p>
            <a:pPr lvl="1"/>
            <a:r>
              <a:rPr lang="en-US" dirty="0"/>
              <a:t>Staging stores copies of source extracts</a:t>
            </a:r>
          </a:p>
          <a:p>
            <a:pPr lvl="1"/>
            <a:r>
              <a:rPr lang="en-US" dirty="0"/>
              <a:t>This can be a Database or File Systems</a:t>
            </a:r>
          </a:p>
          <a:p>
            <a:pPr lvl="1"/>
            <a:r>
              <a:rPr lang="en-US" dirty="0"/>
              <a:t>Can create a history when none exists.</a:t>
            </a:r>
          </a:p>
          <a:p>
            <a:pPr lvl="1"/>
            <a:r>
              <a:rPr lang="en-US" dirty="0"/>
              <a:t>Reduces unnecessary processing of data source.</a:t>
            </a:r>
          </a:p>
          <a:p>
            <a:endParaRPr lang="en-US" dirty="0"/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64F7340D-2CE3-7140-BD05-F2AF484361F7}"/>
              </a:ext>
            </a:extLst>
          </p:cNvPr>
          <p:cNvSpPr/>
          <p:nvPr/>
        </p:nvSpPr>
        <p:spPr>
          <a:xfrm>
            <a:off x="1874520" y="3962400"/>
            <a:ext cx="1447800" cy="2209800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</a:t>
            </a:r>
            <a:br>
              <a:rPr lang="en-US" sz="2000" dirty="0"/>
            </a:br>
            <a:r>
              <a:rPr lang="en-US" sz="2000" dirty="0"/>
              <a:t>Sources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CAAE6246-002E-6B43-BD34-921912032A86}"/>
              </a:ext>
            </a:extLst>
          </p:cNvPr>
          <p:cNvSpPr/>
          <p:nvPr/>
        </p:nvSpPr>
        <p:spPr>
          <a:xfrm>
            <a:off x="5341620" y="3962400"/>
            <a:ext cx="1447800" cy="2209800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Staging</a:t>
            </a:r>
            <a:br>
              <a:rPr lang="en-US" sz="2000" dirty="0"/>
            </a:br>
            <a:r>
              <a:rPr lang="en-US" sz="2000" dirty="0"/>
              <a:t>File System</a:t>
            </a:r>
            <a:br>
              <a:rPr lang="en-US" sz="2000" dirty="0"/>
            </a:br>
            <a:r>
              <a:rPr lang="en-US" sz="2000" dirty="0"/>
              <a:t>or</a:t>
            </a:r>
            <a:br>
              <a:rPr lang="en-US" sz="2000" dirty="0"/>
            </a:br>
            <a:r>
              <a:rPr lang="en-US" sz="2000" dirty="0"/>
              <a:t>Database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E0C91FE8-1AAD-B645-86A3-060C6DDF208A}"/>
              </a:ext>
            </a:extLst>
          </p:cNvPr>
          <p:cNvSpPr/>
          <p:nvPr/>
        </p:nvSpPr>
        <p:spPr>
          <a:xfrm>
            <a:off x="8839200" y="3962400"/>
            <a:ext cx="1447800" cy="2209800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</a:t>
            </a:r>
            <a:br>
              <a:rPr lang="en-US" sz="2000" dirty="0"/>
            </a:br>
            <a:r>
              <a:rPr lang="en-US" sz="2000" dirty="0"/>
              <a:t>Warehouse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49E4C85C-0561-7746-B719-65D42C49723A}"/>
              </a:ext>
            </a:extLst>
          </p:cNvPr>
          <p:cNvSpPr/>
          <p:nvPr/>
        </p:nvSpPr>
        <p:spPr>
          <a:xfrm>
            <a:off x="3505200" y="4876800"/>
            <a:ext cx="1600200" cy="60960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EXTRACT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BEEB0C9-EB6D-654C-B469-0D49B8085A51}"/>
              </a:ext>
            </a:extLst>
          </p:cNvPr>
          <p:cNvSpPr/>
          <p:nvPr/>
        </p:nvSpPr>
        <p:spPr>
          <a:xfrm>
            <a:off x="7025640" y="4876800"/>
            <a:ext cx="1600200" cy="60960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CAB232B-FD47-994E-9B4E-66C5791D6410}"/>
              </a:ext>
            </a:extLst>
          </p:cNvPr>
          <p:cNvSpPr/>
          <p:nvPr/>
        </p:nvSpPr>
        <p:spPr>
          <a:xfrm>
            <a:off x="6844948" y="3664744"/>
            <a:ext cx="2004060" cy="110490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ETL: </a:t>
            </a:r>
            <a:r>
              <a:rPr lang="en-US" sz="1600" dirty="0"/>
              <a:t>TRANSFORM</a:t>
            </a:r>
            <a:br>
              <a:rPr lang="en-US" sz="1600" dirty="0"/>
            </a:br>
            <a:r>
              <a:rPr lang="en-US" sz="1600" dirty="0"/>
              <a:t>(Tooling)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559B1F4-444D-B149-B52E-3FC8EA33FC4E}"/>
              </a:ext>
            </a:extLst>
          </p:cNvPr>
          <p:cNvSpPr/>
          <p:nvPr/>
        </p:nvSpPr>
        <p:spPr>
          <a:xfrm>
            <a:off x="7002780" y="5791200"/>
            <a:ext cx="1905000" cy="99060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ELT:</a:t>
            </a:r>
            <a:r>
              <a:rPr lang="en-US" sz="1600" dirty="0"/>
              <a:t>TRANSFORM</a:t>
            </a:r>
            <a:br>
              <a:rPr lang="en-US" sz="1600" dirty="0"/>
            </a:br>
            <a:r>
              <a:rPr lang="en-US" sz="1600" dirty="0"/>
              <a:t>(SQL)</a:t>
            </a:r>
          </a:p>
        </p:txBody>
      </p:sp>
    </p:spTree>
    <p:extLst>
      <p:ext uri="{BB962C8B-B14F-4D97-AF65-F5344CB8AC3E}">
        <p14:creationId xmlns:p14="http://schemas.microsoft.com/office/powerpoint/2010/main" val="18205975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D8F6-1187-2148-8F08-FB05E74A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the ETL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94573-B6FB-C145-A223-AB9FACB3F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000" b="1" dirty="0"/>
              <a:t>﻿Step 4: Drill Down by Target Table</a:t>
            </a:r>
          </a:p>
          <a:p>
            <a:r>
              <a:rPr lang="en-US" dirty="0"/>
              <a:t>﻿</a:t>
            </a:r>
            <a:r>
              <a:rPr lang="en-US" altLang="zh-CN" dirty="0"/>
              <a:t>U</a:t>
            </a:r>
            <a:r>
              <a:rPr lang="en-US" dirty="0"/>
              <a:t>nderstand the necessary data transformations</a:t>
            </a:r>
            <a:r>
              <a:rPr lang="zh-CN" altLang="en-US" dirty="0"/>
              <a:t> </a:t>
            </a:r>
            <a:r>
              <a:rPr lang="en-US" dirty="0"/>
              <a:t>for each table and column.</a:t>
            </a:r>
          </a:p>
          <a:p>
            <a:r>
              <a:rPr lang="en-US" dirty="0"/>
              <a:t>﻿</a:t>
            </a:r>
            <a:r>
              <a:rPr lang="en-US" b="1" dirty="0"/>
              <a:t>Ensure Clean Hierarchies</a:t>
            </a:r>
            <a:r>
              <a:rPr lang="zh-CN" altLang="en-US" b="1" dirty="0"/>
              <a:t> </a:t>
            </a:r>
            <a:r>
              <a:rPr lang="en-US" altLang="zh-CN" dirty="0"/>
              <a:t>-&gt; whether hierarchical relationships in the</a:t>
            </a:r>
            <a:r>
              <a:rPr lang="zh-CN" altLang="en-US" dirty="0"/>
              <a:t> </a:t>
            </a:r>
            <a:r>
              <a:rPr lang="en-US" altLang="zh-CN" dirty="0"/>
              <a:t>dimension data are perfectly clean;</a:t>
            </a:r>
            <a:r>
              <a:rPr lang="zh-CN" altLang="en-US" dirty="0"/>
              <a:t> </a:t>
            </a:r>
            <a:r>
              <a:rPr lang="en-US" altLang="zh-CN" dirty="0"/>
              <a:t>The best source systems normalize;</a:t>
            </a:r>
          </a:p>
          <a:p>
            <a:r>
              <a:rPr lang="en-US" dirty="0"/>
              <a:t>﻿</a:t>
            </a:r>
            <a:r>
              <a:rPr lang="en-US" b="1" dirty="0"/>
              <a:t>Develop Detailed Table Schematics</a:t>
            </a:r>
            <a:r>
              <a:rPr lang="zh-CN" altLang="en-US" b="1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the dimension tables must be processed before the key lookup steps for the fact</a:t>
            </a:r>
            <a:r>
              <a:rPr lang="zh-CN" altLang="en-US" dirty="0"/>
              <a:t> </a:t>
            </a:r>
            <a:r>
              <a:rPr lang="en-US" altLang="zh-CN" dirty="0"/>
              <a:t>table. The dimension tables are usually independent from each other; </a:t>
            </a:r>
          </a:p>
          <a:p>
            <a:r>
              <a:rPr lang="en-US" b="1" dirty="0"/>
              <a:t>﻿Develop a Sandbox Source System</a:t>
            </a:r>
            <a:r>
              <a:rPr lang="zh-CN" altLang="en-US" b="1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a static snapshot of the database for the ETL development team;</a:t>
            </a:r>
            <a:r>
              <a:rPr lang="zh-CN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8523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7F1C-967F-4E45-862B-13878C7E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the ETL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CAE7-8D06-8247-AE01-E0F4E2873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drilling down into the </a:t>
            </a:r>
            <a:r>
              <a:rPr lang="en-US" b="1" dirty="0"/>
              <a:t>detailed source to target flow </a:t>
            </a:r>
            <a:r>
              <a:rPr lang="en-US" dirty="0"/>
              <a:t>for each target dimension and fact table</a:t>
            </a:r>
          </a:p>
          <a:p>
            <a:r>
              <a:rPr lang="en-US" dirty="0"/>
              <a:t>Flowcharts and pseudo code are useful for building out your </a:t>
            </a:r>
            <a:r>
              <a:rPr lang="en-US" b="1" dirty="0"/>
              <a:t>transformation logic</a:t>
            </a:r>
            <a:r>
              <a:rPr lang="en-US" dirty="0"/>
              <a:t>.</a:t>
            </a:r>
          </a:p>
          <a:p>
            <a:r>
              <a:rPr lang="en-US" dirty="0"/>
              <a:t>ETL Tools allow you to build and document the data flow at the same time: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ED0A3-E4EC-B440-A846-82CF1FDB1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33" y="4831080"/>
            <a:ext cx="11269867" cy="88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919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8893-3B94-BE41-8123-B8C18B2E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﻿Develop One-Time Historic Load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31DD6-7853-AE47-9053-D223A58A1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/>
              <a:t>﻿Step 5: Populate Dimension Tables with Historic Data</a:t>
            </a:r>
          </a:p>
          <a:p>
            <a:r>
              <a:rPr lang="en-US" dirty="0"/>
              <a:t>Part of the one-time historic processing step.</a:t>
            </a:r>
          </a:p>
          <a:p>
            <a:r>
              <a:rPr lang="en-US" dirty="0"/>
              <a:t>Start with the simplest dimension table (usually type 1 SCD’s)</a:t>
            </a:r>
          </a:p>
          <a:p>
            <a:r>
              <a:rPr lang="en-US" dirty="0"/>
              <a:t>Transformations</a:t>
            </a:r>
          </a:p>
          <a:p>
            <a:pPr lvl="1"/>
            <a:r>
              <a:rPr lang="en-US" dirty="0"/>
              <a:t>Combine from separate sources</a:t>
            </a:r>
          </a:p>
          <a:p>
            <a:pPr lvl="1"/>
            <a:r>
              <a:rPr lang="en-US" dirty="0"/>
              <a:t>Convert data ex. EBCDIC </a:t>
            </a:r>
            <a:r>
              <a:rPr lang="en-US" dirty="0">
                <a:sym typeface="Wingdings" panose="05000000000000000000" pitchFamily="2" charset="2"/>
              </a:rPr>
              <a:t> ASCII</a:t>
            </a:r>
            <a:endParaRPr lang="en-US" dirty="0"/>
          </a:p>
          <a:p>
            <a:pPr lvl="1"/>
            <a:r>
              <a:rPr lang="en-US" dirty="0"/>
              <a:t>Decode production codes ex.  TTT</a:t>
            </a:r>
            <a:r>
              <a:rPr lang="en-US" dirty="0">
                <a:sym typeface="Wingdings" panose="05000000000000000000" pitchFamily="2" charset="2"/>
              </a:rPr>
              <a:t> Track-Type Tractor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Verify rollups ex: Category  Product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Ensure a “Natural” or “Business” key exists for SCD’s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Assign Surrogate Keys to Dimension table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085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FD42-AFD8-6C4D-A241-57C75B1C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One-Time Historic Load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E8EF-AEB2-F047-8EA2-4F16AF8BB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500" b="1" dirty="0"/>
              <a:t>Step 6 – Perform the Fact Table Historic Load</a:t>
            </a:r>
          </a:p>
          <a:p>
            <a:r>
              <a:rPr lang="en-US" sz="3000" dirty="0"/>
              <a:t>Part of the one-time historic processing step.</a:t>
            </a:r>
          </a:p>
          <a:p>
            <a:r>
              <a:rPr lang="en-US" sz="3000" dirty="0"/>
              <a:t>Transformations:</a:t>
            </a:r>
          </a:p>
          <a:p>
            <a:pPr lvl="1"/>
            <a:r>
              <a:rPr lang="en-US" sz="2800" dirty="0"/>
              <a:t>Replace special codes (</a:t>
            </a:r>
            <a:r>
              <a:rPr lang="en-US" sz="2800" dirty="0" err="1"/>
              <a:t>eg.</a:t>
            </a:r>
            <a:r>
              <a:rPr lang="en-US" sz="2800" dirty="0"/>
              <a:t> -1) with </a:t>
            </a:r>
            <a:r>
              <a:rPr lang="en-US" sz="2800" b="1" dirty="0"/>
              <a:t>NULL </a:t>
            </a:r>
            <a:r>
              <a:rPr lang="en-US" sz="2800" dirty="0"/>
              <a:t>on additive and semi- additive facts</a:t>
            </a:r>
          </a:p>
          <a:p>
            <a:pPr lvl="1"/>
            <a:r>
              <a:rPr lang="en-US" sz="2800" dirty="0"/>
              <a:t>Calculate and store </a:t>
            </a:r>
            <a:r>
              <a:rPr lang="en-US" sz="2800" b="1" dirty="0"/>
              <a:t>complex derived facts </a:t>
            </a:r>
            <a:r>
              <a:rPr lang="en-US" sz="2800" dirty="0"/>
              <a:t>ex: shipping amount is divided among the number of items on the order.</a:t>
            </a:r>
          </a:p>
          <a:p>
            <a:pPr lvl="1"/>
            <a:r>
              <a:rPr lang="en-US" sz="2800" dirty="0"/>
              <a:t>Pivot rows into columns ex: account type, amount </a:t>
            </a:r>
            <a:r>
              <a:rPr lang="en-US" sz="2800" dirty="0">
                <a:sym typeface="Wingdings" panose="05000000000000000000" pitchFamily="2" charset="2"/>
              </a:rPr>
              <a:t> checking amount, savings amount</a:t>
            </a:r>
            <a:endParaRPr lang="en-US" sz="2800" dirty="0"/>
          </a:p>
          <a:p>
            <a:pPr lvl="1"/>
            <a:r>
              <a:rPr lang="en-US" sz="2800" dirty="0"/>
              <a:t>Associate with Audit Dimension</a:t>
            </a:r>
          </a:p>
          <a:p>
            <a:pPr lvl="1"/>
            <a:r>
              <a:rPr lang="en-US" sz="2800" b="1" dirty="0"/>
              <a:t>Lookup Dimension Keys using Natural/Business Keys….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22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A28E-6D6A-9E4B-A571-99D367A25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One-Time Historic Load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681C2-FF9B-EC4F-93E5-873124AC9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Surrogate Key Pipeline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48B06E-0B26-1D4B-BFF7-320E2EE44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41" y="2354377"/>
            <a:ext cx="7965626" cy="4310666"/>
          </a:xfrm>
          <a:prstGeom prst="rect">
            <a:avLst/>
          </a:prstGeom>
        </p:spPr>
      </p:pic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1B279178-1A11-AD47-BBCA-9CFFBA2698E0}"/>
              </a:ext>
            </a:extLst>
          </p:cNvPr>
          <p:cNvSpPr/>
          <p:nvPr/>
        </p:nvSpPr>
        <p:spPr>
          <a:xfrm>
            <a:off x="9144000" y="2209800"/>
            <a:ext cx="1295400" cy="914400"/>
          </a:xfrm>
          <a:prstGeom prst="wedgeRoundRectCallout">
            <a:avLst>
              <a:gd name="adj1" fmla="val -101715"/>
              <a:gd name="adj2" fmla="val 81692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Handles SCD’s</a:t>
            </a:r>
          </a:p>
        </p:txBody>
      </p:sp>
    </p:spTree>
    <p:extLst>
      <p:ext uri="{BB962C8B-B14F-4D97-AF65-F5344CB8AC3E}">
        <p14:creationId xmlns:p14="http://schemas.microsoft.com/office/powerpoint/2010/main" val="38275259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FD06-1547-824D-94E5-EDC727F5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﻿Develop Incremental ETL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53278-305A-1D4D-8151-745BDA0CB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Step 7 – Dimension Table Incremental Processing</a:t>
            </a:r>
          </a:p>
          <a:p>
            <a:r>
              <a:rPr lang="en-US" dirty="0"/>
              <a:t>Oftentimes the same logic used in the Historic load can be used.</a:t>
            </a:r>
          </a:p>
          <a:p>
            <a:r>
              <a:rPr lang="en-US" dirty="0"/>
              <a:t>Identify New/ Changed data based on different attributes for the same natural key</a:t>
            </a:r>
          </a:p>
          <a:p>
            <a:pPr lvl="1"/>
            <a:r>
              <a:rPr lang="en-US" sz="2800" dirty="0"/>
              <a:t>ETL tools usually can assist with this logic.</a:t>
            </a:r>
          </a:p>
          <a:p>
            <a:r>
              <a:rPr lang="en-US" dirty="0"/>
              <a:t>CDC (Change Data Capture) Systems are popular</a:t>
            </a:r>
            <a:r>
              <a:rPr lang="en-US" altLang="zh-CN" dirty="0"/>
              <a:t>;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456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22E4-7A42-144F-92D5-369DCD1A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flow for handling dimension updates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2232C-BEB5-C542-A949-6339B8A6D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0" y="1351613"/>
            <a:ext cx="4404360" cy="539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402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F919-198F-9441-8116-7694CB07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Incremental ETL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ACF5F-02F4-7D4A-9415-0C7AE49D3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/>
              <a:t>Step 8 – Fact Table Incremental Processing</a:t>
            </a:r>
          </a:p>
          <a:p>
            <a:r>
              <a:rPr lang="en-US" dirty="0"/>
              <a:t>A complex ETL:</a:t>
            </a:r>
          </a:p>
          <a:p>
            <a:pPr lvl="1"/>
            <a:r>
              <a:rPr lang="en-US" dirty="0"/>
              <a:t>Can be difficult to determine which facts need to be processed?</a:t>
            </a:r>
          </a:p>
          <a:p>
            <a:pPr lvl="1"/>
            <a:r>
              <a:rPr lang="en-US" dirty="0"/>
              <a:t>What happens to a fact when it is re-processed?</a:t>
            </a:r>
          </a:p>
          <a:p>
            <a:pPr lvl="1"/>
            <a:r>
              <a:rPr lang="en-US" dirty="0"/>
              <a:t>What if a dimension key lookup fails?</a:t>
            </a:r>
          </a:p>
          <a:p>
            <a:r>
              <a:rPr lang="en-US" dirty="0"/>
              <a:t>Some ETL tool assist with processing this logic.</a:t>
            </a:r>
          </a:p>
          <a:p>
            <a:pPr lvl="1"/>
            <a:r>
              <a:rPr lang="en-US" dirty="0"/>
              <a:t>Degenerate dimensions can be used ex: transaction number in order summary</a:t>
            </a:r>
          </a:p>
          <a:p>
            <a:pPr lvl="1"/>
            <a:r>
              <a:rPr lang="en-US" dirty="0"/>
              <a:t>A combination of dimension keys ex: </a:t>
            </a:r>
            <a:r>
              <a:rPr lang="en-US" dirty="0" err="1"/>
              <a:t>StudentKey</a:t>
            </a:r>
            <a:r>
              <a:rPr lang="en-US" dirty="0"/>
              <a:t> and </a:t>
            </a:r>
            <a:r>
              <a:rPr lang="en-US" dirty="0" err="1"/>
              <a:t>ClassKey</a:t>
            </a:r>
            <a:r>
              <a:rPr lang="en-US" dirty="0"/>
              <a:t> for grade processing.</a:t>
            </a:r>
          </a:p>
          <a:p>
            <a:r>
              <a:rPr lang="en-US" dirty="0"/>
              <a:t>CDC (Change Data Capture) Systems are popular</a:t>
            </a:r>
            <a:r>
              <a:rPr lang="en-US" altLang="zh-CN" dirty="0"/>
              <a:t>;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914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DA2A-3DE4-9D45-BC12-B1C74E7FD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CDC Change Data Capture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A6378-4753-644F-868C-962C14417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Change Events (Create, Update, Delete) are passed to the CDC System</a:t>
            </a:r>
          </a:p>
          <a:p>
            <a:r>
              <a:rPr lang="en-US" dirty="0"/>
              <a:t>The system acts as a source for the ETL Process</a:t>
            </a:r>
          </a:p>
          <a:p>
            <a:endParaRPr lang="en-US" dirty="0"/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06748B55-CB88-0649-A87B-E84010B6CC61}"/>
              </a:ext>
            </a:extLst>
          </p:cNvPr>
          <p:cNvSpPr/>
          <p:nvPr/>
        </p:nvSpPr>
        <p:spPr>
          <a:xfrm>
            <a:off x="762000" y="3352800"/>
            <a:ext cx="1295400" cy="1600200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OLTP</a:t>
            </a:r>
            <a:endParaRPr lang="en-US" dirty="0"/>
          </a:p>
        </p:txBody>
      </p:sp>
      <p:sp>
        <p:nvSpPr>
          <p:cNvPr id="5" name="Folded Corner 4">
            <a:extLst>
              <a:ext uri="{FF2B5EF4-FFF2-40B4-BE49-F238E27FC236}">
                <a16:creationId xmlns:a16="http://schemas.microsoft.com/office/drawing/2014/main" id="{B53B8EE5-3D78-A849-97A2-C6CE787C93A6}"/>
              </a:ext>
            </a:extLst>
          </p:cNvPr>
          <p:cNvSpPr/>
          <p:nvPr/>
        </p:nvSpPr>
        <p:spPr>
          <a:xfrm>
            <a:off x="3048000" y="3505200"/>
            <a:ext cx="1371600" cy="1295400"/>
          </a:xfrm>
          <a:prstGeom prst="foldedCorner">
            <a:avLst>
              <a:gd name="adj" fmla="val 32043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  <a:br>
              <a:rPr lang="en-US" dirty="0"/>
            </a:br>
            <a:r>
              <a:rPr lang="en-US" dirty="0"/>
              <a:t>Transaction Log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E44EC10D-E1AA-2E48-917C-22F276277CAA}"/>
              </a:ext>
            </a:extLst>
          </p:cNvPr>
          <p:cNvSpPr/>
          <p:nvPr/>
        </p:nvSpPr>
        <p:spPr>
          <a:xfrm>
            <a:off x="2133600" y="4038600"/>
            <a:ext cx="838200" cy="30480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Predefined Process 6">
            <a:extLst>
              <a:ext uri="{FF2B5EF4-FFF2-40B4-BE49-F238E27FC236}">
                <a16:creationId xmlns:a16="http://schemas.microsoft.com/office/drawing/2014/main" id="{8853BC9B-ADDC-F348-B438-3D035918B1F8}"/>
              </a:ext>
            </a:extLst>
          </p:cNvPr>
          <p:cNvSpPr/>
          <p:nvPr/>
        </p:nvSpPr>
        <p:spPr>
          <a:xfrm>
            <a:off x="5562600" y="4343400"/>
            <a:ext cx="2209800" cy="1295400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CDC </a:t>
            </a:r>
          </a:p>
          <a:p>
            <a:pPr algn="ctr"/>
            <a:r>
              <a:rPr lang="en-US" sz="2400" dirty="0"/>
              <a:t>System</a:t>
            </a:r>
          </a:p>
        </p:txBody>
      </p:sp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98932C5F-F32F-2443-A88B-75A8E481E6C9}"/>
              </a:ext>
            </a:extLst>
          </p:cNvPr>
          <p:cNvSpPr/>
          <p:nvPr/>
        </p:nvSpPr>
        <p:spPr>
          <a:xfrm>
            <a:off x="8964412" y="4343400"/>
            <a:ext cx="1905000" cy="1143000"/>
          </a:xfrm>
          <a:prstGeom prst="round2Diag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ETL</a:t>
            </a:r>
            <a:br>
              <a:rPr lang="en-US" sz="2400" dirty="0"/>
            </a:br>
            <a:r>
              <a:rPr lang="en-US" sz="2400" dirty="0"/>
              <a:t>Job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6E91CF2-C45E-5D46-921F-83288F615894}"/>
              </a:ext>
            </a:extLst>
          </p:cNvPr>
          <p:cNvSpPr/>
          <p:nvPr/>
        </p:nvSpPr>
        <p:spPr>
          <a:xfrm>
            <a:off x="2552700" y="5562600"/>
            <a:ext cx="1638300" cy="76200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Msg</a:t>
            </a:r>
            <a:r>
              <a:rPr lang="en-US" dirty="0"/>
              <a:t> Queue /</a:t>
            </a:r>
            <a:br>
              <a:rPr lang="en-US" dirty="0"/>
            </a:br>
            <a:r>
              <a:rPr lang="en-US" dirty="0"/>
              <a:t>Service Bus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5551B2E7-8B3F-C248-9969-9CBD52B42094}"/>
              </a:ext>
            </a:extLst>
          </p:cNvPr>
          <p:cNvSpPr/>
          <p:nvPr/>
        </p:nvSpPr>
        <p:spPr>
          <a:xfrm rot="20495717">
            <a:off x="4326802" y="5638800"/>
            <a:ext cx="838200" cy="30480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679CDC9-52DD-AD4A-9192-40305A7388BB}"/>
              </a:ext>
            </a:extLst>
          </p:cNvPr>
          <p:cNvSpPr/>
          <p:nvPr/>
        </p:nvSpPr>
        <p:spPr>
          <a:xfrm rot="1110440">
            <a:off x="4512240" y="4523048"/>
            <a:ext cx="838200" cy="30480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E8AC901-9BED-E743-9E7D-3A83399F02A4}"/>
              </a:ext>
            </a:extLst>
          </p:cNvPr>
          <p:cNvSpPr/>
          <p:nvPr/>
        </p:nvSpPr>
        <p:spPr>
          <a:xfrm>
            <a:off x="8017441" y="4648201"/>
            <a:ext cx="838200" cy="30480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CF3E422-659D-E74A-8E5A-88D65A2A8651}"/>
              </a:ext>
            </a:extLst>
          </p:cNvPr>
          <p:cNvSpPr/>
          <p:nvPr/>
        </p:nvSpPr>
        <p:spPr>
          <a:xfrm rot="2598596">
            <a:off x="1659624" y="5196334"/>
            <a:ext cx="838200" cy="304800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FA8FB4-66C6-7546-AFE7-CA2D14809965}"/>
              </a:ext>
            </a:extLst>
          </p:cNvPr>
          <p:cNvSpPr txBox="1"/>
          <p:nvPr/>
        </p:nvSpPr>
        <p:spPr>
          <a:xfrm>
            <a:off x="2099390" y="454556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973588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B124-C5D0-BF4B-9735-553310E3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Incremental ETL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3349-502D-7A45-B420-3F809AA01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Step 9 – Aggregate Table and OLAP Loads</a:t>
            </a:r>
          </a:p>
          <a:p>
            <a:r>
              <a:rPr lang="en-US" dirty="0"/>
              <a:t>Further processing beyond the OLAP star schema.</a:t>
            </a:r>
          </a:p>
          <a:p>
            <a:r>
              <a:rPr lang="en-US" dirty="0"/>
              <a:t>Refresh / Reprocess </a:t>
            </a:r>
          </a:p>
          <a:p>
            <a:pPr lvl="1"/>
            <a:r>
              <a:rPr lang="en-US" sz="2800" dirty="0"/>
              <a:t>OLAP cubes</a:t>
            </a:r>
          </a:p>
          <a:p>
            <a:pPr lvl="1"/>
            <a:r>
              <a:rPr lang="en-US" sz="2800" dirty="0"/>
              <a:t>INDEXED / MATERIALIZED views</a:t>
            </a:r>
          </a:p>
          <a:p>
            <a:pPr lvl="1"/>
            <a:r>
              <a:rPr lang="en-US" sz="2800" dirty="0"/>
              <a:t>Aggregate summary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5966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F4397-5C4B-394E-B1C3-EB9855CF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Incremental ETL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B3FA2-C6B1-3841-9DC4-15DB50FB2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Step 10 – ETL System Operation &amp; Automation</a:t>
            </a:r>
          </a:p>
          <a:p>
            <a:r>
              <a:rPr lang="en-US" dirty="0"/>
              <a:t>Schedule jobs</a:t>
            </a:r>
          </a:p>
          <a:p>
            <a:r>
              <a:rPr lang="en-US" dirty="0"/>
              <a:t>Catch and Log errors / exceptions</a:t>
            </a:r>
          </a:p>
          <a:p>
            <a:r>
              <a:rPr lang="en-US" dirty="0"/>
              <a:t>Database management tasks:</a:t>
            </a:r>
          </a:p>
          <a:p>
            <a:pPr lvl="1"/>
            <a:r>
              <a:rPr lang="en-US" sz="2800" dirty="0"/>
              <a:t>Cleanup old data</a:t>
            </a:r>
          </a:p>
          <a:p>
            <a:pPr lvl="1"/>
            <a:r>
              <a:rPr lang="en-US" sz="2800" dirty="0"/>
              <a:t>Shrink Database</a:t>
            </a:r>
          </a:p>
          <a:p>
            <a:pPr lvl="1"/>
            <a:r>
              <a:rPr lang="en-US" sz="2800" dirty="0"/>
              <a:t>Rebuild indexes</a:t>
            </a:r>
          </a:p>
          <a:p>
            <a:pPr lvl="1"/>
            <a:r>
              <a:rPr lang="en-US" sz="2800" dirty="0"/>
              <a:t>Update Statistics</a:t>
            </a:r>
          </a:p>
        </p:txBody>
      </p:sp>
    </p:spTree>
    <p:extLst>
      <p:ext uri="{BB962C8B-B14F-4D97-AF65-F5344CB8AC3E}">
        <p14:creationId xmlns:p14="http://schemas.microsoft.com/office/powerpoint/2010/main" val="31634716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439F-C487-D242-94F2-48367429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﻿Real-Time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DB394-FB66-E040-95F2-BBBD6210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﻿</a:t>
            </a:r>
            <a:r>
              <a:rPr lang="en-US" sz="3200" b="1" dirty="0"/>
              <a:t>Real-Time Triage</a:t>
            </a:r>
            <a:r>
              <a:rPr lang="en-US" altLang="zh-CN" sz="3200" b="1" dirty="0"/>
              <a:t>:</a:t>
            </a:r>
          </a:p>
          <a:p>
            <a:r>
              <a:rPr lang="en-US" b="1" i="1" dirty="0"/>
              <a:t>﻿Instantaneous</a:t>
            </a:r>
            <a:r>
              <a:rPr lang="en-US" dirty="0"/>
              <a:t> means the data visible on the screen represents the true state of</a:t>
            </a:r>
            <a:r>
              <a:rPr lang="zh-CN" altLang="en-US" dirty="0"/>
              <a:t> </a:t>
            </a:r>
            <a:r>
              <a:rPr lang="en-US" dirty="0"/>
              <a:t>the source transaction system at every instant. </a:t>
            </a:r>
          </a:p>
          <a:p>
            <a:pPr lvl="1"/>
            <a:r>
              <a:rPr lang="en-US" dirty="0"/>
              <a:t>﻿When the source system status</a:t>
            </a:r>
            <a:r>
              <a:rPr lang="zh-CN" altLang="en-US" dirty="0"/>
              <a:t> </a:t>
            </a:r>
            <a:r>
              <a:rPr lang="en-US" dirty="0"/>
              <a:t>changes, the screen instantly and synchronously responds. </a:t>
            </a:r>
          </a:p>
          <a:p>
            <a:r>
              <a:rPr lang="en-US" dirty="0"/>
              <a:t>﻿</a:t>
            </a:r>
            <a:r>
              <a:rPr lang="en-US" b="1" i="1" dirty="0"/>
              <a:t>Intra-day</a:t>
            </a:r>
            <a:r>
              <a:rPr lang="en-US" dirty="0"/>
              <a:t> means the data visible on the screen is updated many times per day but</a:t>
            </a:r>
            <a:r>
              <a:rPr lang="zh-CN" altLang="en-US" dirty="0"/>
              <a:t> </a:t>
            </a:r>
            <a:r>
              <a:rPr lang="en-US" dirty="0"/>
              <a:t>is not guaranteed to be the absolute current truth. </a:t>
            </a:r>
          </a:p>
          <a:p>
            <a:r>
              <a:rPr lang="en-US" dirty="0"/>
              <a:t>﻿</a:t>
            </a:r>
            <a:r>
              <a:rPr lang="en-US" b="1" i="1" dirty="0"/>
              <a:t>Daily</a:t>
            </a:r>
            <a:r>
              <a:rPr lang="en-US" dirty="0"/>
              <a:t> means the data visible on the screen is valid as of a batch file download or</a:t>
            </a:r>
            <a:r>
              <a:rPr lang="zh-CN" altLang="en-US" dirty="0"/>
              <a:t> </a:t>
            </a:r>
            <a:r>
              <a:rPr lang="en-US" dirty="0"/>
              <a:t>reconciliation from the source system at the end of the previous working day.</a:t>
            </a:r>
          </a:p>
        </p:txBody>
      </p:sp>
    </p:spTree>
    <p:extLst>
      <p:ext uri="{BB962C8B-B14F-4D97-AF65-F5344CB8AC3E}">
        <p14:creationId xmlns:p14="http://schemas.microsoft.com/office/powerpoint/2010/main" val="32774019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0DB1-B67D-E749-BB8A-FD81D159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944C9-9B86-AA40-9EB0-E60CF3E01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﻿</a:t>
            </a:r>
            <a:r>
              <a:rPr lang="en-US" sz="3200" b="1" dirty="0"/>
              <a:t>Real-Time Architecture Trade-Offs</a:t>
            </a:r>
          </a:p>
          <a:p>
            <a:r>
              <a:rPr lang="en-US" dirty="0"/>
              <a:t>﻿The architectural choices involve trade-oﬀs that aﬀect data quality and administration.</a:t>
            </a:r>
          </a:p>
          <a:p>
            <a:r>
              <a:rPr lang="en-US" b="1" dirty="0"/>
              <a:t>﻿Limit Data Quality Screens </a:t>
            </a:r>
            <a:r>
              <a:rPr lang="en-US" dirty="0"/>
              <a:t>-&gt; ﻿eliminate more costly data quality screening, especially structure screens and business rule screens. </a:t>
            </a:r>
          </a:p>
          <a:p>
            <a:r>
              <a:rPr lang="en-US" dirty="0"/>
              <a:t>﻿</a:t>
            </a:r>
            <a:r>
              <a:rPr lang="en-US" b="1" dirty="0"/>
              <a:t>Post Facts with Dimensions </a:t>
            </a:r>
            <a:r>
              <a:rPr lang="en-US" dirty="0"/>
              <a:t>-&gt; ﻿the facts arrive before the dimensions.</a:t>
            </a:r>
          </a:p>
          <a:p>
            <a:r>
              <a:rPr lang="en-US" b="1" dirty="0"/>
              <a:t>Eliminate Data Staging </a:t>
            </a:r>
            <a:r>
              <a:rPr lang="en-US" dirty="0"/>
              <a:t>-&gt; ﻿stream data directly from the production source system to the users’ screens without writing the data to permanent storage in the ETL pipeline. </a:t>
            </a:r>
          </a:p>
        </p:txBody>
      </p:sp>
    </p:spTree>
    <p:extLst>
      <p:ext uri="{BB962C8B-B14F-4D97-AF65-F5344CB8AC3E}">
        <p14:creationId xmlns:p14="http://schemas.microsoft.com/office/powerpoint/2010/main" val="693899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2396</TotalTime>
  <Words>3051</Words>
  <Application>Microsoft Macintosh PowerPoint</Application>
  <PresentationFormat>Widescreen</PresentationFormat>
  <Paragraphs>308</Paragraphs>
  <Slides>54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Wingdings</vt:lpstr>
      <vt:lpstr>Office Theme</vt:lpstr>
      <vt:lpstr>Lecture 11: ETL Subsystems, Techniques and System Design</vt:lpstr>
      <vt:lpstr>ETL Process</vt:lpstr>
      <vt:lpstr>ETL Process</vt:lpstr>
      <vt:lpstr>Ten Requirements for ETL</vt:lpstr>
      <vt:lpstr>Ten Requirements for ETL (cont…)</vt:lpstr>
      <vt:lpstr>The 34 Subsystems of ETL</vt:lpstr>
      <vt:lpstr>The 34 Subsystems of ETL cont.</vt:lpstr>
      <vt:lpstr>Subsystems of ETL</vt:lpstr>
      <vt:lpstr>Subsystems of ETL</vt:lpstr>
      <vt:lpstr>Subsystems of ETL</vt:lpstr>
      <vt:lpstr>Subsystems of ETL: Extracting</vt:lpstr>
      <vt:lpstr>Subsystems of ETL</vt:lpstr>
      <vt:lpstr>Subsystems of ETL</vt:lpstr>
      <vt:lpstr>Subsystems of ETL</vt:lpstr>
      <vt:lpstr>Subsystems of ETL</vt:lpstr>
      <vt:lpstr>Subsystems of ETL: Conforming System</vt:lpstr>
      <vt:lpstr>Subsystems of ETL: Cleaning and Conforming Data</vt:lpstr>
      <vt:lpstr>Subsystems of ETL</vt:lpstr>
      <vt:lpstr>Processing flow for SCD surrogate key management</vt:lpstr>
      <vt:lpstr>Subsystems of ETL</vt:lpstr>
      <vt:lpstr>Subsystems of ETL</vt:lpstr>
      <vt:lpstr>Architecture for building junk dimension rows</vt:lpstr>
      <vt:lpstr>Subsystems of ETL</vt:lpstr>
      <vt:lpstr>Subsystems of ETL</vt:lpstr>
      <vt:lpstr>Replacing fact record’s operational natural keys with dimension surrogate keys</vt:lpstr>
      <vt:lpstr>Subsystems of ETL: Delivering</vt:lpstr>
      <vt:lpstr>Subsystems of ETL</vt:lpstr>
      <vt:lpstr>Subsystems of ETL: Managing the ETL Environment</vt:lpstr>
      <vt:lpstr>What is an ETL tool?</vt:lpstr>
      <vt:lpstr>ETL tools available in the market</vt:lpstr>
      <vt:lpstr>What is Talend Studio?</vt:lpstr>
      <vt:lpstr>ETL Process Overview</vt:lpstr>
      <vt:lpstr>ETL Process Overview</vt:lpstr>
      <vt:lpstr>Develop the ETL Plan</vt:lpstr>
      <vt:lpstr>Develop the ETL Plan</vt:lpstr>
      <vt:lpstr>Develop the ETL Plan</vt:lpstr>
      <vt:lpstr>Develop the ETL Plan</vt:lpstr>
      <vt:lpstr>Develop the ETL Plan</vt:lpstr>
      <vt:lpstr>Develop the ETL Plan</vt:lpstr>
      <vt:lpstr>Develop the ETL Plan</vt:lpstr>
      <vt:lpstr>Develop the ETL Plan</vt:lpstr>
      <vt:lpstr>Develop the ETL Plan</vt:lpstr>
      <vt:lpstr>Develop the ETL Plan</vt:lpstr>
      <vt:lpstr>Develop One-Time Historic Load Processing</vt:lpstr>
      <vt:lpstr>Develop One-Time Historic Load Processing</vt:lpstr>
      <vt:lpstr>Develop One-Time Historic Load Processing</vt:lpstr>
      <vt:lpstr>Develop Incremental ETL Processing</vt:lpstr>
      <vt:lpstr>Logic flow for handling dimension updates</vt:lpstr>
      <vt:lpstr>Develop Incremental ETL Processing</vt:lpstr>
      <vt:lpstr>CDC Change Data Capture</vt:lpstr>
      <vt:lpstr>Develop Incremental ETL Processing</vt:lpstr>
      <vt:lpstr>Develop Incremental ETL Processing</vt:lpstr>
      <vt:lpstr>Real-Time Implications</vt:lpstr>
      <vt:lpstr>Real-Time Implications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10: ETL subsystems and techniques</dc:title>
  <dc:creator>Yuanyuan Gao</dc:creator>
  <cp:lastModifiedBy>Microsoft Office User</cp:lastModifiedBy>
  <cp:revision>73</cp:revision>
  <dcterms:created xsi:type="dcterms:W3CDTF">2020-10-26T17:16:36Z</dcterms:created>
  <dcterms:modified xsi:type="dcterms:W3CDTF">2025-05-04T17:29:13Z</dcterms:modified>
</cp:coreProperties>
</file>