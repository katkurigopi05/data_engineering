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85" r:id="rId11"/>
    <p:sldId id="286" r:id="rId12"/>
    <p:sldId id="287" r:id="rId13"/>
    <p:sldId id="288" r:id="rId14"/>
    <p:sldId id="290" r:id="rId15"/>
    <p:sldId id="269" r:id="rId16"/>
    <p:sldId id="264" r:id="rId17"/>
    <p:sldId id="267" r:id="rId18"/>
    <p:sldId id="268" r:id="rId19"/>
    <p:sldId id="302" r:id="rId20"/>
    <p:sldId id="289" r:id="rId21"/>
    <p:sldId id="272" r:id="rId22"/>
    <p:sldId id="301" r:id="rId23"/>
    <p:sldId id="305" r:id="rId24"/>
    <p:sldId id="304" r:id="rId25"/>
    <p:sldId id="273" r:id="rId26"/>
    <p:sldId id="274" r:id="rId27"/>
    <p:sldId id="275" r:id="rId28"/>
    <p:sldId id="276" r:id="rId29"/>
    <p:sldId id="300" r:id="rId30"/>
    <p:sldId id="277" r:id="rId31"/>
    <p:sldId id="294" r:id="rId32"/>
    <p:sldId id="278" r:id="rId33"/>
    <p:sldId id="297" r:id="rId34"/>
    <p:sldId id="293" r:id="rId35"/>
    <p:sldId id="279" r:id="rId36"/>
    <p:sldId id="295" r:id="rId37"/>
    <p:sldId id="292" r:id="rId38"/>
    <p:sldId id="280" r:id="rId39"/>
    <p:sldId id="296" r:id="rId40"/>
    <p:sldId id="281" r:id="rId41"/>
    <p:sldId id="291" r:id="rId42"/>
    <p:sldId id="306" r:id="rId43"/>
    <p:sldId id="30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53"/>
    <p:restoredTop sz="96405"/>
  </p:normalViewPr>
  <p:slideViewPr>
    <p:cSldViewPr snapToGrid="0" snapToObjects="1">
      <p:cViewPr varScale="1">
        <p:scale>
          <a:sx n="138" d="100"/>
          <a:sy n="138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E4EC-CC86-0F4B-9F7C-D6C64B7FA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B01DE-4642-784B-A87E-B22BCD6B5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CEB81-8AD8-A84F-8E5B-0DBBE778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D0AA8-5089-A94F-BE07-9B4C1A804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BBB5F-42D9-034F-8EE0-E111C5DA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96C2-5F10-1F4A-B436-86FEB7CA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6D9F-15EC-EB4C-BAFB-0DD374371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34018-FBBB-7D44-9E83-51734879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8F887-B8B3-A14C-A58E-90EF2509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7F053-FF07-F240-9BDB-52023238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8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28EB-5019-384C-B8FB-00AACE15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63911-C000-9444-9B53-EEDDAB5BA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6EA3B-24D5-824F-8D0D-A32B8F30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4BBB4-767B-4A4C-8B58-4DA350F6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FD59B-AFC3-474D-898E-B862407D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2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9F98-1FD9-184D-8B7F-910CA6FB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C04E1-668C-7C4D-9959-4337B9A98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C5DC1-620D-CD46-94AB-FDAA5C7AC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C4D4B-BBAE-5748-BBCF-BF4A080B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6CBF7-6B7F-6847-AC45-20A0F0B3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8CFDD-3AC3-404F-9A95-D0FFC5D1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9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6669-7B4E-2D4B-A9E0-C45DF4C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8EA83-B7C3-C643-AE92-718DA87AD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0F343-9714-5249-A179-0377EAD36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51DF0-13B3-7E45-B3EA-617D7B013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3600B-A804-1944-9E96-AB949E0111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FBEF60-713E-D34D-A73F-F5C1F36B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C0AB0-4A23-2C47-AAAB-F88346A6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C0234-F882-9F40-9BFC-D190D0B3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7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F020-260A-2843-8851-84AFB716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7E09F-594A-7D44-9EA7-04CE5840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B3C9A-D4AD-5C47-B443-D216B961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FCEEB-94EF-1246-8DF5-85CBFFC0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1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E18CA-66AF-BB4C-B8A9-60206BCA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50399-E83A-C149-845E-8E9E3354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55D05-1E93-4748-B6B2-CEA595C1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7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AF1F-59E7-A944-BA59-8483D86B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EC073-E784-E84C-9ACC-629842683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CC4D8-0D8D-FC40-ABEF-4D1E30285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5F4F7-D546-8946-ACD9-12C1F8EC3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8D943-3FFB-744D-B632-A38ABC54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30F64-562B-EB47-8287-1A2C7095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0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A383-B14C-584E-9E44-033A2AB39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39F5B-3F54-F44D-B279-87FBA5C48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FFD23-39F7-3746-91B3-F32FED80D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D198-ED0B-8B4C-AE3C-89A3BD092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218A7-3147-7F4F-916A-A209A669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16862-D095-0E41-8580-60567BF7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AF51-0F37-734E-9F2E-4AF66181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24A52-274E-AC40-A409-F173A6D69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B1728-C25F-884C-A56E-5621232B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EA82E-B648-D64A-8378-5F802F7C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76F1-B62B-724B-9AAA-D57820D2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5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B125C4-7171-8543-87B0-0BEADF90B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9F1AB-C06D-E64E-8A95-6F1C1CB36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B5548-F578-0548-BC55-B633F6E1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A3AE3-7009-9A45-8C71-D2EB76E13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3AA62-9073-E348-A91A-DE70C713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1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D18A7-5AB4-1847-999C-68EBACFA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A8C33-A74A-5342-B19B-4F9309C6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308E1-D88D-ED45-8B78-12C68A56E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6402D-F350-C34D-B24C-EF6614391800}" type="datetimeFigureOut">
              <a:rPr lang="en-US" smtClean="0"/>
              <a:t>8/26/20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B218-34F2-6C4A-AAC3-36361A134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2A0A8-8455-5045-8D09-997636C3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7FA11-52BA-7344-B07A-926088B76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6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3B10-49BE-674E-AF50-781785903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Dimensional Modeling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D8629-43D5-8345-9FF7-0DA5B0D5A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 and Chapter 3</a:t>
            </a:r>
          </a:p>
        </p:txBody>
      </p:sp>
    </p:spTree>
    <p:extLst>
      <p:ext uri="{BB962C8B-B14F-4D97-AF65-F5344CB8AC3E}">
        <p14:creationId xmlns:p14="http://schemas.microsoft.com/office/powerpoint/2010/main" val="95995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FC5E-C14A-FB49-80FE-E8A486D6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 Modeling Technique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D5FF-1634-744F-A7CC-46D1FD9EC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i="1" dirty="0"/>
              <a:t>Gather Business Requirements and Data Realities </a:t>
            </a:r>
            <a:endParaRPr lang="en-US" sz="3600" b="1" dirty="0"/>
          </a:p>
          <a:p>
            <a:pPr lvl="1"/>
            <a:r>
              <a:rPr lang="en-US" sz="3200" dirty="0"/>
              <a:t>Understand the needs of the business, as well as the realities of the underlying source data, from:</a:t>
            </a:r>
          </a:p>
          <a:p>
            <a:pPr lvl="2"/>
            <a:r>
              <a:rPr lang="en-US" sz="2800" dirty="0"/>
              <a:t>key performance indicators;</a:t>
            </a:r>
          </a:p>
          <a:p>
            <a:pPr lvl="2"/>
            <a:r>
              <a:rPr lang="en-US" sz="2800" dirty="0"/>
              <a:t>compelling business issues;</a:t>
            </a:r>
          </a:p>
          <a:p>
            <a:pPr lvl="2"/>
            <a:r>
              <a:rPr lang="en-US" sz="2800" dirty="0"/>
              <a:t>decision-making processes; </a:t>
            </a:r>
          </a:p>
          <a:p>
            <a:pPr lvl="2"/>
            <a:r>
              <a:rPr lang="en-US" sz="2800" dirty="0"/>
              <a:t>supporting analytic needs;</a:t>
            </a:r>
          </a:p>
          <a:p>
            <a:pPr lvl="1"/>
            <a:r>
              <a:rPr lang="en-US" sz="3200" dirty="0"/>
              <a:t>By meeting with source system experts and doing high-level data profiling to assess data feasibilities.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6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CA37-848D-E346-9F5D-13FA8B5B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 Modeling Technique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8D6C-09EC-4048-B0F1-6CAAE555D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i="1" dirty="0"/>
              <a:t>Collaborative Dimensional Modeling Workshops </a:t>
            </a:r>
            <a:endParaRPr lang="en-US" sz="3600" b="1" dirty="0"/>
          </a:p>
          <a:p>
            <a:pPr lvl="1"/>
            <a:r>
              <a:rPr lang="en-US" sz="3200" dirty="0"/>
              <a:t>Dimensional models should be designed in collaboration with </a:t>
            </a:r>
            <a:r>
              <a:rPr lang="en-US" sz="3200" dirty="0">
                <a:solidFill>
                  <a:srgbClr val="FF0000"/>
                </a:solidFill>
              </a:rPr>
              <a:t>subject matter experts </a:t>
            </a:r>
            <a:r>
              <a:rPr lang="en-US" sz="3200" dirty="0"/>
              <a:t>and </a:t>
            </a:r>
            <a:r>
              <a:rPr lang="en-US" sz="3200" dirty="0">
                <a:solidFill>
                  <a:srgbClr val="FF0000"/>
                </a:solidFill>
              </a:rPr>
              <a:t>data governance representatives</a:t>
            </a:r>
            <a:r>
              <a:rPr lang="en-US" sz="3200" dirty="0"/>
              <a:t> from the business. </a:t>
            </a:r>
          </a:p>
          <a:p>
            <a:pPr lvl="1"/>
            <a:r>
              <a:rPr lang="en-US" sz="3200" dirty="0"/>
              <a:t>via interactive workshops with </a:t>
            </a:r>
            <a:r>
              <a:rPr lang="en-US" sz="3200" dirty="0">
                <a:solidFill>
                  <a:srgbClr val="FF0000"/>
                </a:solidFill>
              </a:rPr>
              <a:t>business representatives</a:t>
            </a:r>
            <a:r>
              <a:rPr lang="en-US" sz="3200" dirty="0"/>
              <a:t>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60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25D0-8F55-B14C-9937-43D3737F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 Modeling Technique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74B2-5CC4-D94E-97BF-DA9392B64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The </a:t>
            </a:r>
            <a:r>
              <a:rPr lang="en-US" sz="3600" b="1" dirty="0">
                <a:solidFill>
                  <a:srgbClr val="FF0000"/>
                </a:solidFill>
              </a:rPr>
              <a:t>four key decisions </a:t>
            </a:r>
            <a:r>
              <a:rPr lang="en-US" sz="3600" dirty="0"/>
              <a:t>made during the design of a dimensional model:</a:t>
            </a:r>
          </a:p>
          <a:p>
            <a:pPr lvl="1"/>
            <a:r>
              <a:rPr lang="en-US" sz="3200" dirty="0"/>
              <a:t>Select the </a:t>
            </a:r>
            <a:r>
              <a:rPr lang="en-US" sz="3200" dirty="0">
                <a:solidFill>
                  <a:srgbClr val="FF0000"/>
                </a:solidFill>
              </a:rPr>
              <a:t>business process</a:t>
            </a:r>
            <a:r>
              <a:rPr lang="en-US" sz="3200" dirty="0"/>
              <a:t>. </a:t>
            </a:r>
            <a:endParaRPr lang="en-US" sz="3200" b="1" dirty="0"/>
          </a:p>
          <a:p>
            <a:pPr lvl="1"/>
            <a:r>
              <a:rPr lang="en-US" sz="3200" dirty="0"/>
              <a:t>Declare the </a:t>
            </a:r>
            <a:r>
              <a:rPr lang="en-US" sz="3200" dirty="0">
                <a:solidFill>
                  <a:srgbClr val="FF0000"/>
                </a:solidFill>
              </a:rPr>
              <a:t>grain</a:t>
            </a:r>
            <a:r>
              <a:rPr lang="en-US" sz="3200" dirty="0"/>
              <a:t>. </a:t>
            </a:r>
            <a:endParaRPr lang="en-US" sz="3200" b="1" dirty="0"/>
          </a:p>
          <a:p>
            <a:pPr lvl="1"/>
            <a:r>
              <a:rPr lang="en-US" sz="3200" dirty="0"/>
              <a:t>Identify the </a:t>
            </a:r>
            <a:r>
              <a:rPr lang="en-US" sz="3200" dirty="0">
                <a:solidFill>
                  <a:srgbClr val="FF0000"/>
                </a:solidFill>
              </a:rPr>
              <a:t>dimensions</a:t>
            </a:r>
            <a:r>
              <a:rPr lang="en-US" sz="3200" dirty="0"/>
              <a:t>. </a:t>
            </a:r>
            <a:endParaRPr lang="en-US" sz="3200" b="1" dirty="0"/>
          </a:p>
          <a:p>
            <a:pPr lvl="1"/>
            <a:r>
              <a:rPr lang="en-US" sz="3200" dirty="0"/>
              <a:t>Identify the </a:t>
            </a:r>
            <a:r>
              <a:rPr lang="en-US" sz="3200" dirty="0">
                <a:solidFill>
                  <a:srgbClr val="FF0000"/>
                </a:solidFill>
              </a:rPr>
              <a:t>facts</a:t>
            </a:r>
            <a:r>
              <a:rPr lang="en-US" sz="3200" dirty="0"/>
              <a:t>. </a:t>
            </a:r>
            <a:endParaRPr lang="en-US" sz="3200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95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AEF2-C304-8041-9A27-D5DA1044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Business Processes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EE167-B1F4-4742-9F9C-78686141C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Business processes </a:t>
            </a:r>
            <a:r>
              <a:rPr lang="en-US" dirty="0"/>
              <a:t>are the operational activities performed by the organization:</a:t>
            </a:r>
          </a:p>
          <a:p>
            <a:pPr lvl="1"/>
            <a:r>
              <a:rPr lang="en-US" dirty="0"/>
              <a:t>Taking an order;</a:t>
            </a:r>
          </a:p>
          <a:p>
            <a:pPr lvl="1"/>
            <a:r>
              <a:rPr lang="en-US" dirty="0"/>
              <a:t>Processing an insurance claim; </a:t>
            </a:r>
          </a:p>
          <a:p>
            <a:pPr lvl="1"/>
            <a:r>
              <a:rPr lang="en-US" dirty="0"/>
              <a:t>Registering students for a class; </a:t>
            </a:r>
          </a:p>
          <a:p>
            <a:pPr lvl="1"/>
            <a:r>
              <a:rPr lang="en-US" dirty="0"/>
              <a:t>Snapshotting every account each month. </a:t>
            </a:r>
          </a:p>
          <a:p>
            <a:r>
              <a:rPr lang="en-US" b="1" dirty="0">
                <a:solidFill>
                  <a:srgbClr val="FF0000"/>
                </a:solidFill>
              </a:rPr>
              <a:t>Fact tables </a:t>
            </a:r>
            <a:r>
              <a:rPr lang="en-US" dirty="0"/>
              <a:t>focus on the results of a single business process. </a:t>
            </a:r>
          </a:p>
          <a:p>
            <a:r>
              <a:rPr lang="en-US" dirty="0"/>
              <a:t>Business process defines a specific design target and </a:t>
            </a:r>
            <a:r>
              <a:rPr lang="en-US" b="1" dirty="0">
                <a:solidFill>
                  <a:srgbClr val="FF0000"/>
                </a:solidFill>
              </a:rPr>
              <a:t>allows the grain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dimensions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</a:rPr>
              <a:t>facts</a:t>
            </a:r>
            <a:r>
              <a:rPr lang="en-US" dirty="0"/>
              <a:t> to be declared. </a:t>
            </a:r>
          </a:p>
          <a:p>
            <a:r>
              <a:rPr lang="en-US" dirty="0"/>
              <a:t>Each business process corresponds to a row in the </a:t>
            </a:r>
            <a:r>
              <a:rPr lang="en-US" b="1" dirty="0">
                <a:solidFill>
                  <a:srgbClr val="FF0000"/>
                </a:solidFill>
              </a:rPr>
              <a:t>enterprise data warehouse bus matrix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12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EB5E-1D7B-B149-A721-C6587C14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Grain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DFC5D-9975-5548-BF1E-F60372C38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grain </a:t>
            </a:r>
            <a:r>
              <a:rPr lang="en-US" dirty="0"/>
              <a:t>establishes exactly what a single fact table row represents. 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Atomic grain </a:t>
            </a:r>
            <a:r>
              <a:rPr lang="en-US" dirty="0"/>
              <a:t>refers to the lowest level at which data is captured by a given business process. </a:t>
            </a:r>
          </a:p>
          <a:p>
            <a:r>
              <a:rPr lang="en-US" dirty="0"/>
              <a:t>Different grains must not be mixed in the </a:t>
            </a:r>
            <a:r>
              <a:rPr lang="en-US" b="1" dirty="0">
                <a:solidFill>
                  <a:srgbClr val="FF0000"/>
                </a:solidFill>
              </a:rPr>
              <a:t>same fact table</a:t>
            </a:r>
            <a:r>
              <a:rPr lang="en-US" dirty="0"/>
              <a:t>. </a:t>
            </a:r>
          </a:p>
          <a:p>
            <a:r>
              <a:rPr lang="en-US" dirty="0"/>
              <a:t>The grain is determined by the physical realities of the operational system that captures the business process’s events.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3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0D23-B0FE-6D48-A171-D05B06F4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Grain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306C-2609-7249-94D0-48F773DED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Examples:</a:t>
            </a:r>
          </a:p>
          <a:p>
            <a:r>
              <a:rPr lang="en-US" dirty="0"/>
              <a:t>One row per scan of an individual product on a customer’s sales transaction; </a:t>
            </a:r>
          </a:p>
          <a:p>
            <a:r>
              <a:rPr lang="en-US" dirty="0"/>
              <a:t>One row per line item on a bill from a doctor;</a:t>
            </a:r>
          </a:p>
          <a:p>
            <a:r>
              <a:rPr lang="en-US" dirty="0"/>
              <a:t>One row per individual boarding pass scanned at an airport gate; </a:t>
            </a:r>
          </a:p>
          <a:p>
            <a:r>
              <a:rPr lang="en-US" dirty="0"/>
              <a:t>One row per daily snapshot of the inventory levels for each item in a warehouse;</a:t>
            </a:r>
          </a:p>
          <a:p>
            <a:r>
              <a:rPr lang="en-US" dirty="0"/>
              <a:t>One row per bank account each month;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57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E73E-39CF-E942-957B-1E9EFAAF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Dimensions for Descriptive Context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F33DA-8441-BD47-8CCA-811EC7FD2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i="1" dirty="0"/>
              <a:t>Dimensions </a:t>
            </a:r>
            <a:r>
              <a:rPr lang="en-US" sz="3600" dirty="0"/>
              <a:t>provide the “</a:t>
            </a:r>
            <a:r>
              <a:rPr lang="en-US" sz="3600" b="1" dirty="0">
                <a:solidFill>
                  <a:srgbClr val="FF0000"/>
                </a:solidFill>
              </a:rPr>
              <a:t>who, what, where, when, why, and how</a:t>
            </a:r>
            <a:r>
              <a:rPr lang="en-US" sz="3600" dirty="0"/>
              <a:t>” context surrounding a business process event. </a:t>
            </a:r>
          </a:p>
          <a:p>
            <a:pPr lvl="1"/>
            <a:r>
              <a:rPr lang="en-US" sz="3200" dirty="0"/>
              <a:t>Examples: date, product, customer, employee, and facility;</a:t>
            </a:r>
          </a:p>
          <a:p>
            <a:r>
              <a:rPr lang="en-US" sz="3600" dirty="0"/>
              <a:t>With the choice of each dimension, you then list all the discrete, text-like attributes that flesh out each dimension table. </a:t>
            </a:r>
          </a:p>
          <a:p>
            <a:r>
              <a:rPr lang="en-US" sz="3600" dirty="0"/>
              <a:t>Dimension tables contain the </a:t>
            </a:r>
            <a:r>
              <a:rPr lang="en-US" sz="3600" b="1" dirty="0">
                <a:solidFill>
                  <a:srgbClr val="FF0000"/>
                </a:solidFill>
              </a:rPr>
              <a:t>descriptive attributes</a:t>
            </a:r>
            <a:r>
              <a:rPr lang="en-US" sz="3600" dirty="0"/>
              <a:t> used by BI applications for filtering and grouping the facts. </a:t>
            </a:r>
          </a:p>
          <a:p>
            <a:pPr lvl="1"/>
            <a:r>
              <a:rPr lang="en-US" sz="3200" dirty="0"/>
              <a:t>Contain the entry points and descriptive labels that enable the DW/BI system to be leveraged for business analysis.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99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EFFB-24A0-164C-8AFB-E7EFEDC3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Facts for Measurements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E1DBB-75AD-3042-9E25-7AAFCA936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5447"/>
          </a:xfrm>
        </p:spPr>
        <p:txBody>
          <a:bodyPr>
            <a:normAutofit lnSpcReduction="10000"/>
          </a:bodyPr>
          <a:lstStyle/>
          <a:p>
            <a:r>
              <a:rPr lang="en-US" sz="3200" i="1" dirty="0"/>
              <a:t>Facts </a:t>
            </a:r>
            <a:r>
              <a:rPr lang="en-US" sz="3200" dirty="0"/>
              <a:t>are the </a:t>
            </a:r>
            <a:r>
              <a:rPr lang="en-US" sz="3200" b="1" dirty="0">
                <a:solidFill>
                  <a:srgbClr val="FF0000"/>
                </a:solidFill>
              </a:rPr>
              <a:t>measurements</a:t>
            </a:r>
            <a:r>
              <a:rPr lang="en-US" sz="3200" dirty="0"/>
              <a:t> that result from a business process event and are almost always numeric. </a:t>
            </a:r>
          </a:p>
          <a:p>
            <a:pPr lvl="1"/>
            <a:r>
              <a:rPr lang="en-US" sz="2800" dirty="0"/>
              <a:t>“What is the process measuring?” </a:t>
            </a:r>
          </a:p>
          <a:p>
            <a:r>
              <a:rPr lang="en-US" sz="3200" dirty="0"/>
              <a:t>A single fact table row has a </a:t>
            </a:r>
            <a:r>
              <a:rPr lang="en-US" sz="3200" b="1" dirty="0">
                <a:solidFill>
                  <a:srgbClr val="FF0000"/>
                </a:solidFill>
              </a:rPr>
              <a:t>one-to-one</a:t>
            </a:r>
            <a:r>
              <a:rPr lang="en-US" sz="3200" dirty="0"/>
              <a:t> relationship to a measurement event as described by the fact table’s grain.</a:t>
            </a:r>
          </a:p>
          <a:p>
            <a:r>
              <a:rPr lang="en-US" sz="3200" dirty="0"/>
              <a:t>A fact table corresponds to a physical observable event.</a:t>
            </a:r>
          </a:p>
          <a:p>
            <a:r>
              <a:rPr lang="en-US" sz="3200" dirty="0"/>
              <a:t>Within a fact table, only facts consistent with the </a:t>
            </a:r>
            <a:r>
              <a:rPr lang="en-US" sz="3200" b="1" dirty="0">
                <a:solidFill>
                  <a:srgbClr val="FF0000"/>
                </a:solidFill>
              </a:rPr>
              <a:t>declared grain </a:t>
            </a:r>
            <a:r>
              <a:rPr lang="en-US" sz="3200" dirty="0"/>
              <a:t>are allowed.  </a:t>
            </a:r>
          </a:p>
          <a:p>
            <a:pPr lvl="1"/>
            <a:r>
              <a:rPr lang="en-US" sz="2800" dirty="0"/>
              <a:t>Typical facts are numeric additive figures, such as quantity ordered or dollar cost amount. </a:t>
            </a:r>
          </a:p>
          <a:p>
            <a:endParaRPr lang="en-US" sz="32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52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0B1D-A34D-1946-A2A2-5D9B948E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C97B9-6BE4-E549-8441-0B843B55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large grocery chain has 100 grocery stores spread across five states. </a:t>
            </a:r>
          </a:p>
          <a:p>
            <a:pPr lvl="1"/>
            <a:r>
              <a:rPr lang="en-US" dirty="0"/>
              <a:t>Each store has a full complement of departments </a:t>
            </a:r>
          </a:p>
          <a:p>
            <a:pPr lvl="1"/>
            <a:r>
              <a:rPr lang="en-US" dirty="0"/>
              <a:t>Each store has approximately 60,000 individual products </a:t>
            </a:r>
          </a:p>
          <a:p>
            <a:r>
              <a:rPr lang="en-US" dirty="0"/>
              <a:t>Data is collected at</a:t>
            </a:r>
          </a:p>
          <a:p>
            <a:pPr lvl="1"/>
            <a:r>
              <a:rPr lang="en-US" dirty="0"/>
              <a:t>the cash registers as </a:t>
            </a:r>
            <a:r>
              <a:rPr lang="en-US" i="1" dirty="0">
                <a:solidFill>
                  <a:srgbClr val="FF0000"/>
                </a:solidFill>
              </a:rPr>
              <a:t>customers purchase products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the store’s back door where </a:t>
            </a:r>
            <a:r>
              <a:rPr lang="en-US" i="1" dirty="0">
                <a:solidFill>
                  <a:srgbClr val="FF0000"/>
                </a:solidFill>
              </a:rPr>
              <a:t>vendors make deliveries</a:t>
            </a:r>
            <a:r>
              <a:rPr lang="en-US" dirty="0"/>
              <a:t>;</a:t>
            </a:r>
          </a:p>
          <a:p>
            <a:r>
              <a:rPr lang="en-US" dirty="0"/>
              <a:t>At the grocery store, management is concerned with the </a:t>
            </a:r>
            <a:r>
              <a:rPr lang="en-US" i="1" dirty="0">
                <a:solidFill>
                  <a:srgbClr val="FF0000"/>
                </a:solidFill>
              </a:rPr>
              <a:t>logistics of ordering</a:t>
            </a:r>
            <a:r>
              <a:rPr lang="en-US" dirty="0"/>
              <a:t>, </a:t>
            </a:r>
            <a:r>
              <a:rPr lang="en-US" i="1" dirty="0">
                <a:solidFill>
                  <a:srgbClr val="FF0000"/>
                </a:solidFill>
              </a:rPr>
              <a:t>stocking</a:t>
            </a:r>
            <a:r>
              <a:rPr lang="en-US" dirty="0"/>
              <a:t>, and </a:t>
            </a:r>
            <a:r>
              <a:rPr lang="en-US" i="1" dirty="0">
                <a:solidFill>
                  <a:srgbClr val="FF0000"/>
                </a:solidFill>
              </a:rPr>
              <a:t>selling products</a:t>
            </a:r>
            <a:r>
              <a:rPr lang="en-US" dirty="0"/>
              <a:t> while maximizing profit (pricing and promotions).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954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F602-8EED-704C-B451-B871EFD6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7D96F-147A-4448-A3E5-FF03DCAE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1: Select the Business Process </a:t>
            </a:r>
          </a:p>
          <a:p>
            <a:pPr lvl="1"/>
            <a:r>
              <a:rPr lang="en-US" dirty="0"/>
              <a:t>To better understand customer purchases as captured by the POS system; Business process is </a:t>
            </a:r>
            <a:r>
              <a:rPr lang="en-US" dirty="0">
                <a:solidFill>
                  <a:srgbClr val="FF0000"/>
                </a:solidFill>
              </a:rPr>
              <a:t>POS retail sales transactions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To analyze </a:t>
            </a:r>
            <a:r>
              <a:rPr lang="en-US" dirty="0">
                <a:solidFill>
                  <a:srgbClr val="FF0000"/>
                </a:solidFill>
              </a:rPr>
              <a:t>which products </a:t>
            </a:r>
            <a:r>
              <a:rPr lang="en-US" dirty="0"/>
              <a:t>are selling in </a:t>
            </a:r>
            <a:r>
              <a:rPr lang="en-US" dirty="0">
                <a:solidFill>
                  <a:srgbClr val="FF0000"/>
                </a:solidFill>
              </a:rPr>
              <a:t>which stores </a:t>
            </a:r>
            <a:r>
              <a:rPr lang="en-US" dirty="0"/>
              <a:t>on </a:t>
            </a:r>
            <a:r>
              <a:rPr lang="en-US" dirty="0">
                <a:solidFill>
                  <a:srgbClr val="FF0000"/>
                </a:solidFill>
              </a:rPr>
              <a:t>which days </a:t>
            </a:r>
            <a:r>
              <a:rPr lang="en-US" dirty="0"/>
              <a:t>under what promotional conditions in which transactions;</a:t>
            </a:r>
          </a:p>
          <a:p>
            <a:r>
              <a:rPr lang="en-US" dirty="0"/>
              <a:t>Step 2: Declare the Grain </a:t>
            </a:r>
          </a:p>
          <a:p>
            <a:pPr lvl="1"/>
            <a:r>
              <a:rPr lang="en-US" dirty="0"/>
              <a:t>The most granular data is </a:t>
            </a:r>
            <a:r>
              <a:rPr lang="en-US" dirty="0">
                <a:solidFill>
                  <a:srgbClr val="FF0000"/>
                </a:solidFill>
              </a:rPr>
              <a:t>an individual product </a:t>
            </a:r>
            <a:r>
              <a:rPr lang="en-US" dirty="0"/>
              <a:t>on </a:t>
            </a:r>
            <a:r>
              <a:rPr lang="en-US" dirty="0">
                <a:solidFill>
                  <a:srgbClr val="FF0000"/>
                </a:solidFill>
              </a:rPr>
              <a:t>a POS transaction</a:t>
            </a:r>
            <a:r>
              <a:rPr lang="en-US" dirty="0"/>
              <a:t>, assuming the POS system rolls up </a:t>
            </a:r>
            <a:r>
              <a:rPr lang="en-US" dirty="0">
                <a:solidFill>
                  <a:srgbClr val="FF0000"/>
                </a:solidFill>
              </a:rPr>
              <a:t>all sales </a:t>
            </a:r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a given product </a:t>
            </a:r>
            <a:r>
              <a:rPr lang="en-US" dirty="0"/>
              <a:t>within </a:t>
            </a:r>
            <a:r>
              <a:rPr lang="en-US" dirty="0">
                <a:solidFill>
                  <a:srgbClr val="FF0000"/>
                </a:solidFill>
              </a:rPr>
              <a:t>a shopping cart</a:t>
            </a:r>
            <a:r>
              <a:rPr lang="en-US" dirty="0"/>
              <a:t> into a single line item.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17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6A0E-8904-FB47-9109-99C6F2B8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250DC-AAAA-5C4F-8588-0FAD4E4D9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Step 3: Identify the </a:t>
            </a:r>
            <a:r>
              <a:rPr lang="en-US" dirty="0">
                <a:solidFill>
                  <a:srgbClr val="FF0000"/>
                </a:solidFill>
              </a:rPr>
              <a:t>Dimensions</a:t>
            </a:r>
            <a:r>
              <a:rPr lang="en-US" dirty="0"/>
              <a:t> </a:t>
            </a:r>
          </a:p>
          <a:p>
            <a:r>
              <a:rPr lang="en-US" dirty="0"/>
              <a:t>Date, product, store, promotion, cashier, and method of payment. </a:t>
            </a:r>
          </a:p>
          <a:p>
            <a:endParaRPr lang="en-US" dirty="0"/>
          </a:p>
          <a:p>
            <a:r>
              <a:rPr lang="en-US" dirty="0"/>
              <a:t>Step 4: Identify the </a:t>
            </a:r>
            <a:r>
              <a:rPr lang="en-US" dirty="0">
                <a:solidFill>
                  <a:srgbClr val="FF0000"/>
                </a:solidFill>
              </a:rPr>
              <a:t>Facts </a:t>
            </a:r>
          </a:p>
          <a:p>
            <a:r>
              <a:rPr lang="en-US" dirty="0"/>
              <a:t>Sales quantity (for example, the number of cans of chicken noodle soup), price per unit regular, discount, and net paid prices, and extended discount and sales dollar amounts. </a:t>
            </a:r>
          </a:p>
          <a:p>
            <a:r>
              <a:rPr lang="en-US" dirty="0"/>
              <a:t>Extended sales dollar = the sales quantity *the net unit price. </a:t>
            </a:r>
          </a:p>
          <a:p>
            <a:r>
              <a:rPr lang="en-US" dirty="0"/>
              <a:t>Extended discount dollar = the sales quantity * the unit discount amount. </a:t>
            </a:r>
          </a:p>
        </p:txBody>
      </p:sp>
    </p:spTree>
    <p:extLst>
      <p:ext uri="{BB962C8B-B14F-4D97-AF65-F5344CB8AC3E}">
        <p14:creationId xmlns:p14="http://schemas.microsoft.com/office/powerpoint/2010/main" val="133334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03DB-3FF7-9B48-9111-EF876D7F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78A40B-8995-C84D-B1B9-635FAC3A3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857" y="1825625"/>
            <a:ext cx="8384285" cy="4351338"/>
          </a:xfrm>
        </p:spPr>
      </p:pic>
    </p:spTree>
    <p:extLst>
      <p:ext uri="{BB962C8B-B14F-4D97-AF65-F5344CB8AC3E}">
        <p14:creationId xmlns:p14="http://schemas.microsoft.com/office/powerpoint/2010/main" val="253434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9C75-F541-9448-95AA-84063D1E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0398-2860-DC4C-9755-1993E001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900" i="1" dirty="0">
                <a:solidFill>
                  <a:srgbClr val="FF0000"/>
                </a:solidFill>
              </a:rPr>
              <a:t>Transaction</a:t>
            </a:r>
            <a:r>
              <a:rPr lang="en-US" sz="3900" i="1" dirty="0"/>
              <a:t> Fact Tables </a:t>
            </a:r>
            <a:endParaRPr lang="en-US" sz="3900" dirty="0"/>
          </a:p>
          <a:p>
            <a:pPr lvl="1"/>
            <a:r>
              <a:rPr lang="en-US" sz="3500" dirty="0"/>
              <a:t>The grain of atomic transaction fact tables express in the context of </a:t>
            </a:r>
            <a:r>
              <a:rPr lang="en-US" sz="3500" dirty="0">
                <a:solidFill>
                  <a:srgbClr val="FF0000"/>
                </a:solidFill>
              </a:rPr>
              <a:t>the transaction</a:t>
            </a:r>
            <a:r>
              <a:rPr lang="en-US" sz="3500" dirty="0"/>
              <a:t>, such as one row per transaction or one row per transaction line. </a:t>
            </a:r>
          </a:p>
          <a:p>
            <a:pPr lvl="1"/>
            <a:r>
              <a:rPr lang="en-US" sz="3500" dirty="0"/>
              <a:t>Often </a:t>
            </a:r>
            <a:r>
              <a:rPr lang="en-US" sz="3500" dirty="0">
                <a:solidFill>
                  <a:srgbClr val="FF0000"/>
                </a:solidFill>
              </a:rPr>
              <a:t>sparsely</a:t>
            </a:r>
            <a:r>
              <a:rPr lang="en-US" sz="3500" dirty="0"/>
              <a:t> populated.</a:t>
            </a:r>
          </a:p>
          <a:p>
            <a:pPr lvl="1"/>
            <a:r>
              <a:rPr lang="en-US" sz="3500" dirty="0"/>
              <a:t>Size is </a:t>
            </a:r>
            <a:r>
              <a:rPr lang="en-US" sz="3500" dirty="0">
                <a:solidFill>
                  <a:srgbClr val="FF0000"/>
                </a:solidFill>
              </a:rPr>
              <a:t>enormous</a:t>
            </a:r>
            <a:r>
              <a:rPr lang="en-US" sz="3500" dirty="0"/>
              <a:t>.</a:t>
            </a:r>
          </a:p>
          <a:p>
            <a:pPr lvl="1"/>
            <a:r>
              <a:rPr lang="en-US" sz="3500" dirty="0"/>
              <a:t>Highly </a:t>
            </a:r>
            <a:r>
              <a:rPr lang="en-US" sz="3500" dirty="0">
                <a:solidFill>
                  <a:srgbClr val="FF0000"/>
                </a:solidFill>
              </a:rPr>
              <a:t>dimensional</a:t>
            </a:r>
            <a:r>
              <a:rPr lang="en-US" sz="3500" dirty="0"/>
              <a:t>.</a:t>
            </a:r>
          </a:p>
          <a:p>
            <a:pPr lvl="1"/>
            <a:r>
              <a:rPr lang="en-US" sz="3500" dirty="0">
                <a:solidFill>
                  <a:srgbClr val="FF0000"/>
                </a:solidFill>
              </a:rPr>
              <a:t>Additive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753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31BAF-5DB5-5344-9CAE-232BBEB1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Fact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88909-F047-184B-AFF6-F2C68E4AF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Nulls in Fact Tables </a:t>
            </a:r>
            <a:endParaRPr lang="en-US" b="1" dirty="0"/>
          </a:p>
          <a:p>
            <a:r>
              <a:rPr lang="en-US" dirty="0"/>
              <a:t>Null-valued measurements behave gracefully in fact tables (SUM, COUNT, MIN, MAX, and AVG);</a:t>
            </a:r>
          </a:p>
          <a:p>
            <a:r>
              <a:rPr lang="en-US" dirty="0"/>
              <a:t>Nulls must be </a:t>
            </a:r>
            <a:r>
              <a:rPr lang="en-US" b="1" dirty="0">
                <a:solidFill>
                  <a:srgbClr val="FF0000"/>
                </a:solidFill>
              </a:rPr>
              <a:t>avoided</a:t>
            </a:r>
            <a:r>
              <a:rPr lang="en-US" dirty="0"/>
              <a:t> in the fact table’s foreign keys;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188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FCFA-F6A5-C94F-A5B7-0762FA8E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Star Schemas and OLAP Cubes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8A57-9440-B54F-9B20-D1E2EFD6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009" y="1832178"/>
            <a:ext cx="5650149" cy="4351338"/>
          </a:xfrm>
        </p:spPr>
        <p:txBody>
          <a:bodyPr/>
          <a:lstStyle/>
          <a:p>
            <a:r>
              <a:rPr lang="en-US" i="1" dirty="0"/>
              <a:t>Star schemas</a:t>
            </a:r>
          </a:p>
          <a:p>
            <a:pPr lvl="1"/>
            <a:r>
              <a:rPr lang="en-US" dirty="0"/>
              <a:t>Dimensional structures deployed in a relational database management system (RDBMS);</a:t>
            </a:r>
          </a:p>
          <a:p>
            <a:pPr lvl="1"/>
            <a:r>
              <a:rPr lang="en-US" dirty="0"/>
              <a:t>Fact tables linked to associated dimension tables via primary/foreign key relationships.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Illustration of a star schema">
            <a:extLst>
              <a:ext uri="{FF2B5EF4-FFF2-40B4-BE49-F238E27FC236}">
                <a16:creationId xmlns:a16="http://schemas.microsoft.com/office/drawing/2014/main" id="{6CEEF973-201C-CB4C-9E89-D7FA373AB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073" y="1825625"/>
            <a:ext cx="5572497" cy="380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312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901D-2507-F045-9228-F1F267C7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Fact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514F4-AA9B-1749-9625-80DB2D3B4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i="1" dirty="0"/>
              <a:t>Fact Table Structure </a:t>
            </a:r>
            <a:endParaRPr lang="en-US" sz="3600" dirty="0"/>
          </a:p>
          <a:p>
            <a:pPr lvl="1"/>
            <a:r>
              <a:rPr lang="en-US" sz="3200" dirty="0"/>
              <a:t>A </a:t>
            </a:r>
            <a:r>
              <a:rPr lang="en-US" sz="3200" i="1" dirty="0"/>
              <a:t>fact table </a:t>
            </a:r>
            <a:r>
              <a:rPr lang="en-US" sz="3200" dirty="0"/>
              <a:t>contains the </a:t>
            </a:r>
            <a:r>
              <a:rPr lang="en-US" sz="3200" dirty="0">
                <a:solidFill>
                  <a:srgbClr val="FF0000"/>
                </a:solidFill>
              </a:rPr>
              <a:t>numeric measures </a:t>
            </a:r>
            <a:r>
              <a:rPr lang="en-US" sz="3200" dirty="0"/>
              <a:t>produced by an operational measurement event in the real world. </a:t>
            </a:r>
          </a:p>
          <a:p>
            <a:pPr lvl="1"/>
            <a:r>
              <a:rPr lang="en-US" sz="3200" dirty="0"/>
              <a:t>A fact table always contains </a:t>
            </a:r>
            <a:r>
              <a:rPr lang="en-US" sz="3200" dirty="0">
                <a:solidFill>
                  <a:srgbClr val="FF0000"/>
                </a:solidFill>
              </a:rPr>
              <a:t>foreign keys </a:t>
            </a:r>
            <a:r>
              <a:rPr lang="en-US" sz="3200" dirty="0"/>
              <a:t>for each of its associated dimensions;</a:t>
            </a:r>
          </a:p>
          <a:p>
            <a:pPr lvl="1"/>
            <a:r>
              <a:rPr lang="en-US" sz="3200" dirty="0"/>
              <a:t>Fact tables are the primary target of </a:t>
            </a:r>
            <a:r>
              <a:rPr lang="en-US" sz="3200" dirty="0">
                <a:solidFill>
                  <a:srgbClr val="FF0000"/>
                </a:solidFill>
              </a:rPr>
              <a:t>computations</a:t>
            </a:r>
            <a:r>
              <a:rPr lang="en-US" sz="3200" dirty="0"/>
              <a:t> and dynamic </a:t>
            </a:r>
            <a:r>
              <a:rPr lang="en-US" sz="3200" dirty="0">
                <a:solidFill>
                  <a:srgbClr val="FF0000"/>
                </a:solidFill>
              </a:rPr>
              <a:t>aggregations</a:t>
            </a:r>
            <a:r>
              <a:rPr lang="en-US" sz="3200" dirty="0"/>
              <a:t> arising from queries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7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8C1C-F23D-9D44-A4DC-162CCF8D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Fact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537F-F826-3E4A-B214-972E6EAF5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dirty="0"/>
              <a:t>Additive, Semi-Additive, Non-Additive Facts </a:t>
            </a:r>
            <a:endParaRPr lang="en-US" b="1" dirty="0"/>
          </a:p>
          <a:p>
            <a:r>
              <a:rPr lang="en-US" b="1" i="1" dirty="0"/>
              <a:t>Additive</a:t>
            </a:r>
            <a:r>
              <a:rPr lang="en-US" i="1" dirty="0"/>
              <a:t>: </a:t>
            </a:r>
            <a:r>
              <a:rPr lang="en-US" dirty="0"/>
              <a:t>can be summed across any of the dimensions associated with the fact table;</a:t>
            </a:r>
          </a:p>
          <a:p>
            <a:pPr lvl="1"/>
            <a:r>
              <a:rPr lang="en-US" dirty="0"/>
              <a:t>Examples: quantity sold; total </a:t>
            </a:r>
            <a:r>
              <a:rPr lang="en-US" dirty="0" err="1"/>
              <a:t>rs.sales</a:t>
            </a:r>
            <a:r>
              <a:rPr lang="en-US" dirty="0"/>
              <a:t>;</a:t>
            </a:r>
          </a:p>
          <a:p>
            <a:r>
              <a:rPr lang="en-US" b="1" i="1" dirty="0"/>
              <a:t>Semi-additive</a:t>
            </a:r>
            <a:r>
              <a:rPr lang="en-US" i="1" dirty="0"/>
              <a:t>: </a:t>
            </a:r>
            <a:r>
              <a:rPr lang="en-US" dirty="0"/>
              <a:t>can be summed across some dimensions, but not all; </a:t>
            </a:r>
          </a:p>
          <a:p>
            <a:pPr lvl="1"/>
            <a:r>
              <a:rPr lang="en-US" dirty="0"/>
              <a:t>Balance amounts are common semi-additive facts because they are additive across all dimensions except time;</a:t>
            </a:r>
          </a:p>
          <a:p>
            <a:r>
              <a:rPr lang="en-US" b="1" i="1" dirty="0"/>
              <a:t>Non-additive</a:t>
            </a:r>
            <a:r>
              <a:rPr lang="en-US" i="1" dirty="0"/>
              <a:t>:</a:t>
            </a:r>
            <a:endParaRPr lang="en-US" dirty="0"/>
          </a:p>
          <a:p>
            <a:pPr lvl="1"/>
            <a:r>
              <a:rPr lang="en-US" dirty="0"/>
              <a:t>Store the fully additive components of the non-additive measure and sum these components into the final answer set before calculating the final non-additive fact.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solidFill>
                  <a:srgbClr val="FF0000"/>
                </a:solidFill>
              </a:rPr>
              <a:t>Averages</a:t>
            </a:r>
            <a:r>
              <a:rPr lang="en-US" dirty="0"/>
              <a:t> (average sales price, unit price), </a:t>
            </a:r>
            <a:r>
              <a:rPr lang="en-US" dirty="0">
                <a:solidFill>
                  <a:srgbClr val="FF0000"/>
                </a:solidFill>
              </a:rPr>
              <a:t>Percentages</a:t>
            </a:r>
            <a:r>
              <a:rPr lang="en-US" dirty="0"/>
              <a:t> (% discount), </a:t>
            </a:r>
            <a:r>
              <a:rPr lang="en-US" dirty="0">
                <a:solidFill>
                  <a:srgbClr val="FF0000"/>
                </a:solidFill>
              </a:rPr>
              <a:t>Ratios</a:t>
            </a:r>
            <a:r>
              <a:rPr lang="en-US" dirty="0"/>
              <a:t> (gross margins), </a:t>
            </a:r>
            <a:r>
              <a:rPr lang="en-US" dirty="0">
                <a:solidFill>
                  <a:srgbClr val="FF0000"/>
                </a:solidFill>
              </a:rPr>
              <a:t>Count</a:t>
            </a:r>
            <a:r>
              <a:rPr lang="en-US" dirty="0"/>
              <a:t> of distinct products sold;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083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BE6B-EF2C-6849-B39E-0F884808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Additive Facts V.S. Non-Additive Facts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EB7B7-6991-E945-8781-1DB807C2F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Additive Facts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1A17D6-ACBE-E947-8488-01D6ED0055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676198"/>
            <a:ext cx="5157787" cy="334234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58FA3-DAE1-0743-99E0-FE7C841E9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Non-additive Facts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09C1622-3633-8849-9D7F-15192F4407E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910267"/>
            <a:ext cx="5183188" cy="2874204"/>
          </a:xfrm>
        </p:spPr>
      </p:pic>
    </p:spTree>
    <p:extLst>
      <p:ext uri="{BB962C8B-B14F-4D97-AF65-F5344CB8AC3E}">
        <p14:creationId xmlns:p14="http://schemas.microsoft.com/office/powerpoint/2010/main" val="1274106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45D4-46FE-684C-86F4-2B47F9ED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D3612-D460-CE4A-AC7D-A44C55FA3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Derived Facts </a:t>
            </a:r>
            <a:endParaRPr lang="en-US" b="1" dirty="0"/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gross profit </a:t>
            </a:r>
            <a:r>
              <a:rPr lang="en-US" dirty="0"/>
              <a:t>by subtracting the extended cost dollar amount from the extended sales dollar amount, or revenue. </a:t>
            </a:r>
          </a:p>
          <a:p>
            <a:pPr lvl="1"/>
            <a:r>
              <a:rPr lang="en-US" dirty="0"/>
              <a:t>Store the derived facts in the data warehouse would eliminate the possibility of user calculation errors;</a:t>
            </a:r>
          </a:p>
          <a:p>
            <a:r>
              <a:rPr lang="en-US" b="1" i="1" dirty="0"/>
              <a:t>Non-Additive Facts </a:t>
            </a:r>
            <a:endParaRPr lang="en-US" b="1" dirty="0"/>
          </a:p>
          <a:p>
            <a:pPr lvl="1"/>
            <a:r>
              <a:rPr lang="en-US" dirty="0"/>
              <a:t>Gross margin: gross profit/the extended sales dollar revenue;</a:t>
            </a:r>
          </a:p>
          <a:p>
            <a:pPr lvl="1"/>
            <a:r>
              <a:rPr lang="en-US" dirty="0"/>
              <a:t>Unit price;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79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7AE0-981C-9845-A8AB-530A7C5C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Fact Table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832F-7D27-4344-9BEB-6437E177C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Factless</a:t>
            </a:r>
            <a:r>
              <a:rPr lang="en-US" i="1" dirty="0"/>
              <a:t> Fact Tables </a:t>
            </a:r>
            <a:endParaRPr lang="en-US" dirty="0"/>
          </a:p>
          <a:p>
            <a:pPr lvl="1"/>
            <a:r>
              <a:rPr lang="en-US" dirty="0"/>
              <a:t>Used to analyze what didn’t happen. </a:t>
            </a:r>
          </a:p>
          <a:p>
            <a:pPr lvl="1"/>
            <a:endParaRPr lang="en-US" dirty="0"/>
          </a:p>
          <a:p>
            <a:r>
              <a:rPr lang="en-US" i="1" dirty="0"/>
              <a:t>Aggregate Fact Tables</a:t>
            </a:r>
            <a:endParaRPr lang="en-US" dirty="0"/>
          </a:p>
          <a:p>
            <a:pPr lvl="1"/>
            <a:r>
              <a:rPr lang="en-US" i="1" dirty="0"/>
              <a:t>Aggregate fact tables </a:t>
            </a:r>
            <a:r>
              <a:rPr lang="en-US" dirty="0"/>
              <a:t>are simple numeric rollups of atomic fact table data built solely to accelerate query performance.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962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816D-AAD9-EA4F-9AE3-CD5C11F8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EE1C-2183-944D-B1E1-04D131A97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64987"/>
            <a:ext cx="4988667" cy="4211976"/>
          </a:xfrm>
        </p:spPr>
        <p:txBody>
          <a:bodyPr>
            <a:normAutofit/>
          </a:bodyPr>
          <a:lstStyle/>
          <a:p>
            <a:r>
              <a:rPr lang="en-US" dirty="0"/>
              <a:t>What products were on promotion but did not sell? </a:t>
            </a:r>
          </a:p>
          <a:p>
            <a:pPr lvl="1"/>
            <a:r>
              <a:rPr lang="en-US" dirty="0"/>
              <a:t>One row for </a:t>
            </a:r>
            <a:r>
              <a:rPr lang="en-US" dirty="0">
                <a:solidFill>
                  <a:srgbClr val="FF0000"/>
                </a:solidFill>
              </a:rPr>
              <a:t>each product on promotion in a store each day </a:t>
            </a:r>
            <a:r>
              <a:rPr lang="en-US" dirty="0"/>
              <a:t>(or week, if retail promotions are a week in duration) </a:t>
            </a:r>
            <a:r>
              <a:rPr lang="en-US" dirty="0">
                <a:solidFill>
                  <a:srgbClr val="FF0000"/>
                </a:solidFill>
              </a:rPr>
              <a:t>regardless of whether the product sold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The relationship between the keys as defined by a promotion, independent of other events;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 measurement metrics</a:t>
            </a:r>
            <a:r>
              <a:rPr lang="en-US" dirty="0"/>
              <a:t>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5430C-6A2E-CB40-BAC1-5EA99CA61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671" y="2315183"/>
            <a:ext cx="6117068" cy="319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34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6502-6926-BD49-A1F6-707911657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Promotion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00E72-55E6-BE48-AD67-50AF58770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Which products were under promotion but did not sell?</a:t>
            </a:r>
          </a:p>
          <a:p>
            <a:pPr lvl="1"/>
            <a:r>
              <a:rPr lang="en-US" dirty="0"/>
              <a:t>Cannot answer! -&gt; POS sales fact table has only products that were sold;</a:t>
            </a:r>
          </a:p>
          <a:p>
            <a:r>
              <a:rPr lang="en-US" dirty="0" err="1"/>
              <a:t>Factless</a:t>
            </a:r>
            <a:r>
              <a:rPr lang="en-US" dirty="0"/>
              <a:t> Fact Table = has no measurement metrics -&gt; determine what product where on promotion but did not sell;</a:t>
            </a:r>
          </a:p>
          <a:p>
            <a:endParaRPr lang="en-US" dirty="0"/>
          </a:p>
          <a:p>
            <a:r>
              <a:rPr lang="en-US" dirty="0"/>
              <a:t>2 step processes to answer Q</a:t>
            </a:r>
          </a:p>
          <a:p>
            <a:pPr lvl="1"/>
            <a:r>
              <a:rPr lang="en-US" dirty="0"/>
              <a:t>Query the promotion coverage table;</a:t>
            </a:r>
          </a:p>
          <a:p>
            <a:pPr lvl="1"/>
            <a:r>
              <a:rPr lang="en-US" dirty="0"/>
              <a:t>Determine what products sold from the POS sales fact table</a:t>
            </a:r>
          </a:p>
          <a:p>
            <a:pPr lvl="1"/>
            <a:r>
              <a:rPr lang="en-US" dirty="0"/>
              <a:t>The answer is the set difference between the 2 lists of products;</a:t>
            </a:r>
          </a:p>
        </p:txBody>
      </p:sp>
    </p:spTree>
    <p:extLst>
      <p:ext uri="{BB962C8B-B14F-4D97-AF65-F5344CB8AC3E}">
        <p14:creationId xmlns:p14="http://schemas.microsoft.com/office/powerpoint/2010/main" val="1754338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3CCC-D3BB-CF4B-997B-BFA108901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Aggregate Fact Tables Examples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45CA7-1A43-D743-8703-79554C4A2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B66276-12EA-874C-9304-DC6EE90915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534894"/>
            <a:ext cx="5157787" cy="362495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7C857-2E32-2F4E-B57A-2E45344CB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Pre-aggregation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327585-E348-B640-B671-3B2235ACAE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17658" y="2505075"/>
            <a:ext cx="4692272" cy="3684588"/>
          </a:xfrm>
        </p:spPr>
      </p:pic>
    </p:spTree>
    <p:extLst>
      <p:ext uri="{BB962C8B-B14F-4D97-AF65-F5344CB8AC3E}">
        <p14:creationId xmlns:p14="http://schemas.microsoft.com/office/powerpoint/2010/main" val="397178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CDB7-FC77-6441-A7DF-25C539A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Fact Table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C507C-6DE9-FB42-B1D2-1F1BDB6B3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/>
              <a:t>Consolidated Fact Tables </a:t>
            </a:r>
            <a:r>
              <a:rPr lang="en-US" b="1" dirty="0"/>
              <a:t> </a:t>
            </a:r>
          </a:p>
          <a:p>
            <a:r>
              <a:rPr lang="en-US" altLang="en-US" dirty="0"/>
              <a:t>Fact tables populated from different sources may potentially be consolidated into single one</a:t>
            </a:r>
          </a:p>
          <a:p>
            <a:pPr lvl="1"/>
            <a:r>
              <a:rPr lang="en-US" altLang="en-US" dirty="0"/>
              <a:t>Level of granularity must be the same</a:t>
            </a:r>
          </a:p>
          <a:p>
            <a:pPr lvl="1"/>
            <a:r>
              <a:rPr lang="en-US" altLang="en-US" dirty="0"/>
              <a:t>Measurements are listed side-by-side</a:t>
            </a:r>
          </a:p>
          <a:p>
            <a:pPr lvl="1"/>
            <a:r>
              <a:rPr lang="en-US" altLang="en-US" dirty="0"/>
              <a:t>Example: by combining forecast and actual sales amounts, a forecast/actual sales variance amount can be easily calculated and stored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769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DFB4-326D-8845-AC22-E3C8E983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09168-6EFF-F74E-9043-44861CB36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Dimension Table Structure </a:t>
            </a:r>
            <a:endParaRPr lang="en-US" sz="3200" dirty="0"/>
          </a:p>
          <a:p>
            <a:pPr lvl="1"/>
            <a:r>
              <a:rPr lang="en-US" sz="2800" dirty="0"/>
              <a:t>Every dimension table has </a:t>
            </a:r>
            <a:r>
              <a:rPr lang="en-US" sz="2800" i="1" dirty="0">
                <a:solidFill>
                  <a:srgbClr val="FF0000"/>
                </a:solidFill>
              </a:rPr>
              <a:t>a single primary key </a:t>
            </a:r>
            <a:r>
              <a:rPr lang="en-US" sz="2800" dirty="0"/>
              <a:t>column. </a:t>
            </a:r>
          </a:p>
          <a:p>
            <a:pPr lvl="1"/>
            <a:r>
              <a:rPr lang="en-US" sz="2800" dirty="0"/>
              <a:t>Dimension tables are usually </a:t>
            </a:r>
            <a:r>
              <a:rPr lang="en-US" sz="2800" dirty="0">
                <a:solidFill>
                  <a:srgbClr val="FF0000"/>
                </a:solidFill>
              </a:rPr>
              <a:t>wide, flat denormalized tables </a:t>
            </a:r>
            <a:r>
              <a:rPr lang="en-US" sz="2800" dirty="0"/>
              <a:t>with many low-cardinality text attributes. </a:t>
            </a:r>
          </a:p>
          <a:p>
            <a:pPr lvl="1"/>
            <a:r>
              <a:rPr lang="en-US" sz="2800" dirty="0"/>
              <a:t>The most powerful dimension attributes are populated with </a:t>
            </a:r>
            <a:r>
              <a:rPr lang="en-US" sz="2800" dirty="0">
                <a:solidFill>
                  <a:srgbClr val="FF0000"/>
                </a:solidFill>
              </a:rPr>
              <a:t>verbose descriptions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Dimension table attributes are the primary target of </a:t>
            </a:r>
            <a:r>
              <a:rPr lang="en-US" sz="2800" dirty="0">
                <a:solidFill>
                  <a:srgbClr val="FF0000"/>
                </a:solidFill>
              </a:rPr>
              <a:t>constraints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grouping specifications </a:t>
            </a:r>
            <a:r>
              <a:rPr lang="en-US" sz="2800" dirty="0"/>
              <a:t>from queries and BI applications.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64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B4D8-29FB-5F4B-8FF2-D26698E6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AA4C4-6A84-424C-BC5C-516BBBD41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Dimension Surrogate Keys </a:t>
            </a:r>
            <a:endParaRPr lang="en-US" sz="3200" dirty="0"/>
          </a:p>
          <a:p>
            <a:pPr lvl="1"/>
            <a:r>
              <a:rPr lang="en-US" sz="2800" dirty="0"/>
              <a:t>A dimension table is designed with one column serving as a unique </a:t>
            </a:r>
            <a:r>
              <a:rPr lang="en-US" sz="2800" b="1" dirty="0">
                <a:solidFill>
                  <a:srgbClr val="FF0000"/>
                </a:solidFill>
              </a:rPr>
              <a:t>primary key</a:t>
            </a:r>
            <a:r>
              <a:rPr lang="en-US" sz="2800" dirty="0"/>
              <a:t>. </a:t>
            </a:r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Natural keys </a:t>
            </a:r>
            <a:r>
              <a:rPr lang="en-US" sz="2800" dirty="0"/>
              <a:t>for a dimension may be incompatible or poorly administered. </a:t>
            </a:r>
          </a:p>
          <a:p>
            <a:pPr lvl="1"/>
            <a:r>
              <a:rPr lang="en-US" sz="2800" dirty="0"/>
              <a:t>Create anonymous </a:t>
            </a:r>
            <a:r>
              <a:rPr lang="en-US" sz="2800" b="1" dirty="0">
                <a:solidFill>
                  <a:srgbClr val="FF0000"/>
                </a:solidFill>
              </a:rPr>
              <a:t>integer primary keys </a:t>
            </a:r>
            <a:r>
              <a:rPr lang="en-US" sz="2800" dirty="0"/>
              <a:t>for every dimension: </a:t>
            </a:r>
            <a:r>
              <a:rPr lang="en-US" sz="2800" b="1" i="1" dirty="0"/>
              <a:t>dimension surrogate keys </a:t>
            </a:r>
            <a:r>
              <a:rPr lang="en-US" sz="2800" dirty="0"/>
              <a:t>are simple integers, assigned in sequence, starting with the value 1, every time a new key is needed. </a:t>
            </a:r>
          </a:p>
          <a:p>
            <a:pPr lvl="1"/>
            <a:r>
              <a:rPr lang="en-US" sz="2800" dirty="0"/>
              <a:t>The </a:t>
            </a:r>
            <a:r>
              <a:rPr lang="en-US" sz="2800" b="1" dirty="0">
                <a:solidFill>
                  <a:srgbClr val="FF0000"/>
                </a:solidFill>
              </a:rPr>
              <a:t>date dimension </a:t>
            </a:r>
            <a:r>
              <a:rPr lang="en-US" sz="2800" dirty="0"/>
              <a:t>is exempt from the surrogate key rule;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50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7631-7575-3244-94AA-F0722C75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DA68-5FC2-6248-9DFC-76BA0E661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Natural, Durable Keys </a:t>
            </a:r>
            <a:endParaRPr lang="en-US" sz="3200" dirty="0"/>
          </a:p>
          <a:p>
            <a:pPr lvl="1"/>
            <a:r>
              <a:rPr lang="en-US" sz="2800" b="1" i="1" dirty="0"/>
              <a:t>Natural keys </a:t>
            </a:r>
            <a:r>
              <a:rPr lang="en-US" sz="2800" dirty="0"/>
              <a:t>created by operational source systems are subject to business rules outside the control of the DW/BI system. </a:t>
            </a:r>
          </a:p>
          <a:p>
            <a:pPr lvl="1"/>
            <a:r>
              <a:rPr lang="en-US" sz="2800" b="1" i="1" dirty="0"/>
              <a:t>Durable keys</a:t>
            </a:r>
            <a:r>
              <a:rPr lang="en-US" sz="2800" i="1" dirty="0"/>
              <a:t> </a:t>
            </a:r>
            <a:r>
              <a:rPr lang="en-US" sz="2800" dirty="0"/>
              <a:t>are mandatory for dealing with ambiguities in the source system natural </a:t>
            </a:r>
            <a:r>
              <a:rPr lang="en-US" sz="2800" b="1" dirty="0"/>
              <a:t>keys</a:t>
            </a:r>
            <a:r>
              <a:rPr lang="en-US" sz="2800" dirty="0"/>
              <a:t>. </a:t>
            </a:r>
          </a:p>
          <a:p>
            <a:pPr lvl="2"/>
            <a:r>
              <a:rPr lang="en-US" sz="2400" dirty="0">
                <a:solidFill>
                  <a:srgbClr val="FF0000"/>
                </a:solidFill>
              </a:rPr>
              <a:t>Independent </a:t>
            </a:r>
            <a:r>
              <a:rPr lang="en-US" sz="2400" dirty="0"/>
              <a:t>of the original business process and thus should be simple integers assigned in sequence beginning with 1;</a:t>
            </a:r>
          </a:p>
          <a:p>
            <a:pPr lvl="2"/>
            <a:r>
              <a:rPr lang="en-US" sz="2400" dirty="0"/>
              <a:t>Multiple surrogate keys may be associated with an employee over time as their profile changes, the durable key </a:t>
            </a:r>
            <a:r>
              <a:rPr lang="en-US" sz="2400" dirty="0">
                <a:solidFill>
                  <a:srgbClr val="FF0000"/>
                </a:solidFill>
              </a:rPr>
              <a:t>never changes</a:t>
            </a:r>
            <a:r>
              <a:rPr lang="en-US" sz="2400" dirty="0"/>
              <a:t>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96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46C6-D183-F442-B5CF-17987CFB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205183-665F-DB4E-AF19-E7BC9A396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3816" y="2049362"/>
            <a:ext cx="3590137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795A43-CF9A-2645-AFC8-873DBD413C62}"/>
              </a:ext>
            </a:extLst>
          </p:cNvPr>
          <p:cNvSpPr txBox="1"/>
          <p:nvPr/>
        </p:nvSpPr>
        <p:spPr>
          <a:xfrm>
            <a:off x="1186774" y="1952085"/>
            <a:ext cx="4398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Primary Key and Natural Key </a:t>
            </a:r>
          </a:p>
        </p:txBody>
      </p:sp>
    </p:spTree>
    <p:extLst>
      <p:ext uri="{BB962C8B-B14F-4D97-AF65-F5344CB8AC3E}">
        <p14:creationId xmlns:p14="http://schemas.microsoft.com/office/powerpoint/2010/main" val="734666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3609-72AB-6F44-85B4-E83A1B64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B8B0-93AF-894D-950A-06135578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Drilling Down </a:t>
            </a:r>
            <a:endParaRPr lang="en-US" dirty="0"/>
          </a:p>
          <a:p>
            <a:pPr lvl="1"/>
            <a:r>
              <a:rPr lang="en-US" dirty="0"/>
              <a:t>Adding </a:t>
            </a:r>
            <a:r>
              <a:rPr lang="en-US" dirty="0">
                <a:solidFill>
                  <a:srgbClr val="FF0000"/>
                </a:solidFill>
              </a:rPr>
              <a:t>a row header </a:t>
            </a:r>
            <a:r>
              <a:rPr lang="en-US" dirty="0"/>
              <a:t>to an existing query;</a:t>
            </a:r>
          </a:p>
          <a:p>
            <a:pPr lvl="1"/>
            <a:r>
              <a:rPr lang="en-US" dirty="0"/>
              <a:t>The new row header is a dimension attribute appended to the </a:t>
            </a:r>
            <a:r>
              <a:rPr lang="en-US" dirty="0">
                <a:solidFill>
                  <a:srgbClr val="FF0000"/>
                </a:solidFill>
              </a:rPr>
              <a:t>GROUP BY</a:t>
            </a:r>
            <a:r>
              <a:rPr lang="en-US" dirty="0"/>
              <a:t> expression in an SQL query;</a:t>
            </a:r>
          </a:p>
          <a:p>
            <a:pPr lvl="1"/>
            <a:r>
              <a:rPr lang="en-US" dirty="0"/>
              <a:t>The attribute can come from </a:t>
            </a:r>
            <a:r>
              <a:rPr lang="en-US" dirty="0">
                <a:solidFill>
                  <a:srgbClr val="FF0000"/>
                </a:solidFill>
              </a:rPr>
              <a:t>any dimension</a:t>
            </a:r>
            <a:r>
              <a:rPr lang="en-US" dirty="0"/>
              <a:t> attached to the </a:t>
            </a:r>
            <a:r>
              <a:rPr lang="en-US" dirty="0">
                <a:solidFill>
                  <a:srgbClr val="FF0000"/>
                </a:solidFill>
              </a:rPr>
              <a:t>fact table </a:t>
            </a:r>
            <a:r>
              <a:rPr lang="en-US" dirty="0"/>
              <a:t>in the query.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380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69122-811A-1147-8760-F4519358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77" y="88581"/>
            <a:ext cx="10515600" cy="1325563"/>
          </a:xfrm>
        </p:spPr>
        <p:txBody>
          <a:bodyPr/>
          <a:lstStyle/>
          <a:p>
            <a:r>
              <a:rPr lang="en-US" dirty="0"/>
              <a:t>Retail Case Study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1AEBD1D-1F9E-4B40-8226-6B1133AB0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7938" y="1698744"/>
            <a:ext cx="2820142" cy="1080919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6DF174-8879-7747-A69E-FD785A3C2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86" y="1063949"/>
            <a:ext cx="8734344" cy="27987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3795CC-6BAB-124F-B6B3-2F2922CBC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89" y="3959107"/>
            <a:ext cx="4546159" cy="27324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39662E-5A16-2C4C-8129-2A5563151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849" y="4243707"/>
            <a:ext cx="4546160" cy="216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2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ABDC-0C3E-9747-8340-81052782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42DB0-60E3-AD40-9E2C-585202A13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Degenerate Dimensions </a:t>
            </a:r>
            <a:endParaRPr lang="en-US" sz="3200" dirty="0"/>
          </a:p>
          <a:p>
            <a:pPr lvl="1"/>
            <a:r>
              <a:rPr lang="en-US" sz="2800" i="1" dirty="0"/>
              <a:t>Degenerate dimension </a:t>
            </a:r>
            <a:r>
              <a:rPr lang="en-US" sz="2800" dirty="0"/>
              <a:t>is placed in the fact table that there is no associated dimension table. </a:t>
            </a:r>
          </a:p>
          <a:p>
            <a:r>
              <a:rPr lang="en-US" sz="3200" i="1" dirty="0"/>
              <a:t>Denormalized Flattened Dimensions </a:t>
            </a:r>
            <a:endParaRPr lang="en-US" sz="3200" dirty="0"/>
          </a:p>
          <a:p>
            <a:pPr lvl="1"/>
            <a:r>
              <a:rPr lang="en-US" sz="2800" dirty="0" err="1"/>
              <a:t>Denormalize</a:t>
            </a:r>
            <a:r>
              <a:rPr lang="en-US" sz="2800" dirty="0"/>
              <a:t> the many-to-one fixed depth hierarchies into separate attributes on a flattened dimension row.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23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BDBC-B9C8-6C4F-8971-E382D1C4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047F-EB8A-0243-AEDD-069893EB6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8557" cy="4351338"/>
          </a:xfrm>
        </p:spPr>
        <p:txBody>
          <a:bodyPr>
            <a:normAutofit/>
          </a:bodyPr>
          <a:lstStyle/>
          <a:p>
            <a:r>
              <a:rPr lang="en-US" dirty="0"/>
              <a:t>Degenerate Dimensions for Transaction Numbers </a:t>
            </a:r>
          </a:p>
          <a:p>
            <a:pPr lvl="1"/>
            <a:r>
              <a:rPr lang="en-US" dirty="0"/>
              <a:t>The retail sales fact table includes the </a:t>
            </a:r>
            <a:r>
              <a:rPr lang="en-US" dirty="0">
                <a:solidFill>
                  <a:srgbClr val="FF0000"/>
                </a:solidFill>
              </a:rPr>
              <a:t>POS transaction number </a:t>
            </a:r>
            <a:r>
              <a:rPr lang="en-US" dirty="0"/>
              <a:t>on every line item row. </a:t>
            </a:r>
          </a:p>
          <a:p>
            <a:pPr lvl="1"/>
            <a:r>
              <a:rPr lang="en-US" dirty="0"/>
              <a:t>In the DBMS, POS transaction number is </a:t>
            </a:r>
            <a:r>
              <a:rPr lang="en-US" dirty="0">
                <a:solidFill>
                  <a:srgbClr val="FF0000"/>
                </a:solidFill>
              </a:rPr>
              <a:t>key to the transaction records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In the dimensional model, POS transaction number is used for (</a:t>
            </a:r>
            <a:r>
              <a:rPr lang="en-US" dirty="0">
                <a:solidFill>
                  <a:srgbClr val="FF0000"/>
                </a:solidFill>
              </a:rPr>
              <a:t>1) grouping key</a:t>
            </a:r>
            <a:r>
              <a:rPr lang="en-US" dirty="0"/>
              <a:t>; </a:t>
            </a:r>
            <a:r>
              <a:rPr lang="en-US" dirty="0">
                <a:solidFill>
                  <a:srgbClr val="FF0000"/>
                </a:solidFill>
              </a:rPr>
              <a:t>(2) track back to the operating system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Denoted as </a:t>
            </a:r>
            <a:r>
              <a:rPr lang="en-US" i="1" dirty="0">
                <a:solidFill>
                  <a:srgbClr val="FF0000"/>
                </a:solidFill>
              </a:rPr>
              <a:t>degenerate dimension </a:t>
            </a:r>
            <a:r>
              <a:rPr lang="en-US" dirty="0">
                <a:solidFill>
                  <a:srgbClr val="FF0000"/>
                </a:solidFill>
              </a:rPr>
              <a:t>(DD)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8AD55-5304-4B4B-AE82-CABCA1E81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683" y="791453"/>
            <a:ext cx="3347666" cy="492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0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CE7C-64AC-544A-B203-2655569B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3BCC2-5287-B348-8D48-58EBC21B2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Demission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D15B7-1628-1B49-AE77-4E4D7D31F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08" y="2699125"/>
            <a:ext cx="8112855" cy="2604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ABBB7-9C53-1945-A0DD-222713467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663" y="845344"/>
            <a:ext cx="327540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15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A068-D994-8143-9D50-FA89A5DF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748C5-9BF0-D14D-A483-EBD18BB1C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Multiple Hierarchies in Dimensions </a:t>
            </a:r>
            <a:endParaRPr lang="en-US" sz="3200" dirty="0"/>
          </a:p>
          <a:p>
            <a:pPr lvl="1"/>
            <a:r>
              <a:rPr lang="en-US" sz="2800" dirty="0"/>
              <a:t>Many dimensions contain more than one natural hierarchy. </a:t>
            </a:r>
          </a:p>
          <a:p>
            <a:pPr lvl="1"/>
            <a:r>
              <a:rPr lang="en-US" sz="2800" dirty="0"/>
              <a:t>A day to week to fiscal period hierarchy or a day to month to year hierarchy. </a:t>
            </a:r>
          </a:p>
          <a:p>
            <a:pPr lvl="1"/>
            <a:r>
              <a:rPr lang="en-US" sz="2800" dirty="0"/>
              <a:t>The separate hierarchies can coexist in the same dimension table. </a:t>
            </a:r>
          </a:p>
          <a:p>
            <a:r>
              <a:rPr lang="en-US" sz="3200" i="1" dirty="0"/>
              <a:t>Flags and Indicators as Textual Attributes </a:t>
            </a:r>
            <a:endParaRPr lang="en-US" sz="3200" dirty="0"/>
          </a:p>
          <a:p>
            <a:pPr lvl="1"/>
            <a:r>
              <a:rPr lang="en-US" sz="2800" dirty="0"/>
              <a:t>Cryptic abbreviations, true/false flags, and operational indicators;</a:t>
            </a:r>
          </a:p>
          <a:p>
            <a:pPr lvl="1"/>
            <a:r>
              <a:rPr lang="en-US" sz="2800" dirty="0"/>
              <a:t>Be supplemented in dimension tables with full text words;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368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8160-5C16-2349-88DF-37D6F7F0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E120-54E2-3E48-B6B2-5E141E139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3073" cy="4351338"/>
          </a:xfrm>
        </p:spPr>
        <p:txBody>
          <a:bodyPr/>
          <a:lstStyle/>
          <a:p>
            <a:r>
              <a:rPr lang="en-US" dirty="0"/>
              <a:t>Store Dimension </a:t>
            </a:r>
          </a:p>
          <a:p>
            <a:pPr lvl="1"/>
            <a:r>
              <a:rPr lang="en-US" dirty="0"/>
              <a:t>Describe every store in grocery chain;</a:t>
            </a:r>
          </a:p>
          <a:p>
            <a:pPr lvl="1"/>
            <a:r>
              <a:rPr lang="en-US" dirty="0"/>
              <a:t>Possible to represent multiple hierarchies in a dimension table;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F6938-9E3A-E949-9706-5D9D8737B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842" y="1138960"/>
            <a:ext cx="349912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72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DEE3-6271-8540-8D70-AB091984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3417A-BD5A-C74F-B0CA-033825519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685" y="1690688"/>
            <a:ext cx="8440668" cy="2401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1B929D-85D0-6B42-8F8E-9AA982058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928" y="4126489"/>
            <a:ext cx="8162182" cy="236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54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7F99-EB82-064E-9DCF-F3C1052D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08BF-5734-3445-BFE6-2C63AF346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Null Attributes in Dimensions </a:t>
            </a:r>
            <a:endParaRPr lang="en-US" sz="3200" dirty="0"/>
          </a:p>
          <a:p>
            <a:pPr lvl="1"/>
            <a:r>
              <a:rPr lang="en-US" sz="2800" dirty="0"/>
              <a:t>When a given dimension row has not been fully populated;</a:t>
            </a:r>
          </a:p>
          <a:p>
            <a:pPr lvl="1"/>
            <a:r>
              <a:rPr lang="en-US" sz="2800" dirty="0"/>
              <a:t>When there are attributes that are not applicable to all the dimension’s rows;</a:t>
            </a:r>
          </a:p>
          <a:p>
            <a:pPr lvl="1"/>
            <a:r>
              <a:rPr lang="en-US" sz="2800" dirty="0"/>
              <a:t>Unknown or Not Applicable </a:t>
            </a:r>
          </a:p>
          <a:p>
            <a:pPr lvl="1"/>
            <a:r>
              <a:rPr lang="en-US" sz="2800" dirty="0"/>
              <a:t>Nulls in dimension attributes should be avoided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755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B0DC-74A3-6545-A2BA-EA13CD8E5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9E1B-D400-8042-BDCC-CEF3393BB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Promotion Dimension </a:t>
            </a:r>
          </a:p>
          <a:p>
            <a:r>
              <a:rPr lang="en-US" dirty="0"/>
              <a:t>Many sales transactions include products that are not being promoted;</a:t>
            </a:r>
          </a:p>
          <a:p>
            <a:r>
              <a:rPr lang="en-US" dirty="0"/>
              <a:t>The promotion dimension must include a row, with a unique key such as 0 or –1;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1C970-9EF4-DF44-A003-4F0C815B5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85" y="565150"/>
            <a:ext cx="5181600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6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A90B-94E3-0F49-8E79-1830AEE7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Dimension Table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D275B-F364-0340-8613-DCDBE00C2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/>
              <a:t>Calendar Date Dimensions </a:t>
            </a:r>
          </a:p>
          <a:p>
            <a:pPr lvl="1"/>
            <a:r>
              <a:rPr lang="en-US" sz="2800" i="1" dirty="0"/>
              <a:t>Calendar date dimensions </a:t>
            </a:r>
            <a:r>
              <a:rPr lang="en-US" sz="2800" dirty="0"/>
              <a:t>are attached to virtually </a:t>
            </a:r>
            <a:r>
              <a:rPr lang="en-US" sz="2800" dirty="0">
                <a:solidFill>
                  <a:srgbClr val="FF0000"/>
                </a:solidFill>
              </a:rPr>
              <a:t>every fact table </a:t>
            </a:r>
            <a:r>
              <a:rPr lang="en-US" sz="2800" dirty="0"/>
              <a:t>to allow navigation of the fact table through dates, months, fiscal periods, and special days on the calendar. </a:t>
            </a:r>
          </a:p>
          <a:p>
            <a:pPr lvl="1"/>
            <a:r>
              <a:rPr lang="en-US" sz="2800" dirty="0"/>
              <a:t>Attributes describing characteristics such as </a:t>
            </a:r>
            <a:r>
              <a:rPr lang="en-US" sz="2800" dirty="0">
                <a:solidFill>
                  <a:srgbClr val="FF0000"/>
                </a:solidFill>
              </a:rPr>
              <a:t>week number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month name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fiscal period</a:t>
            </a:r>
            <a:r>
              <a:rPr lang="en-US" sz="2800" dirty="0"/>
              <a:t>, and </a:t>
            </a:r>
            <a:r>
              <a:rPr lang="en-US" sz="2800" dirty="0">
                <a:solidFill>
                  <a:srgbClr val="FF0000"/>
                </a:solidFill>
              </a:rPr>
              <a:t>national holiday indicator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Primary key: </a:t>
            </a:r>
            <a:r>
              <a:rPr lang="en-US" sz="2800" dirty="0">
                <a:solidFill>
                  <a:srgbClr val="FF0000"/>
                </a:solidFill>
              </a:rPr>
              <a:t>YYYYMMDD</a:t>
            </a:r>
            <a:r>
              <a:rPr lang="en-US" sz="2800" dirty="0"/>
              <a:t>;</a:t>
            </a:r>
          </a:p>
          <a:p>
            <a:pPr lvl="1"/>
            <a:r>
              <a:rPr lang="en-US" sz="2800" dirty="0"/>
              <a:t>A special row to represent unknown or to-be-determined dates;</a:t>
            </a:r>
          </a:p>
          <a:p>
            <a:pPr lvl="1"/>
            <a:r>
              <a:rPr lang="en-US" sz="2800" dirty="0"/>
              <a:t>Sometimes, add a separate </a:t>
            </a:r>
            <a:r>
              <a:rPr lang="en-US" sz="2800" dirty="0">
                <a:solidFill>
                  <a:srgbClr val="FF0000"/>
                </a:solidFill>
              </a:rPr>
              <a:t>time-of-day dimension foreign key </a:t>
            </a:r>
            <a:r>
              <a:rPr lang="en-US" sz="2800" dirty="0"/>
              <a:t>to the fact table;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436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0BBA-8C87-1841-BAC1-E7AC09E9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E529-6ABB-0D4E-9722-60012537C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 Demission: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BDAD0-1320-1946-8FC5-1D4AE3CC0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733" y="0"/>
            <a:ext cx="33696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3F2070-41D5-2C46-B592-2E9FA6F1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6" y="2762655"/>
            <a:ext cx="8440668" cy="240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680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C22-BAF1-FB48-98DB-90EC93F6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C8CC-1430-7C44-9D1B-A85BDFC40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Associated with almost every fact table;</a:t>
            </a:r>
          </a:p>
          <a:p>
            <a:r>
              <a:rPr lang="en-US" dirty="0"/>
              <a:t>User verbose -&gt; self-explanatory values rather than codes values</a:t>
            </a:r>
          </a:p>
          <a:p>
            <a:pPr lvl="1"/>
            <a:r>
              <a:rPr lang="en-US" dirty="0"/>
              <a:t>Ex. Holiday indicator by using </a:t>
            </a:r>
            <a:r>
              <a:rPr lang="en-US" dirty="0">
                <a:solidFill>
                  <a:srgbClr val="FF0000"/>
                </a:solidFill>
              </a:rPr>
              <a:t>holiday and nonholiday </a:t>
            </a:r>
            <a:r>
              <a:rPr lang="en-US" dirty="0"/>
              <a:t>instead of using </a:t>
            </a:r>
            <a:r>
              <a:rPr lang="en-US" dirty="0">
                <a:solidFill>
                  <a:srgbClr val="FF0000"/>
                </a:solidFill>
              </a:rPr>
              <a:t>Y and N</a:t>
            </a:r>
            <a:r>
              <a:rPr lang="en-US" dirty="0"/>
              <a:t>;</a:t>
            </a:r>
          </a:p>
          <a:p>
            <a:r>
              <a:rPr lang="en-US" dirty="0"/>
              <a:t>Date Key should be 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/>
              <a:t> rather than date type;</a:t>
            </a:r>
          </a:p>
          <a:p>
            <a:r>
              <a:rPr lang="en-US" dirty="0"/>
              <a:t>If transaction time is of interest -&gt; </a:t>
            </a:r>
            <a:r>
              <a:rPr lang="en-US" dirty="0">
                <a:solidFill>
                  <a:srgbClr val="FF0000"/>
                </a:solidFill>
              </a:rPr>
              <a:t>Time dimensional </a:t>
            </a:r>
            <a:r>
              <a:rPr lang="en-US" dirty="0"/>
              <a:t>table;</a:t>
            </a:r>
          </a:p>
        </p:txBody>
      </p:sp>
    </p:spTree>
    <p:extLst>
      <p:ext uri="{BB962C8B-B14F-4D97-AF65-F5344CB8AC3E}">
        <p14:creationId xmlns:p14="http://schemas.microsoft.com/office/powerpoint/2010/main" val="4236763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745F-0857-6445-8481-3E5E2D00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Dimension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4C993-8461-EE4C-BF6B-D742A8A86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explicit date dimension table is needed?</a:t>
            </a:r>
          </a:p>
          <a:p>
            <a:r>
              <a:rPr lang="en-US" dirty="0"/>
              <a:t>(1). Because relational database </a:t>
            </a:r>
            <a:r>
              <a:rPr lang="en-US" dirty="0">
                <a:solidFill>
                  <a:srgbClr val="FF0000"/>
                </a:solidFill>
              </a:rPr>
              <a:t>cannot handle </a:t>
            </a:r>
            <a:r>
              <a:rPr lang="en-US" dirty="0"/>
              <a:t>an efficient join to the date dimension table;</a:t>
            </a:r>
          </a:p>
          <a:p>
            <a:r>
              <a:rPr lang="en-US" dirty="0"/>
              <a:t>(2). Because most database </a:t>
            </a:r>
            <a:r>
              <a:rPr lang="en-US" dirty="0">
                <a:solidFill>
                  <a:srgbClr val="FF0000"/>
                </a:solidFill>
              </a:rPr>
              <a:t>do not index </a:t>
            </a:r>
            <a:r>
              <a:rPr lang="en-US" dirty="0"/>
              <a:t>SQL date calculation;</a:t>
            </a:r>
          </a:p>
        </p:txBody>
      </p:sp>
    </p:spTree>
    <p:extLst>
      <p:ext uri="{BB962C8B-B14F-4D97-AF65-F5344CB8AC3E}">
        <p14:creationId xmlns:p14="http://schemas.microsoft.com/office/powerpoint/2010/main" val="298150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3869</TotalTime>
  <Words>2175</Words>
  <Application>Microsoft Macintosh PowerPoint</Application>
  <PresentationFormat>Widescreen</PresentationFormat>
  <Paragraphs>255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Introduction to Dimensional Modeling I</vt:lpstr>
      <vt:lpstr>Dimensional Modeling Technique Overview</vt:lpstr>
      <vt:lpstr>Dimensional Modeling Technique Overview</vt:lpstr>
      <vt:lpstr>Dimensional Modeling Technique Overview</vt:lpstr>
      <vt:lpstr>Business Processes </vt:lpstr>
      <vt:lpstr>Grain </vt:lpstr>
      <vt:lpstr>Grain </vt:lpstr>
      <vt:lpstr>Dimensions for Descriptive Context </vt:lpstr>
      <vt:lpstr>Facts for Measurements </vt:lpstr>
      <vt:lpstr>Retail Case Study</vt:lpstr>
      <vt:lpstr>Retail Case Study</vt:lpstr>
      <vt:lpstr>Retail Case Study</vt:lpstr>
      <vt:lpstr>Retail Case Study</vt:lpstr>
      <vt:lpstr>Retail Case Study</vt:lpstr>
      <vt:lpstr>Basic Fact Table Techniques </vt:lpstr>
      <vt:lpstr>Star Schemas and OLAP Cubes </vt:lpstr>
      <vt:lpstr>Basic Fact Table Techniques </vt:lpstr>
      <vt:lpstr>Basic Fact Table Techniques </vt:lpstr>
      <vt:lpstr>Additive Facts V.S. Non-Additive Facts</vt:lpstr>
      <vt:lpstr>Retail Case Study</vt:lpstr>
      <vt:lpstr>Basic Fact Table Techniques</vt:lpstr>
      <vt:lpstr>Retail Case Study</vt:lpstr>
      <vt:lpstr>Promotion Dimension</vt:lpstr>
      <vt:lpstr>Aggregate Fact Tables Examples</vt:lpstr>
      <vt:lpstr>Basic Fact Table Techniques</vt:lpstr>
      <vt:lpstr>Basic Dimension Table Techniques </vt:lpstr>
      <vt:lpstr>Basic Dimension Table Techniques </vt:lpstr>
      <vt:lpstr>Basic Dimension Table Techniques </vt:lpstr>
      <vt:lpstr>Retail Case Study</vt:lpstr>
      <vt:lpstr>Basic Dimension Table Techniques </vt:lpstr>
      <vt:lpstr>Retail Case Study</vt:lpstr>
      <vt:lpstr>Basic Dimension Table Techniques </vt:lpstr>
      <vt:lpstr>Retail Case Study</vt:lpstr>
      <vt:lpstr>Retail Case Study</vt:lpstr>
      <vt:lpstr>Basic Dimension Table Techniques </vt:lpstr>
      <vt:lpstr>Retail Case Study</vt:lpstr>
      <vt:lpstr>Retail Case Study</vt:lpstr>
      <vt:lpstr>Basic Dimension Table Techniques </vt:lpstr>
      <vt:lpstr>Retail Case Study</vt:lpstr>
      <vt:lpstr>Basic Dimension Table Techniques </vt:lpstr>
      <vt:lpstr>Retail Case Study</vt:lpstr>
      <vt:lpstr>Date Dimension</vt:lpstr>
      <vt:lpstr>Date Dimension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Dimensional Modeling</dc:title>
  <dc:creator>Microsoft Office User</dc:creator>
  <cp:lastModifiedBy>Microsoft Office User</cp:lastModifiedBy>
  <cp:revision>141</cp:revision>
  <dcterms:created xsi:type="dcterms:W3CDTF">2020-08-11T03:17:13Z</dcterms:created>
  <dcterms:modified xsi:type="dcterms:W3CDTF">2020-08-26T18:22:17Z</dcterms:modified>
</cp:coreProperties>
</file>