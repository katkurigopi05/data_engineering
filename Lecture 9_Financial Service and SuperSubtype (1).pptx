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2" r:id="rId3"/>
    <p:sldId id="284" r:id="rId4"/>
    <p:sldId id="285" r:id="rId5"/>
    <p:sldId id="257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  <p:sldId id="295" r:id="rId16"/>
    <p:sldId id="306" r:id="rId17"/>
    <p:sldId id="296" r:id="rId18"/>
    <p:sldId id="297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7" r:id="rId27"/>
    <p:sldId id="308" r:id="rId28"/>
    <p:sldId id="309" r:id="rId29"/>
    <p:sldId id="310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24"/>
    <p:restoredTop sz="94867"/>
  </p:normalViewPr>
  <p:slideViewPr>
    <p:cSldViewPr snapToGrid="0" snapToObjects="1">
      <p:cViewPr varScale="1">
        <p:scale>
          <a:sx n="112" d="100"/>
          <a:sy n="112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EAFECE-BD46-7140-863C-2F619AD591F5}" type="datetimeFigureOut">
              <a:rPr lang="en-US" smtClean="0"/>
              <a:t>11/6/23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90198C-12DC-324F-AA31-A12FD797F4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4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48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39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835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BDA9A7-EDD5-46DD-BDFE-4DE7991E563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7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ECE46-8DEC-BF49-B418-0633BE7FE3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90BC9-3CEA-C14C-AC60-DA250E0B86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800FD-974D-EC4F-8025-D6F3888D7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7C5C2-5B29-054D-AE70-5252740F2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00BEC-3518-EB48-AD41-34186CCA0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31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BDEE6-4574-614A-860C-DBD3D0079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ED8D9-9F69-004A-B9F2-C9914453B4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2329A-6D52-AE4E-9023-BA8FD9231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73548-263E-BE41-822A-6C08C602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75A46-274B-1149-9679-0475122B8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982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0994B-83CA-2F4A-A42F-28063A0E8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B7BA20-9436-404A-9BEC-3C231A8BF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23264F-40C8-6943-BA0B-AFBEF859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539EC-E1E2-0F4A-A09F-C9AC5BC94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C19AE7-744D-2049-A0E2-CB978EEB4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760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0F1BC-3143-9948-B551-B6531FB3F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85807-A6A3-BA40-9A9B-872E7E622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30AB41-C04C-9746-80D3-7BADE9EAB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797B3-A1F4-7645-A80A-E2B5BBCE3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EF2C02-6BDC-2F45-BDF5-4396BF425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DC00E-0AC0-AF43-8BA8-4D651870B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103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7CB05-34FB-C846-A4CA-847724225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91748-6AD3-834A-9E3D-4D7F789D3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BDD2DB-01A1-284C-8D71-7E6511E55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3ACEE9-2E28-B942-B8D2-DD5CEF947D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12DC3D-0328-A340-970C-20107F5F42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B43BDA-5B91-C84B-A493-692D899F8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50682A-1A9E-3145-99F5-F7FD64F85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9A2F30-60E7-D94B-BA03-21051143D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4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AF69-CD6C-9B4B-A45F-97525F57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A2C3A3-9584-2541-B01A-06C7FEE4D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79F276-5996-8C45-9577-972DB83F0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73656-2631-E241-A43B-A7A0878DA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508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76E426-BAD5-9043-AA0F-796696E11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430D18-BB8C-4949-9E56-A7FA2E9A5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02141-E6BC-D040-B05A-97CE5C5E4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184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20E8-E769-F643-85A9-30C3A3387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D3854-FA00-2740-A4F1-1722433F5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443A9-8A26-2D4F-A270-0FD6E159D3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3950D-0F77-BD49-8B0C-46C971DD9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28982-A38C-4A4B-8940-5DF89807F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714936-3057-544A-9FAC-8E6702B31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621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74E1E-4951-C445-AE2B-3DFDA6521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E840FC-A0B8-854D-AA56-DF22AF6270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1675A3-D620-5944-9039-394D5F5BB0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54DE0-A36C-AB49-89EB-7B299B718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D4F711-E4E1-A74B-A6DD-454E8401D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752851-708E-C942-91B4-5A0B7419C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26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05459-A238-AB42-973D-DD24F9B86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1A0468-CD4D-2D43-92E7-28A15B8F9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5C626-C4DA-194E-AF21-027BBC108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153328-2949-144F-A3DA-4CC0ED1DA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B4CBB-6734-D145-97AD-62F11496A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44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EA17FA-614A-8B4D-BC50-222ABD10F6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64D29-9AF4-634C-9775-A8BF6D91F7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C8F18-64E0-7E46-80B5-80EBC49AE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3574D2-89DE-0047-B5B5-EA451FA0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9BB0D-1349-424B-B053-8ECF24CC9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86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19A5E2-65A3-704B-9D3A-95B320E3F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824BDD-2591-7444-BA17-3542D83BD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A9FA1-AAD3-0D40-BC10-15AE177BE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91CE29-2140-2A44-A722-40B654C6126D}" type="datetimeFigureOut">
              <a:rPr lang="en-US" smtClean="0"/>
              <a:t>11/6/23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759DC-9E8B-4548-886E-97F15A1C35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36664-397A-4147-8B89-AC1B27923B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E7C053-7B0B-D946-AD68-C73E308FA2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EF869-714D-A448-BD04-7E6D46F608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Lecture</a:t>
            </a:r>
            <a:r>
              <a:rPr lang="zh-CN" altLang="en-US" dirty="0"/>
              <a:t> </a:t>
            </a:r>
            <a:r>
              <a:rPr lang="en-US" altLang="zh-CN" dirty="0"/>
              <a:t>9:</a:t>
            </a:r>
            <a:r>
              <a:rPr lang="zh-CN" altLang="en-US" dirty="0"/>
              <a:t> </a:t>
            </a:r>
            <a:r>
              <a:rPr lang="en-US" dirty="0"/>
              <a:t>Financial Services</a:t>
            </a:r>
            <a:br>
              <a:rPr lang="en-US" dirty="0"/>
            </a:br>
            <a:r>
              <a:rPr lang="en-US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Supertype/Subtype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65F96-CE26-1B4D-B3E2-9EF2F12DC5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800" dirty="0"/>
              <a:t>Chapter</a:t>
            </a:r>
            <a:r>
              <a:rPr lang="zh-CN" altLang="en-US" sz="2800" dirty="0"/>
              <a:t> </a:t>
            </a:r>
            <a:r>
              <a:rPr lang="en-US" altLang="zh-CN" sz="2800" dirty="0"/>
              <a:t>10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34943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Financial Processes</a:t>
            </a:r>
          </a:p>
          <a:p>
            <a:r>
              <a:rPr lang="en-US" dirty="0"/>
              <a:t>Retail banking, credit card accounts, insurance, loan, mortgage, investment, financial portfolio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BI user requirements</a:t>
            </a:r>
          </a:p>
          <a:p>
            <a:r>
              <a:rPr lang="en-US" dirty="0"/>
              <a:t>Historical monthly snapshot data on every account</a:t>
            </a:r>
          </a:p>
          <a:p>
            <a:r>
              <a:rPr lang="en-US" dirty="0"/>
              <a:t>Household identification</a:t>
            </a:r>
          </a:p>
          <a:p>
            <a:r>
              <a:rPr lang="en-US" dirty="0"/>
              <a:t>﻿</a:t>
            </a:r>
            <a:r>
              <a:rPr lang="en-US" altLang="zh-CN" dirty="0"/>
              <a:t>M</a:t>
            </a:r>
            <a:r>
              <a:rPr lang="en-US" dirty="0"/>
              <a:t>arket more eﬀectively by</a:t>
            </a:r>
            <a:r>
              <a:rPr lang="zh-CN" altLang="en-US" dirty="0"/>
              <a:t> </a:t>
            </a:r>
            <a:r>
              <a:rPr lang="en-US" dirty="0"/>
              <a:t>oﬀering additional products to households</a:t>
            </a:r>
          </a:p>
          <a:p>
            <a:r>
              <a:rPr lang="en-US" dirty="0"/>
              <a:t>Many more…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29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Subset of Bus Matrix Rows of a Bank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120" y="1696742"/>
            <a:ext cx="9362108" cy="46126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04190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Grain and Simple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What is the grain of the fact table?</a:t>
            </a:r>
          </a:p>
          <a:p>
            <a:r>
              <a:rPr lang="en-US" dirty="0"/>
              <a:t>One row for primary balance of each account each month.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Is it fully additive?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72" y="3672840"/>
            <a:ext cx="10863647" cy="278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1210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1F3FB-0DAF-1442-8B65-D259D47F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with too few dimensions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679AF-84C7-3641-99F7-4C05FF91F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﻿It does not adequately reflect the natural business dimensions.</a:t>
            </a:r>
          </a:p>
          <a:p>
            <a:r>
              <a:rPr lang="en-US" dirty="0"/>
              <a:t>Additional analytic dimensions such as product and branch mirror the instinctive way users think about their business.</a:t>
            </a:r>
          </a:p>
          <a:p>
            <a:pPr lvl="1"/>
            <a:r>
              <a:rPr lang="en-US" dirty="0"/>
              <a:t>﻿Provide much</a:t>
            </a:r>
            <a:r>
              <a:rPr lang="zh-CN" altLang="en-US" dirty="0"/>
              <a:t> </a:t>
            </a:r>
            <a:r>
              <a:rPr lang="en-US" dirty="0"/>
              <a:t>smaller points of entry to the fact table. </a:t>
            </a:r>
          </a:p>
          <a:p>
            <a:pPr lvl="1"/>
            <a:r>
              <a:rPr lang="en-US" dirty="0"/>
              <a:t>Address both the performance and usability objectives of a dimensional model.</a:t>
            </a:r>
          </a:p>
          <a:p>
            <a:pPr lvl="1"/>
            <a:r>
              <a:rPr lang="en-US" dirty="0"/>
              <a:t>﻿The product and branch dimensions are two separate dimensions as there is a many-to-many relationship between products and branches.</a:t>
            </a:r>
          </a:p>
          <a:p>
            <a:r>
              <a:rPr lang="en-US" dirty="0"/>
              <a:t>Given a big bank may have millions of accounts, type 2 slowly changing dimension eﬀects potentially causing this huge dimension to mushroom into something unmanageable.</a:t>
            </a:r>
          </a:p>
        </p:txBody>
      </p:sp>
    </p:spTree>
    <p:extLst>
      <p:ext uri="{BB962C8B-B14F-4D97-AF65-F5344CB8AC3E}">
        <p14:creationId xmlns:p14="http://schemas.microsoft.com/office/powerpoint/2010/main" val="1597795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A0856-6CAD-6947-9C92-3B94BE86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﻿Supplements to the dimensional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4C99A-D20F-4D4C-BB99-2D5C8647D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﻿Most dimensional models end up with between </a:t>
            </a:r>
            <a:r>
              <a:rPr lang="en-US" b="1" dirty="0">
                <a:solidFill>
                  <a:srgbClr val="FF0000"/>
                </a:solidFill>
              </a:rPr>
              <a:t>five</a:t>
            </a:r>
            <a:r>
              <a:rPr lang="en-US" dirty="0"/>
              <a:t> and </a:t>
            </a:r>
            <a:r>
              <a:rPr lang="en-US" b="1" dirty="0">
                <a:solidFill>
                  <a:srgbClr val="FF0000"/>
                </a:solidFill>
              </a:rPr>
              <a:t>20</a:t>
            </a:r>
            <a:r>
              <a:rPr lang="en-US" dirty="0"/>
              <a:t> dimensions.</a:t>
            </a:r>
          </a:p>
          <a:p>
            <a:r>
              <a:rPr lang="en-US" dirty="0"/>
              <a:t>﻿</a:t>
            </a:r>
            <a:r>
              <a:rPr lang="en-US" b="1" i="1" dirty="0">
                <a:solidFill>
                  <a:srgbClr val="FF0000"/>
                </a:solidFill>
              </a:rPr>
              <a:t>Causal dimensions</a:t>
            </a:r>
            <a:r>
              <a:rPr lang="en-US" dirty="0"/>
              <a:t>, such as promotion, contract, deal, store condition, or even weather.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﻿Degenerate dimensions </a:t>
            </a:r>
            <a:r>
              <a:rPr lang="en-US" dirty="0"/>
              <a:t>that identify operational transaction control numbers, such as an order, an invoice, a bill of lading, or a ticket;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﻿Role-playing dimensions</a:t>
            </a:r>
            <a:r>
              <a:rPr lang="en-US" dirty="0"/>
              <a:t>, such as when a single transaction has several business entities associated with it, each represented by a separate dimension.</a:t>
            </a:r>
          </a:p>
          <a:p>
            <a:r>
              <a:rPr lang="en-US" dirty="0"/>
              <a:t>﻿</a:t>
            </a:r>
            <a:r>
              <a:rPr lang="en-US" b="1" i="1" dirty="0">
                <a:solidFill>
                  <a:srgbClr val="FF0000"/>
                </a:solidFill>
              </a:rPr>
              <a:t>Status dimensions </a:t>
            </a:r>
            <a:r>
              <a:rPr lang="en-US" dirty="0"/>
              <a:t>that identify the current status of a transaction or monthly snapshot within some larger context, such as an account status.</a:t>
            </a:r>
          </a:p>
          <a:p>
            <a:r>
              <a:rPr lang="en-US" b="1" i="1" dirty="0">
                <a:solidFill>
                  <a:srgbClr val="FF0000"/>
                </a:solidFill>
              </a:rPr>
              <a:t>﻿An audit dimension</a:t>
            </a:r>
            <a:r>
              <a:rPr lang="en-US" dirty="0"/>
              <a:t>;</a:t>
            </a:r>
          </a:p>
          <a:p>
            <a:r>
              <a:rPr lang="en-US" dirty="0"/>
              <a:t>﻿</a:t>
            </a:r>
            <a:r>
              <a:rPr lang="en-US" b="1" i="1" dirty="0">
                <a:solidFill>
                  <a:srgbClr val="FF0000"/>
                </a:solidFill>
              </a:rPr>
              <a:t>Junk dimensions </a:t>
            </a:r>
            <a:r>
              <a:rPr lang="en-US" dirty="0"/>
              <a:t>of correlated indicators and flags</a:t>
            </a:r>
          </a:p>
        </p:txBody>
      </p:sp>
    </p:spTree>
    <p:extLst>
      <p:ext uri="{BB962C8B-B14F-4D97-AF65-F5344CB8AC3E}">
        <p14:creationId xmlns:p14="http://schemas.microsoft.com/office/powerpoint/2010/main" val="208889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Snapshot Fact table for all Accounts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831" y="1408059"/>
            <a:ext cx="8034338" cy="5449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3075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9825D-147A-8F4F-B4BF-500882C4C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708A1-A83F-7841-B80D-B81B79232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Product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Dimension</a:t>
            </a:r>
            <a:r>
              <a:rPr lang="en-US" altLang="zh-CN" dirty="0"/>
              <a:t>:</a:t>
            </a:r>
          </a:p>
          <a:p>
            <a:pPr lvl="1"/>
            <a:r>
              <a:rPr lang="en-US" dirty="0"/>
              <a:t>﻿consists of a simple hierarchy that describes all the</a:t>
            </a:r>
            <a:r>
              <a:rPr lang="zh-CN" altLang="en-US" dirty="0"/>
              <a:t> </a:t>
            </a:r>
            <a:r>
              <a:rPr lang="en-US" dirty="0"/>
              <a:t>bank’s products, including the name of the product, type, and category.</a:t>
            </a: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Branch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Dimension</a:t>
            </a:r>
            <a:r>
              <a:rPr lang="en-US" altLang="zh-CN" dirty="0"/>
              <a:t>:</a:t>
            </a:r>
          </a:p>
          <a:p>
            <a:pPr lvl="1"/>
            <a:r>
              <a:rPr lang="en-US" dirty="0"/>
              <a:t>﻿similar to the facility dimensions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such</a:t>
            </a:r>
            <a:r>
              <a:rPr lang="zh-CN" altLang="en-US" dirty="0"/>
              <a:t> </a:t>
            </a:r>
            <a:r>
              <a:rPr lang="en-US" altLang="zh-CN" dirty="0"/>
              <a:t>as</a:t>
            </a:r>
            <a:r>
              <a:rPr lang="zh-CN" altLang="en-US" dirty="0"/>
              <a:t> </a:t>
            </a:r>
            <a:r>
              <a:rPr lang="en-US" altLang="zh-CN" dirty="0"/>
              <a:t>retail</a:t>
            </a:r>
            <a:r>
              <a:rPr lang="zh-CN" altLang="en-US" dirty="0"/>
              <a:t> </a:t>
            </a:r>
            <a:r>
              <a:rPr lang="en-US" altLang="zh-CN" dirty="0"/>
              <a:t>store;</a:t>
            </a:r>
          </a:p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Account status dimension:</a:t>
            </a:r>
          </a:p>
          <a:p>
            <a:pPr lvl="1"/>
            <a:r>
              <a:rPr lang="en-US" dirty="0"/>
              <a:t>﻿record the condition of</a:t>
            </a:r>
            <a:r>
              <a:rPr lang="zh-CN" altLang="en-US" dirty="0"/>
              <a:t> </a:t>
            </a:r>
            <a:r>
              <a:rPr lang="en-US" dirty="0"/>
              <a:t>the account at the end of each month.</a:t>
            </a:r>
          </a:p>
          <a:p>
            <a:pPr lvl="1"/>
            <a:r>
              <a:rPr lang="en-US" dirty="0"/>
              <a:t>﻿The status records whether the account is</a:t>
            </a:r>
            <a:r>
              <a:rPr lang="zh-CN" altLang="en-US" dirty="0"/>
              <a:t> </a:t>
            </a:r>
            <a:r>
              <a:rPr lang="en-US" dirty="0"/>
              <a:t>active or inactive, or whether a status change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en-US" altLang="zh-CN" dirty="0"/>
              <a:t>new account opening or account closure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8085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6B839-035D-974E-B6CA-D733C1D8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DA819-52F4-9143-BD87-ADEE37500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Household</a:t>
            </a:r>
            <a:r>
              <a:rPr lang="zh-CN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Dimension: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A</a:t>
            </a:r>
            <a:r>
              <a:rPr lang="en-US" sz="2800" dirty="0"/>
              <a:t> household</a:t>
            </a:r>
            <a:r>
              <a:rPr lang="zh-CN" altLang="en-US" sz="2800" dirty="0"/>
              <a:t> </a:t>
            </a:r>
            <a:r>
              <a:rPr lang="en-US" sz="2800" dirty="0"/>
              <a:t>an entire </a:t>
            </a:r>
            <a:r>
              <a:rPr lang="en-US" sz="2800" b="1" i="1" dirty="0">
                <a:solidFill>
                  <a:schemeClr val="accent1"/>
                </a:solidFill>
              </a:rPr>
              <a:t>economic unit</a:t>
            </a:r>
            <a:r>
              <a:rPr lang="zh-CN" altLang="en-US" sz="2800" dirty="0"/>
              <a:t> </a:t>
            </a:r>
            <a:r>
              <a:rPr lang="en-US" altLang="zh-CN" sz="2800" dirty="0"/>
              <a:t>has</a:t>
            </a:r>
            <a:r>
              <a:rPr lang="zh-CN" altLang="en-US" sz="2800" dirty="0"/>
              <a:t> </a:t>
            </a:r>
            <a:r>
              <a:rPr lang="en-US" altLang="zh-CN" sz="2800" dirty="0"/>
              <a:t>relationship</a:t>
            </a:r>
            <a:r>
              <a:rPr lang="zh-CN" altLang="en-US" sz="2800" dirty="0"/>
              <a:t> </a:t>
            </a:r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bank;</a:t>
            </a:r>
            <a:endParaRPr lang="en-US" sz="2800" dirty="0"/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T</a:t>
            </a:r>
            <a:r>
              <a:rPr lang="en-US" sz="2800" dirty="0"/>
              <a:t>he </a:t>
            </a:r>
            <a:r>
              <a:rPr lang="en-US" sz="2800" dirty="0">
                <a:solidFill>
                  <a:schemeClr val="accent1"/>
                </a:solidFill>
              </a:rPr>
              <a:t>overall profile </a:t>
            </a:r>
            <a:r>
              <a:rPr lang="en-US" sz="2800" dirty="0"/>
              <a:t>of a household</a:t>
            </a:r>
            <a:r>
              <a:rPr lang="en-US" altLang="zh-CN" sz="2800" dirty="0"/>
              <a:t>;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T</a:t>
            </a:r>
            <a:r>
              <a:rPr lang="en-US" sz="2800" dirty="0"/>
              <a:t>he </a:t>
            </a:r>
            <a:r>
              <a:rPr lang="en-US" sz="2800" dirty="0">
                <a:solidFill>
                  <a:schemeClr val="accent1"/>
                </a:solidFill>
              </a:rPr>
              <a:t>magnitude</a:t>
            </a:r>
            <a:r>
              <a:rPr lang="en-US" sz="2800" dirty="0"/>
              <a:t> of the existing relationship with the household</a:t>
            </a:r>
            <a:r>
              <a:rPr lang="en-US" altLang="zh-CN" sz="2800" dirty="0"/>
              <a:t>;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W</a:t>
            </a:r>
            <a:r>
              <a:rPr lang="en-US" sz="2800" dirty="0"/>
              <a:t>hat </a:t>
            </a:r>
            <a:r>
              <a:rPr lang="en-US" sz="2800" dirty="0">
                <a:solidFill>
                  <a:schemeClr val="accent1"/>
                </a:solidFill>
              </a:rPr>
              <a:t>additional</a:t>
            </a:r>
            <a:r>
              <a:rPr lang="zh-CN" alt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>
                <a:solidFill>
                  <a:schemeClr val="accent1"/>
                </a:solidFill>
              </a:rPr>
              <a:t>products </a:t>
            </a:r>
            <a:r>
              <a:rPr lang="en-US" sz="2800" dirty="0"/>
              <a:t>should be sold to the household</a:t>
            </a:r>
            <a:r>
              <a:rPr lang="en-US" altLang="zh-CN" sz="2800" dirty="0"/>
              <a:t>;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>
                <a:solidFill>
                  <a:schemeClr val="accent1"/>
                </a:solidFill>
              </a:rPr>
              <a:t>K</a:t>
            </a:r>
            <a:r>
              <a:rPr lang="en-US" sz="2800" dirty="0">
                <a:solidFill>
                  <a:schemeClr val="accent1"/>
                </a:solidFill>
              </a:rPr>
              <a:t>ey demographics</a:t>
            </a:r>
            <a:r>
              <a:rPr lang="zh-CN" altLang="en-US" sz="2800" dirty="0">
                <a:solidFill>
                  <a:schemeClr val="accent1"/>
                </a:solidFill>
              </a:rPr>
              <a:t> </a:t>
            </a:r>
            <a:r>
              <a:rPr lang="en-US" sz="2800" dirty="0"/>
              <a:t>regarding the household, such as household income</a:t>
            </a:r>
            <a:r>
              <a:rPr lang="en-US" altLang="zh-CN" sz="2800" dirty="0"/>
              <a:t>,</a:t>
            </a:r>
            <a:r>
              <a:rPr lang="zh-CN" altLang="en-US" sz="2800" dirty="0"/>
              <a:t> </a:t>
            </a:r>
            <a:r>
              <a:rPr lang="en-US" altLang="zh-CN" sz="2800" dirty="0"/>
              <a:t>whether they own or rent their</a:t>
            </a:r>
            <a:r>
              <a:rPr lang="zh-CN" altLang="en-US" sz="2800" dirty="0"/>
              <a:t> </a:t>
            </a:r>
            <a:r>
              <a:rPr lang="en-US" altLang="zh-CN" sz="2800" dirty="0"/>
              <a:t>home, whether they are retirees, and whether they have children;</a:t>
            </a:r>
          </a:p>
          <a:p>
            <a:pPr lvl="1"/>
            <a:r>
              <a:rPr lang="en-US" altLang="zh-CN" sz="2800" dirty="0">
                <a:solidFill>
                  <a:schemeClr val="accent1"/>
                </a:solidFill>
              </a:rPr>
              <a:t>C</a:t>
            </a:r>
            <a:r>
              <a:rPr lang="en-US" sz="2800" dirty="0">
                <a:solidFill>
                  <a:schemeClr val="accent1"/>
                </a:solidFill>
              </a:rPr>
              <a:t>orporate</a:t>
            </a:r>
            <a:r>
              <a:rPr lang="en-US" sz="2800" dirty="0"/>
              <a:t> “households” are common</a:t>
            </a:r>
            <a:r>
              <a:rPr lang="en-US" altLang="zh-CN" sz="2800" dirty="0"/>
              <a:t>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03798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F13E1-5545-AF4C-8087-6C18E8C6E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Household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Account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7C6F9-D098-9C4A-95F0-ED671E90A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Household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Account</a:t>
            </a:r>
            <a:r>
              <a:rPr lang="zh-CN" altLang="en-US" dirty="0"/>
              <a:t> </a:t>
            </a:r>
            <a:r>
              <a:rPr lang="en-US" altLang="zh-CN" dirty="0"/>
              <a:t>dimension</a:t>
            </a:r>
            <a:r>
              <a:rPr lang="zh-CN" altLang="en-US" dirty="0"/>
              <a:t> </a:t>
            </a:r>
            <a:r>
              <a:rPr lang="en-US" altLang="zh-CN" dirty="0"/>
              <a:t>are</a:t>
            </a:r>
            <a:r>
              <a:rPr lang="zh-CN" altLang="en-US" dirty="0"/>
              <a:t> </a:t>
            </a:r>
            <a:r>
              <a:rPr lang="en-US" altLang="zh-CN" dirty="0"/>
              <a:t>intuitively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correlated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but</a:t>
            </a:r>
            <a:r>
              <a:rPr lang="zh-CN" altLang="en-US" dirty="0"/>
              <a:t> </a:t>
            </a:r>
            <a:r>
              <a:rPr lang="en-US" altLang="zh-CN" dirty="0">
                <a:solidFill>
                  <a:schemeClr val="accent1">
                    <a:lumMod val="75000"/>
                  </a:schemeClr>
                </a:solidFill>
              </a:rPr>
              <a:t>separate</a:t>
            </a:r>
            <a:r>
              <a:rPr lang="zh-CN" altLang="en-US" dirty="0"/>
              <a:t> </a:t>
            </a:r>
            <a:r>
              <a:rPr lang="en-US" altLang="zh-CN" dirty="0"/>
              <a:t>dimensions;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T</a:t>
            </a:r>
            <a:r>
              <a:rPr lang="en-US" sz="2800" dirty="0"/>
              <a:t>he account dimension is huge, with easily over 10</a:t>
            </a:r>
            <a:r>
              <a:rPr lang="zh-CN" altLang="en-US" sz="2800" dirty="0"/>
              <a:t> </a:t>
            </a:r>
            <a:r>
              <a:rPr lang="en-US" sz="2800" dirty="0"/>
              <a:t>million rows that group into several million households.</a:t>
            </a:r>
          </a:p>
          <a:p>
            <a:pPr lvl="1"/>
            <a:r>
              <a:rPr lang="en-US" sz="2800" dirty="0"/>
              <a:t>﻿The household dimension</a:t>
            </a:r>
            <a:r>
              <a:rPr lang="zh-CN" altLang="en-US" sz="2800" dirty="0"/>
              <a:t> </a:t>
            </a:r>
            <a:r>
              <a:rPr lang="en-US" sz="2800" dirty="0"/>
              <a:t>provides a somewhat smaller point of entry into the fact table, without traversing</a:t>
            </a:r>
            <a:r>
              <a:rPr lang="zh-CN" altLang="en-US" sz="2800" dirty="0"/>
              <a:t> </a:t>
            </a:r>
            <a:r>
              <a:rPr lang="en-US" sz="2800" dirty="0"/>
              <a:t>a 10 million-row account dimension table.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A</a:t>
            </a:r>
            <a:r>
              <a:rPr lang="en-US" sz="2800" dirty="0"/>
              <a:t>void using the type 2 slowly changing dimension technique</a:t>
            </a:r>
            <a:r>
              <a:rPr lang="en-US" altLang="zh-CN" sz="2800" dirty="0"/>
              <a:t>:</a:t>
            </a:r>
            <a:r>
              <a:rPr lang="zh-CN" altLang="en-US" sz="2800" dirty="0"/>
              <a:t> </a:t>
            </a:r>
            <a:r>
              <a:rPr lang="en-US" altLang="zh-CN" sz="2800" dirty="0"/>
              <a:t>the changing nature of the</a:t>
            </a:r>
            <a:r>
              <a:rPr lang="zh-CN" altLang="en-US" sz="2800" dirty="0"/>
              <a:t> </a:t>
            </a:r>
            <a:r>
              <a:rPr lang="en-US" altLang="zh-CN" sz="2800" dirty="0"/>
              <a:t>relationship between accounts and households, use the fact table to</a:t>
            </a:r>
            <a:r>
              <a:rPr lang="zh-CN" altLang="en-US" sz="2800" dirty="0"/>
              <a:t> </a:t>
            </a:r>
            <a:r>
              <a:rPr lang="en-US" altLang="zh-CN" sz="2800" dirty="0"/>
              <a:t>capture the relationship;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56597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8EDD-835D-E348-B370-E8D33212B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﻿Mini-Dimensions Revisited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D0080-AB28-5344-B05A-9215215C0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</a:t>
            </a:r>
            <a:r>
              <a:rPr lang="en-US" altLang="zh-CN" dirty="0"/>
              <a:t>T</a:t>
            </a:r>
            <a:r>
              <a:rPr lang="en-US" dirty="0"/>
              <a:t>here are a wide variety of attributes describing the</a:t>
            </a:r>
            <a:r>
              <a:rPr lang="zh-CN" altLang="en-US" dirty="0"/>
              <a:t> </a:t>
            </a:r>
            <a:r>
              <a:rPr lang="en-US" dirty="0"/>
              <a:t>bank’s accounts, customers, and households</a:t>
            </a:r>
            <a:r>
              <a:rPr lang="en-US" altLang="zh-CN" dirty="0"/>
              <a:t>;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including monthly credit bureau attributes, external demographic data, and calculated scores to identify their behavior,</a:t>
            </a:r>
            <a:r>
              <a:rPr lang="zh-CN" altLang="en-US" dirty="0"/>
              <a:t> </a:t>
            </a:r>
            <a:r>
              <a:rPr lang="en-US" dirty="0"/>
              <a:t>retention, profitability, and delinquency characteristics.</a:t>
            </a:r>
          </a:p>
          <a:p>
            <a:r>
              <a:rPr lang="en-US" dirty="0"/>
              <a:t>﻿</a:t>
            </a:r>
            <a:r>
              <a:rPr lang="en-US" altLang="zh-CN" dirty="0"/>
              <a:t>B</a:t>
            </a:r>
            <a:r>
              <a:rPr lang="en-US" dirty="0"/>
              <a:t>reak oﬀ the </a:t>
            </a:r>
            <a:r>
              <a:rPr lang="en-US" b="1" i="1" dirty="0" err="1">
                <a:solidFill>
                  <a:schemeClr val="accent1">
                    <a:lumMod val="75000"/>
                  </a:schemeClr>
                </a:solidFill>
              </a:rPr>
              <a:t>browseable</a:t>
            </a:r>
            <a:r>
              <a:rPr lang="en-US" dirty="0"/>
              <a:t> and </a:t>
            </a:r>
            <a:r>
              <a:rPr lang="en-US" b="1" i="1" dirty="0">
                <a:solidFill>
                  <a:schemeClr val="accent1">
                    <a:lumMod val="75000"/>
                  </a:schemeClr>
                </a:solidFill>
              </a:rPr>
              <a:t>changeable</a:t>
            </a:r>
            <a:r>
              <a:rPr lang="en-US" dirty="0"/>
              <a:t> attributes into multiple</a:t>
            </a:r>
            <a:r>
              <a:rPr lang="zh-CN" altLang="en-US" dirty="0"/>
              <a:t> </a:t>
            </a:r>
            <a:r>
              <a:rPr lang="en-US" dirty="0"/>
              <a:t>mini-dimensions, such as credit bureau and demographics mini-dimensions</a:t>
            </a:r>
            <a:r>
              <a:rPr lang="en-US" altLang="zh-CN" dirty="0"/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192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319B5-065A-694F-8B2F-940B2D0D2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﻿Multiple mini-dimensions associated with a fact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9AC5297-9643-CA49-87FF-A65FDA25AC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90736" y="1825625"/>
            <a:ext cx="7410527" cy="4351338"/>
          </a:xfrm>
        </p:spPr>
      </p:pic>
    </p:spTree>
    <p:extLst>
      <p:ext uri="{BB962C8B-B14F-4D97-AF65-F5344CB8AC3E}">
        <p14:creationId xmlns:p14="http://schemas.microsoft.com/office/powerpoint/2010/main" val="3807553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05991-217F-804E-80CF-7DDE16537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﻿Dynamic Value Banding of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6F237-2A2E-1143-A673-B2918497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</a:t>
            </a:r>
            <a:r>
              <a:rPr lang="en-US" i="1" dirty="0">
                <a:solidFill>
                  <a:schemeClr val="accent1">
                    <a:lumMod val="75000"/>
                  </a:schemeClr>
                </a:solidFill>
              </a:rPr>
              <a:t>dynamic value banding report 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is </a:t>
            </a:r>
            <a:r>
              <a:rPr lang="en-US" dirty="0"/>
              <a:t>organized as a series of report row headers that deﬁne a progressive set of varying-sized ranges of a target numeric fact. </a:t>
            </a:r>
          </a:p>
          <a:p>
            <a:pPr lvl="1"/>
            <a:r>
              <a:rPr lang="en-US" dirty="0"/>
              <a:t>“Balance from 0 to $10,” “Balance from $10.01 to $25,”</a:t>
            </a:r>
          </a:p>
          <a:p>
            <a:r>
              <a:rPr lang="en-US" altLang="zh-CN" dirty="0"/>
              <a:t>D</a:t>
            </a:r>
            <a:r>
              <a:rPr lang="en-US" dirty="0"/>
              <a:t>ynamic because the speciﬁc row headers are deﬁned at query time, not during the ETL processing.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DBA14-1CCA-E147-AFB7-DCC9B16E3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496" y="4479873"/>
            <a:ext cx="61595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9844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2CFB-5781-8144-8544-303CA8F61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Value Banding of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C632C-4F60-E544-8274-62241C5C2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</a:t>
            </a:r>
            <a:r>
              <a:rPr lang="en-US" altLang="zh-CN" dirty="0"/>
              <a:t>I</a:t>
            </a:r>
            <a:r>
              <a:rPr lang="en-US" dirty="0"/>
              <a:t>t is difficult to create this report directly from</a:t>
            </a:r>
            <a:r>
              <a:rPr lang="zh-CN" altLang="en-US" dirty="0"/>
              <a:t> </a:t>
            </a:r>
            <a:r>
              <a:rPr lang="en-US" dirty="0"/>
              <a:t>the fact table.</a:t>
            </a:r>
          </a:p>
          <a:p>
            <a:pPr lvl="1"/>
            <a:r>
              <a:rPr lang="en-US" dirty="0"/>
              <a:t>﻿</a:t>
            </a:r>
            <a:r>
              <a:rPr lang="en-US" sz="2800" dirty="0"/>
              <a:t>SQL has no generalization of the GROUP BY clause that clumps additive</a:t>
            </a:r>
            <a:r>
              <a:rPr lang="zh-CN" altLang="en-US" sz="2800" dirty="0"/>
              <a:t> </a:t>
            </a:r>
            <a:r>
              <a:rPr lang="en-US" sz="2800" dirty="0"/>
              <a:t>values into ranges.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T</a:t>
            </a:r>
            <a:r>
              <a:rPr lang="en-US" sz="2800" dirty="0"/>
              <a:t>he ranges are of unequal size and</a:t>
            </a:r>
            <a:r>
              <a:rPr lang="zh-CN" altLang="en-US" sz="2800" dirty="0"/>
              <a:t> </a:t>
            </a:r>
            <a:r>
              <a:rPr lang="en-US" sz="2800" dirty="0"/>
              <a:t>have textual names, such as “10001 and up.”</a:t>
            </a:r>
          </a:p>
          <a:p>
            <a:pPr lvl="1"/>
            <a:r>
              <a:rPr lang="en-US" sz="2800" dirty="0"/>
              <a:t>﻿</a:t>
            </a:r>
            <a:r>
              <a:rPr lang="en-US" altLang="zh-CN" sz="2800" dirty="0"/>
              <a:t>U</a:t>
            </a:r>
            <a:r>
              <a:rPr lang="en-US" sz="2800" dirty="0"/>
              <a:t>sers typically need the flexibility</a:t>
            </a:r>
            <a:r>
              <a:rPr lang="zh-CN" altLang="en-US" sz="2800" dirty="0"/>
              <a:t> </a:t>
            </a:r>
            <a:r>
              <a:rPr lang="en-US" sz="2800" dirty="0"/>
              <a:t>to redefine the bands at query time with diﬀerent boundaries or levels of precision.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664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41868-04BE-1546-B8C8-C2C2D968B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Value Banding of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F7D34-C4B6-6B43-9F1F-B91B88B24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﻿The band definition table can contain as many sets of diﬀerent reporting bands as</a:t>
            </a:r>
            <a:r>
              <a:rPr lang="zh-CN" altLang="en-US" dirty="0"/>
              <a:t> </a:t>
            </a:r>
            <a:r>
              <a:rPr lang="en-US" dirty="0"/>
              <a:t>desired.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DD437A-C6C3-424D-94A7-A71461E31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0936" y="3034051"/>
            <a:ext cx="8610600" cy="276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417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0DFB1-FB71-5D42-B17F-CFE7B0A84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Value Banding of Facts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BBC01-72A5-A04F-A89D-3EBFD358A7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53849" cy="4351338"/>
          </a:xfrm>
        </p:spPr>
        <p:txBody>
          <a:bodyPr>
            <a:normAutofit/>
          </a:bodyPr>
          <a:lstStyle/>
          <a:p>
            <a:r>
              <a:rPr lang="en-US" dirty="0"/>
              <a:t>﻿The name of a particular group of bands is stored in the band group column.</a:t>
            </a:r>
          </a:p>
          <a:p>
            <a:r>
              <a:rPr lang="en-US" dirty="0"/>
              <a:t>The band definition table is joined to the balance fact using a pair of less-than and</a:t>
            </a:r>
            <a:r>
              <a:rPr lang="zh-CN" altLang="en-US" dirty="0"/>
              <a:t> </a:t>
            </a:r>
            <a:r>
              <a:rPr lang="en-US" dirty="0"/>
              <a:t>greater-than joins. </a:t>
            </a:r>
          </a:p>
          <a:p>
            <a:r>
              <a:rPr lang="en-US" dirty="0"/>
              <a:t>The report uses the band range name as the row header.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439B582-A2C3-C846-99EB-7B3B9C66672A}"/>
              </a:ext>
            </a:extLst>
          </p:cNvPr>
          <p:cNvSpPr/>
          <p:nvPr/>
        </p:nvSpPr>
        <p:spPr>
          <a:xfrm>
            <a:off x="6257295" y="1690688"/>
            <a:ext cx="48312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More</a:t>
            </a:r>
            <a:r>
              <a:rPr lang="zh-CN" altLang="en-US" sz="2800" dirty="0"/>
              <a:t> </a:t>
            </a:r>
            <a:r>
              <a:rPr lang="en-US" altLang="zh-CN" sz="2800" dirty="0"/>
              <a:t>dynamic</a:t>
            </a:r>
            <a:r>
              <a:rPr lang="zh-CN" altLang="en-US" sz="2800" dirty="0"/>
              <a:t> </a:t>
            </a:r>
            <a:r>
              <a:rPr lang="en-US" altLang="zh-CN" sz="2800" dirty="0"/>
              <a:t>than</a:t>
            </a:r>
            <a:r>
              <a:rPr lang="zh-CN" altLang="en-US" sz="2800" dirty="0"/>
              <a:t> </a:t>
            </a:r>
            <a:r>
              <a:rPr lang="en-US" altLang="zh-CN" sz="2800" dirty="0"/>
              <a:t>fixed</a:t>
            </a:r>
            <a:r>
              <a:rPr lang="zh-CN" altLang="en-US" sz="2800" dirty="0"/>
              <a:t> </a:t>
            </a:r>
            <a:r>
              <a:rPr lang="en-US" altLang="zh-CN" sz="2800" dirty="0"/>
              <a:t>range:</a:t>
            </a: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7BB846-E93E-044A-958E-2F9367FA74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295" y="2213908"/>
            <a:ext cx="53467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2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D29D-536D-244A-999E-F5ADCE87F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﻿Supertype and Subtype Schemas</a:t>
            </a:r>
            <a:r>
              <a:rPr lang="zh-CN" altLang="en-US" dirty="0"/>
              <a:t> </a:t>
            </a:r>
            <a:r>
              <a:rPr lang="en-US" dirty="0"/>
              <a:t>for</a:t>
            </a:r>
            <a:r>
              <a:rPr lang="zh-CN" altLang="en-US" dirty="0"/>
              <a:t> </a:t>
            </a:r>
            <a:r>
              <a:rPr lang="en-US" dirty="0"/>
              <a:t>Heterogeneous Products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6010E0-E532-CF44-B2F4-1ADE14C2E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</a:t>
            </a:r>
            <a:r>
              <a:rPr lang="en-US" altLang="zh-CN" dirty="0"/>
              <a:t>A</a:t>
            </a:r>
            <a:r>
              <a:rPr lang="en-US" dirty="0"/>
              <a:t> typical retail bank </a:t>
            </a:r>
            <a:r>
              <a:rPr lang="en-US" dirty="0">
                <a:solidFill>
                  <a:srgbClr val="FF0000"/>
                </a:solidFill>
              </a:rPr>
              <a:t>oﬀers a myriad of products</a:t>
            </a:r>
            <a:r>
              <a:rPr lang="en-US" dirty="0"/>
              <a:t>, from checking accounts to credit cards, to </a:t>
            </a:r>
            <a:r>
              <a:rPr lang="en-US" dirty="0">
                <a:solidFill>
                  <a:srgbClr val="FF0000"/>
                </a:solidFill>
              </a:rPr>
              <a:t>the same customers</a:t>
            </a:r>
            <a:r>
              <a:rPr lang="en-US" dirty="0"/>
              <a:t>. </a:t>
            </a:r>
          </a:p>
          <a:p>
            <a:r>
              <a:rPr lang="en-US" dirty="0"/>
              <a:t>﻿</a:t>
            </a:r>
            <a:r>
              <a:rPr lang="en-US" altLang="zh-CN" dirty="0"/>
              <a:t>E</a:t>
            </a:r>
            <a:r>
              <a:rPr lang="en-US" dirty="0"/>
              <a:t>ach product</a:t>
            </a:r>
            <a:r>
              <a:rPr lang="zh-CN" altLang="en-US" dirty="0"/>
              <a:t> </a:t>
            </a:r>
            <a:r>
              <a:rPr lang="en-US" dirty="0"/>
              <a:t>type has many </a:t>
            </a:r>
            <a:r>
              <a:rPr lang="en-US" dirty="0">
                <a:solidFill>
                  <a:srgbClr val="FF0000"/>
                </a:solidFill>
              </a:rPr>
              <a:t>special attributes </a:t>
            </a:r>
            <a:r>
              <a:rPr lang="en-US" dirty="0"/>
              <a:t>and measured facts that are </a:t>
            </a:r>
            <a:r>
              <a:rPr lang="en-US" dirty="0">
                <a:solidFill>
                  <a:srgbClr val="FF0000"/>
                </a:solidFill>
              </a:rPr>
              <a:t>not shared </a:t>
            </a:r>
            <a:r>
              <a:rPr lang="en-US" dirty="0"/>
              <a:t>by the other</a:t>
            </a:r>
            <a:r>
              <a:rPr lang="zh-CN" altLang="en-US" dirty="0"/>
              <a:t> </a:t>
            </a:r>
            <a:r>
              <a:rPr lang="en-US" dirty="0"/>
              <a:t>products. </a:t>
            </a:r>
          </a:p>
          <a:p>
            <a:pPr lvl="1"/>
            <a:r>
              <a:rPr lang="en-US" dirty="0"/>
              <a:t>﻿</a:t>
            </a:r>
            <a:r>
              <a:rPr lang="en-US" altLang="zh-CN" dirty="0"/>
              <a:t>C</a:t>
            </a:r>
            <a:r>
              <a:rPr lang="en-US" dirty="0"/>
              <a:t>hecking accounts have minimum balances, overdraft limits,</a:t>
            </a:r>
            <a:r>
              <a:rPr lang="zh-CN" altLang="en-US" dirty="0"/>
              <a:t> </a:t>
            </a:r>
            <a:r>
              <a:rPr lang="en-US" dirty="0"/>
              <a:t>service charges, and other measures relating to online banking; </a:t>
            </a:r>
          </a:p>
          <a:p>
            <a:pPr lvl="1"/>
            <a:r>
              <a:rPr lang="en-US" altLang="zh-CN" dirty="0"/>
              <a:t>T</a:t>
            </a:r>
            <a:r>
              <a:rPr lang="en-US" dirty="0"/>
              <a:t>ime deposits such as</a:t>
            </a:r>
            <a:r>
              <a:rPr lang="zh-CN" altLang="en-US" dirty="0"/>
              <a:t> </a:t>
            </a:r>
            <a:r>
              <a:rPr lang="en-US" dirty="0"/>
              <a:t>certificates of deposit have maturity</a:t>
            </a:r>
            <a:r>
              <a:rPr lang="zh-CN" altLang="en-US" dirty="0"/>
              <a:t> </a:t>
            </a:r>
            <a:r>
              <a:rPr lang="en-US" dirty="0"/>
              <a:t>dates, compounding frequencies, and current interest rate.</a:t>
            </a:r>
          </a:p>
        </p:txBody>
      </p:sp>
    </p:spTree>
    <p:extLst>
      <p:ext uri="{BB962C8B-B14F-4D97-AF65-F5344CB8AC3E}">
        <p14:creationId xmlns:p14="http://schemas.microsoft.com/office/powerpoint/2010/main" val="1028164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AB01D-ED91-3048-A792-74E02BC2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Supertype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Subtype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458F35-8B78-2E47-82EC-247682040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5" y="2322217"/>
            <a:ext cx="5551816" cy="32398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576AE0-C02A-804A-B27F-87D34C68F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68333"/>
            <a:ext cx="5597276" cy="334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5943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Supertype</a:t>
            </a:r>
            <a:r>
              <a:rPr lang="en-US" dirty="0"/>
              <a:t> and Subtype for Heterogeneous Products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Business owners typically require two different perspectives:</a:t>
            </a:r>
          </a:p>
          <a:p>
            <a:r>
              <a:rPr lang="en-US" dirty="0"/>
              <a:t>Global view</a:t>
            </a:r>
          </a:p>
          <a:p>
            <a:r>
              <a:rPr lang="en-US" dirty="0"/>
              <a:t>Line-of-business view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Global view: </a:t>
            </a:r>
            <a:r>
              <a:rPr lang="en-US" dirty="0"/>
              <a:t>Insight into the complete account portfolio across all lines of business.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Line-of-business:</a:t>
            </a:r>
            <a:r>
              <a:rPr lang="en-US" dirty="0"/>
              <a:t> Focus on the in-depth details of one business, such as checking.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2789017" y="4250918"/>
            <a:ext cx="439530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/>
              <a:t>(Single </a:t>
            </a:r>
            <a:r>
              <a:rPr lang="en-US" sz="2800" b="1" i="1" dirty="0" err="1"/>
              <a:t>supertype</a:t>
            </a:r>
            <a:r>
              <a:rPr lang="en-US" sz="2800" b="1" i="1" dirty="0"/>
              <a:t> fact table)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537" y="5683478"/>
            <a:ext cx="61713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i="1" dirty="0"/>
              <a:t>(Special subtype fact table for each LOB)</a:t>
            </a:r>
          </a:p>
        </p:txBody>
      </p:sp>
    </p:spTree>
    <p:extLst>
      <p:ext uri="{BB962C8B-B14F-4D97-AF65-F5344CB8AC3E}">
        <p14:creationId xmlns:p14="http://schemas.microsoft.com/office/powerpoint/2010/main" val="429069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Supertype</a:t>
            </a:r>
            <a:r>
              <a:rPr lang="en-US" dirty="0"/>
              <a:t> Fact table for all Accounts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320" y="1408058"/>
            <a:ext cx="8034338" cy="5449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05972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LOB Subtype Schema for Checking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823" y="1458278"/>
            <a:ext cx="6540817" cy="5216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600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Supertype</a:t>
            </a:r>
            <a:r>
              <a:rPr lang="en-US" dirty="0"/>
              <a:t> and Subtype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Supertype fact table can represent </a:t>
            </a:r>
            <a:r>
              <a:rPr lang="en-US" b="1" i="1" dirty="0"/>
              <a:t>only a limited number of facts </a:t>
            </a:r>
            <a:r>
              <a:rPr lang="en-US" dirty="0"/>
              <a:t>across all line of business.</a:t>
            </a:r>
          </a:p>
          <a:p>
            <a:r>
              <a:rPr lang="en-US" dirty="0"/>
              <a:t>Subtype schema must also </a:t>
            </a:r>
            <a:r>
              <a:rPr lang="en-US" b="1" i="1" dirty="0"/>
              <a:t>contain the supertype fact attributes </a:t>
            </a:r>
            <a:r>
              <a:rPr lang="en-US" dirty="0"/>
              <a:t>to avoid joining tables from supertype and subtype schemas.</a:t>
            </a:r>
          </a:p>
          <a:p>
            <a:r>
              <a:rPr lang="en-US" altLang="zh-CN" dirty="0"/>
              <a:t>A</a:t>
            </a:r>
            <a:r>
              <a:rPr lang="en-US" dirty="0"/>
              <a:t> specific product would be assigned the </a:t>
            </a:r>
            <a:r>
              <a:rPr lang="en-US" b="1" i="1" dirty="0"/>
              <a:t>same surrogate</a:t>
            </a:r>
            <a:r>
              <a:rPr lang="zh-CN" altLang="en-US" b="1" i="1" dirty="0"/>
              <a:t> </a:t>
            </a:r>
            <a:r>
              <a:rPr lang="en-US" b="1" i="1" dirty="0"/>
              <a:t>product key </a:t>
            </a:r>
            <a:r>
              <a:rPr lang="en-US" dirty="0"/>
              <a:t>in both the supertype and subtype product dimensions.</a:t>
            </a:r>
          </a:p>
          <a:p>
            <a:r>
              <a:rPr lang="en-US" dirty="0"/>
              <a:t>﻿</a:t>
            </a:r>
            <a:r>
              <a:rPr lang="en-US" altLang="zh-CN" dirty="0"/>
              <a:t>S</a:t>
            </a:r>
            <a:r>
              <a:rPr lang="en-US" dirty="0"/>
              <a:t>ubtype tables provide a </a:t>
            </a:r>
            <a:r>
              <a:rPr lang="en-US" b="1" i="1" dirty="0"/>
              <a:t>disjointed</a:t>
            </a:r>
            <a:r>
              <a:rPr lang="en-US" dirty="0"/>
              <a:t> partitioning of the accounts,</a:t>
            </a:r>
            <a:r>
              <a:rPr lang="zh-CN" altLang="en-US" dirty="0"/>
              <a:t> </a:t>
            </a:r>
            <a:r>
              <a:rPr lang="en-US" dirty="0"/>
              <a:t>so there is no overlap between the subtype schemas.</a:t>
            </a:r>
          </a:p>
          <a:p>
            <a:r>
              <a:rPr lang="en-US" dirty="0"/>
              <a:t>A family of </a:t>
            </a:r>
            <a:r>
              <a:rPr lang="en-US" dirty="0" err="1"/>
              <a:t>supertype</a:t>
            </a:r>
            <a:r>
              <a:rPr lang="en-US" dirty="0"/>
              <a:t> and subtype are needed when a business has </a:t>
            </a:r>
            <a:r>
              <a:rPr lang="en-US" b="1" i="1" dirty="0"/>
              <a:t>heterogeneous products </a:t>
            </a:r>
            <a:r>
              <a:rPr lang="en-US" dirty="0"/>
              <a:t>but </a:t>
            </a:r>
            <a:r>
              <a:rPr lang="en-US" b="1" i="1" dirty="0"/>
              <a:t>a single customer base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333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09294-972F-6040-A12B-9A6907893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More</a:t>
            </a:r>
            <a:r>
              <a:rPr lang="zh-CN" altLang="en-US" dirty="0"/>
              <a:t> </a:t>
            </a:r>
            <a:r>
              <a:rPr lang="en-US" altLang="zh-CN" dirty="0"/>
              <a:t>examples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other</a:t>
            </a:r>
            <a:r>
              <a:rPr lang="zh-CN" altLang="en-US" dirty="0"/>
              <a:t> </a:t>
            </a:r>
            <a:r>
              <a:rPr lang="en-US" altLang="zh-CN" dirty="0"/>
              <a:t>domains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B6DECA-BEBE-4147-848D-0378C7D346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﻿Supertypes and Subtypes for Charges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b="1" i="1" dirty="0"/>
              <a:t>Healthcare</a:t>
            </a:r>
            <a:r>
              <a:rPr lang="en-US" altLang="zh-CN" dirty="0"/>
              <a:t>:</a:t>
            </a:r>
          </a:p>
          <a:p>
            <a:r>
              <a:rPr lang="en-US" dirty="0"/>
              <a:t>﻿Facility charges for inpatient hospital stays diﬀer</a:t>
            </a:r>
            <a:r>
              <a:rPr lang="zh-CN" altLang="en-US" dirty="0"/>
              <a:t> </a:t>
            </a:r>
            <a:r>
              <a:rPr lang="en-US" dirty="0"/>
              <a:t>from professional charges for outpatient treatments in clinics and doctor of</a:t>
            </a:r>
            <a:r>
              <a:rPr lang="en-US" altLang="zh-CN" dirty="0"/>
              <a:t>fi</a:t>
            </a:r>
            <a:r>
              <a:rPr lang="en-US" dirty="0"/>
              <a:t>ces.</a:t>
            </a:r>
          </a:p>
          <a:p>
            <a:endParaRPr lang="en-US" dirty="0"/>
          </a:p>
          <a:p>
            <a:r>
              <a:rPr lang="en-US" b="1" i="1" dirty="0"/>
              <a:t>﻿Insurance companies </a:t>
            </a:r>
            <a:r>
              <a:rPr lang="en-US" dirty="0"/>
              <a:t>typically are involved in multiple, very diﬀerent lines</a:t>
            </a:r>
            <a:r>
              <a:rPr lang="zh-CN" altLang="en-US" dirty="0"/>
              <a:t> </a:t>
            </a:r>
            <a:r>
              <a:rPr lang="en-US" dirty="0"/>
              <a:t>of business.</a:t>
            </a:r>
          </a:p>
          <a:p>
            <a:r>
              <a:rPr lang="en-US" dirty="0"/>
              <a:t>﻿the detailed parameters of homeowners’ coverages diﬀer</a:t>
            </a:r>
            <a:r>
              <a:rPr lang="zh-CN" altLang="en-US" dirty="0"/>
              <a:t> </a:t>
            </a:r>
            <a:r>
              <a:rPr lang="en-US" dirty="0"/>
              <a:t>significantly from automobile coverages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dirty="0"/>
              <a:t>from</a:t>
            </a:r>
            <a:r>
              <a:rPr lang="zh-CN" altLang="en-US" dirty="0"/>
              <a:t> </a:t>
            </a:r>
            <a:r>
              <a:rPr lang="en-US" dirty="0"/>
              <a:t>personal property coverage, general liability coverage, and other types of insurance.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5857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DF9AE-D43E-4745-8FF4-FB932C4BA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Supertype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subtype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charges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576799-27B3-5F47-ABAB-F41D9D6489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656" y="1512911"/>
            <a:ext cx="6482072" cy="51389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DB7429-9B2B-B640-BA6C-EAD6F2BED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508" y="1591678"/>
            <a:ext cx="4347072" cy="509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043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EDA1F-CEC4-904C-B96F-511EE79F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Supertype</a:t>
            </a:r>
            <a:r>
              <a:rPr lang="zh-CN" altLang="en-US" dirty="0"/>
              <a:t> </a:t>
            </a:r>
            <a:r>
              <a:rPr lang="en-US" altLang="zh-CN" dirty="0"/>
              <a:t>vs</a:t>
            </a:r>
            <a:r>
              <a:rPr lang="zh-CN" altLang="en-US" dirty="0"/>
              <a:t> </a:t>
            </a:r>
            <a:r>
              <a:rPr lang="en-US" altLang="zh-CN" dirty="0"/>
              <a:t>subtype</a:t>
            </a:r>
            <a:r>
              <a:rPr lang="zh-CN" altLang="en-US" dirty="0"/>
              <a:t> </a:t>
            </a:r>
            <a:r>
              <a:rPr lang="en-US" altLang="zh-CN" dirty="0"/>
              <a:t>in</a:t>
            </a:r>
            <a:r>
              <a:rPr lang="zh-CN" altLang="en-US" dirty="0"/>
              <a:t> </a:t>
            </a:r>
            <a:r>
              <a:rPr lang="en-US" altLang="zh-CN" dirty="0"/>
              <a:t>Policy</a:t>
            </a:r>
            <a:r>
              <a:rPr lang="zh-CN" altLang="en-US" dirty="0"/>
              <a:t> </a:t>
            </a:r>
            <a:r>
              <a:rPr lang="en-US" altLang="zh-CN" dirty="0"/>
              <a:t>Transaction</a:t>
            </a:r>
            <a:r>
              <a:rPr lang="zh-CN" altLang="en-US" dirty="0"/>
              <a:t> </a:t>
            </a:r>
            <a:r>
              <a:rPr lang="en-US" altLang="zh-CN" dirty="0"/>
              <a:t>Fact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667D80-2F76-604F-88BF-7462AED517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920" y="3612109"/>
            <a:ext cx="6314631" cy="245515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A8DD82-B7F4-644F-A9D3-753488010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871" y="1278196"/>
            <a:ext cx="6766809" cy="2746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3013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6289-5B62-5245-A9B2-12DA9F29F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﻿Step Dimension</a:t>
            </a:r>
            <a:r>
              <a:rPr lang="zh-CN" altLang="en-US" dirty="0"/>
              <a:t> </a:t>
            </a:r>
            <a:r>
              <a:rPr lang="en-US" altLang="zh-CN" dirty="0"/>
              <a:t>for Sequential 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9071-0BFD-E34E-ACF2-0969233AF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dirty="0"/>
              <a:t>﻿Sequential measurements, need to follow a customer</a:t>
            </a:r>
            <a:r>
              <a:rPr lang="zh-CN" altLang="en-US" sz="3200" dirty="0"/>
              <a:t> </a:t>
            </a:r>
            <a:r>
              <a:rPr lang="en-US" sz="3200" dirty="0"/>
              <a:t>or a product through a series of steps, often measured by diﬀerent data capture</a:t>
            </a:r>
            <a:r>
              <a:rPr lang="zh-CN" altLang="en-US" sz="3200" dirty="0"/>
              <a:t> </a:t>
            </a:r>
            <a:r>
              <a:rPr lang="en-US" sz="3200" dirty="0"/>
              <a:t>systems. </a:t>
            </a:r>
          </a:p>
          <a:p>
            <a:pPr lvl="1"/>
            <a:r>
              <a:rPr lang="en-US" sz="2800" dirty="0"/>
              <a:t>﻿a sequential process comes from</a:t>
            </a:r>
            <a:r>
              <a:rPr lang="zh-CN" altLang="en-US" sz="2800" dirty="0"/>
              <a:t> </a:t>
            </a:r>
            <a:r>
              <a:rPr lang="en-US" sz="2800" dirty="0"/>
              <a:t>web events where a session is constructed by collecting individual page events on</a:t>
            </a:r>
            <a:r>
              <a:rPr lang="zh-CN" altLang="en-US" sz="2800" dirty="0"/>
              <a:t> </a:t>
            </a:r>
            <a:r>
              <a:rPr lang="en-US" sz="2800" dirty="0"/>
              <a:t>multiple web servers tied together via a customer’s cookie</a:t>
            </a:r>
            <a:r>
              <a:rPr lang="en-US" altLang="zh-CN" sz="2800" dirty="0"/>
              <a:t>.</a:t>
            </a:r>
          </a:p>
          <a:p>
            <a:pPr lvl="1"/>
            <a:r>
              <a:rPr lang="en-US" sz="2800" dirty="0"/>
              <a:t>﻿The step dimension can be prebuilt to accommodate</a:t>
            </a:r>
            <a:r>
              <a:rPr lang="zh-CN" altLang="en-US" sz="2800" dirty="0"/>
              <a:t> </a:t>
            </a:r>
            <a:r>
              <a:rPr lang="en-US" sz="2800" dirty="0"/>
              <a:t>sessions of at least 100 steps.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7603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F175D-3387-DD45-BB8F-8DE8781F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﻿Step dimension to capture sequential activities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B063E2-0F1E-024F-B65B-0CD7EB1274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504" y="1825625"/>
            <a:ext cx="10264991" cy="4351338"/>
          </a:xfrm>
        </p:spPr>
      </p:pic>
    </p:spTree>
    <p:extLst>
      <p:ext uri="{BB962C8B-B14F-4D97-AF65-F5344CB8AC3E}">
        <p14:creationId xmlns:p14="http://schemas.microsoft.com/office/powerpoint/2010/main" val="8687797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2A0E-62AE-1548-95BA-4A9AAB82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Dimension</a:t>
            </a:r>
            <a:r>
              <a:rPr lang="zh-CN" altLang="en-US" dirty="0"/>
              <a:t> </a:t>
            </a:r>
            <a:r>
              <a:rPr lang="en-US" altLang="zh-CN" dirty="0"/>
              <a:t>for Sequential Behavior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48076-A045-C74A-BBA2-AC300F225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﻿</a:t>
            </a:r>
            <a:r>
              <a:rPr lang="en-US" altLang="zh-CN" sz="3600" dirty="0"/>
              <a:t>S</a:t>
            </a:r>
            <a:r>
              <a:rPr lang="en-US" sz="3600" dirty="0"/>
              <a:t>tep dimension can be associated with a transaction fact table whose grain is the individual page event. </a:t>
            </a:r>
          </a:p>
          <a:p>
            <a:pPr lvl="1"/>
            <a:r>
              <a:rPr lang="en-US" sz="3200" dirty="0"/>
              <a:t>﻿The first role is the </a:t>
            </a:r>
            <a:r>
              <a:rPr lang="en-US" sz="3200" i="1" dirty="0"/>
              <a:t>overall session</a:t>
            </a:r>
            <a:r>
              <a:rPr lang="en-US" sz="3200" dirty="0"/>
              <a:t>. </a:t>
            </a:r>
          </a:p>
          <a:p>
            <a:pPr lvl="1"/>
            <a:r>
              <a:rPr lang="en-US" sz="3200" dirty="0"/>
              <a:t>The</a:t>
            </a:r>
            <a:r>
              <a:rPr lang="zh-CN" altLang="en-US" sz="3200" dirty="0"/>
              <a:t> </a:t>
            </a:r>
            <a:r>
              <a:rPr lang="en-US" sz="3200" dirty="0"/>
              <a:t>second role is a </a:t>
            </a:r>
            <a:r>
              <a:rPr lang="en-US" sz="3200" i="1" dirty="0"/>
              <a:t>successful purchase sub</a:t>
            </a:r>
            <a:r>
              <a:rPr lang="en-US" altLang="zh-CN" sz="3200" i="1" dirty="0"/>
              <a:t>-</a:t>
            </a:r>
            <a:r>
              <a:rPr lang="en-US" sz="3200" i="1" dirty="0"/>
              <a:t>session</a:t>
            </a:r>
            <a:r>
              <a:rPr lang="en-US" sz="3200" dirty="0"/>
              <a:t>, where a sequence of page events</a:t>
            </a:r>
            <a:r>
              <a:rPr lang="zh-CN" altLang="en-US" sz="3200" dirty="0"/>
              <a:t> </a:t>
            </a:r>
            <a:r>
              <a:rPr lang="en-US" sz="3200" dirty="0"/>
              <a:t>leads to a confirmed purchase. </a:t>
            </a:r>
          </a:p>
          <a:p>
            <a:pPr lvl="1"/>
            <a:r>
              <a:rPr lang="en-US" sz="3200" dirty="0"/>
              <a:t>The third role is the </a:t>
            </a:r>
            <a:r>
              <a:rPr lang="en-US" sz="3200" i="1" dirty="0"/>
              <a:t>abandoned shopping cart</a:t>
            </a:r>
            <a:r>
              <a:rPr lang="en-US" sz="3200" dirty="0"/>
              <a:t>, where</a:t>
            </a:r>
            <a:r>
              <a:rPr lang="zh-CN" altLang="en-US" sz="3200" dirty="0"/>
              <a:t> </a:t>
            </a:r>
            <a:r>
              <a:rPr lang="en-US" sz="3200" dirty="0"/>
              <a:t>the sequence of page events is terminated without a purchase</a:t>
            </a:r>
            <a:r>
              <a:rPr lang="en-US" dirty="0"/>
              <a:t>.</a:t>
            </a:r>
          </a:p>
          <a:p>
            <a:pPr lvl="1"/>
            <a:r>
              <a:rPr lang="en-US" sz="3200" dirty="0"/>
              <a:t>﻿</a:t>
            </a:r>
            <a:r>
              <a:rPr lang="en-US" altLang="zh-CN" sz="3200" dirty="0"/>
              <a:t>A</a:t>
            </a:r>
            <a:r>
              <a:rPr lang="en-US" sz="3200" dirty="0"/>
              <a:t> </a:t>
            </a:r>
            <a:r>
              <a:rPr lang="en-US" sz="3200" i="1" dirty="0"/>
              <a:t>specific page</a:t>
            </a:r>
            <a:r>
              <a:rPr lang="en-US" sz="3200" dirty="0"/>
              <a:t> can immediately be placed into one or</a:t>
            </a:r>
            <a:r>
              <a:rPr lang="zh-CN" altLang="en-US" sz="3200" dirty="0"/>
              <a:t> </a:t>
            </a:r>
            <a:r>
              <a:rPr lang="en-US" sz="3200" dirty="0"/>
              <a:t>more understandable contexts (overall session, successful purchase, and abandoned</a:t>
            </a:r>
            <a:r>
              <a:rPr lang="zh-CN" altLang="en-US" sz="3200" dirty="0"/>
              <a:t> </a:t>
            </a:r>
            <a:r>
              <a:rPr lang="en-US" sz="3200" dirty="0"/>
              <a:t>shopping cart)</a:t>
            </a:r>
          </a:p>
        </p:txBody>
      </p:sp>
    </p:spTree>
    <p:extLst>
      <p:ext uri="{BB962C8B-B14F-4D97-AF65-F5344CB8AC3E}">
        <p14:creationId xmlns:p14="http://schemas.microsoft.com/office/powerpoint/2010/main" val="38430748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EE917-EAED-884D-BFC9-F2E51C7B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Alternatives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Modeling Sequential Behavior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4E40BC-B75E-DC49-A71E-D983AAFA9F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﻿</a:t>
            </a:r>
            <a:r>
              <a:rPr lang="en-US" altLang="zh-CN" sz="3600" dirty="0"/>
              <a:t>S</a:t>
            </a:r>
            <a:r>
              <a:rPr lang="en-US" sz="3600" dirty="0"/>
              <a:t>pecific</a:t>
            </a:r>
            <a:r>
              <a:rPr lang="zh-CN" altLang="en-US" sz="3600" dirty="0"/>
              <a:t> </a:t>
            </a:r>
            <a:r>
              <a:rPr lang="en-US" sz="3600" dirty="0"/>
              <a:t>fixed codes for each possible step</a:t>
            </a:r>
            <a:r>
              <a:rPr lang="en-US" altLang="zh-CN" sz="3600" dirty="0"/>
              <a:t>;</a:t>
            </a:r>
            <a:endParaRPr lang="en-US" sz="3600" dirty="0"/>
          </a:p>
          <a:p>
            <a:r>
              <a:rPr lang="en-US" sz="3600" dirty="0"/>
              <a:t>﻿</a:t>
            </a:r>
            <a:r>
              <a:rPr lang="en-US" altLang="zh-CN" sz="3600" dirty="0"/>
              <a:t>T</a:t>
            </a:r>
            <a:r>
              <a:rPr lang="en-US" sz="3600" dirty="0"/>
              <a:t>rack customer product purchases in a</a:t>
            </a:r>
            <a:r>
              <a:rPr lang="zh-CN" altLang="en-US" sz="3600" dirty="0"/>
              <a:t> </a:t>
            </a:r>
            <a:r>
              <a:rPr lang="en-US" sz="3600" dirty="0"/>
              <a:t>retail environment</a:t>
            </a:r>
            <a:r>
              <a:rPr lang="zh-CN" altLang="en-US" sz="3600" dirty="0"/>
              <a:t> </a:t>
            </a:r>
            <a:r>
              <a:rPr lang="en-US" altLang="zh-CN" sz="3600" dirty="0"/>
              <a:t>and</a:t>
            </a:r>
            <a:r>
              <a:rPr lang="zh-CN" altLang="en-US" sz="3600" dirty="0"/>
              <a:t> </a:t>
            </a:r>
            <a:r>
              <a:rPr lang="en-US" altLang="zh-CN" sz="3600" dirty="0"/>
              <a:t>Track</a:t>
            </a:r>
            <a:r>
              <a:rPr lang="zh-CN" altLang="en-US" sz="3600" dirty="0"/>
              <a:t> </a:t>
            </a:r>
            <a:r>
              <a:rPr lang="en-US" sz="3600" dirty="0"/>
              <a:t>each product can be encoded</a:t>
            </a:r>
            <a:r>
              <a:rPr lang="en-US" altLang="zh-CN" sz="3600" dirty="0"/>
              <a:t>;</a:t>
            </a:r>
            <a:endParaRPr lang="en-US" sz="3600" dirty="0"/>
          </a:p>
          <a:p>
            <a:r>
              <a:rPr lang="en-US" sz="3600" dirty="0"/>
              <a:t>﻿</a:t>
            </a:r>
            <a:r>
              <a:rPr lang="en-US" altLang="zh-CN" sz="3600" dirty="0"/>
              <a:t>S</a:t>
            </a:r>
            <a:r>
              <a:rPr lang="en-US" sz="3600" dirty="0"/>
              <a:t>eparate the codes with a unique non-numeri</a:t>
            </a:r>
            <a:r>
              <a:rPr lang="en-US" altLang="zh-CN" sz="3600" dirty="0"/>
              <a:t>c</a:t>
            </a:r>
            <a:r>
              <a:rPr lang="zh-CN" altLang="en-US" sz="3600" dirty="0"/>
              <a:t> </a:t>
            </a:r>
            <a:r>
              <a:rPr lang="en-US" sz="3600" dirty="0"/>
              <a:t>character. </a:t>
            </a:r>
          </a:p>
          <a:p>
            <a:r>
              <a:rPr lang="en-US" sz="3600" dirty="0"/>
              <a:t>11254|45882|53340|74934|21399|93636|36217|87952|…etc.</a:t>
            </a:r>
          </a:p>
        </p:txBody>
      </p:sp>
    </p:spTree>
    <p:extLst>
      <p:ext uri="{BB962C8B-B14F-4D97-AF65-F5344CB8AC3E}">
        <p14:creationId xmlns:p14="http://schemas.microsoft.com/office/powerpoint/2010/main" val="305712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2516</TotalTime>
  <Words>1498</Words>
  <Application>Microsoft Macintosh PowerPoint</Application>
  <PresentationFormat>Widescreen</PresentationFormat>
  <Paragraphs>129</Paragraphs>
  <Slides>29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等线</vt:lpstr>
      <vt:lpstr>等线 Light</vt:lpstr>
      <vt:lpstr>Arial</vt:lpstr>
      <vt:lpstr>Calibri</vt:lpstr>
      <vt:lpstr>Calibri Light</vt:lpstr>
      <vt:lpstr>Office Theme</vt:lpstr>
      <vt:lpstr>Lecture 9: Financial Services and Supertype/Subtype</vt:lpstr>
      <vt:lpstr>Financial Services</vt:lpstr>
      <vt:lpstr>Subset of Bus Matrix Rows of a Bank</vt:lpstr>
      <vt:lpstr>Grain and Simple Schema</vt:lpstr>
      <vt:lpstr>Problems with too few dimensions</vt:lpstr>
      <vt:lpstr>Supplements to the dimensional model</vt:lpstr>
      <vt:lpstr>Snapshot Fact table for all Accounts</vt:lpstr>
      <vt:lpstr>Dimension Details</vt:lpstr>
      <vt:lpstr>Dimension Details</vt:lpstr>
      <vt:lpstr>Household Dimension and Account Dimension</vt:lpstr>
      <vt:lpstr>Mini-Dimensions Revisited</vt:lpstr>
      <vt:lpstr>Multiple mini-dimensions associated with a fact table</vt:lpstr>
      <vt:lpstr>Dynamic Value Banding of Facts</vt:lpstr>
      <vt:lpstr>Dynamic Value Banding of Facts</vt:lpstr>
      <vt:lpstr>Dynamic Value Banding of Facts</vt:lpstr>
      <vt:lpstr>Dynamic Value Banding of Facts</vt:lpstr>
      <vt:lpstr>Supertype and Subtype Schemas for Heterogeneous Products</vt:lpstr>
      <vt:lpstr>Supertype and Subtype</vt:lpstr>
      <vt:lpstr>Supertype and Subtype for Heterogeneous Products</vt:lpstr>
      <vt:lpstr>Supertype Fact table for all Accounts</vt:lpstr>
      <vt:lpstr>LOB Subtype Schema for Checking</vt:lpstr>
      <vt:lpstr>Supertype and Subtype</vt:lpstr>
      <vt:lpstr>More examples in other domains</vt:lpstr>
      <vt:lpstr>Supertype vs subtype in charges</vt:lpstr>
      <vt:lpstr>Supertype vs subtype in Policy Transaction Fact</vt:lpstr>
      <vt:lpstr>Step Dimension for Sequential Behavior</vt:lpstr>
      <vt:lpstr>Step dimension to capture sequential activities</vt:lpstr>
      <vt:lpstr>Step Dimension for Sequential Behavior</vt:lpstr>
      <vt:lpstr>Alternatives of Modeling Sequential Behavior 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Services and </dc:title>
  <dc:creator>Yuanyuan Gao</dc:creator>
  <cp:lastModifiedBy>Yuanyuan Gao</cp:lastModifiedBy>
  <cp:revision>78</cp:revision>
  <dcterms:created xsi:type="dcterms:W3CDTF">2020-10-18T22:25:36Z</dcterms:created>
  <dcterms:modified xsi:type="dcterms:W3CDTF">2023-11-06T19:02:29Z</dcterms:modified>
</cp:coreProperties>
</file>