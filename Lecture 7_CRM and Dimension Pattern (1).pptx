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8" r:id="rId10"/>
    <p:sldId id="269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4"/>
    <p:restoredTop sz="94677"/>
  </p:normalViewPr>
  <p:slideViewPr>
    <p:cSldViewPr snapToGrid="0" snapToObjects="1">
      <p:cViewPr>
        <p:scale>
          <a:sx n="110" d="100"/>
          <a:sy n="110" d="100"/>
        </p:scale>
        <p:origin x="704" y="-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76F57-5787-5C42-B72F-90494EFA7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0C71A-1DF2-D743-A47A-5BD96F208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20085-40AD-3F41-A225-B1378A1C7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9625-35AF-CD48-A46F-9800F17F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C0DEA-52F2-6D41-85CE-7E1A4D46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C31A-3A9E-4543-9A81-E7AC9BB2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9CAC8-7291-9140-B249-82085F217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46C99-9E37-2941-8299-A868370B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95B57-4AFF-9C47-963C-6BC3EDA4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171AA-6FB8-E745-84CC-A3805FB5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3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4D98-4B05-5841-8619-2672F922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276E7-191B-6A4E-83EF-5C74F9CF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C1176-9305-8E4C-A11C-DE89E4D7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9A32B-F4ED-164C-9D08-1F835000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5289-1BCE-B541-B8FC-807C2276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0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5EBD-64CC-DD47-9070-54DE27D2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2C43-4E05-2740-B451-76E1F259D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EE950-1DE0-F049-83C7-14C7385B3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C0E50-CA23-4F4E-AB49-E9CA73EE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3E92E-F80A-5646-8E1A-DB052F1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D4CD6-FE4D-C14C-9D67-107CFBB6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E78E4-ECBC-B648-B26E-31BE01D1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92656-5CFB-4148-9058-1957CE647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F2ED9-2DB4-B343-A171-2DF6343D0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C288A-7AF3-BC4D-B12D-0E1786D45C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3D2C1-75D8-BB46-A022-1E1E3DEFD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A0546D-F01C-8442-A437-0EFCCAB8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63644-18A8-984B-B7C0-3E9B4B7F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F2383-F416-4544-A6D1-CC902A5F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69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4AE7-2C38-6D41-9692-2125E73F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A8B6A8-E645-A540-AB5A-3D2B70D7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12654-8A57-4B46-9336-9444B0BE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C658C-E61D-974E-B8E7-3A289350E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3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107D0-AAAC-CA47-8FB7-E66F46B7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C9047-15FC-6248-9E24-65E9524D9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6F924-DF79-014A-B01E-6DF5CC13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17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48E7-A256-464F-A456-2A0E0FB7D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1ECDA-547F-2D46-9FB0-76934A56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0D8BE-D3A3-7544-9DD7-A8C2E50C7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D2C82-A61E-A940-A9FE-BFD843B1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2520A-D358-D440-BAE0-AC442F15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97C4E-F93C-2240-A07D-91FA83A5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03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8D5D-7C9E-C548-B179-2F7E4472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11FFA-15D0-614D-881E-BC94479AE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26D13-633B-744E-83A0-23D6D97B0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53089-CA62-474B-8932-3B54581A3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A9705-59C9-0943-B07D-16963DA5E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7B1A5-B3CD-F04A-AA11-B57D5BA3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2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BB2B0-1F95-5E40-9925-88D09B2C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6CF439-8FDC-6D49-A2FF-382A6006E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A8E34-EB1D-734E-80BB-1A8680C0B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7B45B-475F-104E-AE0F-E8F7EBC3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C293E-9250-BB42-BDF5-7F304F78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68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3DBB8-7A97-BD40-9838-772EE2FC7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0AD12-92BC-DC40-BA9F-D18619049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46E74-54D7-3448-BBF7-0F524012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98CF0-327C-7248-810B-A558C2E84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E24D9-F538-AF47-B6A0-EC3FDA244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00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149C73-AD9C-2B4D-9636-3487E557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75C2F-0E6F-0E47-8301-3DAA73A4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F641C-4FB5-3D43-B2ED-3D7CAA8E5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15F5-2AE6-2A4B-858D-F5C8EA309D7C}" type="datetimeFigureOut">
              <a:rPr lang="en-US" smtClean="0"/>
              <a:t>6/22/21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C77EB-BDAD-4145-A063-0F616DA93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2D4D-B482-0844-ADD5-CDE166230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30AE8-D7B9-F644-943B-CB7179FA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0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CBBF-CC9C-BB47-93C5-7ADA59898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7: Customer Relationship Management (CRM) and Dimension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C9874-8B1C-8546-8D03-F9DD51F8EF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</p:spTree>
    <p:extLst>
      <p:ext uri="{BB962C8B-B14F-4D97-AF65-F5344CB8AC3E}">
        <p14:creationId xmlns:p14="http://schemas.microsoft.com/office/powerpoint/2010/main" val="3829910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0509E-DCCA-9E44-A717-799BB95A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Relationship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A8C79-A050-E34C-8254-D15D005A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better you know your customers, the better you can maintain long-lasting, valuable relationships with them. </a:t>
            </a:r>
            <a:endParaRPr lang="en-US" dirty="0">
              <a:effectLst/>
            </a:endParaRPr>
          </a:p>
          <a:p>
            <a:r>
              <a:rPr lang="en-US" dirty="0"/>
              <a:t>The goal of CRM is to maximize relationships with your customers over their lifetime. </a:t>
            </a:r>
            <a:endParaRPr lang="en-US" dirty="0">
              <a:effectLst/>
            </a:endParaRPr>
          </a:p>
          <a:p>
            <a:pPr lvl="1"/>
            <a:r>
              <a:rPr lang="en-US" dirty="0"/>
              <a:t>Entails focusing all aspects of the business: marketing, sales, operations, and service, on establishing and sustaining mutually beneficial customer relations. </a:t>
            </a:r>
          </a:p>
          <a:p>
            <a:pPr lvl="1"/>
            <a:r>
              <a:rPr lang="en-US" dirty="0"/>
              <a:t>Develop a single, integrated view of each customer. 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7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EB043-73E7-AD4B-BAB9-B9579512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and Analytic CRM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1175E-155B-FB41-ADE6-DBE890B62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Operational CRM: All the customer interactions that occur during the purchase and usage of a product or service, from the initial prospect contact, quote generation, purchase transaction, fulfillment, payment transaction, and on-going customer service. </a:t>
            </a:r>
          </a:p>
          <a:p>
            <a:r>
              <a:rPr lang="en-US" dirty="0"/>
              <a:t>Analytic CRM: enabled via accurate, integrated, and accessible customer data in the DW/BI system.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3D18F-F72E-D64C-A73B-92F628AC2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126" y="4089494"/>
            <a:ext cx="3009417" cy="276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44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53E3E-7764-7C43-94E9-EA05F4DF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Dimension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72566-AC1D-714F-BB48-8489B19B9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conformed customer dimension is a critical element for effective CRM;</a:t>
            </a:r>
          </a:p>
          <a:p>
            <a:r>
              <a:rPr lang="en-US" dirty="0"/>
              <a:t>In a large organization, the customer dimension can be extremely deep (with many millions of rows), extremely wide (with dozens or even hundreds of attributes), and sometimes subject to rapid change. </a:t>
            </a:r>
          </a:p>
          <a:p>
            <a:r>
              <a:rPr lang="en-US" dirty="0"/>
              <a:t>The customer dimension often represents an amalgamation of data from multiple internal and external source systems.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4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1581D-88C3-1D45-9D8D-E58874CE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and Address Parsing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BAD48-F848-2A47-A601-7A6D732F2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051" y="1681163"/>
            <a:ext cx="5157787" cy="823912"/>
          </a:xfrm>
        </p:spPr>
        <p:txBody>
          <a:bodyPr/>
          <a:lstStyle/>
          <a:p>
            <a:r>
              <a:rPr lang="en-US" b="0" dirty="0"/>
              <a:t>Address data in overly general columns 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8E5B339-3826-4F49-B511-996B03604A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147" y="2765829"/>
            <a:ext cx="4297883" cy="211056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5EE52-DCB1-1345-98AE-5F2C2F7BC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481165"/>
            <a:ext cx="5183188" cy="823912"/>
          </a:xfrm>
        </p:spPr>
        <p:txBody>
          <a:bodyPr/>
          <a:lstStyle/>
          <a:p>
            <a:r>
              <a:rPr lang="en-US" b="0" dirty="0"/>
              <a:t>Address data with parsed name and address elements </a:t>
            </a: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04F79D9-A95F-644E-91E0-1E59FE999D4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218641" y="2505075"/>
            <a:ext cx="3556000" cy="3479800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F16523-ADEF-9548-88DA-EA3FF3F6C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463" y="2664229"/>
            <a:ext cx="3297745" cy="332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0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DEBF1-78E1-EE4D-85D7-15A0ABC6F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Aggregated Facts as Dimension Attributes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59596-2A8F-2945-8BF9-ADB7C82B5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users are often interested in constraining the customer dimension based on aggregated performance metrics, such as </a:t>
            </a:r>
            <a:r>
              <a:rPr lang="en-US" i="1" dirty="0"/>
              <a:t>ﬁltering on all customers who spent over a certain dollar amount during last year or perhaps over the customer’s lifetime. </a:t>
            </a:r>
          </a:p>
          <a:p>
            <a:r>
              <a:rPr lang="en-US" dirty="0"/>
              <a:t>Selected </a:t>
            </a:r>
            <a:r>
              <a:rPr lang="en-US" i="1" dirty="0"/>
              <a:t>aggregated facts </a:t>
            </a:r>
            <a:r>
              <a:rPr lang="en-US" dirty="0"/>
              <a:t>can be placed in a dimension as targets for constraining and as row labels for reporting.</a:t>
            </a:r>
          </a:p>
          <a:p>
            <a:r>
              <a:rPr lang="en-US" dirty="0"/>
              <a:t>The metrics are often presented as banded ranges in the dimension table. </a:t>
            </a:r>
          </a:p>
        </p:txBody>
      </p:sp>
    </p:spTree>
    <p:extLst>
      <p:ext uri="{BB962C8B-B14F-4D97-AF65-F5344CB8AC3E}">
        <p14:creationId xmlns:p14="http://schemas.microsoft.com/office/powerpoint/2010/main" val="1404342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064D-1325-644C-8997-B89624E29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Bridge Tables for Multivalued Dimensions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4660B-3682-B748-9430-1F5248C8C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to handle multiple values at the grain of the individual transaction:</a:t>
            </a:r>
          </a:p>
          <a:p>
            <a:pPr lvl="1"/>
            <a:r>
              <a:rPr lang="en-US" dirty="0"/>
              <a:t>Professional skills of a job applicant </a:t>
            </a:r>
          </a:p>
          <a:p>
            <a:pPr lvl="1"/>
            <a:r>
              <a:rPr lang="en-US" dirty="0"/>
              <a:t>Hobbies of an individual </a:t>
            </a:r>
          </a:p>
          <a:p>
            <a:pPr lvl="1"/>
            <a:r>
              <a:rPr lang="en-US" dirty="0"/>
              <a:t>Diagnoses or symptoms of a patient </a:t>
            </a:r>
          </a:p>
          <a:p>
            <a:pPr lvl="1"/>
            <a:r>
              <a:rPr lang="en-US" dirty="0"/>
              <a:t>Optional features for an automobile or truck </a:t>
            </a:r>
          </a:p>
          <a:p>
            <a:pPr lvl="1"/>
            <a:r>
              <a:rPr lang="en-US" dirty="0"/>
              <a:t>Joint account holders in a bank account </a:t>
            </a:r>
          </a:p>
          <a:p>
            <a:pPr lvl="1"/>
            <a:r>
              <a:rPr lang="en-US" dirty="0"/>
              <a:t>Tenants in a rental property </a:t>
            </a:r>
          </a:p>
          <a:p>
            <a:r>
              <a:rPr lang="en-US" dirty="0"/>
              <a:t>A positional design: individual dimension, fast query, less scalable; </a:t>
            </a:r>
          </a:p>
          <a:p>
            <a:r>
              <a:rPr lang="en-US" dirty="0"/>
              <a:t>Bridge table design: complex query, no direct view by the business user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6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DE83-E52A-D44D-9528-D06CCAB73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Table for Multiple Customer Contacts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A1FED2-EA10-3E47-9AEF-C99294CF1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850366"/>
            <a:ext cx="10515600" cy="243159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BEB574D-4562-5F43-AC62-9A9E4FD0DF09}"/>
              </a:ext>
            </a:extLst>
          </p:cNvPr>
          <p:cNvSpPr/>
          <p:nvPr/>
        </p:nvSpPr>
        <p:spPr>
          <a:xfrm>
            <a:off x="838199" y="1690687"/>
            <a:ext cx="1082908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231F20"/>
                </a:solidFill>
              </a:rPr>
              <a:t>Bridge tables can sit between fact and dimension tables, or alternatively, between a dimension table and its multivalued attributes (such as a customer and their hobbies or interests), </a:t>
            </a:r>
            <a:r>
              <a:rPr lang="en-US" sz="2800" dirty="0"/>
              <a:t>in order to bring the grain of the fact table down to the grain of the dimension.</a:t>
            </a:r>
          </a:p>
        </p:txBody>
      </p:sp>
    </p:spTree>
    <p:extLst>
      <p:ext uri="{BB962C8B-B14F-4D97-AF65-F5344CB8AC3E}">
        <p14:creationId xmlns:p14="http://schemas.microsoft.com/office/powerpoint/2010/main" val="1975691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308B-59D5-1D4D-8CE2-F88F53B18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Table Cont.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457DBD-6666-C640-ABC5-2ACEA12D9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259" y="1690688"/>
            <a:ext cx="277131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9CEDBD-9324-834F-92AB-42C7F40E1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573" y="1027906"/>
            <a:ext cx="5880020" cy="55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49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8A710-C062-5A4A-B0A5-DA4BF8760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Table Cont.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768501-C1CD-6840-8E6A-E744C5E34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8947" y="1457833"/>
            <a:ext cx="6088283" cy="511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1CD2B-5DDB-A642-BD53-2DBBED04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Study Groups for Cohorts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1F4F5-7491-5A46-A9D8-135F49CB6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set of customers from a query or exception report, called a </a:t>
            </a:r>
            <a:r>
              <a:rPr lang="en-US" i="1" dirty="0"/>
              <a:t>behavior study group</a:t>
            </a:r>
            <a:r>
              <a:rPr lang="en-US" dirty="0"/>
              <a:t>, for subsequent analyses without reprocessing to identify the initial condition. </a:t>
            </a:r>
          </a:p>
          <a:p>
            <a:pPr lvl="1"/>
            <a:r>
              <a:rPr lang="en-US" dirty="0"/>
              <a:t>the top 100 customers from last year, customers who spent more than $1,000 last month, or customers who received a specific test solicitation;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8BFD1C-8913-244E-969B-2195CF41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03" y="4173298"/>
            <a:ext cx="10404297" cy="213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978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17D0-C0F4-2D4E-BCA0-92B72958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Tagging Fact Tables with Satisfaction Indicators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5D99-2FE8-4C44-B124-4842D1821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frequent flyer satisfaction dimension that could be added to the flight activity fact tables;</a:t>
            </a:r>
          </a:p>
          <a:p>
            <a:r>
              <a:rPr lang="en-US" dirty="0"/>
              <a:t>Positional satisfaction dimension for airline frequent flyers: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24AA6A-D753-304A-846D-82DA094E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289" y="3403250"/>
            <a:ext cx="3925870" cy="277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7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556</Words>
  <Application>Microsoft Macintosh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Lecture 7: Customer Relationship Management (CRM) and Dimension Patterns</vt:lpstr>
      <vt:lpstr>Customer Relationship Management</vt:lpstr>
      <vt:lpstr>Operational and Analytic CRM </vt:lpstr>
      <vt:lpstr>Customer Dimension Attributes </vt:lpstr>
      <vt:lpstr>Name and Address Parsing </vt:lpstr>
      <vt:lpstr>Aggregated Facts as Dimension Attributes </vt:lpstr>
      <vt:lpstr>Bridge Tables for Multivalued Dimensions </vt:lpstr>
      <vt:lpstr>Bridge Table for Multiple Customer Contacts </vt:lpstr>
      <vt:lpstr>Bridge Table Cont.</vt:lpstr>
      <vt:lpstr>Bridge Table Cont.</vt:lpstr>
      <vt:lpstr>Behavior Study Groups for Cohorts </vt:lpstr>
      <vt:lpstr>Tagging Fact Tables with Satisfaction Indicators 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Customer Relationship Management (CRM) and Dimension Pattern</dc:title>
  <dc:creator>Microsoft Office User</dc:creator>
  <cp:lastModifiedBy>Yuanyuan Gao</cp:lastModifiedBy>
  <cp:revision>33</cp:revision>
  <dcterms:created xsi:type="dcterms:W3CDTF">2020-09-27T18:25:26Z</dcterms:created>
  <dcterms:modified xsi:type="dcterms:W3CDTF">2021-06-22T22:26:40Z</dcterms:modified>
</cp:coreProperties>
</file>