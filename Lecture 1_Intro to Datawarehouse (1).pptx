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6" r:id="rId1"/>
  </p:sldMasterIdLst>
  <p:sldIdLst>
    <p:sldId id="256" r:id="rId2"/>
    <p:sldId id="258" r:id="rId3"/>
    <p:sldId id="259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60" r:id="rId13"/>
    <p:sldId id="263" r:id="rId14"/>
    <p:sldId id="264" r:id="rId15"/>
    <p:sldId id="267" r:id="rId16"/>
    <p:sldId id="293" r:id="rId17"/>
    <p:sldId id="268" r:id="rId18"/>
    <p:sldId id="294" r:id="rId19"/>
    <p:sldId id="269" r:id="rId20"/>
    <p:sldId id="272" r:id="rId21"/>
    <p:sldId id="270" r:id="rId22"/>
    <p:sldId id="271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4" r:id="rId34"/>
    <p:sldId id="295" r:id="rId35"/>
    <p:sldId id="283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AAF87-CD5E-DC45-9DAE-4BC7F9D9D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F08CCF-C199-FE44-83BF-908FCCE42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B4CF3-F3D7-FF40-8CE9-CDBE75638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E0669-8857-D244-B4F8-DF51B8FA2C19}" type="datetimeFigureOut">
              <a:rPr lang="en-US" smtClean="0"/>
              <a:t>8/18/20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FDDE9-0E17-9A4F-8CEF-586C0E032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BD9A7-7276-9C48-8261-7FC0FE5B5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4735-1FCF-9549-862E-9D2FA4D73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611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37295-EAC9-8F43-9400-0D28E1612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A0296-1E5D-684B-BF3A-6E855990F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EA374-E741-5241-B8F0-3D36269E4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E0669-8857-D244-B4F8-DF51B8FA2C19}" type="datetimeFigureOut">
              <a:rPr lang="en-US" smtClean="0"/>
              <a:t>8/18/20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689CB-7151-B14F-9B6A-E6CC591C7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D7AD4-993E-AF45-8E2A-63FD8DA83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4735-1FCF-9549-862E-9D2FA4D73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030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70B3F-1B73-C748-AA49-C97EAA4EC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CEE3C-1037-3342-86B0-2B2F3C48D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60DD0-8DB2-5E41-89DF-5DCD2E4AF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E0669-8857-D244-B4F8-DF51B8FA2C19}" type="datetimeFigureOut">
              <a:rPr lang="en-US" smtClean="0"/>
              <a:t>8/18/20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1E9DF-EFF5-AD41-A4E9-AF1EB0751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AA1E6-219C-514F-BAC3-9AF9D0D8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4735-1FCF-9549-862E-9D2FA4D73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828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635D-10C8-3A4E-97B5-FABBBA3C9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90C26-3339-3C4D-B517-F766A9381F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688C2-FFCF-A74A-A79D-CC439D09C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8313B-D532-E648-BC86-584DA72B6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E0669-8857-D244-B4F8-DF51B8FA2C19}" type="datetimeFigureOut">
              <a:rPr lang="en-US" smtClean="0"/>
              <a:t>8/18/20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FA6FF-3470-3A4B-81CA-0D2735632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8DDC2-CAFF-1B4A-86D3-44B13729E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4735-1FCF-9549-862E-9D2FA4D73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88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892C8-40D3-8045-ABB2-C00A9177C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A6F4D-C197-674B-9258-6861B67FC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BA13A-D1E6-534B-A69F-BE66DF8E1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6B3120-02AF-2D4D-A20E-D0C48C4E4D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5CE2BC-FC2C-564A-88C8-91CD3CE9EE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EFAA6B-936B-6D4A-B040-DBBADFB66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E0669-8857-D244-B4F8-DF51B8FA2C19}" type="datetimeFigureOut">
              <a:rPr lang="en-US" smtClean="0"/>
              <a:t>8/18/20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BBE6D6-976D-ED48-B70C-F9929FFC7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8EDF1B-2FEA-A142-912C-558FDFB30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4735-1FCF-9549-862E-9D2FA4D73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74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C6F58-8275-F447-AFBD-5CAE335F1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9AF148-9CFE-A844-A3FE-A932FC32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E0669-8857-D244-B4F8-DF51B8FA2C19}" type="datetimeFigureOut">
              <a:rPr lang="en-US" smtClean="0"/>
              <a:t>8/18/20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B5D719-2FF0-6343-96A8-A625FA909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BFC603-8151-6E4A-8162-11488F644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4735-1FCF-9549-862E-9D2FA4D73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467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80477F-7531-4140-9892-C7996660F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E0669-8857-D244-B4F8-DF51B8FA2C19}" type="datetimeFigureOut">
              <a:rPr lang="en-US" smtClean="0"/>
              <a:t>8/18/20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F58DD0-69EF-564B-AF3D-4A5B264AD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5CD00-224E-BC46-9195-99FBA9BEC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4735-1FCF-9549-862E-9D2FA4D73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55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E12D9-ABFF-9143-ABD8-9331DE9D0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ACDB7-99F9-724D-94C1-636E4AD72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25A72F-0E24-0146-B2C8-F197EF0A8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B2636-8509-444E-885D-844C38332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E0669-8857-D244-B4F8-DF51B8FA2C19}" type="datetimeFigureOut">
              <a:rPr lang="en-US" smtClean="0"/>
              <a:t>8/18/20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5B29C1-C40F-AA41-9F58-12C37F70A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BA7F7-9F8D-214D-8404-810CA6196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4735-1FCF-9549-862E-9D2FA4D73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33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1365C-1FC2-2F4B-ADC3-CE5F317EE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C0F304-D328-7545-8FD6-DB1B2FA77D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D1FD60-7754-0144-94D0-98BCA6B09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03A38-9357-8A40-A021-2AAD0EE7C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E0669-8857-D244-B4F8-DF51B8FA2C19}" type="datetimeFigureOut">
              <a:rPr lang="en-US" smtClean="0"/>
              <a:t>8/18/20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A25853-523D-0241-B0B3-8C74CFF13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92362E-1AFE-4243-B1F2-26FEC5254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4735-1FCF-9549-862E-9D2FA4D73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6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34DBD-2CE7-7E4E-9D74-A43B37BE1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BE29CA-D82A-9E4E-B5FB-A3E94BA78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D907D-E70D-0D4F-BE0F-99EE703FA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E0669-8857-D244-B4F8-DF51B8FA2C19}" type="datetimeFigureOut">
              <a:rPr lang="en-US" smtClean="0"/>
              <a:t>8/18/20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3516D-4BB6-1943-9C34-0A79379E7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4B41C-E2A6-AD44-9AB5-2A3308285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4735-1FCF-9549-862E-9D2FA4D73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947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326C3B-29FF-A348-8777-40B4D06B7F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CE92C4-3BB6-A64D-9B9E-F0707E2AE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FDE74-3123-5D4E-8165-97CCA1E26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E0669-8857-D244-B4F8-DF51B8FA2C19}" type="datetimeFigureOut">
              <a:rPr lang="en-US" smtClean="0"/>
              <a:t>8/18/20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ED7CB-A06C-9A42-927F-6484E07B9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CB74D-A0F3-2343-B93B-44F4EF657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4735-1FCF-9549-862E-9D2FA4D73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17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36C955-D901-B349-8963-DEC39CC97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C873D-7B71-1340-8944-13564BFF4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9D55C-547C-D64B-A795-8EB958214D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E0669-8857-D244-B4F8-DF51B8FA2C19}" type="datetimeFigureOut">
              <a:rPr lang="en-US" smtClean="0"/>
              <a:t>8/18/20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EDAAE-C3D1-2244-945F-9265EB2F3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A56FE-FA64-D349-9518-46876B348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34735-1FCF-9549-862E-9D2FA4D73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30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racle.com/database/what-is-data-management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5EC37-B8F1-9144-B4D4-CBDC08B712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Lecture 1: Data Warehousing, Business Intelligence, and Dimensional Modeling Primer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EB0D7F-697E-144A-8584-1F7F962FE0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1</a:t>
            </a:r>
          </a:p>
        </p:txBody>
      </p:sp>
    </p:spTree>
    <p:extLst>
      <p:ext uri="{BB962C8B-B14F-4D97-AF65-F5344CB8AC3E}">
        <p14:creationId xmlns:p14="http://schemas.microsoft.com/office/powerpoint/2010/main" val="3141047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FB2D0-7502-6E4F-B244-C400EC31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Data Warehouse?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426AC-CC22-A44E-8A87-A62E78AB9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“A </a:t>
            </a:r>
            <a:r>
              <a:rPr lang="en-US" i="1" dirty="0"/>
              <a:t>data warehouse</a:t>
            </a:r>
            <a:r>
              <a:rPr lang="en-US" dirty="0"/>
              <a:t> is a type of </a:t>
            </a:r>
            <a:r>
              <a:rPr lang="en-US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management</a:t>
            </a: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en-US" dirty="0"/>
              <a:t>system that is designed to enable and support </a:t>
            </a:r>
            <a:r>
              <a:rPr lang="en-US" dirty="0">
                <a:solidFill>
                  <a:srgbClr val="FF0000"/>
                </a:solidFill>
              </a:rPr>
              <a:t>business intelligence (BI) </a:t>
            </a:r>
            <a:r>
              <a:rPr lang="en-US" dirty="0"/>
              <a:t>activities, especially analytics.”</a:t>
            </a:r>
          </a:p>
          <a:p>
            <a:pPr lvl="1"/>
            <a:r>
              <a:rPr lang="en-US" dirty="0"/>
              <a:t>Solely intended to perform queries and analysis;</a:t>
            </a:r>
          </a:p>
          <a:p>
            <a:pPr lvl="1"/>
            <a:r>
              <a:rPr lang="en-US" dirty="0"/>
              <a:t>Often contain large amounts of historical data;</a:t>
            </a:r>
          </a:p>
          <a:p>
            <a:pPr lvl="1"/>
            <a:r>
              <a:rPr lang="en-US" dirty="0"/>
              <a:t>Organization’s “single source of truth.”</a:t>
            </a:r>
          </a:p>
          <a:p>
            <a:pPr lvl="1"/>
            <a:endParaRPr lang="en-US" dirty="0"/>
          </a:p>
          <a:p>
            <a:r>
              <a:rPr lang="en-US" dirty="0"/>
              <a:t>“The data within a data warehouse is usually derived from </a:t>
            </a:r>
            <a:r>
              <a:rPr lang="en-US" dirty="0">
                <a:solidFill>
                  <a:srgbClr val="FF0000"/>
                </a:solidFill>
              </a:rPr>
              <a:t>a wide range of sources</a:t>
            </a:r>
            <a:r>
              <a:rPr lang="en-US" dirty="0"/>
              <a:t> such as application log files and transaction applications.”</a:t>
            </a:r>
          </a:p>
        </p:txBody>
      </p:sp>
    </p:spTree>
    <p:extLst>
      <p:ext uri="{BB962C8B-B14F-4D97-AF65-F5344CB8AC3E}">
        <p14:creationId xmlns:p14="http://schemas.microsoft.com/office/powerpoint/2010/main" val="60018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C5BB-CC40-0D49-AE26-1248A040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in a Typical Data Warehouse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68715-562E-F245-9F0D-45F36CDCE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i="1" dirty="0">
                <a:solidFill>
                  <a:srgbClr val="FF0000"/>
                </a:solidFill>
              </a:rPr>
              <a:t>relational database </a:t>
            </a:r>
            <a:r>
              <a:rPr lang="en-US" dirty="0"/>
              <a:t>to store and manage data;</a:t>
            </a:r>
          </a:p>
          <a:p>
            <a:r>
              <a:rPr lang="en-US" dirty="0"/>
              <a:t>An </a:t>
            </a:r>
            <a:r>
              <a:rPr lang="en-US" i="1" dirty="0">
                <a:solidFill>
                  <a:srgbClr val="FF0000"/>
                </a:solidFill>
              </a:rPr>
              <a:t>extraction, loading, and transformation (ELT) </a:t>
            </a:r>
            <a:r>
              <a:rPr lang="en-US" dirty="0"/>
              <a:t>solution for preparing the data for preparing the data for analysis;</a:t>
            </a:r>
          </a:p>
          <a:p>
            <a:r>
              <a:rPr lang="en-US" dirty="0"/>
              <a:t>Statistical analysis, reporting, and data mining capabilities;</a:t>
            </a:r>
          </a:p>
          <a:p>
            <a:r>
              <a:rPr lang="en-US" dirty="0"/>
              <a:t>Client analysis tools for </a:t>
            </a:r>
            <a:r>
              <a:rPr lang="en-US" i="1" dirty="0">
                <a:solidFill>
                  <a:srgbClr val="FF0000"/>
                </a:solidFill>
              </a:rPr>
              <a:t>visualizing and presenting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data to business users;</a:t>
            </a:r>
          </a:p>
          <a:p>
            <a:r>
              <a:rPr lang="en-US" dirty="0"/>
              <a:t>More sophisticated analytical applications that generate actionable information by applying </a:t>
            </a:r>
            <a:r>
              <a:rPr lang="en-US" i="1" dirty="0">
                <a:solidFill>
                  <a:srgbClr val="FF0000"/>
                </a:solidFill>
              </a:rPr>
              <a:t>machine learning and artificial intelligence (AI) algorithms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107962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B2E3E-8A1A-E642-BCC5-8FDE5F5E5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between Database and Data Warehouse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E41D6-EE0C-0B41-9D05-EE4D7CD1F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31594" cy="4351338"/>
          </a:xfrm>
        </p:spPr>
        <p:txBody>
          <a:bodyPr>
            <a:normAutofit fontScale="92500" lnSpcReduction="20000"/>
          </a:bodyPr>
          <a:lstStyle/>
          <a:p>
            <a:r>
              <a:rPr lang="en-US" sz="3500" b="1" dirty="0"/>
              <a:t>Database </a:t>
            </a:r>
          </a:p>
          <a:p>
            <a:r>
              <a:rPr lang="en-US" dirty="0"/>
              <a:t>is a collection of related data that </a:t>
            </a:r>
            <a:r>
              <a:rPr lang="en-US" b="1" i="1" dirty="0">
                <a:solidFill>
                  <a:srgbClr val="FF0000"/>
                </a:solidFill>
              </a:rPr>
              <a:t>represents the real world</a:t>
            </a:r>
            <a:r>
              <a:rPr lang="en-US" dirty="0"/>
              <a:t>;</a:t>
            </a:r>
          </a:p>
          <a:p>
            <a:r>
              <a:rPr lang="en-US" dirty="0"/>
              <a:t>is designed to </a:t>
            </a:r>
            <a:r>
              <a:rPr lang="en-US" b="1" i="1" dirty="0">
                <a:solidFill>
                  <a:srgbClr val="FF0000"/>
                </a:solidFill>
              </a:rPr>
              <a:t>record data</a:t>
            </a:r>
            <a:r>
              <a:rPr lang="en-US" dirty="0"/>
              <a:t>;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Application-oriented-collection</a:t>
            </a:r>
            <a:r>
              <a:rPr lang="en-US" dirty="0"/>
              <a:t> of data;</a:t>
            </a:r>
          </a:p>
          <a:p>
            <a:r>
              <a:rPr lang="en-US" dirty="0"/>
              <a:t>Uses Online </a:t>
            </a:r>
            <a:r>
              <a:rPr lang="en-US" b="1" i="1" dirty="0">
                <a:solidFill>
                  <a:srgbClr val="FF0000"/>
                </a:solidFill>
              </a:rPr>
              <a:t>Transactional </a:t>
            </a:r>
            <a:r>
              <a:rPr lang="en-US" dirty="0"/>
              <a:t>Processing (OLTP);</a:t>
            </a:r>
          </a:p>
          <a:p>
            <a:r>
              <a:rPr lang="en-US" dirty="0"/>
              <a:t>Tables and joins are </a:t>
            </a:r>
            <a:r>
              <a:rPr lang="en-US" b="1" i="1" dirty="0">
                <a:solidFill>
                  <a:srgbClr val="FF0000"/>
                </a:solidFill>
              </a:rPr>
              <a:t>complicated</a:t>
            </a:r>
            <a:r>
              <a:rPr lang="en-US" dirty="0"/>
              <a:t> (</a:t>
            </a:r>
            <a:r>
              <a:rPr lang="en-US" b="1" i="1" dirty="0">
                <a:solidFill>
                  <a:srgbClr val="FF0000"/>
                </a:solidFill>
              </a:rPr>
              <a:t>Normalized</a:t>
            </a:r>
            <a:r>
              <a:rPr lang="en-US" dirty="0"/>
              <a:t>);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ER modeling </a:t>
            </a:r>
            <a:r>
              <a:rPr lang="en-US" dirty="0"/>
              <a:t>techniques;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E58F53-E0E5-9743-9E9B-1E606F5FF6AB}"/>
              </a:ext>
            </a:extLst>
          </p:cNvPr>
          <p:cNvSpPr txBox="1">
            <a:spLocks/>
          </p:cNvSpPr>
          <p:nvPr/>
        </p:nvSpPr>
        <p:spPr>
          <a:xfrm>
            <a:off x="6169794" y="1825625"/>
            <a:ext cx="5331594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500" b="1" dirty="0"/>
              <a:t>Data</a:t>
            </a:r>
            <a:r>
              <a:rPr lang="zh-CN" altLang="en-US" sz="3500" b="1" dirty="0"/>
              <a:t> </a:t>
            </a:r>
            <a:r>
              <a:rPr lang="en-US" altLang="zh-CN" sz="3500" b="1" dirty="0"/>
              <a:t>Warehouse</a:t>
            </a:r>
            <a:r>
              <a:rPr lang="en-US" sz="3500" b="1" dirty="0"/>
              <a:t> </a:t>
            </a:r>
          </a:p>
          <a:p>
            <a:r>
              <a:rPr lang="en-US" dirty="0"/>
              <a:t>is an information system that </a:t>
            </a:r>
            <a:r>
              <a:rPr lang="en-US" b="1" i="1" dirty="0">
                <a:solidFill>
                  <a:srgbClr val="FF0000"/>
                </a:solidFill>
              </a:rPr>
              <a:t>stores historical and commutative data from single or multiple sources</a:t>
            </a:r>
            <a:r>
              <a:rPr lang="en-US" dirty="0"/>
              <a:t>;</a:t>
            </a:r>
          </a:p>
          <a:p>
            <a:r>
              <a:rPr lang="en-US" dirty="0"/>
              <a:t>is designed to </a:t>
            </a:r>
            <a:r>
              <a:rPr lang="en-US" b="1" i="1" dirty="0">
                <a:solidFill>
                  <a:srgbClr val="FF0000"/>
                </a:solidFill>
              </a:rPr>
              <a:t>analyze data</a:t>
            </a:r>
            <a:r>
              <a:rPr lang="en-US" dirty="0"/>
              <a:t>;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Subject-oriented collection </a:t>
            </a:r>
            <a:r>
              <a:rPr lang="en-US" dirty="0"/>
              <a:t>of data;</a:t>
            </a:r>
          </a:p>
          <a:p>
            <a:r>
              <a:rPr lang="en-US" dirty="0"/>
              <a:t>Uses Online </a:t>
            </a:r>
            <a:r>
              <a:rPr lang="en-US" b="1" i="1" dirty="0">
                <a:solidFill>
                  <a:srgbClr val="FF0000"/>
                </a:solidFill>
              </a:rPr>
              <a:t>Analytical </a:t>
            </a:r>
            <a:r>
              <a:rPr lang="en-US" dirty="0"/>
              <a:t>Processing (OLAP);</a:t>
            </a:r>
          </a:p>
          <a:p>
            <a:r>
              <a:rPr lang="en-US" dirty="0"/>
              <a:t>tables and joins are </a:t>
            </a:r>
            <a:r>
              <a:rPr lang="en-US" b="1" i="1" dirty="0">
                <a:solidFill>
                  <a:srgbClr val="FF0000"/>
                </a:solidFill>
              </a:rPr>
              <a:t>easy</a:t>
            </a:r>
            <a:r>
              <a:rPr lang="en-US" dirty="0"/>
              <a:t> (</a:t>
            </a:r>
            <a:r>
              <a:rPr lang="en-US" b="1" i="1" dirty="0">
                <a:solidFill>
                  <a:srgbClr val="FF0000"/>
                </a:solidFill>
              </a:rPr>
              <a:t>Denormalized</a:t>
            </a:r>
            <a:r>
              <a:rPr lang="en-US" dirty="0"/>
              <a:t>);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Data modeling</a:t>
            </a:r>
            <a:r>
              <a:rPr lang="en-US" dirty="0"/>
              <a:t> techniques;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283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60705-6ADA-0549-A68C-CFAE154CF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Warehouse—Subject-Oriented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18C89-038F-784E-8B3F-D6BC6A75A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Organized around major subjects, such as </a:t>
            </a:r>
            <a:r>
              <a:rPr lang="en-US" sz="3600" dirty="0">
                <a:solidFill>
                  <a:srgbClr val="FF0000"/>
                </a:solidFill>
              </a:rPr>
              <a:t>customer, product, sales</a:t>
            </a:r>
            <a:r>
              <a:rPr lang="en-US" sz="3600" dirty="0"/>
              <a:t>.</a:t>
            </a:r>
          </a:p>
          <a:p>
            <a:r>
              <a:rPr lang="en-US" sz="3600" dirty="0"/>
              <a:t>Focusing on the modeling and analysis of data for </a:t>
            </a:r>
            <a:r>
              <a:rPr lang="en-US" sz="3600" dirty="0">
                <a:solidFill>
                  <a:srgbClr val="FF0000"/>
                </a:solidFill>
              </a:rPr>
              <a:t>decision makers</a:t>
            </a:r>
            <a:r>
              <a:rPr lang="en-US" sz="3600" dirty="0"/>
              <a:t>, not on daily operations or transaction processing.</a:t>
            </a:r>
          </a:p>
          <a:p>
            <a:r>
              <a:rPr lang="en-US" sz="3600" dirty="0"/>
              <a:t>Provide a simple and concise view around particular subject issues by </a:t>
            </a:r>
            <a:r>
              <a:rPr lang="en-US" sz="3600" dirty="0">
                <a:solidFill>
                  <a:srgbClr val="FF0000"/>
                </a:solidFill>
              </a:rPr>
              <a:t>excluding data that are not useful in the decision support process</a:t>
            </a:r>
            <a:r>
              <a:rPr lang="en-US" sz="36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555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5BAB-285F-774E-8575-AC6AE2F51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Warehouse—Integrated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A4F9D-BA7B-8041-B78F-B5DF38274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sz="3200" dirty="0"/>
              <a:t>Constructed by </a:t>
            </a:r>
            <a:r>
              <a:rPr lang="en-US" altLang="en-US" sz="3200" dirty="0">
                <a:solidFill>
                  <a:srgbClr val="FF0000"/>
                </a:solidFill>
              </a:rPr>
              <a:t>integrating multiple, heterogeneous </a:t>
            </a:r>
            <a:r>
              <a:rPr lang="en-US" altLang="en-US" sz="3200" dirty="0"/>
              <a:t>data sources</a:t>
            </a:r>
          </a:p>
          <a:p>
            <a:pPr lvl="1"/>
            <a:r>
              <a:rPr lang="en-US" altLang="en-US" sz="2800" dirty="0"/>
              <a:t>relational databases, flat files, on-line transaction records</a:t>
            </a:r>
          </a:p>
          <a:p>
            <a:r>
              <a:rPr lang="en-US" altLang="en-US" sz="3200" dirty="0"/>
              <a:t>Data </a:t>
            </a:r>
            <a:r>
              <a:rPr lang="en-US" altLang="en-US" sz="3200" dirty="0">
                <a:solidFill>
                  <a:srgbClr val="FF0000"/>
                </a:solidFill>
              </a:rPr>
              <a:t>cleaning </a:t>
            </a:r>
            <a:r>
              <a:rPr lang="en-US" altLang="en-US" sz="3200" dirty="0"/>
              <a:t>and</a:t>
            </a:r>
            <a:r>
              <a:rPr lang="en-US" altLang="en-US" sz="3200" dirty="0">
                <a:solidFill>
                  <a:srgbClr val="FF0000"/>
                </a:solidFill>
              </a:rPr>
              <a:t> data integration </a:t>
            </a:r>
            <a:r>
              <a:rPr lang="en-US" altLang="en-US" sz="3200" dirty="0"/>
              <a:t>techniques are applied.</a:t>
            </a:r>
          </a:p>
          <a:p>
            <a:pPr lvl="1"/>
            <a:r>
              <a:rPr lang="en-US" altLang="en-US" sz="2800" dirty="0"/>
              <a:t>Ensure consistency in naming conventions, encoding structures, attribute measures, etc. among different data sources</a:t>
            </a:r>
          </a:p>
          <a:p>
            <a:pPr lvl="2"/>
            <a:r>
              <a:rPr lang="en-US" altLang="en-US" sz="2400" dirty="0"/>
              <a:t>E.g., Hotel price: currency, tax, breakfast covered, etc.</a:t>
            </a:r>
          </a:p>
          <a:p>
            <a:pPr lvl="1"/>
            <a:r>
              <a:rPr lang="en-US" altLang="en-US" sz="2800" dirty="0"/>
              <a:t>When data is moved to the warehouse, it is converted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97233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C3D5A-1A42-3340-B449-7CCFAFD47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Warehouse—Time Variant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A257F-3715-E640-80E5-37DAD6142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time horizon for the data warehouse is significantly longer than that of operational systems.</a:t>
            </a:r>
          </a:p>
          <a:p>
            <a:pPr lvl="1"/>
            <a:r>
              <a:rPr lang="en-US" dirty="0"/>
              <a:t>Operational database: </a:t>
            </a:r>
            <a:r>
              <a:rPr lang="en-US" dirty="0">
                <a:solidFill>
                  <a:srgbClr val="FF0000"/>
                </a:solidFill>
              </a:rPr>
              <a:t>current value data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Data warehouse data: provide information from a </a:t>
            </a:r>
            <a:r>
              <a:rPr lang="en-US" dirty="0">
                <a:solidFill>
                  <a:srgbClr val="FF0000"/>
                </a:solidFill>
              </a:rPr>
              <a:t>historical perspective </a:t>
            </a:r>
            <a:r>
              <a:rPr lang="en-US" dirty="0"/>
              <a:t>(e.g., past 5-10 years)</a:t>
            </a:r>
          </a:p>
          <a:p>
            <a:r>
              <a:rPr lang="en-US" dirty="0"/>
              <a:t>Every key structure in the data warehouse</a:t>
            </a:r>
          </a:p>
          <a:p>
            <a:pPr lvl="1"/>
            <a:r>
              <a:rPr lang="en-US" dirty="0"/>
              <a:t>Contains an </a:t>
            </a:r>
            <a:r>
              <a:rPr lang="en-US" dirty="0">
                <a:solidFill>
                  <a:srgbClr val="FF0000"/>
                </a:solidFill>
              </a:rPr>
              <a:t>element of time</a:t>
            </a:r>
            <a:r>
              <a:rPr lang="en-US" dirty="0"/>
              <a:t>, explicitly or implicitly</a:t>
            </a:r>
          </a:p>
          <a:p>
            <a:pPr lvl="1"/>
            <a:r>
              <a:rPr lang="en-US" dirty="0"/>
              <a:t>But the key of operational data may or may not contain “time element”.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961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54FAD-4E0B-8C40-8AAB-280BC01E1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Warehouse—Non-Volatile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778E0-87CE-B242-8B13-86241B7CD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physically separate store </a:t>
            </a:r>
            <a:r>
              <a:rPr lang="en-US" dirty="0"/>
              <a:t>of data transformed from the operational environment.</a:t>
            </a:r>
          </a:p>
          <a:p>
            <a:r>
              <a:rPr lang="en-US" dirty="0"/>
              <a:t>Operational </a:t>
            </a:r>
            <a:r>
              <a:rPr lang="en-US" dirty="0">
                <a:solidFill>
                  <a:srgbClr val="FF0000"/>
                </a:solidFill>
              </a:rPr>
              <a:t>update of data does not occur </a:t>
            </a:r>
            <a:r>
              <a:rPr lang="en-US" dirty="0"/>
              <a:t>in the data warehouse environment.</a:t>
            </a:r>
          </a:p>
          <a:p>
            <a:pPr lvl="1"/>
            <a:r>
              <a:rPr lang="en-US" dirty="0"/>
              <a:t>Does not require transaction processing, recovery, and concurrency control mechanisms</a:t>
            </a:r>
          </a:p>
          <a:p>
            <a:pPr lvl="1"/>
            <a:r>
              <a:rPr lang="en-US" dirty="0"/>
              <a:t>Requires only two operations in data accessing: 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initial loading of data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access of data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136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3E044-1418-9D40-9850-BDC6DB1EE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OLTP (Relational DBMS) V.S. OLAP (Data Warehouse)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049F0-E222-B54E-B087-81D935FAE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en-US" sz="3600" dirty="0"/>
              <a:t>OLTP (on-line transaction processing)</a:t>
            </a:r>
          </a:p>
          <a:p>
            <a:pPr lvl="1">
              <a:lnSpc>
                <a:spcPct val="110000"/>
              </a:lnSpc>
            </a:pPr>
            <a:r>
              <a:rPr lang="en-US" altLang="en-US" sz="3000" dirty="0"/>
              <a:t>Major task of traditional relational DBMS</a:t>
            </a:r>
          </a:p>
          <a:p>
            <a:pPr lvl="1">
              <a:lnSpc>
                <a:spcPct val="110000"/>
              </a:lnSpc>
            </a:pPr>
            <a:r>
              <a:rPr lang="en-US" altLang="en-US" sz="3000" dirty="0"/>
              <a:t>Day-to-day operations: purchasing, inventory, banking, manufacturing, payroll, registration, accounting, etc.</a:t>
            </a:r>
          </a:p>
          <a:p>
            <a:pPr>
              <a:lnSpc>
                <a:spcPct val="110000"/>
              </a:lnSpc>
            </a:pPr>
            <a:r>
              <a:rPr lang="en-US" altLang="en-US" sz="3600" dirty="0"/>
              <a:t>OLAP (on-line analytical processing)</a:t>
            </a:r>
          </a:p>
          <a:p>
            <a:pPr lvl="1">
              <a:lnSpc>
                <a:spcPct val="110000"/>
              </a:lnSpc>
            </a:pPr>
            <a:r>
              <a:rPr lang="en-US" altLang="en-US" sz="3200" dirty="0"/>
              <a:t>Major task of data warehouse system</a:t>
            </a:r>
          </a:p>
          <a:p>
            <a:pPr lvl="1">
              <a:lnSpc>
                <a:spcPct val="110000"/>
              </a:lnSpc>
            </a:pPr>
            <a:r>
              <a:rPr lang="en-US" altLang="en-US" sz="3200" dirty="0"/>
              <a:t>Data analysis and decision making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166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61DF1-82D5-1548-A486-D81DDDC24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OLTP (Relational DBMS) V.S. OLAP (Data Warehouse)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EDD96AD-9280-6D4D-8DFD-A8DA4A6864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1696073"/>
              </p:ext>
            </p:extLst>
          </p:nvPr>
        </p:nvGraphicFramePr>
        <p:xfrm>
          <a:off x="1578543" y="1805473"/>
          <a:ext cx="8556859" cy="4687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Document" r:id="rId3" imgW="11163300" imgH="6769100" progId="Word.Document.8">
                  <p:embed/>
                </p:oleObj>
              </mc:Choice>
              <mc:Fallback>
                <p:oleObj name="Document" r:id="rId3" imgW="11163300" imgH="6769100" progId="Word.Document.8">
                  <p:embed/>
                  <p:pic>
                    <p:nvPicPr>
                      <p:cNvPr id="547843" name="Object 3">
                        <a:extLst>
                          <a:ext uri="{FF2B5EF4-FFF2-40B4-BE49-F238E27FC236}">
                            <a16:creationId xmlns:a16="http://schemas.microsoft.com/office/drawing/2014/main" id="{A51C26A8-A73B-694B-B26F-5D455ADDE76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8543" y="1805473"/>
                        <a:ext cx="8556859" cy="46874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4589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35DCF-7912-9F43-B90D-26C15CC7F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Why Separate Data Warehouse?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EE07A-95DB-BB4C-80F2-62FA6AAAD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High performance for both systems</a:t>
            </a:r>
          </a:p>
          <a:p>
            <a:pPr lvl="1"/>
            <a:r>
              <a:rPr lang="en-US" altLang="en-US" dirty="0"/>
              <a:t>DBMS— tuned for OLTP: access methods, indexing, concurrency control, recovery</a:t>
            </a:r>
          </a:p>
          <a:p>
            <a:pPr lvl="1"/>
            <a:r>
              <a:rPr lang="en-US" altLang="en-US" dirty="0"/>
              <a:t>Warehouse—tuned for OLAP: complex OLAP queries, multidimensional view, consolidation.</a:t>
            </a:r>
          </a:p>
          <a:p>
            <a:r>
              <a:rPr lang="en-US" altLang="en-US" dirty="0"/>
              <a:t>Different functions and different data:</a:t>
            </a:r>
          </a:p>
          <a:p>
            <a:pPr lvl="1"/>
            <a:r>
              <a:rPr lang="en-US" altLang="en-US" u="sng" dirty="0">
                <a:solidFill>
                  <a:schemeClr val="hlink"/>
                </a:solidFill>
              </a:rPr>
              <a:t>missing data</a:t>
            </a:r>
            <a:r>
              <a:rPr lang="en-US" altLang="en-US" dirty="0"/>
              <a:t>: Decision support requires historical data which operational DBs do not typically maintain</a:t>
            </a:r>
          </a:p>
          <a:p>
            <a:pPr lvl="1"/>
            <a:r>
              <a:rPr lang="en-US" altLang="en-US" u="sng" dirty="0">
                <a:solidFill>
                  <a:schemeClr val="hlink"/>
                </a:solidFill>
              </a:rPr>
              <a:t>data consolidation</a:t>
            </a:r>
            <a:r>
              <a:rPr lang="en-US" altLang="en-US" dirty="0"/>
              <a:t>:  DS requires consolidation (aggregation, summarization) of data from heterogeneous sources</a:t>
            </a:r>
          </a:p>
          <a:p>
            <a:pPr lvl="1"/>
            <a:r>
              <a:rPr lang="en-US" altLang="en-US" u="sng" dirty="0">
                <a:solidFill>
                  <a:schemeClr val="hlink"/>
                </a:solidFill>
              </a:rPr>
              <a:t>data quality</a:t>
            </a:r>
            <a:r>
              <a:rPr lang="en-US" altLang="en-US" dirty="0"/>
              <a:t>: different sources typically use inconsistent data representations, codes and formats which have to be reconciled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156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0FF24-D286-DA48-B75A-3692ED623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Data Warehousing and Business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5DABC-7890-D04C-A190-071545623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information easily accessible;</a:t>
            </a:r>
          </a:p>
          <a:p>
            <a:r>
              <a:rPr lang="en-US" dirty="0"/>
              <a:t>Present information consistently;</a:t>
            </a:r>
          </a:p>
          <a:p>
            <a:r>
              <a:rPr lang="en-US" dirty="0"/>
              <a:t>Adapt to change;</a:t>
            </a:r>
          </a:p>
          <a:p>
            <a:r>
              <a:rPr lang="en-US" dirty="0"/>
              <a:t>Present information in a timely way;</a:t>
            </a:r>
          </a:p>
          <a:p>
            <a:r>
              <a:rPr lang="en-US" dirty="0"/>
              <a:t>Be a secure bastion that protects the information assets;</a:t>
            </a:r>
          </a:p>
          <a:p>
            <a:r>
              <a:rPr lang="en-US" dirty="0"/>
              <a:t>Serve as the authoritative and trustworthy foundation for improved decision making;</a:t>
            </a:r>
          </a:p>
          <a:p>
            <a:r>
              <a:rPr lang="en-US" dirty="0"/>
              <a:t>The business community must accept the DW/BI system to deem it successful.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357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616B3-48EB-DA44-9D67-404C0D0C2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Responsibilities of DW/BI Managers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302B7-E4C2-554F-8639-60011A406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the business users;</a:t>
            </a:r>
          </a:p>
          <a:p>
            <a:r>
              <a:rPr lang="en-US" dirty="0"/>
              <a:t>Deliver high-quality, relevant, and accessible information and analytics to the business users;</a:t>
            </a:r>
          </a:p>
          <a:p>
            <a:r>
              <a:rPr lang="en-US" dirty="0"/>
              <a:t>Sustain the DW/BI environment;</a:t>
            </a:r>
          </a:p>
        </p:txBody>
      </p:sp>
    </p:spTree>
    <p:extLst>
      <p:ext uri="{BB962C8B-B14F-4D97-AF65-F5344CB8AC3E}">
        <p14:creationId xmlns:p14="http://schemas.microsoft.com/office/powerpoint/2010/main" val="176908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B6B6-AEDB-314D-88A4-32918164C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Dimensional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F0B99-AF86-DC4A-AECE-AF7647A0D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/>
              <a:t>A data warehouse is based on a </a:t>
            </a:r>
            <a:r>
              <a:rPr lang="en-US" sz="3200" dirty="0">
                <a:solidFill>
                  <a:srgbClr val="FF0000"/>
                </a:solidFill>
              </a:rPr>
              <a:t>multidimensional data model. </a:t>
            </a:r>
          </a:p>
          <a:p>
            <a:r>
              <a:rPr lang="en-US" sz="3200" dirty="0"/>
              <a:t>Dimensional modeling is a longstanding technique for making databases simple. </a:t>
            </a:r>
          </a:p>
          <a:p>
            <a:pPr lvl="1"/>
            <a:r>
              <a:rPr lang="en-US" sz="2800" dirty="0"/>
              <a:t>Deliver data that’s understandable to the business users. </a:t>
            </a:r>
          </a:p>
          <a:p>
            <a:pPr lvl="1"/>
            <a:r>
              <a:rPr lang="en-US" sz="2800" dirty="0"/>
              <a:t>Deliver fast query performance. </a:t>
            </a:r>
          </a:p>
          <a:p>
            <a:r>
              <a:rPr lang="en-US" sz="3200" dirty="0"/>
              <a:t>It contains the same information as a normalized model, but packages the data in a format that </a:t>
            </a:r>
            <a:r>
              <a:rPr lang="en-US" sz="3200" dirty="0">
                <a:solidFill>
                  <a:srgbClr val="FF0000"/>
                </a:solidFill>
              </a:rPr>
              <a:t>delivers user understandability, query performance, and resilience to change.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813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94398-F90E-D242-9EF4-64C995CC2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Dimensional Modeling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A41E9-0047-164B-9099-9BD64DE2E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2200" dirty="0"/>
              <a:t>Star schemas: </a:t>
            </a:r>
            <a:r>
              <a:rPr lang="en-US" sz="2200" b="0" dirty="0"/>
              <a:t>Dimensional models implemented in relational database management systems </a:t>
            </a:r>
            <a:endParaRPr lang="en-US" sz="22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19E4859-40E5-264E-AD3F-91920FADBA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53281" y="2820201"/>
            <a:ext cx="4867547" cy="3228967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FA4A66-B6B2-4646-8292-3302EE9E6A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i="1" dirty="0"/>
              <a:t>Online analytical processing (OLAP) cubes: </a:t>
            </a:r>
            <a:r>
              <a:rPr lang="en-US" b="0" dirty="0"/>
              <a:t>Dimensional models implemented in multidimensional database environments 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AC00262-60AC-0A4A-BB65-441C37D1897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7208044" y="2817019"/>
            <a:ext cx="3111500" cy="3060700"/>
          </a:xfrm>
        </p:spPr>
      </p:pic>
    </p:spTree>
    <p:extLst>
      <p:ext uri="{BB962C8B-B14F-4D97-AF65-F5344CB8AC3E}">
        <p14:creationId xmlns:p14="http://schemas.microsoft.com/office/powerpoint/2010/main" val="3142120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8617C-70E3-B44D-B7C8-01ADCAE0C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Sample Data Cube</a:t>
            </a:r>
            <a:endParaRPr lang="en-US" dirty="0"/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9F8A1B27-B70C-2E49-9B9D-27D0489E18E1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600200"/>
            <a:ext cx="7127875" cy="4760913"/>
            <a:chOff x="444" y="1008"/>
            <a:chExt cx="4490" cy="2999"/>
          </a:xfrm>
        </p:grpSpPr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436D03E4-28ED-C648-BFCA-5BB9D225D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2" y="1008"/>
              <a:ext cx="498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2400" b="1">
                  <a:latin typeface="Times New Roman" panose="02020603050405020304" pitchFamily="18" charset="0"/>
                </a:rPr>
                <a:t>Date</a:t>
              </a:r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492869C8-B5C7-0245-AEAD-FB023F99668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984941">
              <a:off x="276" y="1342"/>
              <a:ext cx="775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2400" b="1">
                  <a:latin typeface="Times New Roman" panose="02020603050405020304" pitchFamily="18" charset="0"/>
                </a:rPr>
                <a:t>Product</a:t>
              </a:r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346D57A7-DD9C-0945-871F-CFDDDFF54C4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378" y="2088"/>
              <a:ext cx="808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2400" b="1">
                  <a:latin typeface="Times New Roman" panose="02020603050405020304" pitchFamily="18" charset="0"/>
                </a:rPr>
                <a:t>Country</a:t>
              </a:r>
            </a:p>
          </p:txBody>
        </p:sp>
        <p:grpSp>
          <p:nvGrpSpPr>
            <p:cNvPr id="8" name="Group 9">
              <a:extLst>
                <a:ext uri="{FF2B5EF4-FFF2-40B4-BE49-F238E27FC236}">
                  <a16:creationId xmlns:a16="http://schemas.microsoft.com/office/drawing/2014/main" id="{35B4C94C-901E-5B45-B0F3-A64472019D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4" y="3717"/>
              <a:ext cx="1330" cy="290"/>
              <a:chOff x="3508" y="3022"/>
              <a:chExt cx="1330" cy="290"/>
            </a:xfrm>
          </p:grpSpPr>
          <p:sp>
            <p:nvSpPr>
              <p:cNvPr id="68" name="WordArt 10">
                <a:extLst>
                  <a:ext uri="{FF2B5EF4-FFF2-40B4-BE49-F238E27FC236}">
                    <a16:creationId xmlns:a16="http://schemas.microsoft.com/office/drawing/2014/main" id="{B9FE781E-CFDA-9F45-B9B5-3A47F73154EC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854" y="3022"/>
                <a:ext cx="984" cy="290"/>
              </a:xfrm>
              <a:prstGeom prst="rect">
                <a:avLst/>
              </a:prstGeom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kern="10">
                    <a:gradFill rotWithShape="0">
                      <a:gsLst>
                        <a:gs pos="0">
                          <a:srgbClr val="FFFF00"/>
                        </a:gs>
                        <a:gs pos="100000">
                          <a:srgbClr val="FF9933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effectLst>
                      <a:outerShdw dist="35921" dir="2700000" algn="ctr" rotWithShape="0">
                        <a:srgbClr val="C0C0C0"/>
                      </a:outerShdw>
                    </a:effectLst>
                    <a:latin typeface="Impact" panose="020B0806030902050204" pitchFamily="34" charset="0"/>
                  </a:rPr>
                  <a:t>All, All, All</a:t>
                </a:r>
              </a:p>
            </p:txBody>
          </p:sp>
          <p:sp>
            <p:nvSpPr>
              <p:cNvPr id="69" name="AutoShape 11">
                <a:extLst>
                  <a:ext uri="{FF2B5EF4-FFF2-40B4-BE49-F238E27FC236}">
                    <a16:creationId xmlns:a16="http://schemas.microsoft.com/office/drawing/2014/main" id="{09E37202-FD2D-4741-80AC-357DFB9481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508" y="3060"/>
                <a:ext cx="209" cy="187"/>
              </a:xfrm>
              <a:prstGeom prst="rightArrow">
                <a:avLst>
                  <a:gd name="adj1" fmla="val 50000"/>
                  <a:gd name="adj2" fmla="val 55888"/>
                </a:avLst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" name="AutoShape 12">
              <a:extLst>
                <a:ext uri="{FF2B5EF4-FFF2-40B4-BE49-F238E27FC236}">
                  <a16:creationId xmlns:a16="http://schemas.microsoft.com/office/drawing/2014/main" id="{3F79B12D-724F-FD4D-94E7-05270C40E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3" y="2787"/>
              <a:ext cx="640" cy="563"/>
            </a:xfrm>
            <a:prstGeom prst="cube">
              <a:avLst>
                <a:gd name="adj" fmla="val 24995"/>
              </a:avLst>
            </a:prstGeom>
            <a:solidFill>
              <a:srgbClr val="3399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AutoShape 13">
              <a:extLst>
                <a:ext uri="{FF2B5EF4-FFF2-40B4-BE49-F238E27FC236}">
                  <a16:creationId xmlns:a16="http://schemas.microsoft.com/office/drawing/2014/main" id="{90B96877-7D3E-0944-82AD-95B1E0EB0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3" y="2328"/>
              <a:ext cx="640" cy="564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AutoShape 14">
              <a:extLst>
                <a:ext uri="{FF2B5EF4-FFF2-40B4-BE49-F238E27FC236}">
                  <a16:creationId xmlns:a16="http://schemas.microsoft.com/office/drawing/2014/main" id="{BB6ED191-DD15-744E-93B3-B67D6F2D8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3" y="1870"/>
              <a:ext cx="640" cy="563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AutoShape 15">
              <a:extLst>
                <a:ext uri="{FF2B5EF4-FFF2-40B4-BE49-F238E27FC236}">
                  <a16:creationId xmlns:a16="http://schemas.microsoft.com/office/drawing/2014/main" id="{0864B6D9-224B-684D-8BC3-9B1CB8EFC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6" y="2958"/>
              <a:ext cx="640" cy="564"/>
            </a:xfrm>
            <a:prstGeom prst="cube">
              <a:avLst>
                <a:gd name="adj" fmla="val 24995"/>
              </a:avLst>
            </a:prstGeom>
            <a:solidFill>
              <a:srgbClr val="3399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AutoShape 16">
              <a:extLst>
                <a:ext uri="{FF2B5EF4-FFF2-40B4-BE49-F238E27FC236}">
                  <a16:creationId xmlns:a16="http://schemas.microsoft.com/office/drawing/2014/main" id="{224D6B08-52E2-F14F-9604-29BD42CF8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6" y="2500"/>
              <a:ext cx="640" cy="563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AutoShape 17">
              <a:extLst>
                <a:ext uri="{FF2B5EF4-FFF2-40B4-BE49-F238E27FC236}">
                  <a16:creationId xmlns:a16="http://schemas.microsoft.com/office/drawing/2014/main" id="{2772B3E2-44B4-BF4A-8F94-9C4ECD678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6" y="2043"/>
              <a:ext cx="640" cy="562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AutoShape 18">
              <a:extLst>
                <a:ext uri="{FF2B5EF4-FFF2-40B4-BE49-F238E27FC236}">
                  <a16:creationId xmlns:a16="http://schemas.microsoft.com/office/drawing/2014/main" id="{BD883979-6E25-B74D-8462-44C77F652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8" y="3130"/>
              <a:ext cx="641" cy="563"/>
            </a:xfrm>
            <a:prstGeom prst="cube">
              <a:avLst>
                <a:gd name="adj" fmla="val 24995"/>
              </a:avLst>
            </a:prstGeom>
            <a:solidFill>
              <a:srgbClr val="3399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AutoShape 19">
              <a:extLst>
                <a:ext uri="{FF2B5EF4-FFF2-40B4-BE49-F238E27FC236}">
                  <a16:creationId xmlns:a16="http://schemas.microsoft.com/office/drawing/2014/main" id="{1EA09A70-BFE0-0140-BAAD-6C7036630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8" y="2673"/>
              <a:ext cx="641" cy="562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AutoShape 20">
              <a:extLst>
                <a:ext uri="{FF2B5EF4-FFF2-40B4-BE49-F238E27FC236}">
                  <a16:creationId xmlns:a16="http://schemas.microsoft.com/office/drawing/2014/main" id="{CED49C2B-7591-5349-ACBC-BC579269E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8" y="2214"/>
              <a:ext cx="641" cy="564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Rectangle 21">
              <a:extLst>
                <a:ext uri="{FF2B5EF4-FFF2-40B4-BE49-F238E27FC236}">
                  <a16:creationId xmlns:a16="http://schemas.microsoft.com/office/drawing/2014/main" id="{FE363F7A-53F1-9340-AE55-AF79C0534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" y="1866"/>
              <a:ext cx="416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2000" i="1">
                  <a:latin typeface="Arial" panose="020B0604020202020204" pitchFamily="34" charset="0"/>
                </a:rPr>
                <a:t>sum</a:t>
              </a:r>
              <a:endParaRPr lang="en-US" altLang="en-US" sz="1600" i="1">
                <a:latin typeface="Arial" panose="020B0604020202020204" pitchFamily="34" charset="0"/>
              </a:endParaRPr>
            </a:p>
          </p:txBody>
        </p:sp>
        <p:sp>
          <p:nvSpPr>
            <p:cNvPr id="19" name="Rectangle 22">
              <a:extLst>
                <a:ext uri="{FF2B5EF4-FFF2-40B4-BE49-F238E27FC236}">
                  <a16:creationId xmlns:a16="http://schemas.microsoft.com/office/drawing/2014/main" id="{2C26F8FD-BDD2-ED46-A843-2A74D68E7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6" y="1206"/>
              <a:ext cx="416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altLang="en-US" sz="2000" i="1">
                  <a:latin typeface="Arial" panose="020B0604020202020204" pitchFamily="34" charset="0"/>
                </a:rPr>
                <a:t>sum</a:t>
              </a:r>
              <a:endParaRPr lang="en-US" altLang="en-US" sz="1600" i="1">
                <a:latin typeface="Arial" panose="020B0604020202020204" pitchFamily="34" charset="0"/>
              </a:endParaRPr>
            </a:p>
          </p:txBody>
        </p:sp>
        <p:sp>
          <p:nvSpPr>
            <p:cNvPr id="20" name="AutoShape 23">
              <a:extLst>
                <a:ext uri="{FF2B5EF4-FFF2-40B4-BE49-F238E27FC236}">
                  <a16:creationId xmlns:a16="http://schemas.microsoft.com/office/drawing/2014/main" id="{61517690-CAFC-BE4A-B30A-F75A89796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6" y="1428"/>
              <a:ext cx="641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AutoShape 24">
              <a:extLst>
                <a:ext uri="{FF2B5EF4-FFF2-40B4-BE49-F238E27FC236}">
                  <a16:creationId xmlns:a16="http://schemas.microsoft.com/office/drawing/2014/main" id="{6449D44E-2FCF-3E42-97E5-3B9093EC0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0" y="1599"/>
              <a:ext cx="639" cy="564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AutoShape 25">
              <a:extLst>
                <a:ext uri="{FF2B5EF4-FFF2-40B4-BE49-F238E27FC236}">
                  <a16:creationId xmlns:a16="http://schemas.microsoft.com/office/drawing/2014/main" id="{047A2B77-E79C-0D4C-BEDA-AB6EAD0EA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" y="1771"/>
              <a:ext cx="640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AutoShape 26">
              <a:extLst>
                <a:ext uri="{FF2B5EF4-FFF2-40B4-BE49-F238E27FC236}">
                  <a16:creationId xmlns:a16="http://schemas.microsoft.com/office/drawing/2014/main" id="{DF835D7B-89C0-4B4B-8334-C04A11213F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9" y="1428"/>
              <a:ext cx="639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AutoShape 27">
              <a:extLst>
                <a:ext uri="{FF2B5EF4-FFF2-40B4-BE49-F238E27FC236}">
                  <a16:creationId xmlns:a16="http://schemas.microsoft.com/office/drawing/2014/main" id="{7538D189-CF4E-F742-875E-E0BBF727F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1599"/>
              <a:ext cx="641" cy="564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AutoShape 28">
              <a:extLst>
                <a:ext uri="{FF2B5EF4-FFF2-40B4-BE49-F238E27FC236}">
                  <a16:creationId xmlns:a16="http://schemas.microsoft.com/office/drawing/2014/main" id="{C6079242-79AB-5740-A85D-F1C59F98D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" y="1771"/>
              <a:ext cx="641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AutoShape 29">
              <a:extLst>
                <a:ext uri="{FF2B5EF4-FFF2-40B4-BE49-F238E27FC236}">
                  <a16:creationId xmlns:a16="http://schemas.microsoft.com/office/drawing/2014/main" id="{AEF272EE-CD48-B448-B269-B22F7E131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0" y="1428"/>
              <a:ext cx="641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AutoShape 30">
              <a:extLst>
                <a:ext uri="{FF2B5EF4-FFF2-40B4-BE49-F238E27FC236}">
                  <a16:creationId xmlns:a16="http://schemas.microsoft.com/office/drawing/2014/main" id="{40E542E5-B812-8A44-8D00-7B1AD5244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3" y="1599"/>
              <a:ext cx="641" cy="564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AutoShape 31">
              <a:extLst>
                <a:ext uri="{FF2B5EF4-FFF2-40B4-BE49-F238E27FC236}">
                  <a16:creationId xmlns:a16="http://schemas.microsoft.com/office/drawing/2014/main" id="{F954B6E8-4A2E-E049-ADEE-F69AB3DF6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5" y="1771"/>
              <a:ext cx="641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AutoShape 32">
              <a:extLst>
                <a:ext uri="{FF2B5EF4-FFF2-40B4-BE49-F238E27FC236}">
                  <a16:creationId xmlns:a16="http://schemas.microsoft.com/office/drawing/2014/main" id="{D9DBE651-3736-4F4C-A411-0579342EB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2" y="1428"/>
              <a:ext cx="641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AutoShape 33">
              <a:extLst>
                <a:ext uri="{FF2B5EF4-FFF2-40B4-BE49-F238E27FC236}">
                  <a16:creationId xmlns:a16="http://schemas.microsoft.com/office/drawing/2014/main" id="{0E732AB6-A2EF-184C-AD52-35D96897E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6" y="1599"/>
              <a:ext cx="639" cy="564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AutoShape 34">
              <a:extLst>
                <a:ext uri="{FF2B5EF4-FFF2-40B4-BE49-F238E27FC236}">
                  <a16:creationId xmlns:a16="http://schemas.microsoft.com/office/drawing/2014/main" id="{6B93843D-88D6-DC47-91EE-619AF9586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8" y="1771"/>
              <a:ext cx="639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AutoShape 35">
              <a:extLst>
                <a:ext uri="{FF2B5EF4-FFF2-40B4-BE49-F238E27FC236}">
                  <a16:creationId xmlns:a16="http://schemas.microsoft.com/office/drawing/2014/main" id="{7766FE59-EE83-294F-8B75-BCD61470C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5" y="1428"/>
              <a:ext cx="639" cy="563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AutoShape 36">
              <a:extLst>
                <a:ext uri="{FF2B5EF4-FFF2-40B4-BE49-F238E27FC236}">
                  <a16:creationId xmlns:a16="http://schemas.microsoft.com/office/drawing/2014/main" id="{03E96D93-5D4D-AD40-BDC7-E7AE2B59E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7" y="1599"/>
              <a:ext cx="639" cy="564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AutoShape 37">
              <a:extLst>
                <a:ext uri="{FF2B5EF4-FFF2-40B4-BE49-F238E27FC236}">
                  <a16:creationId xmlns:a16="http://schemas.microsoft.com/office/drawing/2014/main" id="{AA3D804D-F98F-9649-B826-3324BABF6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9" y="1771"/>
              <a:ext cx="641" cy="563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5" name="Group 38">
              <a:extLst>
                <a:ext uri="{FF2B5EF4-FFF2-40B4-BE49-F238E27FC236}">
                  <a16:creationId xmlns:a16="http://schemas.microsoft.com/office/drawing/2014/main" id="{D555C0DA-8AEF-3F42-86AC-EBECF84AB2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3" y="1926"/>
              <a:ext cx="2768" cy="1937"/>
              <a:chOff x="1388" y="1937"/>
              <a:chExt cx="2026" cy="1310"/>
            </a:xfrm>
          </p:grpSpPr>
          <p:sp>
            <p:nvSpPr>
              <p:cNvPr id="48" name="AutoShape 39">
                <a:extLst>
                  <a:ext uri="{FF2B5EF4-FFF2-40B4-BE49-F238E27FC236}">
                    <a16:creationId xmlns:a16="http://schemas.microsoft.com/office/drawing/2014/main" id="{3A01134C-71B8-024D-A3F6-FDF2D5DEB1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8" y="2867"/>
                <a:ext cx="469" cy="380"/>
              </a:xfrm>
              <a:prstGeom prst="cube">
                <a:avLst>
                  <a:gd name="adj" fmla="val 24995"/>
                </a:avLst>
              </a:prstGeom>
              <a:solidFill>
                <a:srgbClr val="FF99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" name="AutoShape 40">
                <a:extLst>
                  <a:ext uri="{FF2B5EF4-FFF2-40B4-BE49-F238E27FC236}">
                    <a16:creationId xmlns:a16="http://schemas.microsoft.com/office/drawing/2014/main" id="{0847818B-6E31-E04B-B0A1-21E028019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8" y="2867"/>
                <a:ext cx="468" cy="380"/>
              </a:xfrm>
              <a:prstGeom prst="cube">
                <a:avLst>
                  <a:gd name="adj" fmla="val 24995"/>
                </a:avLst>
              </a:prstGeom>
              <a:solidFill>
                <a:srgbClr val="FF99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" name="AutoShape 41">
                <a:extLst>
                  <a:ext uri="{FF2B5EF4-FFF2-40B4-BE49-F238E27FC236}">
                    <a16:creationId xmlns:a16="http://schemas.microsoft.com/office/drawing/2014/main" id="{68969D84-7359-4449-9A72-ACF8CF5A4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8" y="2557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AutoShape 42">
                <a:extLst>
                  <a:ext uri="{FF2B5EF4-FFF2-40B4-BE49-F238E27FC236}">
                    <a16:creationId xmlns:a16="http://schemas.microsoft.com/office/drawing/2014/main" id="{1B0F349C-E601-D047-A262-51E3815032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9" y="2258"/>
                <a:ext cx="469" cy="380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" name="AutoShape 43">
                <a:extLst>
                  <a:ext uri="{FF2B5EF4-FFF2-40B4-BE49-F238E27FC236}">
                    <a16:creationId xmlns:a16="http://schemas.microsoft.com/office/drawing/2014/main" id="{9C91F963-113A-1447-B7AD-F495F0367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8" y="2557"/>
                <a:ext cx="468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" name="AutoShape 44">
                <a:extLst>
                  <a:ext uri="{FF2B5EF4-FFF2-40B4-BE49-F238E27FC236}">
                    <a16:creationId xmlns:a16="http://schemas.microsoft.com/office/drawing/2014/main" id="{8F95D58E-1874-714B-B373-982E37F893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8" y="2247"/>
                <a:ext cx="468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" name="AutoShape 45">
                <a:extLst>
                  <a:ext uri="{FF2B5EF4-FFF2-40B4-BE49-F238E27FC236}">
                    <a16:creationId xmlns:a16="http://schemas.microsoft.com/office/drawing/2014/main" id="{69238971-A8E7-C34C-A4DE-99BBD72C3B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7" y="2867"/>
                <a:ext cx="469" cy="380"/>
              </a:xfrm>
              <a:prstGeom prst="cube">
                <a:avLst>
                  <a:gd name="adj" fmla="val 24995"/>
                </a:avLst>
              </a:prstGeom>
              <a:solidFill>
                <a:srgbClr val="FF99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" name="AutoShape 46">
                <a:extLst>
                  <a:ext uri="{FF2B5EF4-FFF2-40B4-BE49-F238E27FC236}">
                    <a16:creationId xmlns:a16="http://schemas.microsoft.com/office/drawing/2014/main" id="{B068F3FA-532C-B749-8A2E-6A91E95494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7" y="2557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" name="AutoShape 47">
                <a:extLst>
                  <a:ext uri="{FF2B5EF4-FFF2-40B4-BE49-F238E27FC236}">
                    <a16:creationId xmlns:a16="http://schemas.microsoft.com/office/drawing/2014/main" id="{171EE4AA-239D-5A49-BF9D-BF9C6FF27A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7" y="2247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" name="AutoShape 48">
                <a:extLst>
                  <a:ext uri="{FF2B5EF4-FFF2-40B4-BE49-F238E27FC236}">
                    <a16:creationId xmlns:a16="http://schemas.microsoft.com/office/drawing/2014/main" id="{D57B2D4A-4931-EE44-8A7A-BA8FEAEE15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6" y="2867"/>
                <a:ext cx="469" cy="380"/>
              </a:xfrm>
              <a:prstGeom prst="cube">
                <a:avLst>
                  <a:gd name="adj" fmla="val 24995"/>
                </a:avLst>
              </a:prstGeom>
              <a:solidFill>
                <a:srgbClr val="FF99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" name="AutoShape 49">
                <a:extLst>
                  <a:ext uri="{FF2B5EF4-FFF2-40B4-BE49-F238E27FC236}">
                    <a16:creationId xmlns:a16="http://schemas.microsoft.com/office/drawing/2014/main" id="{984AA118-0375-1046-B131-983107063D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6" y="2557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" name="AutoShape 50">
                <a:extLst>
                  <a:ext uri="{FF2B5EF4-FFF2-40B4-BE49-F238E27FC236}">
                    <a16:creationId xmlns:a16="http://schemas.microsoft.com/office/drawing/2014/main" id="{8D4E09FC-9C0B-8E4E-A16B-84ACCA22BF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6" y="2247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" name="AutoShape 51">
                <a:extLst>
                  <a:ext uri="{FF2B5EF4-FFF2-40B4-BE49-F238E27FC236}">
                    <a16:creationId xmlns:a16="http://schemas.microsoft.com/office/drawing/2014/main" id="{8925E1DA-939F-754D-BE63-B9268EBEAA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6" y="2867"/>
                <a:ext cx="468" cy="380"/>
              </a:xfrm>
              <a:prstGeom prst="cube">
                <a:avLst>
                  <a:gd name="adj" fmla="val 24995"/>
                </a:avLst>
              </a:prstGeom>
              <a:solidFill>
                <a:srgbClr val="0033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" name="AutoShape 52">
                <a:extLst>
                  <a:ext uri="{FF2B5EF4-FFF2-40B4-BE49-F238E27FC236}">
                    <a16:creationId xmlns:a16="http://schemas.microsoft.com/office/drawing/2014/main" id="{2D7F0C70-7137-4B45-B0D9-BE2AD0D218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6" y="2557"/>
                <a:ext cx="468" cy="381"/>
              </a:xfrm>
              <a:prstGeom prst="cube">
                <a:avLst>
                  <a:gd name="adj" fmla="val 24995"/>
                </a:avLst>
              </a:prstGeom>
              <a:solidFill>
                <a:srgbClr val="96969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" name="AutoShape 53">
                <a:extLst>
                  <a:ext uri="{FF2B5EF4-FFF2-40B4-BE49-F238E27FC236}">
                    <a16:creationId xmlns:a16="http://schemas.microsoft.com/office/drawing/2014/main" id="{014701C0-9D11-B34A-98B7-B8F32F84C6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6" y="2247"/>
                <a:ext cx="468" cy="381"/>
              </a:xfrm>
              <a:prstGeom prst="cube">
                <a:avLst>
                  <a:gd name="adj" fmla="val 24995"/>
                </a:avLst>
              </a:prstGeom>
              <a:solidFill>
                <a:srgbClr val="96969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" name="AutoShape 54">
                <a:extLst>
                  <a:ext uri="{FF2B5EF4-FFF2-40B4-BE49-F238E27FC236}">
                    <a16:creationId xmlns:a16="http://schemas.microsoft.com/office/drawing/2014/main" id="{BF451F58-BD39-2142-9E08-0E7062B533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9" y="1948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" name="AutoShape 55">
                <a:extLst>
                  <a:ext uri="{FF2B5EF4-FFF2-40B4-BE49-F238E27FC236}">
                    <a16:creationId xmlns:a16="http://schemas.microsoft.com/office/drawing/2014/main" id="{D16E2D07-A7F2-F14C-91E7-6018D1E7E7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" y="1948"/>
                <a:ext cx="468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" name="AutoShape 56">
                <a:extLst>
                  <a:ext uri="{FF2B5EF4-FFF2-40B4-BE49-F238E27FC236}">
                    <a16:creationId xmlns:a16="http://schemas.microsoft.com/office/drawing/2014/main" id="{F8599B05-E70A-1C4C-A19E-26E9592DB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8" y="1948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6" name="AutoShape 57">
                <a:extLst>
                  <a:ext uri="{FF2B5EF4-FFF2-40B4-BE49-F238E27FC236}">
                    <a16:creationId xmlns:a16="http://schemas.microsoft.com/office/drawing/2014/main" id="{29BFCCF7-06E8-314B-93C8-3590D500DC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7" y="1948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" name="AutoShape 58">
                <a:extLst>
                  <a:ext uri="{FF2B5EF4-FFF2-40B4-BE49-F238E27FC236}">
                    <a16:creationId xmlns:a16="http://schemas.microsoft.com/office/drawing/2014/main" id="{4525E97D-AACD-3D47-A22D-1F124FE36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6" y="1937"/>
                <a:ext cx="468" cy="381"/>
              </a:xfrm>
              <a:prstGeom prst="cube">
                <a:avLst>
                  <a:gd name="adj" fmla="val 24995"/>
                </a:avLst>
              </a:prstGeom>
              <a:solidFill>
                <a:srgbClr val="96969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endParaRPr lang="en-US" altLang="en-US" sz="2400" b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6" name="Rectangle 59">
              <a:extLst>
                <a:ext uri="{FF2B5EF4-FFF2-40B4-BE49-F238E27FC236}">
                  <a16:creationId xmlns:a16="http://schemas.microsoft.com/office/drawing/2014/main" id="{D4717C06-A0EB-A944-9B91-B914B81696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8" y="1182"/>
              <a:ext cx="76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eaLnBrk="0" hangingPunct="0"/>
              <a:r>
                <a:rPr lang="en-US" altLang="en-US" sz="1600" i="1">
                  <a:latin typeface="Arial" panose="020B0604020202020204" pitchFamily="34" charset="0"/>
                </a:rPr>
                <a:t> </a:t>
              </a:r>
            </a:p>
          </p:txBody>
        </p:sp>
        <p:sp>
          <p:nvSpPr>
            <p:cNvPr id="37" name="Text Box 60">
              <a:extLst>
                <a:ext uri="{FF2B5EF4-FFF2-40B4-BE49-F238E27FC236}">
                  <a16:creationId xmlns:a16="http://schemas.microsoft.com/office/drawing/2014/main" id="{712773B6-A858-A84F-AAFC-ECED11DA1D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3" y="1300"/>
              <a:ext cx="33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 sz="2000">
                  <a:latin typeface="Times New Roman" panose="02020603050405020304" pitchFamily="18" charset="0"/>
                </a:rPr>
                <a:t>TV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8" name="Text Box 61">
              <a:extLst>
                <a:ext uri="{FF2B5EF4-FFF2-40B4-BE49-F238E27FC236}">
                  <a16:creationId xmlns:a16="http://schemas.microsoft.com/office/drawing/2014/main" id="{86D9433B-D04E-A94A-B87F-02C794F735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" y="1669"/>
              <a:ext cx="44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 sz="2000">
                  <a:latin typeface="Times New Roman" panose="02020603050405020304" pitchFamily="18" charset="0"/>
                </a:rPr>
                <a:t>VCR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9" name="Text Box 62">
              <a:extLst>
                <a:ext uri="{FF2B5EF4-FFF2-40B4-BE49-F238E27FC236}">
                  <a16:creationId xmlns:a16="http://schemas.microsoft.com/office/drawing/2014/main" id="{A7A28ED1-CBC4-5D4A-89E4-B69A356960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1" y="1492"/>
              <a:ext cx="3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 sz="2000">
                  <a:latin typeface="Times New Roman" panose="02020603050405020304" pitchFamily="18" charset="0"/>
                </a:rPr>
                <a:t>PC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0" name="Text Box 63">
              <a:extLst>
                <a:ext uri="{FF2B5EF4-FFF2-40B4-BE49-F238E27FC236}">
                  <a16:creationId xmlns:a16="http://schemas.microsoft.com/office/drawing/2014/main" id="{1B912E1A-5DEE-B642-A8BA-0CF1A5ACA6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2" y="1197"/>
              <a:ext cx="4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 sz="2000">
                  <a:latin typeface="Times New Roman" panose="02020603050405020304" pitchFamily="18" charset="0"/>
                </a:rPr>
                <a:t>1Qtr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1" name="Text Box 64">
              <a:extLst>
                <a:ext uri="{FF2B5EF4-FFF2-40B4-BE49-F238E27FC236}">
                  <a16:creationId xmlns:a16="http://schemas.microsoft.com/office/drawing/2014/main" id="{94F2C075-4C4E-9149-904F-97D41E170E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6" y="1185"/>
              <a:ext cx="4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 sz="2000">
                  <a:latin typeface="Times New Roman" panose="02020603050405020304" pitchFamily="18" charset="0"/>
                </a:rPr>
                <a:t>2Qtr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2" name="Text Box 65">
              <a:extLst>
                <a:ext uri="{FF2B5EF4-FFF2-40B4-BE49-F238E27FC236}">
                  <a16:creationId xmlns:a16="http://schemas.microsoft.com/office/drawing/2014/main" id="{101B59D3-6329-BA40-88A0-560D0F4886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8" y="1209"/>
              <a:ext cx="4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 sz="2000">
                  <a:latin typeface="Times New Roman" panose="02020603050405020304" pitchFamily="18" charset="0"/>
                </a:rPr>
                <a:t>3Qtr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3" name="Text Box 66">
              <a:extLst>
                <a:ext uri="{FF2B5EF4-FFF2-40B4-BE49-F238E27FC236}">
                  <a16:creationId xmlns:a16="http://schemas.microsoft.com/office/drawing/2014/main" id="{6B04D165-6B7C-F24C-9BBA-474E84C352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4" y="1221"/>
              <a:ext cx="4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 sz="2000">
                  <a:latin typeface="Times New Roman" panose="02020603050405020304" pitchFamily="18" charset="0"/>
                </a:rPr>
                <a:t>4Qtr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4" name="Text Box 67">
              <a:extLst>
                <a:ext uri="{FF2B5EF4-FFF2-40B4-BE49-F238E27FC236}">
                  <a16:creationId xmlns:a16="http://schemas.microsoft.com/office/drawing/2014/main" id="{D0B098C2-8BC6-B141-92F3-B4516B5649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5" y="1482"/>
              <a:ext cx="51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en-US" sz="2000">
                  <a:latin typeface="Times New Roman" panose="02020603050405020304" pitchFamily="18" charset="0"/>
                </a:rPr>
                <a:t>U.S.A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5" name="Text Box 68">
              <a:extLst>
                <a:ext uri="{FF2B5EF4-FFF2-40B4-BE49-F238E27FC236}">
                  <a16:creationId xmlns:a16="http://schemas.microsoft.com/office/drawing/2014/main" id="{C56DFF19-DF34-2A4A-AA2B-A916D898FC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4" y="1974"/>
              <a:ext cx="5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en-US" sz="2000">
                  <a:latin typeface="Times New Roman" panose="02020603050405020304" pitchFamily="18" charset="0"/>
                </a:rPr>
                <a:t>Canada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6" name="Text Box 69">
              <a:extLst>
                <a:ext uri="{FF2B5EF4-FFF2-40B4-BE49-F238E27FC236}">
                  <a16:creationId xmlns:a16="http://schemas.microsoft.com/office/drawing/2014/main" id="{F7B491AA-F819-1341-BC18-9417331FBA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4" y="2394"/>
              <a:ext cx="6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en-US" sz="2000">
                  <a:latin typeface="Times New Roman" panose="02020603050405020304" pitchFamily="18" charset="0"/>
                </a:rPr>
                <a:t>Mexico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7" name="Text Box 70">
              <a:extLst>
                <a:ext uri="{FF2B5EF4-FFF2-40B4-BE49-F238E27FC236}">
                  <a16:creationId xmlns:a16="http://schemas.microsoft.com/office/drawing/2014/main" id="{DC546CAE-4A36-934A-84FB-CA98E49A4D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0" y="2874"/>
              <a:ext cx="37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en-US" sz="2000" i="1">
                  <a:latin typeface="Times New Roman" panose="02020603050405020304" pitchFamily="18" charset="0"/>
                </a:rPr>
                <a:t>sum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782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CCC7-3DF0-8948-97A3-CA2EB6389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 Schemas Versus OLAP Cubes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ED85A-1CDD-E341-BFBA-FEEE4C6AA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200" dirty="0"/>
              <a:t>Both stars and cubes have a common logical design with recognizable dimensions; however, the physical implementation differs. </a:t>
            </a:r>
          </a:p>
          <a:p>
            <a:r>
              <a:rPr lang="en-US" sz="3200" dirty="0"/>
              <a:t>OLAP cube:</a:t>
            </a:r>
          </a:p>
          <a:p>
            <a:pPr lvl="1"/>
            <a:r>
              <a:rPr lang="en-US" sz="2800" dirty="0"/>
              <a:t>Performance aggregations or precalculated summary tables are often created and managed;</a:t>
            </a:r>
          </a:p>
          <a:p>
            <a:pPr lvl="1"/>
            <a:r>
              <a:rPr lang="en-US" sz="2800" dirty="0"/>
              <a:t>Deliver superior query performance; </a:t>
            </a:r>
          </a:p>
          <a:p>
            <a:pPr lvl="1"/>
            <a:r>
              <a:rPr lang="en-US" sz="2800" dirty="0"/>
              <a:t>Provide more analytically robust functions;</a:t>
            </a:r>
          </a:p>
          <a:p>
            <a:pPr lvl="1"/>
            <a:r>
              <a:rPr lang="en-US" sz="2800" dirty="0"/>
              <a:t>Pay a load performance price;</a:t>
            </a:r>
            <a:endParaRPr lang="en-US" sz="3200" dirty="0"/>
          </a:p>
          <a:p>
            <a:r>
              <a:rPr lang="en-US" sz="3200" dirty="0"/>
              <a:t>Detailed, atomic information be loaded into a star schema; optional OLAP cubes are then populated from the star schema. </a:t>
            </a:r>
          </a:p>
          <a:p>
            <a:pPr lvl="1"/>
            <a:endParaRPr lang="en-US" sz="2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7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AC3EF-4C80-5848-ABAF-E562E5748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Intuitive to Business Users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A49775-DB12-824A-9D4B-11BF06E5E4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6319" y="1542499"/>
            <a:ext cx="10089223" cy="485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93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C419E-AE48-0F44-8BB7-7E9699E1D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 Tables for Measurements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1297C-3100-814C-A7EC-B53999DB9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Fact table: stores the </a:t>
            </a:r>
            <a:r>
              <a:rPr lang="en-US" dirty="0">
                <a:solidFill>
                  <a:srgbClr val="FF0000"/>
                </a:solidFill>
              </a:rPr>
              <a:t>performance measurements</a:t>
            </a:r>
            <a:r>
              <a:rPr lang="en-US" dirty="0"/>
              <a:t> resulting from an organization’s business process events. </a:t>
            </a:r>
          </a:p>
          <a:p>
            <a:r>
              <a:rPr lang="en-US" dirty="0"/>
              <a:t>Fact: a business measure;</a:t>
            </a:r>
          </a:p>
          <a:p>
            <a:r>
              <a:rPr lang="en-US" dirty="0"/>
              <a:t>Each row in a fact table: </a:t>
            </a:r>
            <a:r>
              <a:rPr lang="en-US" dirty="0">
                <a:solidFill>
                  <a:srgbClr val="FF0000"/>
                </a:solidFill>
              </a:rPr>
              <a:t>a measurement event</a:t>
            </a:r>
            <a:r>
              <a:rPr lang="en-US" dirty="0"/>
              <a:t>. The data on each row is at a specific level of detail, referred to as the </a:t>
            </a:r>
            <a:r>
              <a:rPr lang="en-US" i="1" dirty="0"/>
              <a:t>grain</a:t>
            </a:r>
            <a:r>
              <a:rPr lang="en-US" dirty="0"/>
              <a:t>, such as one row per product sold on a sales transaction;</a:t>
            </a:r>
          </a:p>
          <a:p>
            <a:r>
              <a:rPr lang="en-US" dirty="0"/>
              <a:t>All the measurement rows in a fact table must be at the same grain.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879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A1389-782A-1F4B-A744-159359ACA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 Table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9789F-716A-F441-86C4-5C59ECC54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Deep in terms of </a:t>
            </a:r>
            <a:r>
              <a:rPr lang="en-US" dirty="0">
                <a:solidFill>
                  <a:srgbClr val="FF0000"/>
                </a:solidFill>
              </a:rPr>
              <a:t>the number of rows</a:t>
            </a:r>
            <a:r>
              <a:rPr lang="en-US" dirty="0"/>
              <a:t>, but narrow in terms of the </a:t>
            </a:r>
            <a:r>
              <a:rPr lang="en-US" dirty="0">
                <a:solidFill>
                  <a:srgbClr val="FF0000"/>
                </a:solidFill>
              </a:rPr>
              <a:t>number of columns</a:t>
            </a:r>
            <a:r>
              <a:rPr lang="en-US" dirty="0"/>
              <a:t>. </a:t>
            </a:r>
          </a:p>
          <a:p>
            <a:r>
              <a:rPr lang="en-US" dirty="0"/>
              <a:t>Fact tables have </a:t>
            </a:r>
            <a:r>
              <a:rPr lang="en-US" dirty="0">
                <a:solidFill>
                  <a:srgbClr val="FF0000"/>
                </a:solidFill>
              </a:rPr>
              <a:t>two or more foreign keys </a:t>
            </a:r>
            <a:r>
              <a:rPr lang="en-US" dirty="0"/>
              <a:t>(refer to the FK notation) that connect to the dimension tables’ primary keys. </a:t>
            </a:r>
          </a:p>
          <a:p>
            <a:r>
              <a:rPr lang="en-US" dirty="0"/>
              <a:t>Fact table has its own primary key </a:t>
            </a:r>
            <a:r>
              <a:rPr lang="en-US" dirty="0">
                <a:solidFill>
                  <a:srgbClr val="FF0000"/>
                </a:solidFill>
              </a:rPr>
              <a:t>composed of a subset of the foreign keys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i="1" dirty="0"/>
              <a:t>composite key)</a:t>
            </a:r>
            <a:r>
              <a:rPr lang="en-US" dirty="0"/>
              <a:t>. </a:t>
            </a:r>
          </a:p>
          <a:p>
            <a:r>
              <a:rPr lang="en-US" dirty="0"/>
              <a:t>Every table that </a:t>
            </a:r>
            <a:r>
              <a:rPr lang="en-US" dirty="0">
                <a:solidFill>
                  <a:srgbClr val="FF0000"/>
                </a:solidFill>
              </a:rPr>
              <a:t>has a composite key </a:t>
            </a:r>
            <a:r>
              <a:rPr lang="en-US" dirty="0"/>
              <a:t>is a fact table. </a:t>
            </a:r>
          </a:p>
          <a:p>
            <a:r>
              <a:rPr lang="en-US" dirty="0"/>
              <a:t>Fact tables express </a:t>
            </a:r>
            <a:r>
              <a:rPr lang="en-US" dirty="0">
                <a:solidFill>
                  <a:srgbClr val="FF0000"/>
                </a:solidFill>
              </a:rPr>
              <a:t>many-to-many</a:t>
            </a:r>
            <a:r>
              <a:rPr lang="en-US" dirty="0"/>
              <a:t> relationships.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589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A34C1-1BBD-8047-ACBB-DF41E90A9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Business process measurement events translate into fact tables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9F1A09-7036-7E4D-AAA5-8CEF131710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9504" y="1825625"/>
            <a:ext cx="9732992" cy="4351338"/>
          </a:xfrm>
        </p:spPr>
      </p:pic>
    </p:spTree>
    <p:extLst>
      <p:ext uri="{BB962C8B-B14F-4D97-AF65-F5344CB8AC3E}">
        <p14:creationId xmlns:p14="http://schemas.microsoft.com/office/powerpoint/2010/main" val="1500390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1EF05-5BE4-E443-B966-77723E481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 Tables for Descriptive Context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B1E47-70EC-FA40-8312-2CABD7139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Dimension tables are </a:t>
            </a:r>
            <a:r>
              <a:rPr lang="en-US" dirty="0">
                <a:solidFill>
                  <a:srgbClr val="FF0000"/>
                </a:solidFill>
              </a:rPr>
              <a:t>integral companions </a:t>
            </a:r>
            <a:r>
              <a:rPr lang="en-US" dirty="0"/>
              <a:t>to a fact table. </a:t>
            </a:r>
          </a:p>
          <a:p>
            <a:r>
              <a:rPr lang="en-US" dirty="0"/>
              <a:t>Contain the </a:t>
            </a:r>
            <a:r>
              <a:rPr lang="en-US" dirty="0">
                <a:solidFill>
                  <a:srgbClr val="FF0000"/>
                </a:solidFill>
              </a:rPr>
              <a:t>textual context </a:t>
            </a:r>
            <a:r>
              <a:rPr lang="en-US" dirty="0"/>
              <a:t>associated with a business process measurement event. </a:t>
            </a:r>
          </a:p>
          <a:p>
            <a:r>
              <a:rPr lang="en-US" dirty="0"/>
              <a:t>Have </a:t>
            </a:r>
            <a:r>
              <a:rPr lang="en-US" dirty="0">
                <a:solidFill>
                  <a:srgbClr val="FF0000"/>
                </a:solidFill>
              </a:rPr>
              <a:t>fewer rows</a:t>
            </a:r>
            <a:r>
              <a:rPr lang="en-US" dirty="0"/>
              <a:t> than fact tables, but can be wide with </a:t>
            </a:r>
            <a:r>
              <a:rPr lang="en-US" dirty="0">
                <a:solidFill>
                  <a:srgbClr val="FF0000"/>
                </a:solidFill>
              </a:rPr>
              <a:t>many large text columns</a:t>
            </a:r>
            <a:r>
              <a:rPr lang="en-US" dirty="0"/>
              <a:t>. </a:t>
            </a:r>
          </a:p>
          <a:p>
            <a:r>
              <a:rPr lang="en-US" dirty="0"/>
              <a:t>Each dimension is defined by a </a:t>
            </a:r>
            <a:r>
              <a:rPr lang="en-US" dirty="0">
                <a:solidFill>
                  <a:srgbClr val="FF0000"/>
                </a:solidFill>
              </a:rPr>
              <a:t>single primary key </a:t>
            </a:r>
            <a:r>
              <a:rPr lang="en-US" dirty="0"/>
              <a:t>(refer to the PK notation), which serves as the basis for referential integrity with any given fact table to which it is joined.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288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F9585-AFA0-274A-A978-5F0ED5552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Dimension tables contain descriptive characteristics of business process nouns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F3C14F-1A3C-2140-A40F-7BBBF2359D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46359" y="1575185"/>
            <a:ext cx="3822784" cy="5058251"/>
          </a:xfrm>
        </p:spPr>
      </p:pic>
    </p:spTree>
    <p:extLst>
      <p:ext uri="{BB962C8B-B14F-4D97-AF65-F5344CB8AC3E}">
        <p14:creationId xmlns:p14="http://schemas.microsoft.com/office/powerpoint/2010/main" val="1530884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B70DE-ADA3-FA46-81B7-9B47CBE8F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 Tables</a:t>
            </a:r>
            <a:r>
              <a:rPr lang="zh-CN" altLang="en-US" dirty="0"/>
              <a:t> </a:t>
            </a:r>
            <a:r>
              <a:rPr lang="en-US" altLang="zh-CN" dirty="0"/>
              <a:t>cont.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02456-0CB2-B84A-8BD5-8B1A11642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63703" cy="4351338"/>
          </a:xfrm>
        </p:spPr>
        <p:txBody>
          <a:bodyPr/>
          <a:lstStyle/>
          <a:p>
            <a:r>
              <a:rPr lang="en-US" dirty="0"/>
              <a:t>Dimension tables often represent </a:t>
            </a:r>
            <a:r>
              <a:rPr lang="en-US" dirty="0">
                <a:solidFill>
                  <a:srgbClr val="FF0000"/>
                </a:solidFill>
              </a:rPr>
              <a:t>hierarchical relationships</a:t>
            </a:r>
            <a:r>
              <a:rPr lang="en-US" dirty="0"/>
              <a:t>. </a:t>
            </a:r>
          </a:p>
          <a:p>
            <a:r>
              <a:rPr lang="en-US" dirty="0"/>
              <a:t>Dimension tables typically are highly </a:t>
            </a:r>
            <a:r>
              <a:rPr lang="en-US" dirty="0">
                <a:solidFill>
                  <a:srgbClr val="FF0000"/>
                </a:solidFill>
              </a:rPr>
              <a:t>denormalized</a:t>
            </a:r>
            <a:r>
              <a:rPr lang="en-US" dirty="0"/>
              <a:t> with flattened many-to-one relationships within a single dimension table.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4939F8-68B4-0645-9DF3-3BEA1B2F6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932361"/>
            <a:ext cx="6222866" cy="299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627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D7C77-787A-5B40-9C87-9678196E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Facts and Dimensions Joined in a Star Schema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D5E31-EA16-B04F-9EB5-DDBE27AEF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</a:t>
            </a:r>
            <a:r>
              <a:rPr lang="en-US" dirty="0">
                <a:solidFill>
                  <a:srgbClr val="FF0000"/>
                </a:solidFill>
              </a:rPr>
              <a:t>business process </a:t>
            </a:r>
            <a:r>
              <a:rPr lang="en-US" dirty="0"/>
              <a:t>is represented by </a:t>
            </a:r>
            <a:r>
              <a:rPr lang="en-US" dirty="0">
                <a:solidFill>
                  <a:srgbClr val="FF0000"/>
                </a:solidFill>
              </a:rPr>
              <a:t>a dimensional model </a:t>
            </a:r>
          </a:p>
          <a:p>
            <a:pPr lvl="1"/>
            <a:r>
              <a:rPr lang="en-US" dirty="0"/>
              <a:t>a fact table containing the event’s </a:t>
            </a:r>
            <a:r>
              <a:rPr lang="en-US" dirty="0">
                <a:solidFill>
                  <a:srgbClr val="FF0000"/>
                </a:solidFill>
              </a:rPr>
              <a:t>numeric measurements </a:t>
            </a:r>
          </a:p>
          <a:p>
            <a:pPr lvl="1"/>
            <a:r>
              <a:rPr lang="en-US" dirty="0"/>
              <a:t>a halo of dimension tables that contain the </a:t>
            </a:r>
            <a:r>
              <a:rPr lang="en-US" dirty="0">
                <a:solidFill>
                  <a:srgbClr val="FF0000"/>
                </a:solidFill>
              </a:rPr>
              <a:t>textual context </a:t>
            </a:r>
            <a:r>
              <a:rPr lang="en-US" dirty="0"/>
              <a:t>that was true at the moment the event occurred.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65B7FA-5552-DA47-96A2-C9E28938F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174" y="3554644"/>
            <a:ext cx="8226392" cy="285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303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4D0A-4693-2D49-8576-EE69EDDF4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 of dimensional schema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3CE11-4AC8-7649-AE2F-FC90D8E38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Simplicity</a:t>
            </a:r>
            <a:r>
              <a:rPr lang="en-US" dirty="0"/>
              <a:t>: the data is easier to understand and navigate. </a:t>
            </a:r>
          </a:p>
          <a:p>
            <a:endParaRPr lang="en-US" dirty="0"/>
          </a:p>
          <a:p>
            <a:r>
              <a:rPr lang="en-US" b="1" i="1" dirty="0"/>
              <a:t>Symmetry</a:t>
            </a:r>
            <a:r>
              <a:rPr lang="en-US" dirty="0"/>
              <a:t>: every dimension is equivalent; all dimensions are symmetrically equal entry points into the fact table.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i="1" dirty="0"/>
              <a:t>Extensible to accommodate change</a:t>
            </a:r>
            <a:r>
              <a:rPr lang="en-US" dirty="0"/>
              <a:t>: the predictable framework of a dimensional model withstands unexpected changes in user behavior.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2149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D7C64-BC68-5142-BCAE-F163C9EB3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Kimball’s DW/BI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1450A-AB57-2F4D-A015-338480108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Four separate and distinct components: </a:t>
            </a:r>
            <a:r>
              <a:rPr lang="en-US" b="1" dirty="0">
                <a:solidFill>
                  <a:srgbClr val="FF0000"/>
                </a:solidFill>
              </a:rPr>
              <a:t>operational source systems</a:t>
            </a:r>
            <a:r>
              <a:rPr lang="en-US" b="1" dirty="0"/>
              <a:t>, </a:t>
            </a:r>
            <a:r>
              <a:rPr lang="en-US" b="1" dirty="0">
                <a:solidFill>
                  <a:srgbClr val="FF0000"/>
                </a:solidFill>
              </a:rPr>
              <a:t>ETL system</a:t>
            </a:r>
            <a:r>
              <a:rPr lang="en-US" b="1" dirty="0"/>
              <a:t>, </a:t>
            </a:r>
            <a:r>
              <a:rPr lang="en-US" b="1" dirty="0">
                <a:solidFill>
                  <a:srgbClr val="FF0000"/>
                </a:solidFill>
              </a:rPr>
              <a:t>data presentation area</a:t>
            </a:r>
            <a:r>
              <a:rPr lang="en-US" b="1" dirty="0"/>
              <a:t>, </a:t>
            </a:r>
            <a:r>
              <a:rPr lang="en-US" dirty="0"/>
              <a:t>and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business intelligence applications</a:t>
            </a:r>
            <a:r>
              <a:rPr lang="en-US" b="1" dirty="0"/>
              <a:t>. </a:t>
            </a:r>
          </a:p>
          <a:p>
            <a:r>
              <a:rPr lang="en-US" b="1" dirty="0"/>
              <a:t>Operational Source Systems: </a:t>
            </a:r>
            <a:r>
              <a:rPr lang="en-US" dirty="0"/>
              <a:t>capture the business’s transactions </a:t>
            </a:r>
          </a:p>
          <a:p>
            <a:r>
              <a:rPr lang="en-US" b="1" dirty="0"/>
              <a:t>Extract, Transformation, and Load System (ETL): </a:t>
            </a:r>
            <a:r>
              <a:rPr lang="en-US" dirty="0"/>
              <a:t>consists of a work area, instantiated data structures, and a set of processes. </a:t>
            </a:r>
          </a:p>
          <a:p>
            <a:r>
              <a:rPr lang="en-US" b="1" dirty="0"/>
              <a:t>Presentation Area to Support Business Intelligence: </a:t>
            </a:r>
            <a:r>
              <a:rPr lang="en-US" dirty="0"/>
              <a:t>where data is organized, stored, and made available for direct querying by users, report writers, and other analytical BI applications. </a:t>
            </a:r>
          </a:p>
          <a:p>
            <a:r>
              <a:rPr lang="en-US" b="1" dirty="0"/>
              <a:t>Business Intelligence Applications: </a:t>
            </a:r>
            <a:r>
              <a:rPr lang="en-US" dirty="0"/>
              <a:t>the range of capabilities provided to business users to leverage the presentation area for analytic decision making.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7969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C1AA3-8B77-4444-94D9-616E0475E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Kimball’s DW/BI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AD8998-7E5F-9449-AF35-834616F81E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2976" y="1690688"/>
            <a:ext cx="8185797" cy="4548612"/>
          </a:xfrm>
        </p:spPr>
      </p:pic>
    </p:spTree>
    <p:extLst>
      <p:ext uri="{BB962C8B-B14F-4D97-AF65-F5344CB8AC3E}">
        <p14:creationId xmlns:p14="http://schemas.microsoft.com/office/powerpoint/2010/main" val="491601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FEEA3-9E4D-3B49-A008-6893BD5A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Operational Source Systems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09D45-DAFB-1C4E-9874-C87C46B6E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main priorities of the source systems are </a:t>
            </a:r>
            <a:r>
              <a:rPr lang="en-US" b="1" i="1" dirty="0">
                <a:solidFill>
                  <a:srgbClr val="FF0000"/>
                </a:solidFill>
              </a:rPr>
              <a:t>processing performance and availability</a:t>
            </a:r>
            <a:r>
              <a:rPr lang="en-US" dirty="0"/>
              <a:t>. </a:t>
            </a:r>
          </a:p>
          <a:p>
            <a:r>
              <a:rPr lang="en-US" dirty="0"/>
              <a:t>Source systems maintain </a:t>
            </a:r>
            <a:r>
              <a:rPr lang="en-US" b="1" i="1" dirty="0">
                <a:solidFill>
                  <a:srgbClr val="FF0000"/>
                </a:solidFill>
              </a:rPr>
              <a:t>little historical data</a:t>
            </a:r>
            <a:r>
              <a:rPr lang="en-US" dirty="0"/>
              <a:t>; </a:t>
            </a:r>
          </a:p>
          <a:p>
            <a:r>
              <a:rPr lang="en-US" dirty="0"/>
              <a:t>A good data warehouse can relieve the source systems of much of the responsibility for representing the past.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513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BE86-B75B-B843-83EE-FC5DC0DEC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Extract, Transformation, and Load System (ETL)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103F9-196A-664F-8454-BF4A04734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Extraction</a:t>
            </a:r>
            <a:r>
              <a:rPr lang="en-US" dirty="0"/>
              <a:t>: the process of getting data into the data warehouse environment (reading and understanding the source data and copying the data into the system). </a:t>
            </a:r>
          </a:p>
          <a:p>
            <a:r>
              <a:rPr lang="en-US" b="1" dirty="0"/>
              <a:t>Transformations</a:t>
            </a:r>
            <a:r>
              <a:rPr lang="en-US" dirty="0"/>
              <a:t>, such as cleansing the data (correcting misspellings, resolving domain conflicts, dealing with missing elements, or parsing into standard formats), combining data from multiple sources, and de-duplicating data. </a:t>
            </a:r>
          </a:p>
          <a:p>
            <a:r>
              <a:rPr lang="en-US" b="1" dirty="0"/>
              <a:t>Load:</a:t>
            </a:r>
            <a:r>
              <a:rPr lang="en-US" dirty="0"/>
              <a:t> the physical structuring and loading of data into the presentation area’s target dimensional models.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8798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0DEFA-DB75-B54D-87B5-36B16A475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Presentation Area to Support Business Intelligence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BE6FE-7DAD-4648-973A-C99F971BC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DW/BI </a:t>
            </a:r>
            <a:r>
              <a:rPr lang="en-US" i="1" dirty="0"/>
              <a:t>presentation area </a:t>
            </a:r>
            <a:r>
              <a:rPr lang="en-US" dirty="0"/>
              <a:t>is where data is organized, stored, and made available for direct querying by users, report writers, and other analytical BI applications. </a:t>
            </a:r>
          </a:p>
          <a:p>
            <a:r>
              <a:rPr lang="en-US" dirty="0"/>
              <a:t>The data be presented, stored, and accessed in dimensional schemas, either relational star schemas or OLAP cubes. </a:t>
            </a:r>
          </a:p>
          <a:p>
            <a:r>
              <a:rPr lang="en-US" dirty="0"/>
              <a:t>It must contain detailed, atomic data. </a:t>
            </a:r>
          </a:p>
          <a:p>
            <a:r>
              <a:rPr lang="en-US" dirty="0"/>
              <a:t>The most finely grained data must be available in the presentation area so that users can ask the most precise questions possible. </a:t>
            </a:r>
          </a:p>
          <a:p>
            <a:r>
              <a:rPr lang="en-US" dirty="0"/>
              <a:t>Should be structured around business process measurement events.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6503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A98D7-D908-8046-B87E-69239EB08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Intelligence Applications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F7814-673C-6045-A8E3-E9C2FA2FF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BI applications query the data in the DW/BI presentation area. </a:t>
            </a:r>
          </a:p>
          <a:p>
            <a:r>
              <a:rPr lang="en-US" dirty="0"/>
              <a:t>Using data for improved decision making. </a:t>
            </a:r>
          </a:p>
          <a:p>
            <a:r>
              <a:rPr lang="en-US" dirty="0"/>
              <a:t>A BI application can be as simple as an ad hoc query tool or as complex as a sophisticated data mining or modeling application. </a:t>
            </a:r>
          </a:p>
          <a:p>
            <a:r>
              <a:rPr lang="en-US" dirty="0"/>
              <a:t>Sophisticated applications, such as modeling or forecasting tools, may upload results back into the operational source systems, ETL system, or presentation area.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881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EC35C-CA8B-F249-AC0C-CFBD507C9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DW/BI Architectures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C7FA0-07A8-F64E-8699-73B1EE26C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Data Mart Architecture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9A72730-4A00-504A-9AEC-1CBB44F4A85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2930335"/>
            <a:ext cx="5157787" cy="2834068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F61223-5BD0-7F41-BABF-8D576E0A1E4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Without any enterprise perspective;</a:t>
            </a:r>
          </a:p>
          <a:p>
            <a:r>
              <a:rPr lang="en-US" dirty="0"/>
              <a:t>Perpetuate incompatible views of the organization’s performance;</a:t>
            </a:r>
          </a:p>
          <a:p>
            <a:r>
              <a:rPr lang="en-US" dirty="0"/>
              <a:t>Unnecessary organizational debate and reconciliation.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6746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EF314-74FE-0C40-9999-DA1A772E8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Warehouse V.S. Data Mart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CB282-C2A6-F645-9B1E-D2E4EF737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49348"/>
            <a:ext cx="5157787" cy="4340315"/>
          </a:xfrm>
        </p:spPr>
        <p:txBody>
          <a:bodyPr>
            <a:normAutofit/>
          </a:bodyPr>
          <a:lstStyle/>
          <a:p>
            <a:r>
              <a:rPr lang="en-US" dirty="0"/>
              <a:t>A </a:t>
            </a:r>
            <a:r>
              <a:rPr lang="en-US" b="1" dirty="0"/>
              <a:t>data mart</a:t>
            </a:r>
            <a:r>
              <a:rPr lang="en-US" dirty="0"/>
              <a:t> is a simple section of the data warehouse that delivers a single functional data set. </a:t>
            </a:r>
          </a:p>
          <a:p>
            <a:pPr lvl="1"/>
            <a:r>
              <a:rPr lang="en-US" dirty="0"/>
              <a:t>In a human resources database, we could create data marts for Employees, Benefits, or Payroll.</a:t>
            </a:r>
          </a:p>
          <a:p>
            <a:r>
              <a:rPr lang="en-US" b="1" dirty="0"/>
              <a:t>Data warehouse</a:t>
            </a:r>
            <a:r>
              <a:rPr lang="en-US" dirty="0"/>
              <a:t> is like the mega-mart. It houses ALL of the data.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BE2DC4D-7CAA-7C48-B0B2-E5A8103A1E4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369130" y="1991376"/>
            <a:ext cx="5118100" cy="3314700"/>
          </a:xfrm>
        </p:spPr>
      </p:pic>
    </p:spTree>
    <p:extLst>
      <p:ext uri="{BB962C8B-B14F-4D97-AF65-F5344CB8AC3E}">
        <p14:creationId xmlns:p14="http://schemas.microsoft.com/office/powerpoint/2010/main" val="35307336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2531B-90F1-7E45-8020-8C183F61F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DW/BI Architectures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48D91-5368-F846-AD0C-CCB496A62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1476" cy="4351338"/>
          </a:xfrm>
        </p:spPr>
        <p:txBody>
          <a:bodyPr>
            <a:normAutofit/>
          </a:bodyPr>
          <a:lstStyle/>
          <a:p>
            <a:r>
              <a:rPr lang="en-US" dirty="0"/>
              <a:t>Hub-and-Spoke Corporate Information Factory (CIF) </a:t>
            </a:r>
            <a:r>
              <a:rPr lang="en-US" dirty="0" err="1"/>
              <a:t>Inmon</a:t>
            </a:r>
            <a:r>
              <a:rPr lang="en-US" dirty="0"/>
              <a:t> Architecture:</a:t>
            </a:r>
          </a:p>
          <a:p>
            <a:pPr lvl="1"/>
            <a:r>
              <a:rPr lang="en-US" dirty="0"/>
              <a:t>focusing on the core elements and concepts that warrant discussion;</a:t>
            </a:r>
          </a:p>
          <a:p>
            <a:pPr lvl="1"/>
            <a:r>
              <a:rPr lang="en-US" dirty="0"/>
              <a:t>The atomic data lands in a 3NF database; this normalized, atomic repository is referred to as the Enterprise Data Warehouse (EDW) within the CIF architecture.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87C864-695F-6643-A088-060DB635A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962" y="2358189"/>
            <a:ext cx="5149401" cy="286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49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5423</TotalTime>
  <Words>1984</Words>
  <Application>Microsoft Macintosh PowerPoint</Application>
  <PresentationFormat>Widescreen</PresentationFormat>
  <Paragraphs>209</Paragraphs>
  <Slides>35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Calibri Light</vt:lpstr>
      <vt:lpstr>Impact</vt:lpstr>
      <vt:lpstr>Times New Roman</vt:lpstr>
      <vt:lpstr>Office Theme</vt:lpstr>
      <vt:lpstr>Document</vt:lpstr>
      <vt:lpstr>Lecture 1: Data Warehousing, Business Intelligence, and Dimensional Modeling Primer</vt:lpstr>
      <vt:lpstr>What is a Data Warehouse?</vt:lpstr>
      <vt:lpstr>Elements in a Typical Data Warehouse</vt:lpstr>
      <vt:lpstr>Differences between Database and Data Warehouse</vt:lpstr>
      <vt:lpstr>Data Warehouse—Subject-Oriented</vt:lpstr>
      <vt:lpstr>Data Warehouse—Integrated</vt:lpstr>
      <vt:lpstr>Data Warehouse—Time Variant</vt:lpstr>
      <vt:lpstr>Data Warehouse—Non-Volatile</vt:lpstr>
      <vt:lpstr>OLTP (Relational DBMS) V.S. OLAP (Data Warehouse)</vt:lpstr>
      <vt:lpstr>OLTP (Relational DBMS) V.S. OLAP (Data Warehouse)</vt:lpstr>
      <vt:lpstr>Why Separate Data Warehouse?</vt:lpstr>
      <vt:lpstr>Goal of Data Warehousing and Business Intelligence</vt:lpstr>
      <vt:lpstr>Responsibilities of DW/BI Managers </vt:lpstr>
      <vt:lpstr>Introduction to Dimensional Modeling</vt:lpstr>
      <vt:lpstr>Introduction to Dimensional Modeling</vt:lpstr>
      <vt:lpstr>A Sample Data Cube</vt:lpstr>
      <vt:lpstr>Star Schemas Versus OLAP Cubes </vt:lpstr>
      <vt:lpstr>Intuitive to Business Users</vt:lpstr>
      <vt:lpstr>Fact Tables for Measurements</vt:lpstr>
      <vt:lpstr>Fact Table cont.</vt:lpstr>
      <vt:lpstr>Business process measurement events translate into fact tables </vt:lpstr>
      <vt:lpstr>Dimension Tables for Descriptive Context </vt:lpstr>
      <vt:lpstr>Dimension tables contain descriptive characteristics of business process nouns</vt:lpstr>
      <vt:lpstr>Dimension Tables cont.</vt:lpstr>
      <vt:lpstr>Facts and Dimensions Joined in a Star Schema </vt:lpstr>
      <vt:lpstr>Benefit of dimensional schema </vt:lpstr>
      <vt:lpstr>Kimball’s DW/BI Architecture</vt:lpstr>
      <vt:lpstr>Kimball’s DW/BI Architecture</vt:lpstr>
      <vt:lpstr>Operational Source Systems</vt:lpstr>
      <vt:lpstr>Extract, Transformation, and Load System (ETL)</vt:lpstr>
      <vt:lpstr>Presentation Area to Support Business Intelligence </vt:lpstr>
      <vt:lpstr>Business Intelligence Applications </vt:lpstr>
      <vt:lpstr>Alternative DW/BI Architectures </vt:lpstr>
      <vt:lpstr>Data Warehouse V.S. Data Mart</vt:lpstr>
      <vt:lpstr>Alternative DW/BI Architectures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Warehousing, Business Intelligence, and Dimensional Modeling Primer</dc:title>
  <dc:creator>Microsoft Office User</dc:creator>
  <cp:lastModifiedBy>Microsoft Office User</cp:lastModifiedBy>
  <cp:revision>126</cp:revision>
  <dcterms:created xsi:type="dcterms:W3CDTF">2020-06-30T00:27:57Z</dcterms:created>
  <dcterms:modified xsi:type="dcterms:W3CDTF">2020-08-18T21:32:35Z</dcterms:modified>
</cp:coreProperties>
</file>