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4" r:id="rId13"/>
    <p:sldId id="267" r:id="rId14"/>
    <p:sldId id="268"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65"/>
    <p:restoredTop sz="94677"/>
  </p:normalViewPr>
  <p:slideViewPr>
    <p:cSldViewPr snapToGrid="0" snapToObjects="1">
      <p:cViewPr varScale="1">
        <p:scale>
          <a:sx n="84" d="100"/>
          <a:sy n="84" d="100"/>
        </p:scale>
        <p:origin x="16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E6A3E-F109-3548-A940-81A85F1EB4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053C1C-1971-2243-92D8-800BC32F7D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C40942-8029-E749-A49C-4FBDAF93B303}"/>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5" name="Footer Placeholder 4">
            <a:extLst>
              <a:ext uri="{FF2B5EF4-FFF2-40B4-BE49-F238E27FC236}">
                <a16:creationId xmlns:a16="http://schemas.microsoft.com/office/drawing/2014/main" id="{2852AD49-4A0C-194E-A62F-484C4617A5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F4D1F-0F79-2044-950D-7F8C07780FAB}"/>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1489496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045EC-7BB2-4C4C-B357-5A18CA0958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ECAB5-EF62-C84B-839C-754FBA83E0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DA1B97-3F93-694D-A1D3-9A91F9C305E3}"/>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5" name="Footer Placeholder 4">
            <a:extLst>
              <a:ext uri="{FF2B5EF4-FFF2-40B4-BE49-F238E27FC236}">
                <a16:creationId xmlns:a16="http://schemas.microsoft.com/office/drawing/2014/main" id="{E68B3402-5B6E-4E4A-AC05-AAB136CBA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568342-E31C-D445-A1E6-7CBB10BEB92A}"/>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2584797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B9810-729B-1A4C-8F43-AEACC3BD05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D7580E-A421-C04A-AE46-7D68E52C38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7C4998-74FA-394A-B84E-F90943A888E3}"/>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5" name="Footer Placeholder 4">
            <a:extLst>
              <a:ext uri="{FF2B5EF4-FFF2-40B4-BE49-F238E27FC236}">
                <a16:creationId xmlns:a16="http://schemas.microsoft.com/office/drawing/2014/main" id="{B21B6231-8A89-824D-B26B-228DEB9B09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786749-4DC4-0046-BF2E-A61EE001C8C1}"/>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1714332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D8858-E73C-814C-8CD6-BA0B60C900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513A5B-1AA5-5C40-8144-0B3EBB0D6B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BA10C3-F5ED-9A41-AEB6-BC84AFF45E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F9E1A2-865F-4F47-8A14-557670509578}"/>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6" name="Footer Placeholder 5">
            <a:extLst>
              <a:ext uri="{FF2B5EF4-FFF2-40B4-BE49-F238E27FC236}">
                <a16:creationId xmlns:a16="http://schemas.microsoft.com/office/drawing/2014/main" id="{5C422A57-B8EF-4C46-94EF-AB9D207DDF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80F9AD-7879-8144-9A6B-2F2357B991FF}"/>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2167063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1DFE1-9EF0-E746-A3F0-9459F85D3F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D511FB-AE23-EB4E-8DB1-5971114071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F2A934-6AC9-9441-955A-12CA0010D3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9AF5F7-DD95-814C-9409-00B6E7423B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BF1A2A-77AD-AB42-943D-B3BCC5F0A1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6D15CE-AD2E-DD40-AEF3-1018E644B4CD}"/>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8" name="Footer Placeholder 7">
            <a:extLst>
              <a:ext uri="{FF2B5EF4-FFF2-40B4-BE49-F238E27FC236}">
                <a16:creationId xmlns:a16="http://schemas.microsoft.com/office/drawing/2014/main" id="{939D7350-AF5E-AB4B-B689-D6FC9A5C773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CCD602-27F4-0F46-8EFD-0E7D1170B180}"/>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234598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5793-CC8F-094D-8187-AFCDFAEE75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A13997-94DC-7446-A733-8B19F61FFEF2}"/>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4" name="Footer Placeholder 3">
            <a:extLst>
              <a:ext uri="{FF2B5EF4-FFF2-40B4-BE49-F238E27FC236}">
                <a16:creationId xmlns:a16="http://schemas.microsoft.com/office/drawing/2014/main" id="{12A60931-364C-AF46-A5A3-82ACC078C7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6BD52D-13F1-B34B-B41E-479AA2ED3B2A}"/>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1934211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737294-4586-4E42-BF29-C22EF85FC65F}"/>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3" name="Footer Placeholder 2">
            <a:extLst>
              <a:ext uri="{FF2B5EF4-FFF2-40B4-BE49-F238E27FC236}">
                <a16:creationId xmlns:a16="http://schemas.microsoft.com/office/drawing/2014/main" id="{C15D6BB2-920A-4245-AC91-B0121C13B87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138D44-7E73-7745-A5B6-EB792E489EA6}"/>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2726204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246C9-5FB3-BE49-B3AA-A775E4942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3506BB-6F87-154E-BD49-218AB7588A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D46A19-3641-7B4A-B20F-D069B99FB0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06B0A-7179-BB4E-AA5D-2D1725B750EE}"/>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6" name="Footer Placeholder 5">
            <a:extLst>
              <a:ext uri="{FF2B5EF4-FFF2-40B4-BE49-F238E27FC236}">
                <a16:creationId xmlns:a16="http://schemas.microsoft.com/office/drawing/2014/main" id="{3288A9B1-D64C-E046-84F9-6547E279C1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D1BFD2-1DE6-014D-9257-FC0E9721B401}"/>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2421352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C29B1-8491-FA49-8DF5-55C62D45ED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374DCF-97C1-8947-ADC1-F8F7981438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F3208-3C96-124B-8EC8-E03AE4D18E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DEEC1F-B577-9249-9FD5-980124A12F25}"/>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6" name="Footer Placeholder 5">
            <a:extLst>
              <a:ext uri="{FF2B5EF4-FFF2-40B4-BE49-F238E27FC236}">
                <a16:creationId xmlns:a16="http://schemas.microsoft.com/office/drawing/2014/main" id="{FFE627B5-A491-204A-80A1-F846BC8953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319F83-B4D0-4A4A-9481-48CC6373F8B3}"/>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3029538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F90D0-4440-D847-AEB1-BA69431755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87EB9E-5123-C244-9D59-12633A95E9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7AE5B2-F7E0-2D4B-9FC3-75855E8B1B2E}"/>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5" name="Footer Placeholder 4">
            <a:extLst>
              <a:ext uri="{FF2B5EF4-FFF2-40B4-BE49-F238E27FC236}">
                <a16:creationId xmlns:a16="http://schemas.microsoft.com/office/drawing/2014/main" id="{52BFE2A1-9112-E849-A261-CF52F6F73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0F8779-9F7E-1C41-B473-7D6096E29511}"/>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740866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DB1F3A-A747-8F45-95D7-F65E673B38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B310810-965C-C647-88BC-C864445693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58BA5C-3908-FB45-AEB5-C44DF97499C5}"/>
              </a:ext>
            </a:extLst>
          </p:cNvPr>
          <p:cNvSpPr>
            <a:spLocks noGrp="1"/>
          </p:cNvSpPr>
          <p:nvPr>
            <p:ph type="dt" sz="half" idx="10"/>
          </p:nvPr>
        </p:nvSpPr>
        <p:spPr/>
        <p:txBody>
          <a:bodyPr/>
          <a:lstStyle/>
          <a:p>
            <a:fld id="{3D6E6B58-67C5-D544-B7F2-E53C4662ECF0}" type="datetimeFigureOut">
              <a:rPr lang="en-US" smtClean="0"/>
              <a:t>9/9/20</a:t>
            </a:fld>
            <a:endParaRPr lang="en-US"/>
          </a:p>
        </p:txBody>
      </p:sp>
      <p:sp>
        <p:nvSpPr>
          <p:cNvPr id="5" name="Footer Placeholder 4">
            <a:extLst>
              <a:ext uri="{FF2B5EF4-FFF2-40B4-BE49-F238E27FC236}">
                <a16:creationId xmlns:a16="http://schemas.microsoft.com/office/drawing/2014/main" id="{F3DEF894-762F-FE4B-A529-CE16950981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4E7C21-9835-BF42-9AA3-6225D7270B47}"/>
              </a:ext>
            </a:extLst>
          </p:cNvPr>
          <p:cNvSpPr>
            <a:spLocks noGrp="1"/>
          </p:cNvSpPr>
          <p:nvPr>
            <p:ph type="sldNum" sz="quarter" idx="12"/>
          </p:nvPr>
        </p:nvSpPr>
        <p:spPr/>
        <p:txBody>
          <a:bodyPr/>
          <a:lstStyle/>
          <a:p>
            <a:fld id="{315DCB64-02D2-4740-990C-D284223E6CE3}" type="slidenum">
              <a:rPr lang="en-US" smtClean="0"/>
              <a:t>‹#›</a:t>
            </a:fld>
            <a:endParaRPr lang="en-US"/>
          </a:p>
        </p:txBody>
      </p:sp>
    </p:spTree>
    <p:extLst>
      <p:ext uri="{BB962C8B-B14F-4D97-AF65-F5344CB8AC3E}">
        <p14:creationId xmlns:p14="http://schemas.microsoft.com/office/powerpoint/2010/main" val="3234116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D5CDFA-FCEA-9B4E-B75C-F2DD35D047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1220CB-4499-6948-8D31-8A750274BE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9F4858-F248-9244-962C-3E464564B2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6E6B58-67C5-D544-B7F2-E53C4662ECF0}" type="datetimeFigureOut">
              <a:rPr lang="en-US" smtClean="0"/>
              <a:t>9/9/20</a:t>
            </a:fld>
            <a:endParaRPr lang="en-US"/>
          </a:p>
        </p:txBody>
      </p:sp>
      <p:sp>
        <p:nvSpPr>
          <p:cNvPr id="5" name="Footer Placeholder 4">
            <a:extLst>
              <a:ext uri="{FF2B5EF4-FFF2-40B4-BE49-F238E27FC236}">
                <a16:creationId xmlns:a16="http://schemas.microsoft.com/office/drawing/2014/main" id="{608E9F46-BBDF-2F42-B485-7B52579220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8137E5-3FD8-1643-9347-E53D0350CA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5DCB64-02D2-4740-990C-D284223E6CE3}" type="slidenum">
              <a:rPr lang="en-US" smtClean="0"/>
              <a:t>‹#›</a:t>
            </a:fld>
            <a:endParaRPr lang="en-US"/>
          </a:p>
        </p:txBody>
      </p:sp>
    </p:spTree>
    <p:extLst>
      <p:ext uri="{BB962C8B-B14F-4D97-AF65-F5344CB8AC3E}">
        <p14:creationId xmlns:p14="http://schemas.microsoft.com/office/powerpoint/2010/main" val="3379540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8856F-824E-A742-AD8D-9C34AB02EE6B}"/>
              </a:ext>
            </a:extLst>
          </p:cNvPr>
          <p:cNvSpPr>
            <a:spLocks noGrp="1"/>
          </p:cNvSpPr>
          <p:nvPr>
            <p:ph type="ctrTitle"/>
          </p:nvPr>
        </p:nvSpPr>
        <p:spPr/>
        <p:txBody>
          <a:bodyPr>
            <a:normAutofit/>
          </a:bodyPr>
          <a:lstStyle/>
          <a:p>
            <a:r>
              <a:rPr lang="en-US" dirty="0"/>
              <a:t>Lecture 4: Enterprise Data Warehouse Bus Architecture </a:t>
            </a:r>
          </a:p>
        </p:txBody>
      </p:sp>
      <p:sp>
        <p:nvSpPr>
          <p:cNvPr id="3" name="Subtitle 2">
            <a:extLst>
              <a:ext uri="{FF2B5EF4-FFF2-40B4-BE49-F238E27FC236}">
                <a16:creationId xmlns:a16="http://schemas.microsoft.com/office/drawing/2014/main" id="{E892AEF0-E19B-F448-AF24-3BBA0D07A4CB}"/>
              </a:ext>
            </a:extLst>
          </p:cNvPr>
          <p:cNvSpPr>
            <a:spLocks noGrp="1"/>
          </p:cNvSpPr>
          <p:nvPr>
            <p:ph type="subTitle" idx="1"/>
          </p:nvPr>
        </p:nvSpPr>
        <p:spPr/>
        <p:txBody>
          <a:bodyPr/>
          <a:lstStyle/>
          <a:p>
            <a:r>
              <a:rPr lang="en-US" dirty="0"/>
              <a:t>Chapter 4</a:t>
            </a:r>
          </a:p>
        </p:txBody>
      </p:sp>
    </p:spTree>
    <p:extLst>
      <p:ext uri="{BB962C8B-B14F-4D97-AF65-F5344CB8AC3E}">
        <p14:creationId xmlns:p14="http://schemas.microsoft.com/office/powerpoint/2010/main" val="3990607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25124-896C-5849-B63F-C5DCA4216163}"/>
              </a:ext>
            </a:extLst>
          </p:cNvPr>
          <p:cNvSpPr>
            <a:spLocks noGrp="1"/>
          </p:cNvSpPr>
          <p:nvPr>
            <p:ph type="title"/>
          </p:nvPr>
        </p:nvSpPr>
        <p:spPr/>
        <p:txBody>
          <a:bodyPr/>
          <a:lstStyle/>
          <a:p>
            <a:r>
              <a:rPr lang="en-US" dirty="0"/>
              <a:t>Introduction </a:t>
            </a:r>
          </a:p>
        </p:txBody>
      </p:sp>
      <p:sp>
        <p:nvSpPr>
          <p:cNvPr id="3" name="Content Placeholder 2">
            <a:extLst>
              <a:ext uri="{FF2B5EF4-FFF2-40B4-BE49-F238E27FC236}">
                <a16:creationId xmlns:a16="http://schemas.microsoft.com/office/drawing/2014/main" id="{9CA3458F-9CAB-AC46-8BFB-3AF801525D52}"/>
              </a:ext>
            </a:extLst>
          </p:cNvPr>
          <p:cNvSpPr>
            <a:spLocks noGrp="1"/>
          </p:cNvSpPr>
          <p:nvPr>
            <p:ph idx="1"/>
          </p:nvPr>
        </p:nvSpPr>
        <p:spPr/>
        <p:txBody>
          <a:bodyPr>
            <a:normAutofit/>
          </a:bodyPr>
          <a:lstStyle/>
          <a:p>
            <a:r>
              <a:rPr lang="en-US" i="1" dirty="0"/>
              <a:t>Enterprise data warehouse bus architecture: enterprise data warehouse bus architecture </a:t>
            </a:r>
            <a:endParaRPr lang="en-US" dirty="0"/>
          </a:p>
          <a:p>
            <a:pPr lvl="1"/>
            <a:r>
              <a:rPr lang="en-US" dirty="0"/>
              <a:t>A bus is a common structure to which everything connects and from which everything derives power. </a:t>
            </a:r>
          </a:p>
          <a:p>
            <a:pPr lvl="1"/>
            <a:r>
              <a:rPr lang="en-US" dirty="0"/>
              <a:t>All the processes of an organization’s value chain create a family of dimensional models that share a set of common, conformed dimensions. </a:t>
            </a:r>
          </a:p>
          <a:p>
            <a:pPr lvl="1"/>
            <a:r>
              <a:rPr lang="en-US" dirty="0"/>
              <a:t>The enterprise data warehouse bus architecture provides a rational approach to decomposing the enterprise DW/BI planning task.</a:t>
            </a:r>
          </a:p>
          <a:p>
            <a:pPr lvl="1"/>
            <a:r>
              <a:rPr lang="en-US" dirty="0"/>
              <a:t>The bus architecture is independent of technology and database platforms.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44077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B5513-0349-5346-B88E-344A64474297}"/>
              </a:ext>
            </a:extLst>
          </p:cNvPr>
          <p:cNvSpPr>
            <a:spLocks noGrp="1"/>
          </p:cNvSpPr>
          <p:nvPr>
            <p:ph type="title"/>
          </p:nvPr>
        </p:nvSpPr>
        <p:spPr/>
        <p:txBody>
          <a:bodyPr>
            <a:normAutofit/>
          </a:bodyPr>
          <a:lstStyle/>
          <a:p>
            <a:r>
              <a:rPr lang="en-US" dirty="0"/>
              <a:t>Enterprise data warehouse bus with shared dimensions </a:t>
            </a:r>
          </a:p>
        </p:txBody>
      </p:sp>
      <p:pic>
        <p:nvPicPr>
          <p:cNvPr id="5" name="Content Placeholder 4">
            <a:extLst>
              <a:ext uri="{FF2B5EF4-FFF2-40B4-BE49-F238E27FC236}">
                <a16:creationId xmlns:a16="http://schemas.microsoft.com/office/drawing/2014/main" id="{D9924147-0751-EF48-9064-EE58142D1984}"/>
              </a:ext>
            </a:extLst>
          </p:cNvPr>
          <p:cNvPicPr>
            <a:picLocks noGrp="1" noChangeAspect="1"/>
          </p:cNvPicPr>
          <p:nvPr>
            <p:ph idx="1"/>
          </p:nvPr>
        </p:nvPicPr>
        <p:blipFill>
          <a:blip r:embed="rId2"/>
          <a:stretch>
            <a:fillRect/>
          </a:stretch>
        </p:blipFill>
        <p:spPr>
          <a:xfrm>
            <a:off x="2063750" y="2007394"/>
            <a:ext cx="8064500" cy="3987800"/>
          </a:xfrm>
        </p:spPr>
      </p:pic>
    </p:spTree>
    <p:extLst>
      <p:ext uri="{BB962C8B-B14F-4D97-AF65-F5344CB8AC3E}">
        <p14:creationId xmlns:p14="http://schemas.microsoft.com/office/powerpoint/2010/main" val="2321814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5163B-BFF1-5D4B-9E68-51767954B094}"/>
              </a:ext>
            </a:extLst>
          </p:cNvPr>
          <p:cNvSpPr>
            <a:spLocks noGrp="1"/>
          </p:cNvSpPr>
          <p:nvPr>
            <p:ph type="title"/>
          </p:nvPr>
        </p:nvSpPr>
        <p:spPr/>
        <p:txBody>
          <a:bodyPr/>
          <a:lstStyle/>
          <a:p>
            <a:r>
              <a:rPr lang="en-US" dirty="0"/>
              <a:t>Enterprise Data Warehouse Bus Matrix </a:t>
            </a:r>
          </a:p>
        </p:txBody>
      </p:sp>
      <p:sp>
        <p:nvSpPr>
          <p:cNvPr id="3" name="Content Placeholder 2">
            <a:extLst>
              <a:ext uri="{FF2B5EF4-FFF2-40B4-BE49-F238E27FC236}">
                <a16:creationId xmlns:a16="http://schemas.microsoft.com/office/drawing/2014/main" id="{587BF773-EA20-4848-81B6-A5508FCB6D96}"/>
              </a:ext>
            </a:extLst>
          </p:cNvPr>
          <p:cNvSpPr>
            <a:spLocks noGrp="1"/>
          </p:cNvSpPr>
          <p:nvPr>
            <p:ph idx="1"/>
          </p:nvPr>
        </p:nvSpPr>
        <p:spPr>
          <a:xfrm>
            <a:off x="838200" y="1825625"/>
            <a:ext cx="4062573" cy="4351338"/>
          </a:xfrm>
        </p:spPr>
        <p:txBody>
          <a:bodyPr/>
          <a:lstStyle/>
          <a:p>
            <a:r>
              <a:rPr lang="en-US" dirty="0"/>
              <a:t>The organization’s business processes are represented as matrix rows.</a:t>
            </a:r>
          </a:p>
          <a:p>
            <a:r>
              <a:rPr lang="en-US" dirty="0"/>
              <a:t>The columns of the bus matrix represent the common dimensions used across the enterprise. </a:t>
            </a:r>
          </a:p>
          <a:p>
            <a:endParaRPr lang="en-US" dirty="0"/>
          </a:p>
        </p:txBody>
      </p:sp>
      <p:pic>
        <p:nvPicPr>
          <p:cNvPr id="5" name="Picture 4">
            <a:extLst>
              <a:ext uri="{FF2B5EF4-FFF2-40B4-BE49-F238E27FC236}">
                <a16:creationId xmlns:a16="http://schemas.microsoft.com/office/drawing/2014/main" id="{8DDCDB9E-F13A-BB49-8138-2EBB2CC78049}"/>
              </a:ext>
            </a:extLst>
          </p:cNvPr>
          <p:cNvPicPr>
            <a:picLocks noChangeAspect="1"/>
          </p:cNvPicPr>
          <p:nvPr/>
        </p:nvPicPr>
        <p:blipFill>
          <a:blip r:embed="rId2"/>
          <a:stretch>
            <a:fillRect/>
          </a:stretch>
        </p:blipFill>
        <p:spPr>
          <a:xfrm>
            <a:off x="4900774" y="1577432"/>
            <a:ext cx="6682080" cy="4613818"/>
          </a:xfrm>
          <a:prstGeom prst="rect">
            <a:avLst/>
          </a:prstGeom>
        </p:spPr>
      </p:pic>
    </p:spTree>
    <p:extLst>
      <p:ext uri="{BB962C8B-B14F-4D97-AF65-F5344CB8AC3E}">
        <p14:creationId xmlns:p14="http://schemas.microsoft.com/office/powerpoint/2010/main" val="3799659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34C1D-D45A-1D49-BB2C-64C033091BFF}"/>
              </a:ext>
            </a:extLst>
          </p:cNvPr>
          <p:cNvSpPr>
            <a:spLocks noGrp="1"/>
          </p:cNvSpPr>
          <p:nvPr>
            <p:ph type="title"/>
          </p:nvPr>
        </p:nvSpPr>
        <p:spPr/>
        <p:txBody>
          <a:bodyPr/>
          <a:lstStyle/>
          <a:p>
            <a:r>
              <a:rPr lang="en-US" i="1" dirty="0"/>
              <a:t>Multiple Matrix Uses </a:t>
            </a:r>
            <a:endParaRPr lang="en-US" dirty="0"/>
          </a:p>
        </p:txBody>
      </p:sp>
      <p:sp>
        <p:nvSpPr>
          <p:cNvPr id="3" name="Content Placeholder 2">
            <a:extLst>
              <a:ext uri="{FF2B5EF4-FFF2-40B4-BE49-F238E27FC236}">
                <a16:creationId xmlns:a16="http://schemas.microsoft.com/office/drawing/2014/main" id="{105040C6-34D3-4742-A897-A0A800858DE3}"/>
              </a:ext>
            </a:extLst>
          </p:cNvPr>
          <p:cNvSpPr>
            <a:spLocks noGrp="1"/>
          </p:cNvSpPr>
          <p:nvPr>
            <p:ph idx="1"/>
          </p:nvPr>
        </p:nvSpPr>
        <p:spPr/>
        <p:txBody>
          <a:bodyPr>
            <a:normAutofit/>
          </a:bodyPr>
          <a:lstStyle/>
          <a:p>
            <a:r>
              <a:rPr lang="en-US" dirty="0"/>
              <a:t>Architecture planning and Database design: The matrix delivers the big picture perspective, regardless of database or technology preferences. </a:t>
            </a:r>
          </a:p>
          <a:p>
            <a:r>
              <a:rPr lang="en-US" dirty="0"/>
              <a:t>Data governance coordination: Shared dimensions supply potent integration glue, allowing the business to drill across processes. </a:t>
            </a:r>
          </a:p>
          <a:p>
            <a:r>
              <a:rPr lang="en-US" dirty="0"/>
              <a:t>Project estimating and Organizational communication: The matrix enables groups to communicate effectively within and across data governance and DW/BI teams. </a:t>
            </a:r>
          </a:p>
          <a:p>
            <a:endParaRPr lang="en-US" dirty="0"/>
          </a:p>
          <a:p>
            <a:endParaRPr lang="en-US" dirty="0"/>
          </a:p>
        </p:txBody>
      </p:sp>
    </p:spTree>
    <p:extLst>
      <p:ext uri="{BB962C8B-B14F-4D97-AF65-F5344CB8AC3E}">
        <p14:creationId xmlns:p14="http://schemas.microsoft.com/office/powerpoint/2010/main" val="241317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4420F-4AB5-2E4C-AC46-833255B2FE95}"/>
              </a:ext>
            </a:extLst>
          </p:cNvPr>
          <p:cNvSpPr>
            <a:spLocks noGrp="1"/>
          </p:cNvSpPr>
          <p:nvPr>
            <p:ph type="title"/>
          </p:nvPr>
        </p:nvSpPr>
        <p:spPr/>
        <p:txBody>
          <a:bodyPr/>
          <a:lstStyle/>
          <a:p>
            <a:r>
              <a:rPr lang="en-US" i="1" dirty="0"/>
              <a:t>Opportunity/Stakeholder Matrix </a:t>
            </a:r>
            <a:endParaRPr lang="en-US" dirty="0"/>
          </a:p>
        </p:txBody>
      </p:sp>
      <p:sp>
        <p:nvSpPr>
          <p:cNvPr id="3" name="Content Placeholder 2">
            <a:extLst>
              <a:ext uri="{FF2B5EF4-FFF2-40B4-BE49-F238E27FC236}">
                <a16:creationId xmlns:a16="http://schemas.microsoft.com/office/drawing/2014/main" id="{23737B9D-0F37-D746-9E9D-8DBEDB0DE037}"/>
              </a:ext>
            </a:extLst>
          </p:cNvPr>
          <p:cNvSpPr>
            <a:spLocks noGrp="1"/>
          </p:cNvSpPr>
          <p:nvPr>
            <p:ph idx="1"/>
          </p:nvPr>
        </p:nvSpPr>
        <p:spPr>
          <a:xfrm>
            <a:off x="838200" y="1825625"/>
            <a:ext cx="4720119" cy="4351338"/>
          </a:xfrm>
        </p:spPr>
        <p:txBody>
          <a:bodyPr/>
          <a:lstStyle/>
          <a:p>
            <a:r>
              <a:rPr lang="en-US" dirty="0"/>
              <a:t>Dimension columns are business functions; </a:t>
            </a:r>
          </a:p>
          <a:p>
            <a:r>
              <a:rPr lang="en-US" dirty="0"/>
              <a:t>merchandising, marketing, store operations, and finance </a:t>
            </a:r>
          </a:p>
          <a:p>
            <a:r>
              <a:rPr lang="en-US" dirty="0"/>
              <a:t>Identifies which groups need to be invited to the detailed requirements, dimensional modeling, and BI application specification parties;</a:t>
            </a:r>
          </a:p>
        </p:txBody>
      </p:sp>
      <p:pic>
        <p:nvPicPr>
          <p:cNvPr id="5" name="Picture 4">
            <a:extLst>
              <a:ext uri="{FF2B5EF4-FFF2-40B4-BE49-F238E27FC236}">
                <a16:creationId xmlns:a16="http://schemas.microsoft.com/office/drawing/2014/main" id="{05A3755C-169F-B344-BC2E-E9E54B31052F}"/>
              </a:ext>
            </a:extLst>
          </p:cNvPr>
          <p:cNvPicPr>
            <a:picLocks noChangeAspect="1"/>
          </p:cNvPicPr>
          <p:nvPr/>
        </p:nvPicPr>
        <p:blipFill>
          <a:blip r:embed="rId2"/>
          <a:stretch>
            <a:fillRect/>
          </a:stretch>
        </p:blipFill>
        <p:spPr>
          <a:xfrm>
            <a:off x="5744399" y="1566104"/>
            <a:ext cx="6013660" cy="4870379"/>
          </a:xfrm>
          <a:prstGeom prst="rect">
            <a:avLst/>
          </a:prstGeom>
        </p:spPr>
      </p:pic>
    </p:spTree>
    <p:extLst>
      <p:ext uri="{BB962C8B-B14F-4D97-AF65-F5344CB8AC3E}">
        <p14:creationId xmlns:p14="http://schemas.microsoft.com/office/powerpoint/2010/main" val="3872417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3097-F69C-414B-AD73-787ED2AF08A3}"/>
              </a:ext>
            </a:extLst>
          </p:cNvPr>
          <p:cNvSpPr>
            <a:spLocks noGrp="1"/>
          </p:cNvSpPr>
          <p:nvPr>
            <p:ph type="title"/>
          </p:nvPr>
        </p:nvSpPr>
        <p:spPr/>
        <p:txBody>
          <a:bodyPr/>
          <a:lstStyle/>
          <a:p>
            <a:r>
              <a:rPr lang="en-US" i="1" dirty="0"/>
              <a:t>Common Bus Matrix Mistakes </a:t>
            </a:r>
            <a:endParaRPr lang="en-US" dirty="0"/>
          </a:p>
        </p:txBody>
      </p:sp>
      <p:sp>
        <p:nvSpPr>
          <p:cNvPr id="3" name="Content Placeholder 2">
            <a:extLst>
              <a:ext uri="{FF2B5EF4-FFF2-40B4-BE49-F238E27FC236}">
                <a16:creationId xmlns:a16="http://schemas.microsoft.com/office/drawing/2014/main" id="{09E52F99-360F-0448-8297-0B0C816EF368}"/>
              </a:ext>
            </a:extLst>
          </p:cNvPr>
          <p:cNvSpPr>
            <a:spLocks noGrp="1"/>
          </p:cNvSpPr>
          <p:nvPr>
            <p:ph idx="1"/>
          </p:nvPr>
        </p:nvSpPr>
        <p:spPr/>
        <p:txBody>
          <a:bodyPr>
            <a:normAutofit fontScale="92500" lnSpcReduction="10000"/>
          </a:bodyPr>
          <a:lstStyle/>
          <a:p>
            <a:r>
              <a:rPr lang="en-US" sz="3600" dirty="0"/>
              <a:t>When struggle with the level of detail expressed by each row:</a:t>
            </a:r>
          </a:p>
          <a:p>
            <a:pPr lvl="1"/>
            <a:r>
              <a:rPr lang="en-US" sz="3200" dirty="0"/>
              <a:t>Departmental or overly encompassing rows: </a:t>
            </a:r>
          </a:p>
          <a:p>
            <a:pPr lvl="2"/>
            <a:r>
              <a:rPr lang="en-US" sz="2800" dirty="0"/>
              <a:t>the matrix rows shouldn’t correspond to the boxes on a corporate organization chart representing functional groups. </a:t>
            </a:r>
          </a:p>
          <a:p>
            <a:pPr lvl="1"/>
            <a:r>
              <a:rPr lang="en-US" sz="3200" dirty="0"/>
              <a:t>Report-centric or too narrowly defined rows: </a:t>
            </a:r>
          </a:p>
          <a:p>
            <a:pPr lvl="2"/>
            <a:r>
              <a:rPr lang="en-US" sz="2800" dirty="0"/>
              <a:t>the matrix row should reference the business process, not the derivative reports or analytics. </a:t>
            </a:r>
          </a:p>
          <a:p>
            <a:pPr lvl="1"/>
            <a:r>
              <a:rPr lang="en-US" sz="3200" dirty="0"/>
              <a:t>Overly generalized columns. </a:t>
            </a:r>
          </a:p>
          <a:p>
            <a:pPr lvl="1"/>
            <a:r>
              <a:rPr lang="en-US" sz="3200" dirty="0"/>
              <a:t>Separate columns for each level of a hierarchy.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566609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16D6-FED5-6E40-98C7-8BE34FAAC6EF}"/>
              </a:ext>
            </a:extLst>
          </p:cNvPr>
          <p:cNvSpPr>
            <a:spLocks noGrp="1"/>
          </p:cNvSpPr>
          <p:nvPr>
            <p:ph type="title"/>
          </p:nvPr>
        </p:nvSpPr>
        <p:spPr/>
        <p:txBody>
          <a:bodyPr/>
          <a:lstStyle/>
          <a:p>
            <a:r>
              <a:rPr lang="en-US" dirty="0"/>
              <a:t>Conformed Dimensions </a:t>
            </a:r>
          </a:p>
        </p:txBody>
      </p:sp>
      <p:sp>
        <p:nvSpPr>
          <p:cNvPr id="3" name="Content Placeholder 2">
            <a:extLst>
              <a:ext uri="{FF2B5EF4-FFF2-40B4-BE49-F238E27FC236}">
                <a16:creationId xmlns:a16="http://schemas.microsoft.com/office/drawing/2014/main" id="{9EED8BF9-739B-0A48-BF6B-009A66A041F5}"/>
              </a:ext>
            </a:extLst>
          </p:cNvPr>
          <p:cNvSpPr>
            <a:spLocks noGrp="1"/>
          </p:cNvSpPr>
          <p:nvPr>
            <p:ph idx="1"/>
          </p:nvPr>
        </p:nvSpPr>
        <p:spPr>
          <a:xfrm>
            <a:off x="838200" y="1825625"/>
            <a:ext cx="5768083" cy="4351338"/>
          </a:xfrm>
        </p:spPr>
        <p:txBody>
          <a:bodyPr>
            <a:normAutofit/>
          </a:bodyPr>
          <a:lstStyle/>
          <a:p>
            <a:r>
              <a:rPr lang="en-US" dirty="0"/>
              <a:t>Dimension tables </a:t>
            </a:r>
            <a:r>
              <a:rPr lang="en-US" i="1" dirty="0"/>
              <a:t>conform </a:t>
            </a:r>
            <a:r>
              <a:rPr lang="en-US" dirty="0"/>
              <a:t>when attributes in separate dimension tables have the same column names and domain contents. </a:t>
            </a:r>
          </a:p>
          <a:p>
            <a:r>
              <a:rPr lang="en-US" i="1" dirty="0"/>
              <a:t>Conformed dimensions</a:t>
            </a:r>
            <a:r>
              <a:rPr lang="en-US" dirty="0"/>
              <a:t>, deﬁned once in collaboration with the business’s data governance representatives, are reused across fact tables; </a:t>
            </a:r>
          </a:p>
          <a:p>
            <a:pPr lvl="1"/>
            <a:r>
              <a:rPr lang="en-US" dirty="0"/>
              <a:t>Known as common dimensions, master dimensions, reference dimensions, and shared dimensions. </a:t>
            </a:r>
          </a:p>
          <a:p>
            <a:endParaRPr lang="en-US" dirty="0"/>
          </a:p>
        </p:txBody>
      </p:sp>
      <p:pic>
        <p:nvPicPr>
          <p:cNvPr id="1026" name="Picture 2" descr="Conformed Dimensions - Wisdom Schema Analytics">
            <a:extLst>
              <a:ext uri="{FF2B5EF4-FFF2-40B4-BE49-F238E27FC236}">
                <a16:creationId xmlns:a16="http://schemas.microsoft.com/office/drawing/2014/main" id="{F755CADE-C0B5-D048-A219-F5B44027A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3917" y="2152034"/>
            <a:ext cx="5765488" cy="2553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787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64D3-C30B-9F43-864D-DB42730AEA28}"/>
              </a:ext>
            </a:extLst>
          </p:cNvPr>
          <p:cNvSpPr>
            <a:spLocks noGrp="1"/>
          </p:cNvSpPr>
          <p:nvPr>
            <p:ph type="title"/>
          </p:nvPr>
        </p:nvSpPr>
        <p:spPr/>
        <p:txBody>
          <a:bodyPr/>
          <a:lstStyle/>
          <a:p>
            <a:r>
              <a:rPr lang="en-US" dirty="0"/>
              <a:t>Drilling Across Fact Tables </a:t>
            </a:r>
          </a:p>
        </p:txBody>
      </p:sp>
      <p:sp>
        <p:nvSpPr>
          <p:cNvPr id="3" name="Content Placeholder 2">
            <a:extLst>
              <a:ext uri="{FF2B5EF4-FFF2-40B4-BE49-F238E27FC236}">
                <a16:creationId xmlns:a16="http://schemas.microsoft.com/office/drawing/2014/main" id="{78029159-D7A6-5147-892C-DBD07D460CCC}"/>
              </a:ext>
            </a:extLst>
          </p:cNvPr>
          <p:cNvSpPr>
            <a:spLocks noGrp="1"/>
          </p:cNvSpPr>
          <p:nvPr>
            <p:ph idx="1"/>
          </p:nvPr>
        </p:nvSpPr>
        <p:spPr/>
        <p:txBody>
          <a:bodyPr/>
          <a:lstStyle/>
          <a:p>
            <a:r>
              <a:rPr lang="en-US" i="1" dirty="0"/>
              <a:t>Drilling across</a:t>
            </a:r>
            <a:r>
              <a:rPr lang="en-US" dirty="0"/>
              <a:t> means making separate queries against two or more fact tables where the row headers of each query consist of identical conformed attributes.</a:t>
            </a:r>
          </a:p>
          <a:p>
            <a:r>
              <a:rPr lang="en-US" dirty="0"/>
              <a:t>The answer sets from the two queries are aligned by performing a sort-merge operation on the common dimension attribute row headers. </a:t>
            </a:r>
          </a:p>
          <a:p>
            <a:r>
              <a:rPr lang="en-US" dirty="0"/>
              <a:t>BI tool vendors refer to this functionality by various names, including stitch and </a:t>
            </a:r>
            <a:r>
              <a:rPr lang="en-US" dirty="0" err="1"/>
              <a:t>multipass</a:t>
            </a:r>
            <a:r>
              <a:rPr lang="en-US" dirty="0"/>
              <a:t> query.</a:t>
            </a:r>
          </a:p>
          <a:p>
            <a:endParaRPr lang="en-US" dirty="0"/>
          </a:p>
          <a:p>
            <a:endParaRPr lang="en-US" dirty="0"/>
          </a:p>
          <a:p>
            <a:endParaRPr lang="en-US" dirty="0"/>
          </a:p>
        </p:txBody>
      </p:sp>
    </p:spTree>
    <p:extLst>
      <p:ext uri="{BB962C8B-B14F-4D97-AF65-F5344CB8AC3E}">
        <p14:creationId xmlns:p14="http://schemas.microsoft.com/office/powerpoint/2010/main" val="2640153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864D2-1A28-EB41-BD3B-BFDF13F0141B}"/>
              </a:ext>
            </a:extLst>
          </p:cNvPr>
          <p:cNvSpPr>
            <a:spLocks noGrp="1"/>
          </p:cNvSpPr>
          <p:nvPr>
            <p:ph type="title"/>
          </p:nvPr>
        </p:nvSpPr>
        <p:spPr/>
        <p:txBody>
          <a:bodyPr>
            <a:normAutofit/>
          </a:bodyPr>
          <a:lstStyle/>
          <a:p>
            <a:r>
              <a:rPr lang="en-US" dirty="0"/>
              <a:t>Drilling across fact tables with conformed dimension attributes. </a:t>
            </a:r>
          </a:p>
        </p:txBody>
      </p:sp>
      <p:sp>
        <p:nvSpPr>
          <p:cNvPr id="3" name="Content Placeholder 2">
            <a:extLst>
              <a:ext uri="{FF2B5EF4-FFF2-40B4-BE49-F238E27FC236}">
                <a16:creationId xmlns:a16="http://schemas.microsoft.com/office/drawing/2014/main" id="{E9BBF73F-793B-B943-802B-4188D55A8E43}"/>
              </a:ext>
            </a:extLst>
          </p:cNvPr>
          <p:cNvSpPr>
            <a:spLocks noGrp="1"/>
          </p:cNvSpPr>
          <p:nvPr>
            <p:ph idx="1"/>
          </p:nvPr>
        </p:nvSpPr>
        <p:spPr/>
        <p:txBody>
          <a:bodyPr/>
          <a:lstStyle/>
          <a:p>
            <a:r>
              <a:rPr lang="en-US" dirty="0"/>
              <a:t>Use </a:t>
            </a:r>
            <a:r>
              <a:rPr lang="en-US" dirty="0" err="1"/>
              <a:t>multipass</a:t>
            </a:r>
            <a:r>
              <a:rPr lang="en-US" dirty="0"/>
              <a:t> SQL to query each dimensional model separately and then outer-join the query results based on a common dimension attribute, such as product name. </a:t>
            </a:r>
          </a:p>
          <a:p>
            <a:endParaRPr lang="en-US" dirty="0"/>
          </a:p>
        </p:txBody>
      </p:sp>
      <p:pic>
        <p:nvPicPr>
          <p:cNvPr id="5" name="Picture 4">
            <a:extLst>
              <a:ext uri="{FF2B5EF4-FFF2-40B4-BE49-F238E27FC236}">
                <a16:creationId xmlns:a16="http://schemas.microsoft.com/office/drawing/2014/main" id="{444D3DA3-3663-C44C-8239-6ACE20EC715F}"/>
              </a:ext>
            </a:extLst>
          </p:cNvPr>
          <p:cNvPicPr>
            <a:picLocks noChangeAspect="1"/>
          </p:cNvPicPr>
          <p:nvPr/>
        </p:nvPicPr>
        <p:blipFill>
          <a:blip r:embed="rId2"/>
          <a:stretch>
            <a:fillRect/>
          </a:stretch>
        </p:blipFill>
        <p:spPr>
          <a:xfrm>
            <a:off x="814387" y="3429000"/>
            <a:ext cx="10539413" cy="1903716"/>
          </a:xfrm>
          <a:prstGeom prst="rect">
            <a:avLst/>
          </a:prstGeom>
        </p:spPr>
      </p:pic>
    </p:spTree>
    <p:extLst>
      <p:ext uri="{BB962C8B-B14F-4D97-AF65-F5344CB8AC3E}">
        <p14:creationId xmlns:p14="http://schemas.microsoft.com/office/powerpoint/2010/main" val="2230919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A0CC6-EF98-DD42-BBE9-EE7EB3596756}"/>
              </a:ext>
            </a:extLst>
          </p:cNvPr>
          <p:cNvSpPr>
            <a:spLocks noGrp="1"/>
          </p:cNvSpPr>
          <p:nvPr>
            <p:ph type="title"/>
          </p:nvPr>
        </p:nvSpPr>
        <p:spPr/>
        <p:txBody>
          <a:bodyPr/>
          <a:lstStyle/>
          <a:p>
            <a:r>
              <a:rPr lang="en-US" dirty="0"/>
              <a:t>Identical Conformed Dimensions </a:t>
            </a:r>
          </a:p>
        </p:txBody>
      </p:sp>
      <p:sp>
        <p:nvSpPr>
          <p:cNvPr id="3" name="Content Placeholder 2">
            <a:extLst>
              <a:ext uri="{FF2B5EF4-FFF2-40B4-BE49-F238E27FC236}">
                <a16:creationId xmlns:a16="http://schemas.microsoft.com/office/drawing/2014/main" id="{39B871C3-6298-4B41-B8BF-AE7A40078085}"/>
              </a:ext>
            </a:extLst>
          </p:cNvPr>
          <p:cNvSpPr>
            <a:spLocks noGrp="1"/>
          </p:cNvSpPr>
          <p:nvPr>
            <p:ph idx="1"/>
          </p:nvPr>
        </p:nvSpPr>
        <p:spPr>
          <a:xfrm>
            <a:off x="838200" y="1825625"/>
            <a:ext cx="4607103" cy="4351338"/>
          </a:xfrm>
        </p:spPr>
        <p:txBody>
          <a:bodyPr>
            <a:normAutofit fontScale="92500" lnSpcReduction="10000"/>
          </a:bodyPr>
          <a:lstStyle/>
          <a:p>
            <a:r>
              <a:rPr lang="en-US" dirty="0"/>
              <a:t>Identical conformed dimensions have consistent dimension keys, attribute column names, attribute definitions, and attribute values (which translate into consistent report labels and groupings). </a:t>
            </a:r>
          </a:p>
          <a:p>
            <a:pPr lvl="1"/>
            <a:r>
              <a:rPr lang="en-US" dirty="0"/>
              <a:t>The date dimension table connected to the sales facts is identical to the date dimension table connected to the inventory facts. </a:t>
            </a:r>
          </a:p>
          <a:p>
            <a:endParaRPr lang="en-US" dirty="0"/>
          </a:p>
        </p:txBody>
      </p:sp>
      <p:pic>
        <p:nvPicPr>
          <p:cNvPr id="1026" name="Picture 2" descr="Introduction to Data Warehousing | Holowczak.com Tutorials">
            <a:extLst>
              <a:ext uri="{FF2B5EF4-FFF2-40B4-BE49-F238E27FC236}">
                <a16:creationId xmlns:a16="http://schemas.microsoft.com/office/drawing/2014/main" id="{79E9A005-5A90-D543-A96E-A6C1923050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5173" y="2133685"/>
            <a:ext cx="6054057" cy="3105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300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9D33A7-7C1B-524D-98A7-7E02A52D8BAB}"/>
              </a:ext>
            </a:extLst>
          </p:cNvPr>
          <p:cNvSpPr>
            <a:spLocks noGrp="1"/>
          </p:cNvSpPr>
          <p:nvPr>
            <p:ph idx="1"/>
          </p:nvPr>
        </p:nvSpPr>
        <p:spPr/>
        <p:txBody>
          <a:bodyPr>
            <a:normAutofit lnSpcReduction="10000"/>
          </a:bodyPr>
          <a:lstStyle/>
          <a:p>
            <a:r>
              <a:rPr lang="en-US" dirty="0"/>
              <a:t>Dimension attributes don’t conform if they’re called Month in one dimension and Month Name in another; likewise, they don’t conform if the attribute value is “July” in one dimension and “JULY” in another. </a:t>
            </a:r>
          </a:p>
          <a:p>
            <a:r>
              <a:rPr lang="en-US" dirty="0"/>
              <a:t>Dimension is built once in the ETL system and then duplicated synchronously outward to each dimensional model. </a:t>
            </a:r>
          </a:p>
          <a:p>
            <a:pPr lvl="1"/>
            <a:r>
              <a:rPr lang="en-US" dirty="0"/>
              <a:t>the same number of rows, same key values, same attribute labels, same attribute data definitions, and same attribute values. </a:t>
            </a:r>
          </a:p>
          <a:p>
            <a:r>
              <a:rPr lang="en-US" dirty="0"/>
              <a:t>Sometimes dimensions at the same level of granularity do not fully conform. </a:t>
            </a:r>
          </a:p>
          <a:p>
            <a:pPr lvl="1"/>
            <a:r>
              <a:rPr lang="en-US" dirty="0"/>
              <a:t>For example, product and store attributes needed for inventory analysis, but aren’t appropriate for analyzing retail sales data. </a:t>
            </a:r>
          </a:p>
          <a:p>
            <a:endParaRPr lang="en-US" dirty="0"/>
          </a:p>
          <a:p>
            <a:endParaRPr lang="en-US" dirty="0"/>
          </a:p>
        </p:txBody>
      </p:sp>
      <p:sp>
        <p:nvSpPr>
          <p:cNvPr id="4" name="Title 1">
            <a:extLst>
              <a:ext uri="{FF2B5EF4-FFF2-40B4-BE49-F238E27FC236}">
                <a16:creationId xmlns:a16="http://schemas.microsoft.com/office/drawing/2014/main" id="{1372371B-DCF6-5243-9C48-EEC74EDC3B29}"/>
              </a:ext>
            </a:extLst>
          </p:cNvPr>
          <p:cNvSpPr>
            <a:spLocks noGrp="1"/>
          </p:cNvSpPr>
          <p:nvPr>
            <p:ph type="title"/>
          </p:nvPr>
        </p:nvSpPr>
        <p:spPr/>
        <p:txBody>
          <a:bodyPr/>
          <a:lstStyle/>
          <a:p>
            <a:r>
              <a:rPr lang="en-US" dirty="0"/>
              <a:t>Identical Conformed Dimensions </a:t>
            </a:r>
          </a:p>
        </p:txBody>
      </p:sp>
    </p:spTree>
    <p:extLst>
      <p:ext uri="{BB962C8B-B14F-4D97-AF65-F5344CB8AC3E}">
        <p14:creationId xmlns:p14="http://schemas.microsoft.com/office/powerpoint/2010/main" val="4023616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4E4D4-76B7-6F49-8836-9507F1167ED9}"/>
              </a:ext>
            </a:extLst>
          </p:cNvPr>
          <p:cNvSpPr>
            <a:spLocks noGrp="1"/>
          </p:cNvSpPr>
          <p:nvPr>
            <p:ph type="title"/>
          </p:nvPr>
        </p:nvSpPr>
        <p:spPr/>
        <p:txBody>
          <a:bodyPr>
            <a:normAutofit/>
          </a:bodyPr>
          <a:lstStyle/>
          <a:p>
            <a:r>
              <a:rPr lang="en-US" dirty="0"/>
              <a:t>Shrunken Rollup Conformed Dimension </a:t>
            </a:r>
            <a:br>
              <a:rPr lang="en-US" dirty="0"/>
            </a:br>
            <a:r>
              <a:rPr lang="en-US" dirty="0"/>
              <a:t>(Attribute Subset or Row Subset)</a:t>
            </a:r>
          </a:p>
        </p:txBody>
      </p:sp>
      <p:sp>
        <p:nvSpPr>
          <p:cNvPr id="3" name="Content Placeholder 2">
            <a:extLst>
              <a:ext uri="{FF2B5EF4-FFF2-40B4-BE49-F238E27FC236}">
                <a16:creationId xmlns:a16="http://schemas.microsoft.com/office/drawing/2014/main" id="{43EA38E7-0FBD-674A-BFAB-855BF2316282}"/>
              </a:ext>
            </a:extLst>
          </p:cNvPr>
          <p:cNvSpPr>
            <a:spLocks noGrp="1"/>
          </p:cNvSpPr>
          <p:nvPr>
            <p:ph idx="1"/>
          </p:nvPr>
        </p:nvSpPr>
        <p:spPr/>
        <p:txBody>
          <a:bodyPr>
            <a:normAutofit/>
          </a:bodyPr>
          <a:lstStyle/>
          <a:p>
            <a:r>
              <a:rPr lang="en-US" b="1" dirty="0"/>
              <a:t>Shrunken dimensions</a:t>
            </a:r>
            <a:r>
              <a:rPr lang="en-US" dirty="0"/>
              <a:t> are </a:t>
            </a:r>
            <a:r>
              <a:rPr lang="en-US" b="1" dirty="0"/>
              <a:t>conformed dimensions</a:t>
            </a:r>
            <a:r>
              <a:rPr lang="en-US" dirty="0"/>
              <a:t> that are a subset of rows and /or columns of a base </a:t>
            </a:r>
            <a:r>
              <a:rPr lang="en-US" b="1" dirty="0"/>
              <a:t>dimension</a:t>
            </a:r>
            <a:r>
              <a:rPr lang="en-US" dirty="0"/>
              <a:t>. </a:t>
            </a:r>
          </a:p>
          <a:p>
            <a:r>
              <a:rPr lang="en-US" dirty="0"/>
              <a:t>When do we need </a:t>
            </a:r>
            <a:r>
              <a:rPr lang="en-US" b="1" dirty="0"/>
              <a:t>Shrunken rollup dimensions:</a:t>
            </a:r>
            <a:endParaRPr lang="en-US" dirty="0"/>
          </a:p>
          <a:p>
            <a:pPr lvl="1"/>
            <a:r>
              <a:rPr lang="en-US" dirty="0"/>
              <a:t>When constructing aggregate fact tables;</a:t>
            </a:r>
          </a:p>
          <a:p>
            <a:pPr lvl="1"/>
            <a:r>
              <a:rPr lang="en-US" dirty="0"/>
              <a:t>When capture data at a higher level of granularity, such as a forecast by month and brand (instead of the more atomic date and product associated with sales data);</a:t>
            </a:r>
          </a:p>
          <a:p>
            <a:pPr lvl="1"/>
            <a:r>
              <a:rPr lang="en-US" dirty="0"/>
              <a:t>When two dimensions are at the same level of detail, but one represents only a subset of rows.</a:t>
            </a:r>
          </a:p>
        </p:txBody>
      </p:sp>
    </p:spTree>
    <p:extLst>
      <p:ext uri="{BB962C8B-B14F-4D97-AF65-F5344CB8AC3E}">
        <p14:creationId xmlns:p14="http://schemas.microsoft.com/office/powerpoint/2010/main" val="2742371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5A17-B09D-FE4F-9571-1C0B71232CA7}"/>
              </a:ext>
            </a:extLst>
          </p:cNvPr>
          <p:cNvSpPr>
            <a:spLocks noGrp="1"/>
          </p:cNvSpPr>
          <p:nvPr>
            <p:ph type="title"/>
          </p:nvPr>
        </p:nvSpPr>
        <p:spPr/>
        <p:txBody>
          <a:bodyPr/>
          <a:lstStyle/>
          <a:p>
            <a:r>
              <a:rPr lang="en-US" dirty="0"/>
              <a:t>Shrunken Rollup Conformed Dimension</a:t>
            </a:r>
          </a:p>
        </p:txBody>
      </p:sp>
      <p:pic>
        <p:nvPicPr>
          <p:cNvPr id="6" name="Content Placeholder 5">
            <a:extLst>
              <a:ext uri="{FF2B5EF4-FFF2-40B4-BE49-F238E27FC236}">
                <a16:creationId xmlns:a16="http://schemas.microsoft.com/office/drawing/2014/main" id="{7C036EA6-7571-3A4E-8D28-51E0F9723243}"/>
              </a:ext>
            </a:extLst>
          </p:cNvPr>
          <p:cNvPicPr>
            <a:picLocks noGrp="1" noChangeAspect="1"/>
          </p:cNvPicPr>
          <p:nvPr>
            <p:ph idx="1"/>
          </p:nvPr>
        </p:nvPicPr>
        <p:blipFill>
          <a:blip r:embed="rId2"/>
          <a:stretch>
            <a:fillRect/>
          </a:stretch>
        </p:blipFill>
        <p:spPr>
          <a:xfrm>
            <a:off x="4853207" y="1871153"/>
            <a:ext cx="4085310" cy="3747382"/>
          </a:xfrm>
        </p:spPr>
      </p:pic>
      <p:pic>
        <p:nvPicPr>
          <p:cNvPr id="8" name="Picture 7">
            <a:extLst>
              <a:ext uri="{FF2B5EF4-FFF2-40B4-BE49-F238E27FC236}">
                <a16:creationId xmlns:a16="http://schemas.microsoft.com/office/drawing/2014/main" id="{9F01DA5C-54E1-E74A-AD78-BCBB677E3C23}"/>
              </a:ext>
            </a:extLst>
          </p:cNvPr>
          <p:cNvPicPr>
            <a:picLocks noChangeAspect="1"/>
          </p:cNvPicPr>
          <p:nvPr/>
        </p:nvPicPr>
        <p:blipFill>
          <a:blip r:embed="rId3"/>
          <a:stretch>
            <a:fillRect/>
          </a:stretch>
        </p:blipFill>
        <p:spPr>
          <a:xfrm>
            <a:off x="9371610" y="2058445"/>
            <a:ext cx="2619188" cy="2485632"/>
          </a:xfrm>
          <a:prstGeom prst="rect">
            <a:avLst/>
          </a:prstGeom>
        </p:spPr>
      </p:pic>
      <p:pic>
        <p:nvPicPr>
          <p:cNvPr id="2052" name="Picture 4" descr="Learning and Sharing: Shrunken Dimension - Very useful for higher ...">
            <a:extLst>
              <a:ext uri="{FF2B5EF4-FFF2-40B4-BE49-F238E27FC236}">
                <a16:creationId xmlns:a16="http://schemas.microsoft.com/office/drawing/2014/main" id="{94D088D9-519C-6441-B55F-C77959E16B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4" y="2395259"/>
            <a:ext cx="4352439" cy="2448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4255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57C0-1EC5-6D46-939A-174A3BED5C4C}"/>
              </a:ext>
            </a:extLst>
          </p:cNvPr>
          <p:cNvSpPr>
            <a:spLocks noGrp="1"/>
          </p:cNvSpPr>
          <p:nvPr>
            <p:ph type="title"/>
          </p:nvPr>
        </p:nvSpPr>
        <p:spPr/>
        <p:txBody>
          <a:bodyPr/>
          <a:lstStyle/>
          <a:p>
            <a:r>
              <a:rPr lang="en-US" dirty="0"/>
              <a:t>Shrunken Conformed Dimensions on the Bus Matrix </a:t>
            </a:r>
          </a:p>
        </p:txBody>
      </p:sp>
      <p:sp>
        <p:nvSpPr>
          <p:cNvPr id="3" name="Text Placeholder 2">
            <a:extLst>
              <a:ext uri="{FF2B5EF4-FFF2-40B4-BE49-F238E27FC236}">
                <a16:creationId xmlns:a16="http://schemas.microsoft.com/office/drawing/2014/main" id="{76DF17E5-BB56-B040-825C-68299385D883}"/>
              </a:ext>
            </a:extLst>
          </p:cNvPr>
          <p:cNvSpPr>
            <a:spLocks noGrp="1"/>
          </p:cNvSpPr>
          <p:nvPr>
            <p:ph type="body" idx="1"/>
          </p:nvPr>
        </p:nvSpPr>
        <p:spPr/>
        <p:txBody>
          <a:bodyPr>
            <a:normAutofit fontScale="92500" lnSpcReduction="20000"/>
          </a:bodyPr>
          <a:lstStyle/>
          <a:p>
            <a:r>
              <a:rPr lang="en-US" dirty="0"/>
              <a:t>Mark the cell for the atomic dimension, but then textually document the rollup or row subset granularity within the cell. </a:t>
            </a:r>
          </a:p>
        </p:txBody>
      </p:sp>
      <p:pic>
        <p:nvPicPr>
          <p:cNvPr id="8" name="Content Placeholder 7">
            <a:extLst>
              <a:ext uri="{FF2B5EF4-FFF2-40B4-BE49-F238E27FC236}">
                <a16:creationId xmlns:a16="http://schemas.microsoft.com/office/drawing/2014/main" id="{5E6CE350-006D-0C42-8BFC-C2E4AC26414D}"/>
              </a:ext>
            </a:extLst>
          </p:cNvPr>
          <p:cNvPicPr>
            <a:picLocks noGrp="1" noChangeAspect="1"/>
          </p:cNvPicPr>
          <p:nvPr>
            <p:ph sz="half" idx="2"/>
          </p:nvPr>
        </p:nvPicPr>
        <p:blipFill>
          <a:blip r:embed="rId2"/>
          <a:stretch>
            <a:fillRect/>
          </a:stretch>
        </p:blipFill>
        <p:spPr>
          <a:xfrm>
            <a:off x="1189831" y="3058319"/>
            <a:ext cx="4457700" cy="2578100"/>
          </a:xfrm>
        </p:spPr>
      </p:pic>
      <p:sp>
        <p:nvSpPr>
          <p:cNvPr id="5" name="Text Placeholder 4">
            <a:extLst>
              <a:ext uri="{FF2B5EF4-FFF2-40B4-BE49-F238E27FC236}">
                <a16:creationId xmlns:a16="http://schemas.microsoft.com/office/drawing/2014/main" id="{64DA2438-8358-194E-8635-CD288E002DFF}"/>
              </a:ext>
            </a:extLst>
          </p:cNvPr>
          <p:cNvSpPr>
            <a:spLocks noGrp="1"/>
          </p:cNvSpPr>
          <p:nvPr>
            <p:ph type="body" sz="quarter" idx="3"/>
          </p:nvPr>
        </p:nvSpPr>
        <p:spPr/>
        <p:txBody>
          <a:bodyPr>
            <a:normAutofit fontScale="92500" lnSpcReduction="20000"/>
          </a:bodyPr>
          <a:lstStyle/>
          <a:p>
            <a:r>
              <a:rPr lang="en-US" dirty="0"/>
              <a:t>Subdivide the dimension column to indicate the common rollup or subset granularities.</a:t>
            </a:r>
          </a:p>
        </p:txBody>
      </p:sp>
      <p:pic>
        <p:nvPicPr>
          <p:cNvPr id="10" name="Content Placeholder 9">
            <a:extLst>
              <a:ext uri="{FF2B5EF4-FFF2-40B4-BE49-F238E27FC236}">
                <a16:creationId xmlns:a16="http://schemas.microsoft.com/office/drawing/2014/main" id="{DF4E19CF-BACF-5D43-A1B3-5333D5C68680}"/>
              </a:ext>
            </a:extLst>
          </p:cNvPr>
          <p:cNvPicPr>
            <a:picLocks noGrp="1" noChangeAspect="1"/>
          </p:cNvPicPr>
          <p:nvPr>
            <p:ph sz="quarter" idx="4"/>
          </p:nvPr>
        </p:nvPicPr>
        <p:blipFill>
          <a:blip r:embed="rId3"/>
          <a:stretch>
            <a:fillRect/>
          </a:stretch>
        </p:blipFill>
        <p:spPr>
          <a:xfrm>
            <a:off x="7779544" y="3058319"/>
            <a:ext cx="1968500" cy="2578100"/>
          </a:xfrm>
        </p:spPr>
      </p:pic>
    </p:spTree>
    <p:extLst>
      <p:ext uri="{BB962C8B-B14F-4D97-AF65-F5344CB8AC3E}">
        <p14:creationId xmlns:p14="http://schemas.microsoft.com/office/powerpoint/2010/main" val="440145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CCD72-A37C-C34C-B0D5-1BC5AE242D59}"/>
              </a:ext>
            </a:extLst>
          </p:cNvPr>
          <p:cNvSpPr>
            <a:spLocks noGrp="1"/>
          </p:cNvSpPr>
          <p:nvPr>
            <p:ph type="title"/>
          </p:nvPr>
        </p:nvSpPr>
        <p:spPr/>
        <p:txBody>
          <a:bodyPr/>
          <a:lstStyle/>
          <a:p>
            <a:r>
              <a:rPr lang="en-US" dirty="0"/>
              <a:t>Importance of Data Governance and Stewardship </a:t>
            </a:r>
          </a:p>
        </p:txBody>
      </p:sp>
      <p:sp>
        <p:nvSpPr>
          <p:cNvPr id="3" name="Content Placeholder 2">
            <a:extLst>
              <a:ext uri="{FF2B5EF4-FFF2-40B4-BE49-F238E27FC236}">
                <a16:creationId xmlns:a16="http://schemas.microsoft.com/office/drawing/2014/main" id="{1D2D8DB1-D09C-2A4B-9E53-8D9E41178A98}"/>
              </a:ext>
            </a:extLst>
          </p:cNvPr>
          <p:cNvSpPr>
            <a:spLocks noGrp="1"/>
          </p:cNvSpPr>
          <p:nvPr>
            <p:ph idx="1"/>
          </p:nvPr>
        </p:nvSpPr>
        <p:spPr/>
        <p:txBody>
          <a:bodyPr>
            <a:normAutofit fontScale="85000" lnSpcReduction="10000"/>
          </a:bodyPr>
          <a:lstStyle/>
          <a:p>
            <a:r>
              <a:rPr lang="en-US" sz="3200" i="1" dirty="0"/>
              <a:t>Business-Driven Governance Characteristics: </a:t>
            </a:r>
          </a:p>
          <a:p>
            <a:pPr lvl="1"/>
            <a:r>
              <a:rPr lang="en-US" sz="2800" i="1" dirty="0"/>
              <a:t>Respect from the organization </a:t>
            </a:r>
          </a:p>
          <a:p>
            <a:pPr lvl="1"/>
            <a:r>
              <a:rPr lang="en-US" sz="2800" i="1" dirty="0"/>
              <a:t>Broad knowledge of the enterprise’s operations </a:t>
            </a:r>
          </a:p>
          <a:p>
            <a:pPr lvl="1"/>
            <a:r>
              <a:rPr lang="en-US" sz="2800" i="1" dirty="0"/>
              <a:t>Ability to balance organizational needs against departmental requirements </a:t>
            </a:r>
          </a:p>
          <a:p>
            <a:pPr lvl="1"/>
            <a:r>
              <a:rPr lang="en-US" sz="2800" i="1" dirty="0"/>
              <a:t>Gravitas and authority to challenge the status quo and enforce policies </a:t>
            </a:r>
          </a:p>
          <a:p>
            <a:pPr lvl="1"/>
            <a:r>
              <a:rPr lang="en-US" sz="2800" i="1" dirty="0"/>
              <a:t>Strong communication skills </a:t>
            </a:r>
          </a:p>
          <a:p>
            <a:pPr lvl="1"/>
            <a:r>
              <a:rPr lang="en-US" sz="2800" i="1" dirty="0"/>
              <a:t>Politically savvy negotiation and consensus building skills </a:t>
            </a:r>
          </a:p>
          <a:p>
            <a:r>
              <a:rPr lang="en-US" sz="3200" i="1" dirty="0"/>
              <a:t>Governance Objectives </a:t>
            </a:r>
          </a:p>
          <a:p>
            <a:pPr lvl="1"/>
            <a:r>
              <a:rPr lang="en-US" sz="2800" dirty="0"/>
              <a:t>To reach agreement on data definitions, labels, and domain values so that everyone is speaking the same language;</a:t>
            </a:r>
          </a:p>
          <a:p>
            <a:pPr lvl="1"/>
            <a:r>
              <a:rPr lang="en-US" sz="2800" dirty="0"/>
              <a:t>To establish policies and responsibilities for data quality and accuracy, as well as data security and access controls;</a:t>
            </a:r>
          </a:p>
          <a:p>
            <a:endParaRPr lang="en-US" dirty="0"/>
          </a:p>
          <a:p>
            <a:endParaRPr lang="en-US" dirty="0"/>
          </a:p>
          <a:p>
            <a:endParaRPr lang="en-US" dirty="0"/>
          </a:p>
        </p:txBody>
      </p:sp>
    </p:spTree>
    <p:extLst>
      <p:ext uri="{BB962C8B-B14F-4D97-AF65-F5344CB8AC3E}">
        <p14:creationId xmlns:p14="http://schemas.microsoft.com/office/powerpoint/2010/main" val="3675151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FD29B-360E-6A4D-9C59-1B7D7A34B5C5}"/>
              </a:ext>
            </a:extLst>
          </p:cNvPr>
          <p:cNvSpPr>
            <a:spLocks noGrp="1"/>
          </p:cNvSpPr>
          <p:nvPr>
            <p:ph type="title"/>
          </p:nvPr>
        </p:nvSpPr>
        <p:spPr/>
        <p:txBody>
          <a:bodyPr/>
          <a:lstStyle/>
          <a:p>
            <a:r>
              <a:rPr lang="en-US" dirty="0"/>
              <a:t>Conformed Fact</a:t>
            </a:r>
          </a:p>
        </p:txBody>
      </p:sp>
      <p:sp>
        <p:nvSpPr>
          <p:cNvPr id="3" name="Content Placeholder 2">
            <a:extLst>
              <a:ext uri="{FF2B5EF4-FFF2-40B4-BE49-F238E27FC236}">
                <a16:creationId xmlns:a16="http://schemas.microsoft.com/office/drawing/2014/main" id="{0770F744-33DD-7349-A903-9A3AC13CBD2B}"/>
              </a:ext>
            </a:extLst>
          </p:cNvPr>
          <p:cNvSpPr>
            <a:spLocks noGrp="1"/>
          </p:cNvSpPr>
          <p:nvPr>
            <p:ph idx="1"/>
          </p:nvPr>
        </p:nvSpPr>
        <p:spPr/>
        <p:txBody>
          <a:bodyPr/>
          <a:lstStyle/>
          <a:p>
            <a:r>
              <a:rPr lang="en-US" dirty="0"/>
              <a:t>Conformed facts are:</a:t>
            </a:r>
          </a:p>
          <a:p>
            <a:pPr lvl="1"/>
            <a:r>
              <a:rPr lang="en-US" dirty="0"/>
              <a:t>Facts of the same measurement used living in more that one data model.</a:t>
            </a:r>
          </a:p>
          <a:p>
            <a:pPr lvl="1"/>
            <a:r>
              <a:rPr lang="en-US" dirty="0"/>
              <a:t>Same rules and characteristics apply in designing and implementing them as with conformed dimensions;</a:t>
            </a:r>
          </a:p>
          <a:p>
            <a:pPr lvl="1"/>
            <a:r>
              <a:rPr lang="en-US" dirty="0"/>
              <a:t>Same units of measure for the fact;</a:t>
            </a:r>
          </a:p>
          <a:p>
            <a:pPr lvl="1"/>
            <a:r>
              <a:rPr lang="en-US" dirty="0"/>
              <a:t>Identical labeling;</a:t>
            </a:r>
          </a:p>
          <a:p>
            <a:pPr lvl="1"/>
            <a:r>
              <a:rPr lang="en-US" dirty="0"/>
              <a:t>Underlying definitions and equations</a:t>
            </a:r>
          </a:p>
        </p:txBody>
      </p:sp>
    </p:spTree>
    <p:extLst>
      <p:ext uri="{BB962C8B-B14F-4D97-AF65-F5344CB8AC3E}">
        <p14:creationId xmlns:p14="http://schemas.microsoft.com/office/powerpoint/2010/main" val="4084023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DA7FD-575A-0444-B511-7D3E3B13364F}"/>
              </a:ext>
            </a:extLst>
          </p:cNvPr>
          <p:cNvSpPr>
            <a:spLocks noGrp="1"/>
          </p:cNvSpPr>
          <p:nvPr>
            <p:ph type="title"/>
          </p:nvPr>
        </p:nvSpPr>
        <p:spPr/>
        <p:txBody>
          <a:bodyPr/>
          <a:lstStyle/>
          <a:p>
            <a:r>
              <a:rPr lang="en-US" dirty="0"/>
              <a:t>Conformed Fact</a:t>
            </a:r>
          </a:p>
        </p:txBody>
      </p:sp>
      <p:sp>
        <p:nvSpPr>
          <p:cNvPr id="3" name="Content Placeholder 2">
            <a:extLst>
              <a:ext uri="{FF2B5EF4-FFF2-40B4-BE49-F238E27FC236}">
                <a16:creationId xmlns:a16="http://schemas.microsoft.com/office/drawing/2014/main" id="{9AFCF19E-859C-3C4F-A840-2C6EACA86B8F}"/>
              </a:ext>
            </a:extLst>
          </p:cNvPr>
          <p:cNvSpPr>
            <a:spLocks noGrp="1"/>
          </p:cNvSpPr>
          <p:nvPr>
            <p:ph idx="1"/>
          </p:nvPr>
        </p:nvSpPr>
        <p:spPr/>
        <p:txBody>
          <a:bodyPr/>
          <a:lstStyle/>
          <a:p>
            <a:r>
              <a:rPr lang="en-US" dirty="0"/>
              <a:t>If the same measurement appears in separate fact tables, care must be taken to make sure the technical deﬁnitions of the facts are identical if they are to be compared or computed together. </a:t>
            </a:r>
          </a:p>
          <a:p>
            <a:r>
              <a:rPr lang="en-US" dirty="0"/>
              <a:t>If the separate fact deﬁnitions are consistent, the </a:t>
            </a:r>
            <a:r>
              <a:rPr lang="en-US" i="1" dirty="0"/>
              <a:t>conformed facts </a:t>
            </a:r>
            <a:r>
              <a:rPr lang="en-US" dirty="0"/>
              <a:t>should be identically named;</a:t>
            </a:r>
          </a:p>
          <a:p>
            <a:r>
              <a:rPr lang="en-US" dirty="0"/>
              <a:t>If they are incompatible, they should be differently named to alert the business users and BI applications.</a:t>
            </a:r>
          </a:p>
          <a:p>
            <a:endParaRPr lang="en-US" dirty="0"/>
          </a:p>
        </p:txBody>
      </p:sp>
    </p:spTree>
    <p:extLst>
      <p:ext uri="{BB962C8B-B14F-4D97-AF65-F5344CB8AC3E}">
        <p14:creationId xmlns:p14="http://schemas.microsoft.com/office/powerpoint/2010/main" val="31464190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TotalTime>
  <Words>1015</Words>
  <Application>Microsoft Macintosh PowerPoint</Application>
  <PresentationFormat>Widescreen</PresentationFormat>
  <Paragraphs>85</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Lecture 4: Enterprise Data Warehouse Bus Architecture </vt:lpstr>
      <vt:lpstr>Introduction </vt:lpstr>
      <vt:lpstr>Enterprise data warehouse bus with shared dimensions </vt:lpstr>
      <vt:lpstr>Enterprise Data Warehouse Bus Matrix </vt:lpstr>
      <vt:lpstr>Multiple Matrix Uses </vt:lpstr>
      <vt:lpstr>Opportunity/Stakeholder Matrix </vt:lpstr>
      <vt:lpstr>Common Bus Matrix Mistakes </vt:lpstr>
      <vt:lpstr>Conformed Dimensions </vt:lpstr>
      <vt:lpstr>Drilling Across Fact Tables </vt:lpstr>
      <vt:lpstr>Drilling across fact tables with conformed dimension attributes. </vt:lpstr>
      <vt:lpstr>Identical Conformed Dimensions </vt:lpstr>
      <vt:lpstr>Identical Conformed Dimensions </vt:lpstr>
      <vt:lpstr>Shrunken Rollup Conformed Dimension  (Attribute Subset or Row Subset)</vt:lpstr>
      <vt:lpstr>Shrunken Rollup Conformed Dimension</vt:lpstr>
      <vt:lpstr>Shrunken Conformed Dimensions on the Bus Matrix </vt:lpstr>
      <vt:lpstr>Importance of Data Governance and Stewardship </vt:lpstr>
      <vt:lpstr>Conformed Fact</vt:lpstr>
      <vt:lpstr>Conformed Fact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Data Warehouse Bus Architecture </dc:title>
  <dc:creator>Microsoft Office User</dc:creator>
  <cp:lastModifiedBy>Yuanyuan Gao</cp:lastModifiedBy>
  <cp:revision>55</cp:revision>
  <dcterms:created xsi:type="dcterms:W3CDTF">2020-08-18T03:38:08Z</dcterms:created>
  <dcterms:modified xsi:type="dcterms:W3CDTF">2020-09-09T17:59:36Z</dcterms:modified>
</cp:coreProperties>
</file>