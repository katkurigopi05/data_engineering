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73" r:id="rId6"/>
    <p:sldId id="267" r:id="rId7"/>
    <p:sldId id="268" r:id="rId8"/>
    <p:sldId id="265" r:id="rId9"/>
    <p:sldId id="274" r:id="rId10"/>
    <p:sldId id="275" r:id="rId11"/>
    <p:sldId id="276" r:id="rId12"/>
    <p:sldId id="277" r:id="rId13"/>
    <p:sldId id="261" r:id="rId14"/>
    <p:sldId id="278" r:id="rId15"/>
    <p:sldId id="279" r:id="rId16"/>
    <p:sldId id="378" r:id="rId17"/>
    <p:sldId id="381" r:id="rId18"/>
    <p:sldId id="382" r:id="rId19"/>
    <p:sldId id="385" r:id="rId20"/>
    <p:sldId id="280" r:id="rId21"/>
    <p:sldId id="388" r:id="rId22"/>
    <p:sldId id="298" r:id="rId23"/>
    <p:sldId id="395" r:id="rId24"/>
    <p:sldId id="585" r:id="rId25"/>
    <p:sldId id="386" r:id="rId26"/>
    <p:sldId id="594" r:id="rId27"/>
    <p:sldId id="587" r:id="rId28"/>
    <p:sldId id="433" r:id="rId29"/>
    <p:sldId id="444" r:id="rId30"/>
    <p:sldId id="537" r:id="rId31"/>
    <p:sldId id="545" r:id="rId32"/>
    <p:sldId id="574" r:id="rId33"/>
    <p:sldId id="575" r:id="rId34"/>
    <p:sldId id="577" r:id="rId35"/>
    <p:sldId id="578" r:id="rId36"/>
    <p:sldId id="579" r:id="rId37"/>
    <p:sldId id="595" r:id="rId38"/>
    <p:sldId id="591" r:id="rId39"/>
    <p:sldId id="592" r:id="rId40"/>
    <p:sldId id="593" r:id="rId41"/>
    <p:sldId id="590" r:id="rId42"/>
    <p:sldId id="26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79"/>
    <p:restoredTop sz="94267"/>
  </p:normalViewPr>
  <p:slideViewPr>
    <p:cSldViewPr snapToGrid="0" snapToObjects="1">
      <p:cViewPr varScale="1">
        <p:scale>
          <a:sx n="112" d="100"/>
          <a:sy n="112" d="100"/>
        </p:scale>
        <p:origin x="9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redshift/latest/dg/tutorial-tuning-tables-distribution.html" TargetMode="External"/><Relationship Id="rId1" Type="http://schemas.openxmlformats.org/officeDocument/2006/relationships/hyperlink" Target="https://docs.aws.amazon.com/redshift/latest/dg/c_designing-tables-best-practices.html" TargetMode="External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redshift/latest/dg/tutorial-tuning-tables-distribution.html" TargetMode="External"/><Relationship Id="rId1" Type="http://schemas.openxmlformats.org/officeDocument/2006/relationships/hyperlink" Target="https://docs.aws.amazon.com/redshift/latest/dg/c_designing-tables-best-practices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8BEBAA-B7AA-B24F-8CA2-B687CD1DA4D6}" type="doc">
      <dgm:prSet loTypeId="urn:microsoft.com/office/officeart/2005/8/layout/pyramid3" loCatId="" qsTypeId="urn:microsoft.com/office/officeart/2005/8/quickstyle/simple1" qsCatId="simple" csTypeId="urn:microsoft.com/office/officeart/2005/8/colors/colorful1" csCatId="colorful" phldr="1"/>
      <dgm:spPr/>
    </dgm:pt>
    <dgm:pt modelId="{CF7FE7B5-F308-C449-8C32-A6E5FBED9F48}">
      <dgm:prSet phldrT="[Text]"/>
      <dgm:spPr/>
      <dgm:t>
        <a:bodyPr/>
        <a:lstStyle/>
        <a:p>
          <a:r>
            <a:rPr lang="en-US" dirty="0"/>
            <a:t>Company Social</a:t>
          </a:r>
        </a:p>
      </dgm:t>
    </dgm:pt>
    <dgm:pt modelId="{687CDE0B-8C2F-684B-834B-8C2D33A04C82}" type="parTrans" cxnId="{3EE69216-D36B-4D4E-9A0B-076D9A6E5F7F}">
      <dgm:prSet/>
      <dgm:spPr/>
      <dgm:t>
        <a:bodyPr/>
        <a:lstStyle/>
        <a:p>
          <a:endParaRPr lang="en-US"/>
        </a:p>
      </dgm:t>
    </dgm:pt>
    <dgm:pt modelId="{B335A011-B87B-DE44-87AB-BB0B4E8F746C}" type="sibTrans" cxnId="{3EE69216-D36B-4D4E-9A0B-076D9A6E5F7F}">
      <dgm:prSet/>
      <dgm:spPr/>
      <dgm:t>
        <a:bodyPr/>
        <a:lstStyle/>
        <a:p>
          <a:endParaRPr lang="en-US"/>
        </a:p>
      </dgm:t>
    </dgm:pt>
    <dgm:pt modelId="{314FF587-956C-9A47-BD9F-59C8AFE2E1B4}">
      <dgm:prSet phldrT="[Text]"/>
      <dgm:spPr/>
      <dgm:t>
        <a:bodyPr/>
        <a:lstStyle/>
        <a:p>
          <a:r>
            <a:rPr lang="en-US" dirty="0"/>
            <a:t>Channel Usage</a:t>
          </a:r>
        </a:p>
      </dgm:t>
    </dgm:pt>
    <dgm:pt modelId="{79B4E67F-AF77-E34E-B977-D69FD3C80FEC}" type="parTrans" cxnId="{3E33D0B1-F3D9-2242-9B1A-1B550315F053}">
      <dgm:prSet/>
      <dgm:spPr/>
      <dgm:t>
        <a:bodyPr/>
        <a:lstStyle/>
        <a:p>
          <a:endParaRPr lang="en-US"/>
        </a:p>
      </dgm:t>
    </dgm:pt>
    <dgm:pt modelId="{CB58DCF3-E8A7-354E-A2C2-F9C07A4EBABE}" type="sibTrans" cxnId="{3E33D0B1-F3D9-2242-9B1A-1B550315F053}">
      <dgm:prSet/>
      <dgm:spPr/>
      <dgm:t>
        <a:bodyPr/>
        <a:lstStyle/>
        <a:p>
          <a:endParaRPr lang="en-US"/>
        </a:p>
      </dgm:t>
    </dgm:pt>
    <dgm:pt modelId="{FEA40640-EDD7-394A-8457-D7844F9794A8}">
      <dgm:prSet phldrT="[Text]"/>
      <dgm:spPr/>
      <dgm:t>
        <a:bodyPr/>
        <a:lstStyle/>
        <a:p>
          <a:r>
            <a:rPr lang="en-US" dirty="0"/>
            <a:t>Identify</a:t>
          </a:r>
        </a:p>
      </dgm:t>
    </dgm:pt>
    <dgm:pt modelId="{CC1C798F-387C-8A46-AA93-361DEDB8B120}" type="parTrans" cxnId="{3023770A-C816-EE40-BA7C-08C2E785F6C4}">
      <dgm:prSet/>
      <dgm:spPr/>
      <dgm:t>
        <a:bodyPr/>
        <a:lstStyle/>
        <a:p>
          <a:endParaRPr lang="en-US"/>
        </a:p>
      </dgm:t>
    </dgm:pt>
    <dgm:pt modelId="{480D5B2F-4391-9249-BF42-5BAB3A5CD110}" type="sibTrans" cxnId="{3023770A-C816-EE40-BA7C-08C2E785F6C4}">
      <dgm:prSet/>
      <dgm:spPr/>
      <dgm:t>
        <a:bodyPr/>
        <a:lstStyle/>
        <a:p>
          <a:endParaRPr lang="en-US"/>
        </a:p>
      </dgm:t>
    </dgm:pt>
    <dgm:pt modelId="{6E6D3EA1-7133-0241-8866-52F2FADB8399}">
      <dgm:prSet/>
      <dgm:spPr/>
      <dgm:t>
        <a:bodyPr/>
        <a:lstStyle/>
        <a:p>
          <a:r>
            <a:rPr lang="en-US" dirty="0"/>
            <a:t>Interests, Topics and Sentiments</a:t>
          </a:r>
        </a:p>
      </dgm:t>
    </dgm:pt>
    <dgm:pt modelId="{907EBA64-6389-1549-8164-F64D6C9EBD3E}" type="parTrans" cxnId="{0BDD59B2-3FC2-3B4B-8044-CA20E4CD4F7F}">
      <dgm:prSet/>
      <dgm:spPr/>
      <dgm:t>
        <a:bodyPr/>
        <a:lstStyle/>
        <a:p>
          <a:endParaRPr lang="en-US"/>
        </a:p>
      </dgm:t>
    </dgm:pt>
    <dgm:pt modelId="{2139667B-D368-4E43-949C-99B47674552D}" type="sibTrans" cxnId="{0BDD59B2-3FC2-3B4B-8044-CA20E4CD4F7F}">
      <dgm:prSet/>
      <dgm:spPr/>
      <dgm:t>
        <a:bodyPr/>
        <a:lstStyle/>
        <a:p>
          <a:endParaRPr lang="en-US"/>
        </a:p>
      </dgm:t>
    </dgm:pt>
    <dgm:pt modelId="{7B754711-0B4F-0D45-B464-9B3A4E6B48D3}">
      <dgm:prSet/>
      <dgm:spPr/>
      <dgm:t>
        <a:bodyPr/>
        <a:lstStyle/>
        <a:p>
          <a:r>
            <a:rPr lang="en-US" dirty="0"/>
            <a:t>Influence</a:t>
          </a:r>
        </a:p>
      </dgm:t>
    </dgm:pt>
    <dgm:pt modelId="{21B8152A-4AD3-9C40-BE28-0A44E3F6145F}" type="parTrans" cxnId="{BD13D807-EFA6-024D-8C8E-DB76437150B6}">
      <dgm:prSet/>
      <dgm:spPr/>
      <dgm:t>
        <a:bodyPr/>
        <a:lstStyle/>
        <a:p>
          <a:endParaRPr lang="en-US"/>
        </a:p>
      </dgm:t>
    </dgm:pt>
    <dgm:pt modelId="{FD0205A5-7A13-594C-817D-0B76BBC09B61}" type="sibTrans" cxnId="{BD13D807-EFA6-024D-8C8E-DB76437150B6}">
      <dgm:prSet/>
      <dgm:spPr/>
      <dgm:t>
        <a:bodyPr/>
        <a:lstStyle/>
        <a:p>
          <a:endParaRPr lang="en-US"/>
        </a:p>
      </dgm:t>
    </dgm:pt>
    <dgm:pt modelId="{EBB91154-A8E5-CE41-A90B-8A847393DEF1}" type="pres">
      <dgm:prSet presAssocID="{DA8BEBAA-B7AA-B24F-8CA2-B687CD1DA4D6}" presName="Name0" presStyleCnt="0">
        <dgm:presLayoutVars>
          <dgm:dir/>
          <dgm:animLvl val="lvl"/>
          <dgm:resizeHandles val="exact"/>
        </dgm:presLayoutVars>
      </dgm:prSet>
      <dgm:spPr/>
    </dgm:pt>
    <dgm:pt modelId="{FE68EA1D-C286-8D4C-B6DC-25C73C9DC0BD}" type="pres">
      <dgm:prSet presAssocID="{CF7FE7B5-F308-C449-8C32-A6E5FBED9F48}" presName="Name8" presStyleCnt="0"/>
      <dgm:spPr/>
    </dgm:pt>
    <dgm:pt modelId="{59922067-5ED6-AC45-806D-27AAF5E52651}" type="pres">
      <dgm:prSet presAssocID="{CF7FE7B5-F308-C449-8C32-A6E5FBED9F48}" presName="level" presStyleLbl="node1" presStyleIdx="0" presStyleCnt="5" custLinFactNeighborX="3545" custLinFactNeighborY="-8322">
        <dgm:presLayoutVars>
          <dgm:chMax val="1"/>
          <dgm:bulletEnabled val="1"/>
        </dgm:presLayoutVars>
      </dgm:prSet>
      <dgm:spPr/>
    </dgm:pt>
    <dgm:pt modelId="{BC239886-1E1D-0148-80BA-026A1A523F63}" type="pres">
      <dgm:prSet presAssocID="{CF7FE7B5-F308-C449-8C32-A6E5FBED9F4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5ADF586-7C49-4544-AA02-890EB631094D}" type="pres">
      <dgm:prSet presAssocID="{314FF587-956C-9A47-BD9F-59C8AFE2E1B4}" presName="Name8" presStyleCnt="0"/>
      <dgm:spPr/>
    </dgm:pt>
    <dgm:pt modelId="{9E6A915D-49AD-8844-AAFC-45678DB70CD9}" type="pres">
      <dgm:prSet presAssocID="{314FF587-956C-9A47-BD9F-59C8AFE2E1B4}" presName="level" presStyleLbl="node1" presStyleIdx="1" presStyleCnt="5">
        <dgm:presLayoutVars>
          <dgm:chMax val="1"/>
          <dgm:bulletEnabled val="1"/>
        </dgm:presLayoutVars>
      </dgm:prSet>
      <dgm:spPr/>
    </dgm:pt>
    <dgm:pt modelId="{D7017497-A2DE-0A45-A6D4-C02E7735984E}" type="pres">
      <dgm:prSet presAssocID="{314FF587-956C-9A47-BD9F-59C8AFE2E1B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BA8545B-168F-0D40-B7F6-C1A76A15104F}" type="pres">
      <dgm:prSet presAssocID="{FEA40640-EDD7-394A-8457-D7844F9794A8}" presName="Name8" presStyleCnt="0"/>
      <dgm:spPr/>
    </dgm:pt>
    <dgm:pt modelId="{E9CDF621-EA56-3849-822B-DEB50AB23A32}" type="pres">
      <dgm:prSet presAssocID="{FEA40640-EDD7-394A-8457-D7844F9794A8}" presName="level" presStyleLbl="node1" presStyleIdx="2" presStyleCnt="5">
        <dgm:presLayoutVars>
          <dgm:chMax val="1"/>
          <dgm:bulletEnabled val="1"/>
        </dgm:presLayoutVars>
      </dgm:prSet>
      <dgm:spPr/>
    </dgm:pt>
    <dgm:pt modelId="{FD1304ED-D00B-F44D-AF4F-4BD263F0952A}" type="pres">
      <dgm:prSet presAssocID="{FEA40640-EDD7-394A-8457-D7844F9794A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90580A2-9084-D34E-8F09-AA94274BC4B7}" type="pres">
      <dgm:prSet presAssocID="{6E6D3EA1-7133-0241-8866-52F2FADB8399}" presName="Name8" presStyleCnt="0"/>
      <dgm:spPr/>
    </dgm:pt>
    <dgm:pt modelId="{2BDAEEA5-2A15-A847-9115-7A2438F3AAD9}" type="pres">
      <dgm:prSet presAssocID="{6E6D3EA1-7133-0241-8866-52F2FADB8399}" presName="level" presStyleLbl="node1" presStyleIdx="3" presStyleCnt="5">
        <dgm:presLayoutVars>
          <dgm:chMax val="1"/>
          <dgm:bulletEnabled val="1"/>
        </dgm:presLayoutVars>
      </dgm:prSet>
      <dgm:spPr/>
    </dgm:pt>
    <dgm:pt modelId="{100027E0-4F5F-DC45-A15E-2BB69E819E09}" type="pres">
      <dgm:prSet presAssocID="{6E6D3EA1-7133-0241-8866-52F2FADB839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FFC7F23-F044-384D-BECD-00ADC1C1602A}" type="pres">
      <dgm:prSet presAssocID="{7B754711-0B4F-0D45-B464-9B3A4E6B48D3}" presName="Name8" presStyleCnt="0"/>
      <dgm:spPr/>
    </dgm:pt>
    <dgm:pt modelId="{154EB1C1-61D4-3749-AC5D-C9F9A851097F}" type="pres">
      <dgm:prSet presAssocID="{7B754711-0B4F-0D45-B464-9B3A4E6B48D3}" presName="level" presStyleLbl="node1" presStyleIdx="4" presStyleCnt="5">
        <dgm:presLayoutVars>
          <dgm:chMax val="1"/>
          <dgm:bulletEnabled val="1"/>
        </dgm:presLayoutVars>
      </dgm:prSet>
      <dgm:spPr/>
    </dgm:pt>
    <dgm:pt modelId="{9D79C655-65C4-7144-9F1A-EDFCD1CB5423}" type="pres">
      <dgm:prSet presAssocID="{7B754711-0B4F-0D45-B464-9B3A4E6B48D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BD13D807-EFA6-024D-8C8E-DB76437150B6}" srcId="{DA8BEBAA-B7AA-B24F-8CA2-B687CD1DA4D6}" destId="{7B754711-0B4F-0D45-B464-9B3A4E6B48D3}" srcOrd="4" destOrd="0" parTransId="{21B8152A-4AD3-9C40-BE28-0A44E3F6145F}" sibTransId="{FD0205A5-7A13-594C-817D-0B76BBC09B61}"/>
    <dgm:cxn modelId="{3023770A-C816-EE40-BA7C-08C2E785F6C4}" srcId="{DA8BEBAA-B7AA-B24F-8CA2-B687CD1DA4D6}" destId="{FEA40640-EDD7-394A-8457-D7844F9794A8}" srcOrd="2" destOrd="0" parTransId="{CC1C798F-387C-8A46-AA93-361DEDB8B120}" sibTransId="{480D5B2F-4391-9249-BF42-5BAB3A5CD110}"/>
    <dgm:cxn modelId="{6AF18213-4DAE-E148-8036-C5B545CCD270}" type="presOf" srcId="{314FF587-956C-9A47-BD9F-59C8AFE2E1B4}" destId="{9E6A915D-49AD-8844-AAFC-45678DB70CD9}" srcOrd="0" destOrd="0" presId="urn:microsoft.com/office/officeart/2005/8/layout/pyramid3"/>
    <dgm:cxn modelId="{3EE69216-D36B-4D4E-9A0B-076D9A6E5F7F}" srcId="{DA8BEBAA-B7AA-B24F-8CA2-B687CD1DA4D6}" destId="{CF7FE7B5-F308-C449-8C32-A6E5FBED9F48}" srcOrd="0" destOrd="0" parTransId="{687CDE0B-8C2F-684B-834B-8C2D33A04C82}" sibTransId="{B335A011-B87B-DE44-87AB-BB0B4E8F746C}"/>
    <dgm:cxn modelId="{403CC027-8692-324A-8CB4-E0846988052C}" type="presOf" srcId="{CF7FE7B5-F308-C449-8C32-A6E5FBED9F48}" destId="{59922067-5ED6-AC45-806D-27AAF5E52651}" srcOrd="0" destOrd="0" presId="urn:microsoft.com/office/officeart/2005/8/layout/pyramid3"/>
    <dgm:cxn modelId="{2D290341-A1B8-0F43-973C-C39B1AC1B1BA}" type="presOf" srcId="{6E6D3EA1-7133-0241-8866-52F2FADB8399}" destId="{100027E0-4F5F-DC45-A15E-2BB69E819E09}" srcOrd="1" destOrd="0" presId="urn:microsoft.com/office/officeart/2005/8/layout/pyramid3"/>
    <dgm:cxn modelId="{1FA19647-2B60-2043-AEF5-AE3012CB2D0D}" type="presOf" srcId="{7B754711-0B4F-0D45-B464-9B3A4E6B48D3}" destId="{154EB1C1-61D4-3749-AC5D-C9F9A851097F}" srcOrd="0" destOrd="0" presId="urn:microsoft.com/office/officeart/2005/8/layout/pyramid3"/>
    <dgm:cxn modelId="{99045151-5BFA-5445-814C-ED1A7971D4ED}" type="presOf" srcId="{7B754711-0B4F-0D45-B464-9B3A4E6B48D3}" destId="{9D79C655-65C4-7144-9F1A-EDFCD1CB5423}" srcOrd="1" destOrd="0" presId="urn:microsoft.com/office/officeart/2005/8/layout/pyramid3"/>
    <dgm:cxn modelId="{283C3987-4A5A-A642-82A4-D27617CE89C8}" type="presOf" srcId="{6E6D3EA1-7133-0241-8866-52F2FADB8399}" destId="{2BDAEEA5-2A15-A847-9115-7A2438F3AAD9}" srcOrd="0" destOrd="0" presId="urn:microsoft.com/office/officeart/2005/8/layout/pyramid3"/>
    <dgm:cxn modelId="{09497194-E5B9-874E-B63F-08FE58EA3495}" type="presOf" srcId="{FEA40640-EDD7-394A-8457-D7844F9794A8}" destId="{FD1304ED-D00B-F44D-AF4F-4BD263F0952A}" srcOrd="1" destOrd="0" presId="urn:microsoft.com/office/officeart/2005/8/layout/pyramid3"/>
    <dgm:cxn modelId="{3E33D0B1-F3D9-2242-9B1A-1B550315F053}" srcId="{DA8BEBAA-B7AA-B24F-8CA2-B687CD1DA4D6}" destId="{314FF587-956C-9A47-BD9F-59C8AFE2E1B4}" srcOrd="1" destOrd="0" parTransId="{79B4E67F-AF77-E34E-B977-D69FD3C80FEC}" sibTransId="{CB58DCF3-E8A7-354E-A2C2-F9C07A4EBABE}"/>
    <dgm:cxn modelId="{0BDD59B2-3FC2-3B4B-8044-CA20E4CD4F7F}" srcId="{DA8BEBAA-B7AA-B24F-8CA2-B687CD1DA4D6}" destId="{6E6D3EA1-7133-0241-8866-52F2FADB8399}" srcOrd="3" destOrd="0" parTransId="{907EBA64-6389-1549-8164-F64D6C9EBD3E}" sibTransId="{2139667B-D368-4E43-949C-99B47674552D}"/>
    <dgm:cxn modelId="{A47E8CD4-25E4-3544-8AE8-2C98FEB22B71}" type="presOf" srcId="{FEA40640-EDD7-394A-8457-D7844F9794A8}" destId="{E9CDF621-EA56-3849-822B-DEB50AB23A32}" srcOrd="0" destOrd="0" presId="urn:microsoft.com/office/officeart/2005/8/layout/pyramid3"/>
    <dgm:cxn modelId="{13E572E2-9BA3-7C41-ACA8-BAF008B64757}" type="presOf" srcId="{314FF587-956C-9A47-BD9F-59C8AFE2E1B4}" destId="{D7017497-A2DE-0A45-A6D4-C02E7735984E}" srcOrd="1" destOrd="0" presId="urn:microsoft.com/office/officeart/2005/8/layout/pyramid3"/>
    <dgm:cxn modelId="{BB3660ED-BA1E-D44C-9BB9-E0B6216F32BE}" type="presOf" srcId="{DA8BEBAA-B7AA-B24F-8CA2-B687CD1DA4D6}" destId="{EBB91154-A8E5-CE41-A90B-8A847393DEF1}" srcOrd="0" destOrd="0" presId="urn:microsoft.com/office/officeart/2005/8/layout/pyramid3"/>
    <dgm:cxn modelId="{9005ACFF-B1EB-B44C-B606-4042D9107661}" type="presOf" srcId="{CF7FE7B5-F308-C449-8C32-A6E5FBED9F48}" destId="{BC239886-1E1D-0148-80BA-026A1A523F63}" srcOrd="1" destOrd="0" presId="urn:microsoft.com/office/officeart/2005/8/layout/pyramid3"/>
    <dgm:cxn modelId="{916AD53A-0222-FF42-AE27-DF21406097B5}" type="presParOf" srcId="{EBB91154-A8E5-CE41-A90B-8A847393DEF1}" destId="{FE68EA1D-C286-8D4C-B6DC-25C73C9DC0BD}" srcOrd="0" destOrd="0" presId="urn:microsoft.com/office/officeart/2005/8/layout/pyramid3"/>
    <dgm:cxn modelId="{FD23ECF6-9946-CF43-BC50-33752D3215AB}" type="presParOf" srcId="{FE68EA1D-C286-8D4C-B6DC-25C73C9DC0BD}" destId="{59922067-5ED6-AC45-806D-27AAF5E52651}" srcOrd="0" destOrd="0" presId="urn:microsoft.com/office/officeart/2005/8/layout/pyramid3"/>
    <dgm:cxn modelId="{641FC5A3-AB9A-8A46-B738-BE0BABC97AC6}" type="presParOf" srcId="{FE68EA1D-C286-8D4C-B6DC-25C73C9DC0BD}" destId="{BC239886-1E1D-0148-80BA-026A1A523F63}" srcOrd="1" destOrd="0" presId="urn:microsoft.com/office/officeart/2005/8/layout/pyramid3"/>
    <dgm:cxn modelId="{A377EE50-F89C-454C-87AD-5BC377174340}" type="presParOf" srcId="{EBB91154-A8E5-CE41-A90B-8A847393DEF1}" destId="{05ADF586-7C49-4544-AA02-890EB631094D}" srcOrd="1" destOrd="0" presId="urn:microsoft.com/office/officeart/2005/8/layout/pyramid3"/>
    <dgm:cxn modelId="{D713141B-5685-004F-A4EB-E52184FB26E6}" type="presParOf" srcId="{05ADF586-7C49-4544-AA02-890EB631094D}" destId="{9E6A915D-49AD-8844-AAFC-45678DB70CD9}" srcOrd="0" destOrd="0" presId="urn:microsoft.com/office/officeart/2005/8/layout/pyramid3"/>
    <dgm:cxn modelId="{3C26EA88-3116-C947-936B-19C1C3B3DEB8}" type="presParOf" srcId="{05ADF586-7C49-4544-AA02-890EB631094D}" destId="{D7017497-A2DE-0A45-A6D4-C02E7735984E}" srcOrd="1" destOrd="0" presId="urn:microsoft.com/office/officeart/2005/8/layout/pyramid3"/>
    <dgm:cxn modelId="{F61584DE-C711-EA48-8DBF-88F16DF9752A}" type="presParOf" srcId="{EBB91154-A8E5-CE41-A90B-8A847393DEF1}" destId="{3BA8545B-168F-0D40-B7F6-C1A76A15104F}" srcOrd="2" destOrd="0" presId="urn:microsoft.com/office/officeart/2005/8/layout/pyramid3"/>
    <dgm:cxn modelId="{9EF602C3-D1A6-904B-942B-8DE4F915BC93}" type="presParOf" srcId="{3BA8545B-168F-0D40-B7F6-C1A76A15104F}" destId="{E9CDF621-EA56-3849-822B-DEB50AB23A32}" srcOrd="0" destOrd="0" presId="urn:microsoft.com/office/officeart/2005/8/layout/pyramid3"/>
    <dgm:cxn modelId="{259AC8FF-D0E9-B642-B3C2-F477F9E3A9AE}" type="presParOf" srcId="{3BA8545B-168F-0D40-B7F6-C1A76A15104F}" destId="{FD1304ED-D00B-F44D-AF4F-4BD263F0952A}" srcOrd="1" destOrd="0" presId="urn:microsoft.com/office/officeart/2005/8/layout/pyramid3"/>
    <dgm:cxn modelId="{D8DDE26A-8914-6844-A51C-773D292295F6}" type="presParOf" srcId="{EBB91154-A8E5-CE41-A90B-8A847393DEF1}" destId="{190580A2-9084-D34E-8F09-AA94274BC4B7}" srcOrd="3" destOrd="0" presId="urn:microsoft.com/office/officeart/2005/8/layout/pyramid3"/>
    <dgm:cxn modelId="{B41CADFF-A3A7-FC44-85CF-B4D2D7B844A4}" type="presParOf" srcId="{190580A2-9084-D34E-8F09-AA94274BC4B7}" destId="{2BDAEEA5-2A15-A847-9115-7A2438F3AAD9}" srcOrd="0" destOrd="0" presId="urn:microsoft.com/office/officeart/2005/8/layout/pyramid3"/>
    <dgm:cxn modelId="{025901A5-7F3C-1948-B951-641ABD9A746D}" type="presParOf" srcId="{190580A2-9084-D34E-8F09-AA94274BC4B7}" destId="{100027E0-4F5F-DC45-A15E-2BB69E819E09}" srcOrd="1" destOrd="0" presId="urn:microsoft.com/office/officeart/2005/8/layout/pyramid3"/>
    <dgm:cxn modelId="{D396093B-7612-6644-B6A3-90D478998FAE}" type="presParOf" srcId="{EBB91154-A8E5-CE41-A90B-8A847393DEF1}" destId="{2FFC7F23-F044-384D-BECD-00ADC1C1602A}" srcOrd="4" destOrd="0" presId="urn:microsoft.com/office/officeart/2005/8/layout/pyramid3"/>
    <dgm:cxn modelId="{088D6520-2C25-6743-960F-7313FB251ACA}" type="presParOf" srcId="{2FFC7F23-F044-384D-BECD-00ADC1C1602A}" destId="{154EB1C1-61D4-3749-AC5D-C9F9A851097F}" srcOrd="0" destOrd="0" presId="urn:microsoft.com/office/officeart/2005/8/layout/pyramid3"/>
    <dgm:cxn modelId="{2B280F3F-1F73-BF49-BFDF-A003ED9DBD53}" type="presParOf" srcId="{2FFC7F23-F044-384D-BECD-00ADC1C1602A}" destId="{9D79C655-65C4-7144-9F1A-EDFCD1CB5423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0DF304-4E2A-4007-90E3-1CE7D4FF1F6D}" type="doc">
      <dgm:prSet loTypeId="urn:microsoft.com/office/officeart/2005/8/layout/process3" loCatId="process" qsTypeId="urn:microsoft.com/office/officeart/2005/8/quickstyle/simple1" qsCatId="simple" csTypeId="urn:microsoft.com/office/officeart/2005/8/colors/accent2_4" csCatId="accent2" phldr="1"/>
      <dgm:spPr/>
    </dgm:pt>
    <dgm:pt modelId="{03AA74B6-D1A0-44EC-BE6A-A077CE0A4007}">
      <dgm:prSet phldrT="[Text]"/>
      <dgm:spPr/>
      <dgm:t>
        <a:bodyPr/>
        <a:lstStyle/>
        <a:p>
          <a:r>
            <a:rPr lang="en-US" dirty="0"/>
            <a:t>Data Streams</a:t>
          </a:r>
        </a:p>
      </dgm:t>
    </dgm:pt>
    <dgm:pt modelId="{C83C8027-9521-46DC-B3D9-CD19CFD91D1D}" type="parTrans" cxnId="{EF9FCC26-8C4E-40BD-AB6D-5E7B962E5732}">
      <dgm:prSet/>
      <dgm:spPr/>
      <dgm:t>
        <a:bodyPr/>
        <a:lstStyle/>
        <a:p>
          <a:endParaRPr lang="en-US"/>
        </a:p>
      </dgm:t>
    </dgm:pt>
    <dgm:pt modelId="{0FF89EA0-8E59-46F0-9ECB-E4668F43ED4F}" type="sibTrans" cxnId="{EF9FCC26-8C4E-40BD-AB6D-5E7B962E5732}">
      <dgm:prSet/>
      <dgm:spPr/>
      <dgm:t>
        <a:bodyPr/>
        <a:lstStyle/>
        <a:p>
          <a:endParaRPr lang="en-US"/>
        </a:p>
      </dgm:t>
    </dgm:pt>
    <dgm:pt modelId="{B067329C-2394-4CE4-8FB2-666F0D2B81C8}">
      <dgm:prSet phldrT="[Text]"/>
      <dgm:spPr/>
      <dgm:t>
        <a:bodyPr/>
        <a:lstStyle/>
        <a:p>
          <a:r>
            <a:rPr lang="en-US" dirty="0"/>
            <a:t>Big Data / Hadoop</a:t>
          </a:r>
        </a:p>
      </dgm:t>
    </dgm:pt>
    <dgm:pt modelId="{7B6BC7FB-3876-49FD-B6BA-A2630FDD3C6A}" type="parTrans" cxnId="{0F3F4D8C-FE7D-4C09-B155-07B58F261B12}">
      <dgm:prSet/>
      <dgm:spPr/>
      <dgm:t>
        <a:bodyPr/>
        <a:lstStyle/>
        <a:p>
          <a:endParaRPr lang="en-US"/>
        </a:p>
      </dgm:t>
    </dgm:pt>
    <dgm:pt modelId="{81DF3300-4B38-429E-8D42-5086BC550ED1}" type="sibTrans" cxnId="{0F3F4D8C-FE7D-4C09-B155-07B58F261B12}">
      <dgm:prSet/>
      <dgm:spPr/>
      <dgm:t>
        <a:bodyPr/>
        <a:lstStyle/>
        <a:p>
          <a:endParaRPr lang="en-US"/>
        </a:p>
      </dgm:t>
    </dgm:pt>
    <dgm:pt modelId="{61A48E5E-DD7C-4FE3-9CE7-D33413DB159B}">
      <dgm:prSet phldrT="[Text]"/>
      <dgm:spPr/>
      <dgm:t>
        <a:bodyPr/>
        <a:lstStyle/>
        <a:p>
          <a:r>
            <a:rPr lang="en-US" dirty="0"/>
            <a:t>Analytics</a:t>
          </a:r>
        </a:p>
      </dgm:t>
    </dgm:pt>
    <dgm:pt modelId="{59E0CB6D-3FBC-40F9-A698-9A16FA776635}" type="parTrans" cxnId="{1E59A1A7-AE11-4397-B748-2EFDB8885999}">
      <dgm:prSet/>
      <dgm:spPr/>
      <dgm:t>
        <a:bodyPr/>
        <a:lstStyle/>
        <a:p>
          <a:endParaRPr lang="en-US"/>
        </a:p>
      </dgm:t>
    </dgm:pt>
    <dgm:pt modelId="{F7C325F3-4930-495A-8243-E4E757461723}" type="sibTrans" cxnId="{1E59A1A7-AE11-4397-B748-2EFDB8885999}">
      <dgm:prSet/>
      <dgm:spPr/>
      <dgm:t>
        <a:bodyPr/>
        <a:lstStyle/>
        <a:p>
          <a:endParaRPr lang="en-US"/>
        </a:p>
      </dgm:t>
    </dgm:pt>
    <dgm:pt modelId="{A9BAB6E2-231C-4048-BB0F-24D11BF089D7}">
      <dgm:prSet/>
      <dgm:spPr/>
      <dgm:t>
        <a:bodyPr/>
        <a:lstStyle/>
        <a:p>
          <a:r>
            <a:rPr lang="en-US" dirty="0"/>
            <a:t>ETL</a:t>
          </a:r>
        </a:p>
      </dgm:t>
    </dgm:pt>
    <dgm:pt modelId="{0D4BE20E-24E1-4D77-A1C8-FA6B525F88D6}" type="parTrans" cxnId="{784721CA-CC45-4970-846E-95C13E903B2F}">
      <dgm:prSet/>
      <dgm:spPr/>
      <dgm:t>
        <a:bodyPr/>
        <a:lstStyle/>
        <a:p>
          <a:endParaRPr lang="en-US"/>
        </a:p>
      </dgm:t>
    </dgm:pt>
    <dgm:pt modelId="{646278CF-9087-4F3E-96C7-81AC4776ED88}" type="sibTrans" cxnId="{784721CA-CC45-4970-846E-95C13E903B2F}">
      <dgm:prSet/>
      <dgm:spPr/>
      <dgm:t>
        <a:bodyPr/>
        <a:lstStyle/>
        <a:p>
          <a:endParaRPr lang="en-US"/>
        </a:p>
      </dgm:t>
    </dgm:pt>
    <dgm:pt modelId="{98E34A55-89CF-45BC-AE4F-CE476C91A693}">
      <dgm:prSet/>
      <dgm:spPr/>
      <dgm:t>
        <a:bodyPr/>
        <a:lstStyle/>
        <a:p>
          <a:r>
            <a:rPr lang="en-US" dirty="0"/>
            <a:t>Data Warehouse</a:t>
          </a:r>
        </a:p>
      </dgm:t>
    </dgm:pt>
    <dgm:pt modelId="{4E4BA214-6377-49FB-A04C-5C539D840676}" type="parTrans" cxnId="{AF5093F6-2797-44A8-B74B-334B3F9CE97E}">
      <dgm:prSet/>
      <dgm:spPr/>
      <dgm:t>
        <a:bodyPr/>
        <a:lstStyle/>
        <a:p>
          <a:endParaRPr lang="en-US"/>
        </a:p>
      </dgm:t>
    </dgm:pt>
    <dgm:pt modelId="{634CF932-7D20-4201-A8D6-C6054A9B7C22}" type="sibTrans" cxnId="{AF5093F6-2797-44A8-B74B-334B3F9CE97E}">
      <dgm:prSet/>
      <dgm:spPr/>
      <dgm:t>
        <a:bodyPr/>
        <a:lstStyle/>
        <a:p>
          <a:endParaRPr lang="en-US"/>
        </a:p>
      </dgm:t>
    </dgm:pt>
    <dgm:pt modelId="{77AA8D84-EBC7-4047-B374-5D8E0E277892}">
      <dgm:prSet/>
      <dgm:spPr/>
      <dgm:t>
        <a:bodyPr/>
        <a:lstStyle/>
        <a:p>
          <a:r>
            <a:rPr lang="en-US" dirty="0"/>
            <a:t>Twitter</a:t>
          </a:r>
        </a:p>
      </dgm:t>
    </dgm:pt>
    <dgm:pt modelId="{ADD4A82F-295F-4AB7-951B-61E15E19F605}" type="parTrans" cxnId="{99E7C2DD-1387-4FE0-B24A-9CDE28C59EA4}">
      <dgm:prSet/>
      <dgm:spPr/>
      <dgm:t>
        <a:bodyPr/>
        <a:lstStyle/>
        <a:p>
          <a:endParaRPr lang="en-US"/>
        </a:p>
      </dgm:t>
    </dgm:pt>
    <dgm:pt modelId="{64562F42-C577-45B0-9A45-81F48BB45264}" type="sibTrans" cxnId="{99E7C2DD-1387-4FE0-B24A-9CDE28C59EA4}">
      <dgm:prSet/>
      <dgm:spPr/>
      <dgm:t>
        <a:bodyPr/>
        <a:lstStyle/>
        <a:p>
          <a:endParaRPr lang="en-US"/>
        </a:p>
      </dgm:t>
    </dgm:pt>
    <dgm:pt modelId="{7C73C4C0-C7DA-4A7A-8925-74EE595889D1}">
      <dgm:prSet/>
      <dgm:spPr/>
      <dgm:t>
        <a:bodyPr/>
        <a:lstStyle/>
        <a:p>
          <a:r>
            <a:rPr lang="en-US" dirty="0"/>
            <a:t>Facebook</a:t>
          </a:r>
        </a:p>
      </dgm:t>
    </dgm:pt>
    <dgm:pt modelId="{F4AF30E9-C12D-48BB-B719-3F65CDEACA9E}" type="parTrans" cxnId="{9CEC0218-65EC-41FF-A8EF-060568BA60B6}">
      <dgm:prSet/>
      <dgm:spPr/>
      <dgm:t>
        <a:bodyPr/>
        <a:lstStyle/>
        <a:p>
          <a:endParaRPr lang="en-US"/>
        </a:p>
      </dgm:t>
    </dgm:pt>
    <dgm:pt modelId="{DF4BDF82-4526-47B5-A6CF-A997675DDC8F}" type="sibTrans" cxnId="{9CEC0218-65EC-41FF-A8EF-060568BA60B6}">
      <dgm:prSet/>
      <dgm:spPr/>
      <dgm:t>
        <a:bodyPr/>
        <a:lstStyle/>
        <a:p>
          <a:endParaRPr lang="en-US"/>
        </a:p>
      </dgm:t>
    </dgm:pt>
    <dgm:pt modelId="{91EDD929-8226-479A-A374-046AAEDAF6C3}">
      <dgm:prSet/>
      <dgm:spPr/>
      <dgm:t>
        <a:bodyPr/>
        <a:lstStyle/>
        <a:p>
          <a:r>
            <a:rPr lang="en-US" dirty="0"/>
            <a:t>Blogs</a:t>
          </a:r>
        </a:p>
      </dgm:t>
    </dgm:pt>
    <dgm:pt modelId="{26763BDB-C65D-430F-94CD-E2001878D192}" type="parTrans" cxnId="{CF020AD8-54B8-441A-AD34-CAB520F5EC95}">
      <dgm:prSet/>
      <dgm:spPr/>
      <dgm:t>
        <a:bodyPr/>
        <a:lstStyle/>
        <a:p>
          <a:endParaRPr lang="en-US"/>
        </a:p>
      </dgm:t>
    </dgm:pt>
    <dgm:pt modelId="{F6708D74-5231-4D7C-BA45-AD1BBB588BF6}" type="sibTrans" cxnId="{CF020AD8-54B8-441A-AD34-CAB520F5EC95}">
      <dgm:prSet/>
      <dgm:spPr/>
      <dgm:t>
        <a:bodyPr/>
        <a:lstStyle/>
        <a:p>
          <a:endParaRPr lang="en-US"/>
        </a:p>
      </dgm:t>
    </dgm:pt>
    <dgm:pt modelId="{73A45945-9844-435E-BDFB-F75BC093CC58}">
      <dgm:prSet/>
      <dgm:spPr/>
      <dgm:t>
        <a:bodyPr/>
        <a:lstStyle/>
        <a:p>
          <a:r>
            <a:rPr lang="en-US" dirty="0"/>
            <a:t>Storage</a:t>
          </a:r>
        </a:p>
      </dgm:t>
    </dgm:pt>
    <dgm:pt modelId="{4B30CC54-3780-44BE-9013-9D7459AADD1C}" type="parTrans" cxnId="{E757F84E-AD8F-4D35-8943-2DBDA6014AA7}">
      <dgm:prSet/>
      <dgm:spPr/>
      <dgm:t>
        <a:bodyPr/>
        <a:lstStyle/>
        <a:p>
          <a:endParaRPr lang="en-US"/>
        </a:p>
      </dgm:t>
    </dgm:pt>
    <dgm:pt modelId="{2A163395-55A5-4FFA-86C9-C58AB7F73274}" type="sibTrans" cxnId="{E757F84E-AD8F-4D35-8943-2DBDA6014AA7}">
      <dgm:prSet/>
      <dgm:spPr/>
      <dgm:t>
        <a:bodyPr/>
        <a:lstStyle/>
        <a:p>
          <a:endParaRPr lang="en-US"/>
        </a:p>
      </dgm:t>
    </dgm:pt>
    <dgm:pt modelId="{86AC58DF-E3E9-41F5-AA31-A817C117E8D0}">
      <dgm:prSet/>
      <dgm:spPr/>
      <dgm:t>
        <a:bodyPr/>
        <a:lstStyle/>
        <a:p>
          <a:r>
            <a:rPr lang="en-US" dirty="0"/>
            <a:t>Processing</a:t>
          </a:r>
        </a:p>
      </dgm:t>
    </dgm:pt>
    <dgm:pt modelId="{B65AEC5A-4A64-4C6A-9497-56F547EF7B47}" type="parTrans" cxnId="{E7D2FBD9-F0D2-44BC-8BBB-C24E96C6C702}">
      <dgm:prSet/>
      <dgm:spPr/>
      <dgm:t>
        <a:bodyPr/>
        <a:lstStyle/>
        <a:p>
          <a:endParaRPr lang="en-US"/>
        </a:p>
      </dgm:t>
    </dgm:pt>
    <dgm:pt modelId="{5BBD611F-79F8-4053-B9A8-8C84E4E9BFA7}" type="sibTrans" cxnId="{E7D2FBD9-F0D2-44BC-8BBB-C24E96C6C702}">
      <dgm:prSet/>
      <dgm:spPr/>
      <dgm:t>
        <a:bodyPr/>
        <a:lstStyle/>
        <a:p>
          <a:endParaRPr lang="en-US"/>
        </a:p>
      </dgm:t>
    </dgm:pt>
    <dgm:pt modelId="{5C88B1E7-1803-47B5-8970-65AF70F17444}">
      <dgm:prSet/>
      <dgm:spPr/>
      <dgm:t>
        <a:bodyPr/>
        <a:lstStyle/>
        <a:p>
          <a:r>
            <a:rPr lang="en-US" dirty="0"/>
            <a:t>Sentiment</a:t>
          </a:r>
        </a:p>
      </dgm:t>
    </dgm:pt>
    <dgm:pt modelId="{551FC36F-967D-418D-80EB-145D64EE0030}" type="parTrans" cxnId="{2E2A8762-C148-46FB-88B8-CAE391060CCD}">
      <dgm:prSet/>
      <dgm:spPr/>
      <dgm:t>
        <a:bodyPr/>
        <a:lstStyle/>
        <a:p>
          <a:endParaRPr lang="en-US"/>
        </a:p>
      </dgm:t>
    </dgm:pt>
    <dgm:pt modelId="{FFF3E05D-88EC-43A7-832B-3961482498A6}" type="sibTrans" cxnId="{2E2A8762-C148-46FB-88B8-CAE391060CCD}">
      <dgm:prSet/>
      <dgm:spPr/>
      <dgm:t>
        <a:bodyPr/>
        <a:lstStyle/>
        <a:p>
          <a:endParaRPr lang="en-US"/>
        </a:p>
      </dgm:t>
    </dgm:pt>
    <dgm:pt modelId="{B2FED346-0FEF-4834-8658-42CE19FBFAB8}">
      <dgm:prSet/>
      <dgm:spPr/>
      <dgm:t>
        <a:bodyPr/>
        <a:lstStyle/>
        <a:p>
          <a:r>
            <a:rPr lang="en-US" dirty="0"/>
            <a:t>SN Metrics</a:t>
          </a:r>
        </a:p>
      </dgm:t>
    </dgm:pt>
    <dgm:pt modelId="{48FEBC82-021E-4BC8-8370-C1AAF20B11DA}" type="parTrans" cxnId="{DDB99966-84C8-4AFF-BEA5-EF571B73CDEB}">
      <dgm:prSet/>
      <dgm:spPr/>
      <dgm:t>
        <a:bodyPr/>
        <a:lstStyle/>
        <a:p>
          <a:endParaRPr lang="en-US"/>
        </a:p>
      </dgm:t>
    </dgm:pt>
    <dgm:pt modelId="{0F049536-E2F4-4741-B51B-7BAC90374369}" type="sibTrans" cxnId="{DDB99966-84C8-4AFF-BEA5-EF571B73CDEB}">
      <dgm:prSet/>
      <dgm:spPr/>
      <dgm:t>
        <a:bodyPr/>
        <a:lstStyle/>
        <a:p>
          <a:endParaRPr lang="en-US"/>
        </a:p>
      </dgm:t>
    </dgm:pt>
    <dgm:pt modelId="{44FF9EB2-5B9E-4751-B603-DCE25A9E3D4D}">
      <dgm:prSet/>
      <dgm:spPr/>
      <dgm:t>
        <a:bodyPr/>
        <a:lstStyle/>
        <a:p>
          <a:r>
            <a:rPr lang="en-US" dirty="0"/>
            <a:t>Match Customer</a:t>
          </a:r>
        </a:p>
      </dgm:t>
    </dgm:pt>
    <dgm:pt modelId="{D72E0BC7-DBAE-4444-8068-2D25DD087437}" type="parTrans" cxnId="{9745EA8C-789A-462C-92C7-CA2D1E6C0A1B}">
      <dgm:prSet/>
      <dgm:spPr/>
      <dgm:t>
        <a:bodyPr/>
        <a:lstStyle/>
        <a:p>
          <a:endParaRPr lang="en-US"/>
        </a:p>
      </dgm:t>
    </dgm:pt>
    <dgm:pt modelId="{6E9CE46F-407C-45A1-B6ED-64471A0A94BE}" type="sibTrans" cxnId="{9745EA8C-789A-462C-92C7-CA2D1E6C0A1B}">
      <dgm:prSet/>
      <dgm:spPr/>
      <dgm:t>
        <a:bodyPr/>
        <a:lstStyle/>
        <a:p>
          <a:endParaRPr lang="en-US"/>
        </a:p>
      </dgm:t>
    </dgm:pt>
    <dgm:pt modelId="{8653EC99-4968-4A16-B2DC-CB7E4839E516}">
      <dgm:prSet/>
      <dgm:spPr/>
      <dgm:t>
        <a:bodyPr/>
        <a:lstStyle/>
        <a:p>
          <a:r>
            <a:rPr lang="en-US" dirty="0"/>
            <a:t>Match Product</a:t>
          </a:r>
        </a:p>
      </dgm:t>
    </dgm:pt>
    <dgm:pt modelId="{8C3F056B-8242-4B9D-B28E-F2AC3FEC3ED5}" type="parTrans" cxnId="{C847C855-B14C-448F-A486-B1BBCFBBB71A}">
      <dgm:prSet/>
      <dgm:spPr/>
      <dgm:t>
        <a:bodyPr/>
        <a:lstStyle/>
        <a:p>
          <a:endParaRPr lang="en-US"/>
        </a:p>
      </dgm:t>
    </dgm:pt>
    <dgm:pt modelId="{3DA47204-5598-4660-AC39-D38C3F3A5233}" type="sibTrans" cxnId="{C847C855-B14C-448F-A486-B1BBCFBBB71A}">
      <dgm:prSet/>
      <dgm:spPr/>
      <dgm:t>
        <a:bodyPr/>
        <a:lstStyle/>
        <a:p>
          <a:endParaRPr lang="en-US"/>
        </a:p>
      </dgm:t>
    </dgm:pt>
    <dgm:pt modelId="{53A8434A-0124-4FAA-A33E-9E456DE54190}">
      <dgm:prSet/>
      <dgm:spPr/>
      <dgm:t>
        <a:bodyPr/>
        <a:lstStyle/>
        <a:p>
          <a:r>
            <a:rPr lang="en-US" dirty="0"/>
            <a:t>Social Metrics enhanced DM</a:t>
          </a:r>
        </a:p>
      </dgm:t>
    </dgm:pt>
    <dgm:pt modelId="{DA5C0609-80BD-4491-A8C9-3D42B95BDD8A}" type="parTrans" cxnId="{9F441DE0-92DE-47D4-A776-B80A0B10AF2E}">
      <dgm:prSet/>
      <dgm:spPr/>
      <dgm:t>
        <a:bodyPr/>
        <a:lstStyle/>
        <a:p>
          <a:endParaRPr lang="en-US"/>
        </a:p>
      </dgm:t>
    </dgm:pt>
    <dgm:pt modelId="{FBF61A49-F52B-4CDA-AE30-37AF80663E45}" type="sibTrans" cxnId="{9F441DE0-92DE-47D4-A776-B80A0B10AF2E}">
      <dgm:prSet/>
      <dgm:spPr/>
      <dgm:t>
        <a:bodyPr/>
        <a:lstStyle/>
        <a:p>
          <a:endParaRPr lang="en-US"/>
        </a:p>
      </dgm:t>
    </dgm:pt>
    <dgm:pt modelId="{60BAF3F3-6F43-4B7A-BF63-1FB388D39C3C}">
      <dgm:prSet/>
      <dgm:spPr/>
      <dgm:t>
        <a:bodyPr/>
        <a:lstStyle/>
        <a:p>
          <a:r>
            <a:rPr lang="en-US" dirty="0"/>
            <a:t>Text Analytics</a:t>
          </a:r>
        </a:p>
      </dgm:t>
    </dgm:pt>
    <dgm:pt modelId="{9E916CCE-A520-492E-B60A-CC7DC978F0B0}" type="parTrans" cxnId="{2490D2A7-3AF6-41AE-955D-68E20C2592F8}">
      <dgm:prSet/>
      <dgm:spPr/>
      <dgm:t>
        <a:bodyPr/>
        <a:lstStyle/>
        <a:p>
          <a:endParaRPr lang="en-US"/>
        </a:p>
      </dgm:t>
    </dgm:pt>
    <dgm:pt modelId="{E66CB804-B67C-4D24-9E47-064D7F55D9C4}" type="sibTrans" cxnId="{2490D2A7-3AF6-41AE-955D-68E20C2592F8}">
      <dgm:prSet/>
      <dgm:spPr/>
      <dgm:t>
        <a:bodyPr/>
        <a:lstStyle/>
        <a:p>
          <a:endParaRPr lang="en-US"/>
        </a:p>
      </dgm:t>
    </dgm:pt>
    <dgm:pt modelId="{BE9CC07B-F162-4F40-8DCC-CD8B1EC09275}">
      <dgm:prSet/>
      <dgm:spPr/>
      <dgm:t>
        <a:bodyPr/>
        <a:lstStyle/>
        <a:p>
          <a:r>
            <a:rPr lang="en-US" dirty="0"/>
            <a:t>Match Promotion etc.</a:t>
          </a:r>
        </a:p>
      </dgm:t>
    </dgm:pt>
    <dgm:pt modelId="{6E4F3B83-D807-4FCB-8CA6-CFCE51F53B6B}" type="parTrans" cxnId="{B562F75F-9FC8-48EA-AC82-DE9C95F8AA0D}">
      <dgm:prSet/>
      <dgm:spPr/>
      <dgm:t>
        <a:bodyPr/>
        <a:lstStyle/>
        <a:p>
          <a:endParaRPr lang="en-US"/>
        </a:p>
      </dgm:t>
    </dgm:pt>
    <dgm:pt modelId="{4AF40CF2-50D5-4A14-A014-E2BE905B0CCA}" type="sibTrans" cxnId="{B562F75F-9FC8-48EA-AC82-DE9C95F8AA0D}">
      <dgm:prSet/>
      <dgm:spPr/>
      <dgm:t>
        <a:bodyPr/>
        <a:lstStyle/>
        <a:p>
          <a:endParaRPr lang="en-US"/>
        </a:p>
      </dgm:t>
    </dgm:pt>
    <dgm:pt modelId="{21B17208-BE09-451E-8D54-1C8D7A8C2EA2}">
      <dgm:prSet/>
      <dgm:spPr/>
      <dgm:t>
        <a:bodyPr/>
        <a:lstStyle/>
        <a:p>
          <a:r>
            <a:rPr lang="en-US" dirty="0"/>
            <a:t>Email response etc.</a:t>
          </a:r>
        </a:p>
      </dgm:t>
    </dgm:pt>
    <dgm:pt modelId="{17987499-B96C-47C5-9FCD-36D9F20B3CD2}" type="parTrans" cxnId="{94CED978-FB74-45EB-8095-B0262441EDEA}">
      <dgm:prSet/>
      <dgm:spPr/>
      <dgm:t>
        <a:bodyPr/>
        <a:lstStyle/>
        <a:p>
          <a:endParaRPr lang="en-US"/>
        </a:p>
      </dgm:t>
    </dgm:pt>
    <dgm:pt modelId="{3BECF5F2-22D6-4C93-ACCE-86BC103711A7}" type="sibTrans" cxnId="{94CED978-FB74-45EB-8095-B0262441EDEA}">
      <dgm:prSet/>
      <dgm:spPr/>
      <dgm:t>
        <a:bodyPr/>
        <a:lstStyle/>
        <a:p>
          <a:endParaRPr lang="en-US"/>
        </a:p>
      </dgm:t>
    </dgm:pt>
    <dgm:pt modelId="{AAA0CBC9-69BA-474F-8964-CC6669C0996C}" type="pres">
      <dgm:prSet presAssocID="{970DF304-4E2A-4007-90E3-1CE7D4FF1F6D}" presName="linearFlow" presStyleCnt="0">
        <dgm:presLayoutVars>
          <dgm:dir/>
          <dgm:animLvl val="lvl"/>
          <dgm:resizeHandles val="exact"/>
        </dgm:presLayoutVars>
      </dgm:prSet>
      <dgm:spPr/>
    </dgm:pt>
    <dgm:pt modelId="{84F37443-F1EB-47BC-9981-A287B439920D}" type="pres">
      <dgm:prSet presAssocID="{03AA74B6-D1A0-44EC-BE6A-A077CE0A4007}" presName="composite" presStyleCnt="0"/>
      <dgm:spPr/>
    </dgm:pt>
    <dgm:pt modelId="{A564042B-4215-49BB-9A37-53ECBC3A8685}" type="pres">
      <dgm:prSet presAssocID="{03AA74B6-D1A0-44EC-BE6A-A077CE0A4007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983B86C-9990-4304-A269-8EE876A43EF9}" type="pres">
      <dgm:prSet presAssocID="{03AA74B6-D1A0-44EC-BE6A-A077CE0A4007}" presName="parSh" presStyleLbl="node1" presStyleIdx="0" presStyleCnt="5"/>
      <dgm:spPr/>
    </dgm:pt>
    <dgm:pt modelId="{1834CBF3-2658-4939-A1F4-22766FE1F2BA}" type="pres">
      <dgm:prSet presAssocID="{03AA74B6-D1A0-44EC-BE6A-A077CE0A4007}" presName="desTx" presStyleLbl="fgAcc1" presStyleIdx="0" presStyleCnt="5">
        <dgm:presLayoutVars>
          <dgm:bulletEnabled val="1"/>
        </dgm:presLayoutVars>
      </dgm:prSet>
      <dgm:spPr/>
    </dgm:pt>
    <dgm:pt modelId="{447F7A74-1234-4701-A44D-8BE54F36D63B}" type="pres">
      <dgm:prSet presAssocID="{0FF89EA0-8E59-46F0-9ECB-E4668F43ED4F}" presName="sibTrans" presStyleLbl="sibTrans2D1" presStyleIdx="0" presStyleCnt="4"/>
      <dgm:spPr/>
    </dgm:pt>
    <dgm:pt modelId="{8596CFFD-AFA9-4059-928C-A700BE2CD0EA}" type="pres">
      <dgm:prSet presAssocID="{0FF89EA0-8E59-46F0-9ECB-E4668F43ED4F}" presName="connTx" presStyleLbl="sibTrans2D1" presStyleIdx="0" presStyleCnt="4"/>
      <dgm:spPr/>
    </dgm:pt>
    <dgm:pt modelId="{6C52A310-6CE6-47A5-8BB5-2553AFF7125A}" type="pres">
      <dgm:prSet presAssocID="{B067329C-2394-4CE4-8FB2-666F0D2B81C8}" presName="composite" presStyleCnt="0"/>
      <dgm:spPr/>
    </dgm:pt>
    <dgm:pt modelId="{5F3665FF-733E-49AB-93DE-E14A79E26857}" type="pres">
      <dgm:prSet presAssocID="{B067329C-2394-4CE4-8FB2-666F0D2B81C8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9BE48CD3-6C99-416B-8996-FFD615597A78}" type="pres">
      <dgm:prSet presAssocID="{B067329C-2394-4CE4-8FB2-666F0D2B81C8}" presName="parSh" presStyleLbl="node1" presStyleIdx="1" presStyleCnt="5"/>
      <dgm:spPr/>
    </dgm:pt>
    <dgm:pt modelId="{A66947C1-29E4-44CE-9D1C-B28A4FFA06C8}" type="pres">
      <dgm:prSet presAssocID="{B067329C-2394-4CE4-8FB2-666F0D2B81C8}" presName="desTx" presStyleLbl="fgAcc1" presStyleIdx="1" presStyleCnt="5">
        <dgm:presLayoutVars>
          <dgm:bulletEnabled val="1"/>
        </dgm:presLayoutVars>
      </dgm:prSet>
      <dgm:spPr/>
    </dgm:pt>
    <dgm:pt modelId="{4B817595-88CA-496E-9593-18AEC8804319}" type="pres">
      <dgm:prSet presAssocID="{81DF3300-4B38-429E-8D42-5086BC550ED1}" presName="sibTrans" presStyleLbl="sibTrans2D1" presStyleIdx="1" presStyleCnt="4"/>
      <dgm:spPr/>
    </dgm:pt>
    <dgm:pt modelId="{1DA236EB-0325-40D4-BE89-E21D2D319FAA}" type="pres">
      <dgm:prSet presAssocID="{81DF3300-4B38-429E-8D42-5086BC550ED1}" presName="connTx" presStyleLbl="sibTrans2D1" presStyleIdx="1" presStyleCnt="4"/>
      <dgm:spPr/>
    </dgm:pt>
    <dgm:pt modelId="{7EF3600A-AD99-46C6-B8F2-B5976E9B6ECC}" type="pres">
      <dgm:prSet presAssocID="{61A48E5E-DD7C-4FE3-9CE7-D33413DB159B}" presName="composite" presStyleCnt="0"/>
      <dgm:spPr/>
    </dgm:pt>
    <dgm:pt modelId="{5B1547C4-24D8-4B77-9DCE-C32D5CB4D06A}" type="pres">
      <dgm:prSet presAssocID="{61A48E5E-DD7C-4FE3-9CE7-D33413DB159B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BD0DF03-A92D-475B-8AE3-93A928989FCD}" type="pres">
      <dgm:prSet presAssocID="{61A48E5E-DD7C-4FE3-9CE7-D33413DB159B}" presName="parSh" presStyleLbl="node1" presStyleIdx="2" presStyleCnt="5"/>
      <dgm:spPr/>
    </dgm:pt>
    <dgm:pt modelId="{E6885D34-D3A4-4CE0-9F0B-B7BEF25240F5}" type="pres">
      <dgm:prSet presAssocID="{61A48E5E-DD7C-4FE3-9CE7-D33413DB159B}" presName="desTx" presStyleLbl="fgAcc1" presStyleIdx="2" presStyleCnt="5">
        <dgm:presLayoutVars>
          <dgm:bulletEnabled val="1"/>
        </dgm:presLayoutVars>
      </dgm:prSet>
      <dgm:spPr/>
    </dgm:pt>
    <dgm:pt modelId="{9D59AE68-46DC-477B-8276-3FB6C4C21F1D}" type="pres">
      <dgm:prSet presAssocID="{F7C325F3-4930-495A-8243-E4E757461723}" presName="sibTrans" presStyleLbl="sibTrans2D1" presStyleIdx="2" presStyleCnt="4"/>
      <dgm:spPr/>
    </dgm:pt>
    <dgm:pt modelId="{DD023C60-E702-460B-8C8E-CE9A738B9D76}" type="pres">
      <dgm:prSet presAssocID="{F7C325F3-4930-495A-8243-E4E757461723}" presName="connTx" presStyleLbl="sibTrans2D1" presStyleIdx="2" presStyleCnt="4"/>
      <dgm:spPr/>
    </dgm:pt>
    <dgm:pt modelId="{79748817-7F35-49A9-B42D-693152E784EB}" type="pres">
      <dgm:prSet presAssocID="{A9BAB6E2-231C-4048-BB0F-24D11BF089D7}" presName="composite" presStyleCnt="0"/>
      <dgm:spPr/>
    </dgm:pt>
    <dgm:pt modelId="{54CFE635-A937-4AD2-B4C9-35168C381DD1}" type="pres">
      <dgm:prSet presAssocID="{A9BAB6E2-231C-4048-BB0F-24D11BF089D7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89B82FD8-25F0-46AE-9300-E5F62C2B01AA}" type="pres">
      <dgm:prSet presAssocID="{A9BAB6E2-231C-4048-BB0F-24D11BF089D7}" presName="parSh" presStyleLbl="node1" presStyleIdx="3" presStyleCnt="5"/>
      <dgm:spPr/>
    </dgm:pt>
    <dgm:pt modelId="{983AD9A2-7328-4647-8ACC-EC44D81D9A56}" type="pres">
      <dgm:prSet presAssocID="{A9BAB6E2-231C-4048-BB0F-24D11BF089D7}" presName="desTx" presStyleLbl="fgAcc1" presStyleIdx="3" presStyleCnt="5" custLinFactNeighborX="-578" custLinFactNeighborY="-1803">
        <dgm:presLayoutVars>
          <dgm:bulletEnabled val="1"/>
        </dgm:presLayoutVars>
      </dgm:prSet>
      <dgm:spPr/>
    </dgm:pt>
    <dgm:pt modelId="{27C28C75-FC8F-4DAB-AA3E-95111919C523}" type="pres">
      <dgm:prSet presAssocID="{646278CF-9087-4F3E-96C7-81AC4776ED88}" presName="sibTrans" presStyleLbl="sibTrans2D1" presStyleIdx="3" presStyleCnt="4"/>
      <dgm:spPr/>
    </dgm:pt>
    <dgm:pt modelId="{0734A508-4F17-4B60-AB10-EB5EBA21AB45}" type="pres">
      <dgm:prSet presAssocID="{646278CF-9087-4F3E-96C7-81AC4776ED88}" presName="connTx" presStyleLbl="sibTrans2D1" presStyleIdx="3" presStyleCnt="4"/>
      <dgm:spPr/>
    </dgm:pt>
    <dgm:pt modelId="{5DB4E11A-FB64-42E3-AF32-8B592A3FB708}" type="pres">
      <dgm:prSet presAssocID="{98E34A55-89CF-45BC-AE4F-CE476C91A693}" presName="composite" presStyleCnt="0"/>
      <dgm:spPr/>
    </dgm:pt>
    <dgm:pt modelId="{E0196DE2-0A31-4DA0-BEA0-F0E2C139DA0D}" type="pres">
      <dgm:prSet presAssocID="{98E34A55-89CF-45BC-AE4F-CE476C91A693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6F4D1B6C-7135-4F78-9EF9-D07CF557DC16}" type="pres">
      <dgm:prSet presAssocID="{98E34A55-89CF-45BC-AE4F-CE476C91A693}" presName="parSh" presStyleLbl="node1" presStyleIdx="4" presStyleCnt="5"/>
      <dgm:spPr/>
    </dgm:pt>
    <dgm:pt modelId="{C9D0D763-F2C4-4A70-A26B-E992FE23BF46}" type="pres">
      <dgm:prSet presAssocID="{98E34A55-89CF-45BC-AE4F-CE476C91A693}" presName="desTx" presStyleLbl="fgAcc1" presStyleIdx="4" presStyleCnt="5">
        <dgm:presLayoutVars>
          <dgm:bulletEnabled val="1"/>
        </dgm:presLayoutVars>
      </dgm:prSet>
      <dgm:spPr/>
    </dgm:pt>
  </dgm:ptLst>
  <dgm:cxnLst>
    <dgm:cxn modelId="{90EF5201-CF72-44FB-A353-E4D4B03F1B17}" type="presOf" srcId="{98E34A55-89CF-45BC-AE4F-CE476C91A693}" destId="{E0196DE2-0A31-4DA0-BEA0-F0E2C139DA0D}" srcOrd="0" destOrd="0" presId="urn:microsoft.com/office/officeart/2005/8/layout/process3"/>
    <dgm:cxn modelId="{9CEC0218-65EC-41FF-A8EF-060568BA60B6}" srcId="{03AA74B6-D1A0-44EC-BE6A-A077CE0A4007}" destId="{7C73C4C0-C7DA-4A7A-8925-74EE595889D1}" srcOrd="1" destOrd="0" parTransId="{F4AF30E9-C12D-48BB-B719-3F65CDEACA9E}" sibTransId="{DF4BDF82-4526-47B5-A6CF-A997675DDC8F}"/>
    <dgm:cxn modelId="{EF9FCC26-8C4E-40BD-AB6D-5E7B962E5732}" srcId="{970DF304-4E2A-4007-90E3-1CE7D4FF1F6D}" destId="{03AA74B6-D1A0-44EC-BE6A-A077CE0A4007}" srcOrd="0" destOrd="0" parTransId="{C83C8027-9521-46DC-B3D9-CD19CFD91D1D}" sibTransId="{0FF89EA0-8E59-46F0-9ECB-E4668F43ED4F}"/>
    <dgm:cxn modelId="{74C32E37-48E3-4701-B785-63FAFD6F807D}" type="presOf" srcId="{0FF89EA0-8E59-46F0-9ECB-E4668F43ED4F}" destId="{8596CFFD-AFA9-4059-928C-A700BE2CD0EA}" srcOrd="1" destOrd="0" presId="urn:microsoft.com/office/officeart/2005/8/layout/process3"/>
    <dgm:cxn modelId="{3DBD3349-7156-4CE2-8255-DA81B63BACAB}" type="presOf" srcId="{60BAF3F3-6F43-4B7A-BF63-1FB388D39C3C}" destId="{E6885D34-D3A4-4CE0-9F0B-B7BEF25240F5}" srcOrd="0" destOrd="2" presId="urn:microsoft.com/office/officeart/2005/8/layout/process3"/>
    <dgm:cxn modelId="{2922594D-A94D-44CC-A938-94BA27D3607A}" type="presOf" srcId="{03AA74B6-D1A0-44EC-BE6A-A077CE0A4007}" destId="{4983B86C-9990-4304-A269-8EE876A43EF9}" srcOrd="1" destOrd="0" presId="urn:microsoft.com/office/officeart/2005/8/layout/process3"/>
    <dgm:cxn modelId="{E757F84E-AD8F-4D35-8943-2DBDA6014AA7}" srcId="{B067329C-2394-4CE4-8FB2-666F0D2B81C8}" destId="{73A45945-9844-435E-BDFB-F75BC093CC58}" srcOrd="0" destOrd="0" parTransId="{4B30CC54-3780-44BE-9013-9D7459AADD1C}" sibTransId="{2A163395-55A5-4FFA-86C9-C58AB7F73274}"/>
    <dgm:cxn modelId="{C847C855-B14C-448F-A486-B1BBCFBBB71A}" srcId="{A9BAB6E2-231C-4048-BB0F-24D11BF089D7}" destId="{8653EC99-4968-4A16-B2DC-CB7E4839E516}" srcOrd="1" destOrd="0" parTransId="{8C3F056B-8242-4B9D-B28E-F2AC3FEC3ED5}" sibTransId="{3DA47204-5598-4660-AC39-D38C3F3A5233}"/>
    <dgm:cxn modelId="{9079E656-0B06-4554-B33C-59B55AD5084D}" type="presOf" srcId="{8653EC99-4968-4A16-B2DC-CB7E4839E516}" destId="{983AD9A2-7328-4647-8ACC-EC44D81D9A56}" srcOrd="0" destOrd="1" presId="urn:microsoft.com/office/officeart/2005/8/layout/process3"/>
    <dgm:cxn modelId="{E001EB5F-E9A5-479D-AF14-99474497BCF7}" type="presOf" srcId="{91EDD929-8226-479A-A374-046AAEDAF6C3}" destId="{1834CBF3-2658-4939-A1F4-22766FE1F2BA}" srcOrd="0" destOrd="2" presId="urn:microsoft.com/office/officeart/2005/8/layout/process3"/>
    <dgm:cxn modelId="{B562F75F-9FC8-48EA-AC82-DE9C95F8AA0D}" srcId="{A9BAB6E2-231C-4048-BB0F-24D11BF089D7}" destId="{BE9CC07B-F162-4F40-8DCC-CD8B1EC09275}" srcOrd="2" destOrd="0" parTransId="{6E4F3B83-D807-4FCB-8CA6-CFCE51F53B6B}" sibTransId="{4AF40CF2-50D5-4A14-A014-E2BE905B0CCA}"/>
    <dgm:cxn modelId="{2E2A8762-C148-46FB-88B8-CAE391060CCD}" srcId="{61A48E5E-DD7C-4FE3-9CE7-D33413DB159B}" destId="{5C88B1E7-1803-47B5-8970-65AF70F17444}" srcOrd="0" destOrd="0" parTransId="{551FC36F-967D-418D-80EB-145D64EE0030}" sibTransId="{FFF3E05D-88EC-43A7-832B-3961482498A6}"/>
    <dgm:cxn modelId="{D06A0C64-6E87-4829-9972-1B8D4D93467B}" type="presOf" srcId="{21B17208-BE09-451E-8D54-1C8D7A8C2EA2}" destId="{1834CBF3-2658-4939-A1F4-22766FE1F2BA}" srcOrd="0" destOrd="3" presId="urn:microsoft.com/office/officeart/2005/8/layout/process3"/>
    <dgm:cxn modelId="{DDB99966-84C8-4AFF-BEA5-EF571B73CDEB}" srcId="{61A48E5E-DD7C-4FE3-9CE7-D33413DB159B}" destId="{B2FED346-0FEF-4834-8658-42CE19FBFAB8}" srcOrd="1" destOrd="0" parTransId="{48FEBC82-021E-4BC8-8370-C1AAF20B11DA}" sibTransId="{0F049536-E2F4-4741-B51B-7BAC90374369}"/>
    <dgm:cxn modelId="{FFAF276A-8ACF-464A-8033-4C30572C8022}" type="presOf" srcId="{44FF9EB2-5B9E-4751-B603-DCE25A9E3D4D}" destId="{983AD9A2-7328-4647-8ACC-EC44D81D9A56}" srcOrd="0" destOrd="0" presId="urn:microsoft.com/office/officeart/2005/8/layout/process3"/>
    <dgm:cxn modelId="{8789B66E-A492-4441-B46A-9E4622B9ED2C}" type="presOf" srcId="{81DF3300-4B38-429E-8D42-5086BC550ED1}" destId="{1DA236EB-0325-40D4-BE89-E21D2D319FAA}" srcOrd="1" destOrd="0" presId="urn:microsoft.com/office/officeart/2005/8/layout/process3"/>
    <dgm:cxn modelId="{AEA83572-3C7B-4F34-9BA6-14CE0CD4D6BF}" type="presOf" srcId="{B067329C-2394-4CE4-8FB2-666F0D2B81C8}" destId="{9BE48CD3-6C99-416B-8996-FFD615597A78}" srcOrd="1" destOrd="0" presId="urn:microsoft.com/office/officeart/2005/8/layout/process3"/>
    <dgm:cxn modelId="{7929A575-4CEA-449E-92F9-C41E5557A858}" type="presOf" srcId="{81DF3300-4B38-429E-8D42-5086BC550ED1}" destId="{4B817595-88CA-496E-9593-18AEC8804319}" srcOrd="0" destOrd="0" presId="urn:microsoft.com/office/officeart/2005/8/layout/process3"/>
    <dgm:cxn modelId="{94CED978-FB74-45EB-8095-B0262441EDEA}" srcId="{03AA74B6-D1A0-44EC-BE6A-A077CE0A4007}" destId="{21B17208-BE09-451E-8D54-1C8D7A8C2EA2}" srcOrd="3" destOrd="0" parTransId="{17987499-B96C-47C5-9FCD-36D9F20B3CD2}" sibTransId="{3BECF5F2-22D6-4C93-ACCE-86BC103711A7}"/>
    <dgm:cxn modelId="{0F3F4D8C-FE7D-4C09-B155-07B58F261B12}" srcId="{970DF304-4E2A-4007-90E3-1CE7D4FF1F6D}" destId="{B067329C-2394-4CE4-8FB2-666F0D2B81C8}" srcOrd="1" destOrd="0" parTransId="{7B6BC7FB-3876-49FD-B6BA-A2630FDD3C6A}" sibTransId="{81DF3300-4B38-429E-8D42-5086BC550ED1}"/>
    <dgm:cxn modelId="{9745EA8C-789A-462C-92C7-CA2D1E6C0A1B}" srcId="{A9BAB6E2-231C-4048-BB0F-24D11BF089D7}" destId="{44FF9EB2-5B9E-4751-B603-DCE25A9E3D4D}" srcOrd="0" destOrd="0" parTransId="{D72E0BC7-DBAE-4444-8068-2D25DD087437}" sibTransId="{6E9CE46F-407C-45A1-B6ED-64471A0A94BE}"/>
    <dgm:cxn modelId="{31DC2192-B9E6-4CFF-A234-A06B002D38F5}" type="presOf" srcId="{5C88B1E7-1803-47B5-8970-65AF70F17444}" destId="{E6885D34-D3A4-4CE0-9F0B-B7BEF25240F5}" srcOrd="0" destOrd="0" presId="urn:microsoft.com/office/officeart/2005/8/layout/process3"/>
    <dgm:cxn modelId="{CDA6DD95-9504-41B6-A2C8-07E066452756}" type="presOf" srcId="{61A48E5E-DD7C-4FE3-9CE7-D33413DB159B}" destId="{7BD0DF03-A92D-475B-8AE3-93A928989FCD}" srcOrd="1" destOrd="0" presId="urn:microsoft.com/office/officeart/2005/8/layout/process3"/>
    <dgm:cxn modelId="{7022D599-C5D2-4C6E-A7AA-D45C8CEF5C8A}" type="presOf" srcId="{B067329C-2394-4CE4-8FB2-666F0D2B81C8}" destId="{5F3665FF-733E-49AB-93DE-E14A79E26857}" srcOrd="0" destOrd="0" presId="urn:microsoft.com/office/officeart/2005/8/layout/process3"/>
    <dgm:cxn modelId="{1356B69B-ADB9-4089-8C54-3452443FA860}" type="presOf" srcId="{86AC58DF-E3E9-41F5-AA31-A817C117E8D0}" destId="{A66947C1-29E4-44CE-9D1C-B28A4FFA06C8}" srcOrd="0" destOrd="1" presId="urn:microsoft.com/office/officeart/2005/8/layout/process3"/>
    <dgm:cxn modelId="{49AC269C-E4F7-4B1E-9B9E-CC04B60C4729}" type="presOf" srcId="{BE9CC07B-F162-4F40-8DCC-CD8B1EC09275}" destId="{983AD9A2-7328-4647-8ACC-EC44D81D9A56}" srcOrd="0" destOrd="2" presId="urn:microsoft.com/office/officeart/2005/8/layout/process3"/>
    <dgm:cxn modelId="{1E59A1A7-AE11-4397-B748-2EFDB8885999}" srcId="{970DF304-4E2A-4007-90E3-1CE7D4FF1F6D}" destId="{61A48E5E-DD7C-4FE3-9CE7-D33413DB159B}" srcOrd="2" destOrd="0" parTransId="{59E0CB6D-3FBC-40F9-A698-9A16FA776635}" sibTransId="{F7C325F3-4930-495A-8243-E4E757461723}"/>
    <dgm:cxn modelId="{2490D2A7-3AF6-41AE-955D-68E20C2592F8}" srcId="{61A48E5E-DD7C-4FE3-9CE7-D33413DB159B}" destId="{60BAF3F3-6F43-4B7A-BF63-1FB388D39C3C}" srcOrd="2" destOrd="0" parTransId="{9E916CCE-A520-492E-B60A-CC7DC978F0B0}" sibTransId="{E66CB804-B67C-4D24-9E47-064D7F55D9C4}"/>
    <dgm:cxn modelId="{91152DAD-615C-454F-941D-9A688B34E54C}" type="presOf" srcId="{B2FED346-0FEF-4834-8658-42CE19FBFAB8}" destId="{E6885D34-D3A4-4CE0-9F0B-B7BEF25240F5}" srcOrd="0" destOrd="1" presId="urn:microsoft.com/office/officeart/2005/8/layout/process3"/>
    <dgm:cxn modelId="{30433AAE-2838-424B-B407-ECE51DE3E9F4}" type="presOf" srcId="{A9BAB6E2-231C-4048-BB0F-24D11BF089D7}" destId="{89B82FD8-25F0-46AE-9300-E5F62C2B01AA}" srcOrd="1" destOrd="0" presId="urn:microsoft.com/office/officeart/2005/8/layout/process3"/>
    <dgm:cxn modelId="{710542B6-02E5-4F4B-BAA6-F3BBB59599E5}" type="presOf" srcId="{0FF89EA0-8E59-46F0-9ECB-E4668F43ED4F}" destId="{447F7A74-1234-4701-A44D-8BE54F36D63B}" srcOrd="0" destOrd="0" presId="urn:microsoft.com/office/officeart/2005/8/layout/process3"/>
    <dgm:cxn modelId="{D4272CB9-3BAD-4506-8CF0-3D322A711B2B}" type="presOf" srcId="{53A8434A-0124-4FAA-A33E-9E456DE54190}" destId="{C9D0D763-F2C4-4A70-A26B-E992FE23BF46}" srcOrd="0" destOrd="0" presId="urn:microsoft.com/office/officeart/2005/8/layout/process3"/>
    <dgm:cxn modelId="{D9DC6FC0-D2E8-43E7-8327-1490449C8DA8}" type="presOf" srcId="{970DF304-4E2A-4007-90E3-1CE7D4FF1F6D}" destId="{AAA0CBC9-69BA-474F-8964-CC6669C0996C}" srcOrd="0" destOrd="0" presId="urn:microsoft.com/office/officeart/2005/8/layout/process3"/>
    <dgm:cxn modelId="{490862C9-8CAB-45B6-A7FC-B725D2F930C0}" type="presOf" srcId="{F7C325F3-4930-495A-8243-E4E757461723}" destId="{9D59AE68-46DC-477B-8276-3FB6C4C21F1D}" srcOrd="0" destOrd="0" presId="urn:microsoft.com/office/officeart/2005/8/layout/process3"/>
    <dgm:cxn modelId="{784721CA-CC45-4970-846E-95C13E903B2F}" srcId="{970DF304-4E2A-4007-90E3-1CE7D4FF1F6D}" destId="{A9BAB6E2-231C-4048-BB0F-24D11BF089D7}" srcOrd="3" destOrd="0" parTransId="{0D4BE20E-24E1-4D77-A1C8-FA6B525F88D6}" sibTransId="{646278CF-9087-4F3E-96C7-81AC4776ED88}"/>
    <dgm:cxn modelId="{41C769CA-FE10-47E6-A50B-3D2B6AA6F63C}" type="presOf" srcId="{646278CF-9087-4F3E-96C7-81AC4776ED88}" destId="{0734A508-4F17-4B60-AB10-EB5EBA21AB45}" srcOrd="1" destOrd="0" presId="urn:microsoft.com/office/officeart/2005/8/layout/process3"/>
    <dgm:cxn modelId="{E52568CB-4484-4452-A9A0-325864558035}" type="presOf" srcId="{7C73C4C0-C7DA-4A7A-8925-74EE595889D1}" destId="{1834CBF3-2658-4939-A1F4-22766FE1F2BA}" srcOrd="0" destOrd="1" presId="urn:microsoft.com/office/officeart/2005/8/layout/process3"/>
    <dgm:cxn modelId="{B21E93D1-5450-4415-9354-80ED95B7FE9C}" type="presOf" srcId="{F7C325F3-4930-495A-8243-E4E757461723}" destId="{DD023C60-E702-460B-8C8E-CE9A738B9D76}" srcOrd="1" destOrd="0" presId="urn:microsoft.com/office/officeart/2005/8/layout/process3"/>
    <dgm:cxn modelId="{DF3A5FD2-2FB2-40A1-BB8E-CC3BCF92D888}" type="presOf" srcId="{77AA8D84-EBC7-4047-B374-5D8E0E277892}" destId="{1834CBF3-2658-4939-A1F4-22766FE1F2BA}" srcOrd="0" destOrd="0" presId="urn:microsoft.com/office/officeart/2005/8/layout/process3"/>
    <dgm:cxn modelId="{CF020AD8-54B8-441A-AD34-CAB520F5EC95}" srcId="{03AA74B6-D1A0-44EC-BE6A-A077CE0A4007}" destId="{91EDD929-8226-479A-A374-046AAEDAF6C3}" srcOrd="2" destOrd="0" parTransId="{26763BDB-C65D-430F-94CD-E2001878D192}" sibTransId="{F6708D74-5231-4D7C-BA45-AD1BBB588BF6}"/>
    <dgm:cxn modelId="{E7D2FBD9-F0D2-44BC-8BBB-C24E96C6C702}" srcId="{B067329C-2394-4CE4-8FB2-666F0D2B81C8}" destId="{86AC58DF-E3E9-41F5-AA31-A817C117E8D0}" srcOrd="1" destOrd="0" parTransId="{B65AEC5A-4A64-4C6A-9497-56F547EF7B47}" sibTransId="{5BBD611F-79F8-4053-B9A8-8C84E4E9BFA7}"/>
    <dgm:cxn modelId="{99E7C2DD-1387-4FE0-B24A-9CDE28C59EA4}" srcId="{03AA74B6-D1A0-44EC-BE6A-A077CE0A4007}" destId="{77AA8D84-EBC7-4047-B374-5D8E0E277892}" srcOrd="0" destOrd="0" parTransId="{ADD4A82F-295F-4AB7-951B-61E15E19F605}" sibTransId="{64562F42-C577-45B0-9A45-81F48BB45264}"/>
    <dgm:cxn modelId="{9F441DE0-92DE-47D4-A776-B80A0B10AF2E}" srcId="{98E34A55-89CF-45BC-AE4F-CE476C91A693}" destId="{53A8434A-0124-4FAA-A33E-9E456DE54190}" srcOrd="0" destOrd="0" parTransId="{DA5C0609-80BD-4491-A8C9-3D42B95BDD8A}" sibTransId="{FBF61A49-F52B-4CDA-AE30-37AF80663E45}"/>
    <dgm:cxn modelId="{041FF5E2-8244-42E3-85E1-B778F35EC768}" type="presOf" srcId="{73A45945-9844-435E-BDFB-F75BC093CC58}" destId="{A66947C1-29E4-44CE-9D1C-B28A4FFA06C8}" srcOrd="0" destOrd="0" presId="urn:microsoft.com/office/officeart/2005/8/layout/process3"/>
    <dgm:cxn modelId="{71BB8BE5-C5B5-4C75-9F10-13EFAA5E9769}" type="presOf" srcId="{98E34A55-89CF-45BC-AE4F-CE476C91A693}" destId="{6F4D1B6C-7135-4F78-9EF9-D07CF557DC16}" srcOrd="1" destOrd="0" presId="urn:microsoft.com/office/officeart/2005/8/layout/process3"/>
    <dgm:cxn modelId="{3CD044F2-06A7-4BC9-81BA-BC1E4D343B0C}" type="presOf" srcId="{61A48E5E-DD7C-4FE3-9CE7-D33413DB159B}" destId="{5B1547C4-24D8-4B77-9DCE-C32D5CB4D06A}" srcOrd="0" destOrd="0" presId="urn:microsoft.com/office/officeart/2005/8/layout/process3"/>
    <dgm:cxn modelId="{8C643BF3-5F17-4113-9D3A-90545B05A647}" type="presOf" srcId="{03AA74B6-D1A0-44EC-BE6A-A077CE0A4007}" destId="{A564042B-4215-49BB-9A37-53ECBC3A8685}" srcOrd="0" destOrd="0" presId="urn:microsoft.com/office/officeart/2005/8/layout/process3"/>
    <dgm:cxn modelId="{AF5093F6-2797-44A8-B74B-334B3F9CE97E}" srcId="{970DF304-4E2A-4007-90E3-1CE7D4FF1F6D}" destId="{98E34A55-89CF-45BC-AE4F-CE476C91A693}" srcOrd="4" destOrd="0" parTransId="{4E4BA214-6377-49FB-A04C-5C539D840676}" sibTransId="{634CF932-7D20-4201-A8D6-C6054A9B7C22}"/>
    <dgm:cxn modelId="{34C406FB-B03B-4DDC-A8D7-5C77D63D1660}" type="presOf" srcId="{A9BAB6E2-231C-4048-BB0F-24D11BF089D7}" destId="{54CFE635-A937-4AD2-B4C9-35168C381DD1}" srcOrd="0" destOrd="0" presId="urn:microsoft.com/office/officeart/2005/8/layout/process3"/>
    <dgm:cxn modelId="{CADC89FC-971E-45CB-AE5E-1CCAC20795D1}" type="presOf" srcId="{646278CF-9087-4F3E-96C7-81AC4776ED88}" destId="{27C28C75-FC8F-4DAB-AA3E-95111919C523}" srcOrd="0" destOrd="0" presId="urn:microsoft.com/office/officeart/2005/8/layout/process3"/>
    <dgm:cxn modelId="{E9294907-656F-44B0-9B5F-88C35961A8FB}" type="presParOf" srcId="{AAA0CBC9-69BA-474F-8964-CC6669C0996C}" destId="{84F37443-F1EB-47BC-9981-A287B439920D}" srcOrd="0" destOrd="0" presId="urn:microsoft.com/office/officeart/2005/8/layout/process3"/>
    <dgm:cxn modelId="{F1F2140E-24AA-4FAC-8FAC-0EB607615005}" type="presParOf" srcId="{84F37443-F1EB-47BC-9981-A287B439920D}" destId="{A564042B-4215-49BB-9A37-53ECBC3A8685}" srcOrd="0" destOrd="0" presId="urn:microsoft.com/office/officeart/2005/8/layout/process3"/>
    <dgm:cxn modelId="{E9E7F240-628E-4984-8B49-E8B81EDBDC6A}" type="presParOf" srcId="{84F37443-F1EB-47BC-9981-A287B439920D}" destId="{4983B86C-9990-4304-A269-8EE876A43EF9}" srcOrd="1" destOrd="0" presId="urn:microsoft.com/office/officeart/2005/8/layout/process3"/>
    <dgm:cxn modelId="{9C770B3B-9C15-4C66-8D24-8881E3EF3C01}" type="presParOf" srcId="{84F37443-F1EB-47BC-9981-A287B439920D}" destId="{1834CBF3-2658-4939-A1F4-22766FE1F2BA}" srcOrd="2" destOrd="0" presId="urn:microsoft.com/office/officeart/2005/8/layout/process3"/>
    <dgm:cxn modelId="{88E335E9-52D0-4E01-8F60-E134722B7934}" type="presParOf" srcId="{AAA0CBC9-69BA-474F-8964-CC6669C0996C}" destId="{447F7A74-1234-4701-A44D-8BE54F36D63B}" srcOrd="1" destOrd="0" presId="urn:microsoft.com/office/officeart/2005/8/layout/process3"/>
    <dgm:cxn modelId="{C1E06CBA-55E4-470E-AB96-E1AFB9ECADB4}" type="presParOf" srcId="{447F7A74-1234-4701-A44D-8BE54F36D63B}" destId="{8596CFFD-AFA9-4059-928C-A700BE2CD0EA}" srcOrd="0" destOrd="0" presId="urn:microsoft.com/office/officeart/2005/8/layout/process3"/>
    <dgm:cxn modelId="{A3C3F944-9A7B-46C1-863F-06B11CABF14B}" type="presParOf" srcId="{AAA0CBC9-69BA-474F-8964-CC6669C0996C}" destId="{6C52A310-6CE6-47A5-8BB5-2553AFF7125A}" srcOrd="2" destOrd="0" presId="urn:microsoft.com/office/officeart/2005/8/layout/process3"/>
    <dgm:cxn modelId="{BAC80538-C09A-47C1-8180-2E1888397774}" type="presParOf" srcId="{6C52A310-6CE6-47A5-8BB5-2553AFF7125A}" destId="{5F3665FF-733E-49AB-93DE-E14A79E26857}" srcOrd="0" destOrd="0" presId="urn:microsoft.com/office/officeart/2005/8/layout/process3"/>
    <dgm:cxn modelId="{74E3235E-8226-4F53-9987-B026A3A49B15}" type="presParOf" srcId="{6C52A310-6CE6-47A5-8BB5-2553AFF7125A}" destId="{9BE48CD3-6C99-416B-8996-FFD615597A78}" srcOrd="1" destOrd="0" presId="urn:microsoft.com/office/officeart/2005/8/layout/process3"/>
    <dgm:cxn modelId="{2B6F9679-8E7C-4F1A-B7B7-DEC72D242960}" type="presParOf" srcId="{6C52A310-6CE6-47A5-8BB5-2553AFF7125A}" destId="{A66947C1-29E4-44CE-9D1C-B28A4FFA06C8}" srcOrd="2" destOrd="0" presId="urn:microsoft.com/office/officeart/2005/8/layout/process3"/>
    <dgm:cxn modelId="{B56252B5-5CF4-4F4B-9442-C27DFFFC7D54}" type="presParOf" srcId="{AAA0CBC9-69BA-474F-8964-CC6669C0996C}" destId="{4B817595-88CA-496E-9593-18AEC8804319}" srcOrd="3" destOrd="0" presId="urn:microsoft.com/office/officeart/2005/8/layout/process3"/>
    <dgm:cxn modelId="{590B4B8F-272F-4E6B-984C-2B25ACA72E80}" type="presParOf" srcId="{4B817595-88CA-496E-9593-18AEC8804319}" destId="{1DA236EB-0325-40D4-BE89-E21D2D319FAA}" srcOrd="0" destOrd="0" presId="urn:microsoft.com/office/officeart/2005/8/layout/process3"/>
    <dgm:cxn modelId="{C8C7822C-3B44-45BF-B880-2CA5FB316C6E}" type="presParOf" srcId="{AAA0CBC9-69BA-474F-8964-CC6669C0996C}" destId="{7EF3600A-AD99-46C6-B8F2-B5976E9B6ECC}" srcOrd="4" destOrd="0" presId="urn:microsoft.com/office/officeart/2005/8/layout/process3"/>
    <dgm:cxn modelId="{4E81480A-C910-4CC5-9BC0-ED1FD5E7914D}" type="presParOf" srcId="{7EF3600A-AD99-46C6-B8F2-B5976E9B6ECC}" destId="{5B1547C4-24D8-4B77-9DCE-C32D5CB4D06A}" srcOrd="0" destOrd="0" presId="urn:microsoft.com/office/officeart/2005/8/layout/process3"/>
    <dgm:cxn modelId="{2C306100-4506-4AB0-8E28-DFDE23443735}" type="presParOf" srcId="{7EF3600A-AD99-46C6-B8F2-B5976E9B6ECC}" destId="{7BD0DF03-A92D-475B-8AE3-93A928989FCD}" srcOrd="1" destOrd="0" presId="urn:microsoft.com/office/officeart/2005/8/layout/process3"/>
    <dgm:cxn modelId="{205238F1-7D58-46DA-B094-B95DDC083984}" type="presParOf" srcId="{7EF3600A-AD99-46C6-B8F2-B5976E9B6ECC}" destId="{E6885D34-D3A4-4CE0-9F0B-B7BEF25240F5}" srcOrd="2" destOrd="0" presId="urn:microsoft.com/office/officeart/2005/8/layout/process3"/>
    <dgm:cxn modelId="{8B0282EB-8D91-465E-8B73-8210D8FE2683}" type="presParOf" srcId="{AAA0CBC9-69BA-474F-8964-CC6669C0996C}" destId="{9D59AE68-46DC-477B-8276-3FB6C4C21F1D}" srcOrd="5" destOrd="0" presId="urn:microsoft.com/office/officeart/2005/8/layout/process3"/>
    <dgm:cxn modelId="{FD1C6F1B-8D16-4C1D-87BD-C080E65A6006}" type="presParOf" srcId="{9D59AE68-46DC-477B-8276-3FB6C4C21F1D}" destId="{DD023C60-E702-460B-8C8E-CE9A738B9D76}" srcOrd="0" destOrd="0" presId="urn:microsoft.com/office/officeart/2005/8/layout/process3"/>
    <dgm:cxn modelId="{C45CACC5-0F84-47E8-AC07-4901959FEFD4}" type="presParOf" srcId="{AAA0CBC9-69BA-474F-8964-CC6669C0996C}" destId="{79748817-7F35-49A9-B42D-693152E784EB}" srcOrd="6" destOrd="0" presId="urn:microsoft.com/office/officeart/2005/8/layout/process3"/>
    <dgm:cxn modelId="{153CF0E9-781D-40FE-8AE6-B1FC6C3B1CB2}" type="presParOf" srcId="{79748817-7F35-49A9-B42D-693152E784EB}" destId="{54CFE635-A937-4AD2-B4C9-35168C381DD1}" srcOrd="0" destOrd="0" presId="urn:microsoft.com/office/officeart/2005/8/layout/process3"/>
    <dgm:cxn modelId="{81EBAF95-489B-45BD-95D6-35E3382D60F2}" type="presParOf" srcId="{79748817-7F35-49A9-B42D-693152E784EB}" destId="{89B82FD8-25F0-46AE-9300-E5F62C2B01AA}" srcOrd="1" destOrd="0" presId="urn:microsoft.com/office/officeart/2005/8/layout/process3"/>
    <dgm:cxn modelId="{D4E5701D-DDA6-4A46-BC26-1133C618299B}" type="presParOf" srcId="{79748817-7F35-49A9-B42D-693152E784EB}" destId="{983AD9A2-7328-4647-8ACC-EC44D81D9A56}" srcOrd="2" destOrd="0" presId="urn:microsoft.com/office/officeart/2005/8/layout/process3"/>
    <dgm:cxn modelId="{8B98C011-F984-43AF-BE01-F59D6EEECDE2}" type="presParOf" srcId="{AAA0CBC9-69BA-474F-8964-CC6669C0996C}" destId="{27C28C75-FC8F-4DAB-AA3E-95111919C523}" srcOrd="7" destOrd="0" presId="urn:microsoft.com/office/officeart/2005/8/layout/process3"/>
    <dgm:cxn modelId="{0EAEF3BA-B268-4581-AEF1-4DB9C1D2D951}" type="presParOf" srcId="{27C28C75-FC8F-4DAB-AA3E-95111919C523}" destId="{0734A508-4F17-4B60-AB10-EB5EBA21AB45}" srcOrd="0" destOrd="0" presId="urn:microsoft.com/office/officeart/2005/8/layout/process3"/>
    <dgm:cxn modelId="{7296202A-D122-48B2-B5E5-DFBDEC087591}" type="presParOf" srcId="{AAA0CBC9-69BA-474F-8964-CC6669C0996C}" destId="{5DB4E11A-FB64-42E3-AF32-8B592A3FB708}" srcOrd="8" destOrd="0" presId="urn:microsoft.com/office/officeart/2005/8/layout/process3"/>
    <dgm:cxn modelId="{81CFF0F4-5442-4236-A5B5-463F61FA242E}" type="presParOf" srcId="{5DB4E11A-FB64-42E3-AF32-8B592A3FB708}" destId="{E0196DE2-0A31-4DA0-BEA0-F0E2C139DA0D}" srcOrd="0" destOrd="0" presId="urn:microsoft.com/office/officeart/2005/8/layout/process3"/>
    <dgm:cxn modelId="{41BCE650-B194-4074-B353-70A556BEB577}" type="presParOf" srcId="{5DB4E11A-FB64-42E3-AF32-8B592A3FB708}" destId="{6F4D1B6C-7135-4F78-9EF9-D07CF557DC16}" srcOrd="1" destOrd="0" presId="urn:microsoft.com/office/officeart/2005/8/layout/process3"/>
    <dgm:cxn modelId="{79F1B407-7053-4603-AFC0-6857BAA0F180}" type="presParOf" srcId="{5DB4E11A-FB64-42E3-AF32-8B592A3FB708}" destId="{C9D0D763-F2C4-4A70-A26B-E992FE23BF46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3AB9F8-FF60-418C-AAEB-66454F2DB77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9792267-83EF-486B-9F2D-20ADE841013B}">
      <dgm:prSet/>
      <dgm:spPr/>
      <dgm:t>
        <a:bodyPr/>
        <a:lstStyle/>
        <a:p>
          <a:r>
            <a:rPr lang="en-US"/>
            <a:t>Distribution Styles</a:t>
          </a:r>
        </a:p>
      </dgm:t>
    </dgm:pt>
    <dgm:pt modelId="{81C38CBE-AAD1-44D4-B55E-9B15B2EC419F}" type="parTrans" cxnId="{B59EB637-A41A-4C26-9BA3-E3FBC950E0DA}">
      <dgm:prSet/>
      <dgm:spPr/>
      <dgm:t>
        <a:bodyPr/>
        <a:lstStyle/>
        <a:p>
          <a:endParaRPr lang="en-US"/>
        </a:p>
      </dgm:t>
    </dgm:pt>
    <dgm:pt modelId="{80DC86CD-DB3D-43CC-BA37-9328BCE24DB2}" type="sibTrans" cxnId="{B59EB637-A41A-4C26-9BA3-E3FBC950E0DA}">
      <dgm:prSet/>
      <dgm:spPr/>
      <dgm:t>
        <a:bodyPr/>
        <a:lstStyle/>
        <a:p>
          <a:endParaRPr lang="en-US"/>
        </a:p>
      </dgm:t>
    </dgm:pt>
    <dgm:pt modelId="{E8FB8BE6-07B3-47B9-BA20-967315DBF5BE}">
      <dgm:prSet/>
      <dgm:spPr/>
      <dgm:t>
        <a:bodyPr/>
        <a:lstStyle/>
        <a:p>
          <a:r>
            <a:rPr lang="en-US"/>
            <a:t>Even: Evenly distributed, use when no joins</a:t>
          </a:r>
        </a:p>
      </dgm:t>
    </dgm:pt>
    <dgm:pt modelId="{E54A0F6B-0CAA-43A3-A72B-21E162F464AE}" type="parTrans" cxnId="{1F588F2B-2379-4661-8D78-5D5DD34E6485}">
      <dgm:prSet/>
      <dgm:spPr/>
      <dgm:t>
        <a:bodyPr/>
        <a:lstStyle/>
        <a:p>
          <a:endParaRPr lang="en-US"/>
        </a:p>
      </dgm:t>
    </dgm:pt>
    <dgm:pt modelId="{D6676888-C1CD-4960-973F-EA3CC4048DE3}" type="sibTrans" cxnId="{1F588F2B-2379-4661-8D78-5D5DD34E6485}">
      <dgm:prSet/>
      <dgm:spPr/>
      <dgm:t>
        <a:bodyPr/>
        <a:lstStyle/>
        <a:p>
          <a:endParaRPr lang="en-US"/>
        </a:p>
      </dgm:t>
    </dgm:pt>
    <dgm:pt modelId="{A0AF8B96-5C98-4E88-8742-EB64428323D9}">
      <dgm:prSet/>
      <dgm:spPr/>
      <dgm:t>
        <a:bodyPr/>
        <a:lstStyle/>
        <a:p>
          <a:r>
            <a:rPr lang="en-US" dirty="0"/>
            <a:t>Key: Based on Key column</a:t>
          </a:r>
        </a:p>
      </dgm:t>
    </dgm:pt>
    <dgm:pt modelId="{E3BCD3A3-A97B-439F-B098-A1811749B22E}" type="parTrans" cxnId="{EF07CA06-D018-4579-9F68-2013CEECB353}">
      <dgm:prSet/>
      <dgm:spPr/>
      <dgm:t>
        <a:bodyPr/>
        <a:lstStyle/>
        <a:p>
          <a:endParaRPr lang="en-US"/>
        </a:p>
      </dgm:t>
    </dgm:pt>
    <dgm:pt modelId="{0E36BFFA-5688-4E01-A4DB-AC1099867F79}" type="sibTrans" cxnId="{EF07CA06-D018-4579-9F68-2013CEECB353}">
      <dgm:prSet/>
      <dgm:spPr/>
      <dgm:t>
        <a:bodyPr/>
        <a:lstStyle/>
        <a:p>
          <a:endParaRPr lang="en-US"/>
        </a:p>
      </dgm:t>
    </dgm:pt>
    <dgm:pt modelId="{417FB786-EE33-4C7E-906E-DB375DE8A90B}">
      <dgm:prSet/>
      <dgm:spPr/>
      <dgm:t>
        <a:bodyPr/>
        <a:lstStyle/>
        <a:p>
          <a:r>
            <a:rPr lang="en-US" dirty="0"/>
            <a:t>All: Entire table, every node</a:t>
          </a:r>
        </a:p>
      </dgm:t>
    </dgm:pt>
    <dgm:pt modelId="{16554C3A-4D2F-4DEB-93B1-4ED3B3A70B8F}" type="parTrans" cxnId="{446B830E-19CC-459B-B23C-530874FD36C1}">
      <dgm:prSet/>
      <dgm:spPr/>
      <dgm:t>
        <a:bodyPr/>
        <a:lstStyle/>
        <a:p>
          <a:endParaRPr lang="en-US"/>
        </a:p>
      </dgm:t>
    </dgm:pt>
    <dgm:pt modelId="{B300D3EE-9BF8-45FE-9D2D-C894B6B0212B}" type="sibTrans" cxnId="{446B830E-19CC-459B-B23C-530874FD36C1}">
      <dgm:prSet/>
      <dgm:spPr/>
      <dgm:t>
        <a:bodyPr/>
        <a:lstStyle/>
        <a:p>
          <a:endParaRPr lang="en-US"/>
        </a:p>
      </dgm:t>
    </dgm:pt>
    <dgm:pt modelId="{5FCFED98-0E63-4A61-A090-832FE81FC037}">
      <dgm:prSet/>
      <dgm:spPr/>
      <dgm:t>
        <a:bodyPr/>
        <a:lstStyle/>
        <a:p>
          <a:r>
            <a:rPr lang="en-US"/>
            <a:t>Auto: All or Even based on table size</a:t>
          </a:r>
        </a:p>
      </dgm:t>
    </dgm:pt>
    <dgm:pt modelId="{4269BEE9-0597-40E2-8DB6-FE786CCD2792}" type="parTrans" cxnId="{9605219C-C2B0-4B73-8960-B8A63A4C2C0A}">
      <dgm:prSet/>
      <dgm:spPr/>
      <dgm:t>
        <a:bodyPr/>
        <a:lstStyle/>
        <a:p>
          <a:endParaRPr lang="en-US"/>
        </a:p>
      </dgm:t>
    </dgm:pt>
    <dgm:pt modelId="{6BE148F7-E333-468F-97F9-CFA5E3FE4229}" type="sibTrans" cxnId="{9605219C-C2B0-4B73-8960-B8A63A4C2C0A}">
      <dgm:prSet/>
      <dgm:spPr/>
      <dgm:t>
        <a:bodyPr/>
        <a:lstStyle/>
        <a:p>
          <a:endParaRPr lang="en-US"/>
        </a:p>
      </dgm:t>
    </dgm:pt>
    <dgm:pt modelId="{F5AD8AFE-806E-4FF7-AA36-7C14E9994513}">
      <dgm:prSet/>
      <dgm:spPr/>
      <dgm:t>
        <a:bodyPr/>
        <a:lstStyle/>
        <a:p>
          <a:r>
            <a:rPr lang="en-US"/>
            <a:t>Distribution Style</a:t>
          </a:r>
        </a:p>
      </dgm:t>
    </dgm:pt>
    <dgm:pt modelId="{1790CA13-90EB-49DC-A575-4F2A486A237C}" type="parTrans" cxnId="{10CD75AC-1684-4137-854A-610761A8DEBE}">
      <dgm:prSet/>
      <dgm:spPr/>
      <dgm:t>
        <a:bodyPr/>
        <a:lstStyle/>
        <a:p>
          <a:endParaRPr lang="en-US"/>
        </a:p>
      </dgm:t>
    </dgm:pt>
    <dgm:pt modelId="{02385B07-BC24-4E28-9477-2925D8C2CF04}" type="sibTrans" cxnId="{10CD75AC-1684-4137-854A-610761A8DEBE}">
      <dgm:prSet/>
      <dgm:spPr/>
      <dgm:t>
        <a:bodyPr/>
        <a:lstStyle/>
        <a:p>
          <a:endParaRPr lang="en-US"/>
        </a:p>
      </dgm:t>
    </dgm:pt>
    <dgm:pt modelId="{205098BA-5608-48FE-9B30-E53025482BD3}">
      <dgm:prSet/>
      <dgm:spPr/>
      <dgm:t>
        <a:bodyPr/>
        <a:lstStyle/>
        <a:p>
          <a:r>
            <a:rPr lang="en-US"/>
            <a:t>Fact Table: Order; Distribution style: Even; Order rows distributed evenly across nodes. Joins require cross node computation</a:t>
          </a:r>
        </a:p>
      </dgm:t>
    </dgm:pt>
    <dgm:pt modelId="{BA91E782-CF5A-46D0-9245-F0B2D5C73F76}" type="parTrans" cxnId="{D6A916AD-99D6-457A-AE44-5436B3D89C1C}">
      <dgm:prSet/>
      <dgm:spPr/>
      <dgm:t>
        <a:bodyPr/>
        <a:lstStyle/>
        <a:p>
          <a:endParaRPr lang="en-US"/>
        </a:p>
      </dgm:t>
    </dgm:pt>
    <dgm:pt modelId="{9127F770-61F3-498A-B24F-F0D92267099D}" type="sibTrans" cxnId="{D6A916AD-99D6-457A-AE44-5436B3D89C1C}">
      <dgm:prSet/>
      <dgm:spPr/>
      <dgm:t>
        <a:bodyPr/>
        <a:lstStyle/>
        <a:p>
          <a:endParaRPr lang="en-US"/>
        </a:p>
      </dgm:t>
    </dgm:pt>
    <dgm:pt modelId="{F2CB9034-0D19-4E56-BA44-FD8119D63652}">
      <dgm:prSet/>
      <dgm:spPr/>
      <dgm:t>
        <a:bodyPr/>
        <a:lstStyle/>
        <a:p>
          <a:r>
            <a:rPr lang="en-US" dirty="0"/>
            <a:t>Fact Table: Order; Distribution style: Key (</a:t>
          </a:r>
          <a:r>
            <a:rPr lang="en-US" dirty="0" err="1"/>
            <a:t>CustID</a:t>
          </a:r>
          <a:r>
            <a:rPr lang="en-US" dirty="0"/>
            <a:t>); Customer and orders co-located, joins are on same node</a:t>
          </a:r>
        </a:p>
      </dgm:t>
    </dgm:pt>
    <dgm:pt modelId="{7B46FC38-2B99-4490-978D-4545C9CE5423}" type="parTrans" cxnId="{955D929B-3353-4276-87FC-7922CEEF0641}">
      <dgm:prSet/>
      <dgm:spPr/>
      <dgm:t>
        <a:bodyPr/>
        <a:lstStyle/>
        <a:p>
          <a:endParaRPr lang="en-US"/>
        </a:p>
      </dgm:t>
    </dgm:pt>
    <dgm:pt modelId="{1805730C-0B8F-4FA7-9AC0-2B570A7C09DC}" type="sibTrans" cxnId="{955D929B-3353-4276-87FC-7922CEEF0641}">
      <dgm:prSet/>
      <dgm:spPr/>
      <dgm:t>
        <a:bodyPr/>
        <a:lstStyle/>
        <a:p>
          <a:endParaRPr lang="en-US"/>
        </a:p>
      </dgm:t>
    </dgm:pt>
    <dgm:pt modelId="{655CADC2-68C5-4B8A-A7E3-499E8A8C1B66}">
      <dgm:prSet/>
      <dgm:spPr/>
      <dgm:t>
        <a:bodyPr/>
        <a:lstStyle/>
        <a:p>
          <a:r>
            <a:rPr lang="en-US" dirty="0"/>
            <a:t>“choose the foreign key for the largest frequently joined dimension as a distribution key”</a:t>
          </a:r>
        </a:p>
      </dgm:t>
    </dgm:pt>
    <dgm:pt modelId="{46CADF1C-3846-460D-8EE7-83954EF1D171}" type="parTrans" cxnId="{09A43C8F-D220-441A-9462-C2364D96BDA5}">
      <dgm:prSet/>
      <dgm:spPr/>
      <dgm:t>
        <a:bodyPr/>
        <a:lstStyle/>
        <a:p>
          <a:endParaRPr lang="en-US"/>
        </a:p>
      </dgm:t>
    </dgm:pt>
    <dgm:pt modelId="{9F447BC4-40D8-4EB7-B2E5-81F0735A346C}" type="sibTrans" cxnId="{09A43C8F-D220-441A-9462-C2364D96BDA5}">
      <dgm:prSet/>
      <dgm:spPr/>
      <dgm:t>
        <a:bodyPr/>
        <a:lstStyle/>
        <a:p>
          <a:endParaRPr lang="en-US"/>
        </a:p>
      </dgm:t>
    </dgm:pt>
    <dgm:pt modelId="{1A1686F6-2B55-4B98-8666-73C248054DA0}">
      <dgm:prSet/>
      <dgm:spPr/>
      <dgm:t>
        <a:bodyPr/>
        <a:lstStyle/>
        <a:p>
          <a:r>
            <a:rPr lang="en-US" dirty="0"/>
            <a:t>Small Dimension Table: Use All (Why?)</a:t>
          </a:r>
        </a:p>
      </dgm:t>
    </dgm:pt>
    <dgm:pt modelId="{87EB6CF1-B400-44C6-832C-FDA6F6538CD8}" type="parTrans" cxnId="{2DE59BB1-4A34-40FE-A122-6B6D79BEB44A}">
      <dgm:prSet/>
      <dgm:spPr/>
      <dgm:t>
        <a:bodyPr/>
        <a:lstStyle/>
        <a:p>
          <a:endParaRPr lang="en-US"/>
        </a:p>
      </dgm:t>
    </dgm:pt>
    <dgm:pt modelId="{60E88641-E383-44A8-953B-AAA1B869BDBD}" type="sibTrans" cxnId="{2DE59BB1-4A34-40FE-A122-6B6D79BEB44A}">
      <dgm:prSet/>
      <dgm:spPr/>
      <dgm:t>
        <a:bodyPr/>
        <a:lstStyle/>
        <a:p>
          <a:endParaRPr lang="en-US"/>
        </a:p>
      </dgm:t>
    </dgm:pt>
    <dgm:pt modelId="{97DB4EDF-1866-461B-8DF8-46FB7354F0C3}" type="pres">
      <dgm:prSet presAssocID="{A73AB9F8-FF60-418C-AAEB-66454F2DB778}" presName="linear" presStyleCnt="0">
        <dgm:presLayoutVars>
          <dgm:dir/>
          <dgm:animLvl val="lvl"/>
          <dgm:resizeHandles val="exact"/>
        </dgm:presLayoutVars>
      </dgm:prSet>
      <dgm:spPr/>
    </dgm:pt>
    <dgm:pt modelId="{76607226-A954-400E-AD95-A9342661FB76}" type="pres">
      <dgm:prSet presAssocID="{09792267-83EF-486B-9F2D-20ADE841013B}" presName="parentLin" presStyleCnt="0"/>
      <dgm:spPr/>
    </dgm:pt>
    <dgm:pt modelId="{A2E2CB35-C487-4F4D-8871-2E605EE01DAD}" type="pres">
      <dgm:prSet presAssocID="{09792267-83EF-486B-9F2D-20ADE841013B}" presName="parentLeftMargin" presStyleLbl="node1" presStyleIdx="0" presStyleCnt="2"/>
      <dgm:spPr/>
    </dgm:pt>
    <dgm:pt modelId="{E3126F8E-0072-4C01-B925-C3CC5C759E04}" type="pres">
      <dgm:prSet presAssocID="{09792267-83EF-486B-9F2D-20ADE841013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AFFD76C-8F42-48FE-B5B3-624BA846DAED}" type="pres">
      <dgm:prSet presAssocID="{09792267-83EF-486B-9F2D-20ADE841013B}" presName="negativeSpace" presStyleCnt="0"/>
      <dgm:spPr/>
    </dgm:pt>
    <dgm:pt modelId="{D58E0B78-9E37-4901-9C35-3E83E5BFE571}" type="pres">
      <dgm:prSet presAssocID="{09792267-83EF-486B-9F2D-20ADE841013B}" presName="childText" presStyleLbl="conFgAcc1" presStyleIdx="0" presStyleCnt="2">
        <dgm:presLayoutVars>
          <dgm:bulletEnabled val="1"/>
        </dgm:presLayoutVars>
      </dgm:prSet>
      <dgm:spPr/>
    </dgm:pt>
    <dgm:pt modelId="{2E33EB76-AA6E-4319-AB67-ABDC60BE3FF1}" type="pres">
      <dgm:prSet presAssocID="{80DC86CD-DB3D-43CC-BA37-9328BCE24DB2}" presName="spaceBetweenRectangles" presStyleCnt="0"/>
      <dgm:spPr/>
    </dgm:pt>
    <dgm:pt modelId="{CE8FF985-323B-4E91-A17A-DB93DADFC27F}" type="pres">
      <dgm:prSet presAssocID="{F5AD8AFE-806E-4FF7-AA36-7C14E9994513}" presName="parentLin" presStyleCnt="0"/>
      <dgm:spPr/>
    </dgm:pt>
    <dgm:pt modelId="{82887CC1-426A-453E-BD9E-28912269BC46}" type="pres">
      <dgm:prSet presAssocID="{F5AD8AFE-806E-4FF7-AA36-7C14E9994513}" presName="parentLeftMargin" presStyleLbl="node1" presStyleIdx="0" presStyleCnt="2"/>
      <dgm:spPr/>
    </dgm:pt>
    <dgm:pt modelId="{9F2508A3-8E65-423D-B62D-745F0E1CEE4E}" type="pres">
      <dgm:prSet presAssocID="{F5AD8AFE-806E-4FF7-AA36-7C14E999451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2744DF0-EBE1-4DAB-B1D7-1F243C278B68}" type="pres">
      <dgm:prSet presAssocID="{F5AD8AFE-806E-4FF7-AA36-7C14E9994513}" presName="negativeSpace" presStyleCnt="0"/>
      <dgm:spPr/>
    </dgm:pt>
    <dgm:pt modelId="{4568AEC5-B61C-40A3-A70A-C40756F8BBC7}" type="pres">
      <dgm:prSet presAssocID="{F5AD8AFE-806E-4FF7-AA36-7C14E999451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F07CA06-D018-4579-9F68-2013CEECB353}" srcId="{09792267-83EF-486B-9F2D-20ADE841013B}" destId="{A0AF8B96-5C98-4E88-8742-EB64428323D9}" srcOrd="1" destOrd="0" parTransId="{E3BCD3A3-A97B-439F-B098-A1811749B22E}" sibTransId="{0E36BFFA-5688-4E01-A4DB-AC1099867F79}"/>
    <dgm:cxn modelId="{446B830E-19CC-459B-B23C-530874FD36C1}" srcId="{09792267-83EF-486B-9F2D-20ADE841013B}" destId="{417FB786-EE33-4C7E-906E-DB375DE8A90B}" srcOrd="2" destOrd="0" parTransId="{16554C3A-4D2F-4DEB-93B1-4ED3B3A70B8F}" sibTransId="{B300D3EE-9BF8-45FE-9D2D-C894B6B0212B}"/>
    <dgm:cxn modelId="{A052D91D-6448-44AF-AC8A-F5F72868F915}" type="presOf" srcId="{A73AB9F8-FF60-418C-AAEB-66454F2DB778}" destId="{97DB4EDF-1866-461B-8DF8-46FB7354F0C3}" srcOrd="0" destOrd="0" presId="urn:microsoft.com/office/officeart/2005/8/layout/list1"/>
    <dgm:cxn modelId="{1F588F2B-2379-4661-8D78-5D5DD34E6485}" srcId="{09792267-83EF-486B-9F2D-20ADE841013B}" destId="{E8FB8BE6-07B3-47B9-BA20-967315DBF5BE}" srcOrd="0" destOrd="0" parTransId="{E54A0F6B-0CAA-43A3-A72B-21E162F464AE}" sibTransId="{D6676888-C1CD-4960-973F-EA3CC4048DE3}"/>
    <dgm:cxn modelId="{B59EB637-A41A-4C26-9BA3-E3FBC950E0DA}" srcId="{A73AB9F8-FF60-418C-AAEB-66454F2DB778}" destId="{09792267-83EF-486B-9F2D-20ADE841013B}" srcOrd="0" destOrd="0" parTransId="{81C38CBE-AAD1-44D4-B55E-9B15B2EC419F}" sibTransId="{80DC86CD-DB3D-43CC-BA37-9328BCE24DB2}"/>
    <dgm:cxn modelId="{6220DC3B-3E52-4DD7-B369-7601401D40EC}" type="presOf" srcId="{09792267-83EF-486B-9F2D-20ADE841013B}" destId="{A2E2CB35-C487-4F4D-8871-2E605EE01DAD}" srcOrd="0" destOrd="0" presId="urn:microsoft.com/office/officeart/2005/8/layout/list1"/>
    <dgm:cxn modelId="{8F62484A-A883-4B27-BF7A-8E44520D5952}" type="presOf" srcId="{F5AD8AFE-806E-4FF7-AA36-7C14E9994513}" destId="{82887CC1-426A-453E-BD9E-28912269BC46}" srcOrd="0" destOrd="0" presId="urn:microsoft.com/office/officeart/2005/8/layout/list1"/>
    <dgm:cxn modelId="{55699163-E541-4880-9B29-7927B0335ECD}" type="presOf" srcId="{A0AF8B96-5C98-4E88-8742-EB64428323D9}" destId="{D58E0B78-9E37-4901-9C35-3E83E5BFE571}" srcOrd="0" destOrd="1" presId="urn:microsoft.com/office/officeart/2005/8/layout/list1"/>
    <dgm:cxn modelId="{55EBCD7C-9602-4F82-B9F9-857E4E8977A5}" type="presOf" srcId="{5FCFED98-0E63-4A61-A090-832FE81FC037}" destId="{D58E0B78-9E37-4901-9C35-3E83E5BFE571}" srcOrd="0" destOrd="3" presId="urn:microsoft.com/office/officeart/2005/8/layout/list1"/>
    <dgm:cxn modelId="{946F5281-0231-490C-9D0C-538DBAABC4A4}" type="presOf" srcId="{205098BA-5608-48FE-9B30-E53025482BD3}" destId="{4568AEC5-B61C-40A3-A70A-C40756F8BBC7}" srcOrd="0" destOrd="0" presId="urn:microsoft.com/office/officeart/2005/8/layout/list1"/>
    <dgm:cxn modelId="{D977CA81-CA42-471A-BE4A-BEE8E73B7F65}" type="presOf" srcId="{F5AD8AFE-806E-4FF7-AA36-7C14E9994513}" destId="{9F2508A3-8E65-423D-B62D-745F0E1CEE4E}" srcOrd="1" destOrd="0" presId="urn:microsoft.com/office/officeart/2005/8/layout/list1"/>
    <dgm:cxn modelId="{ECB28C82-2FBB-4B69-A471-91B47F157FDB}" type="presOf" srcId="{417FB786-EE33-4C7E-906E-DB375DE8A90B}" destId="{D58E0B78-9E37-4901-9C35-3E83E5BFE571}" srcOrd="0" destOrd="2" presId="urn:microsoft.com/office/officeart/2005/8/layout/list1"/>
    <dgm:cxn modelId="{448D078B-1F75-4A46-8DB5-31111F63B414}" type="presOf" srcId="{1A1686F6-2B55-4B98-8666-73C248054DA0}" destId="{4568AEC5-B61C-40A3-A70A-C40756F8BBC7}" srcOrd="0" destOrd="3" presId="urn:microsoft.com/office/officeart/2005/8/layout/list1"/>
    <dgm:cxn modelId="{09A43C8F-D220-441A-9462-C2364D96BDA5}" srcId="{F5AD8AFE-806E-4FF7-AA36-7C14E9994513}" destId="{655CADC2-68C5-4B8A-A7E3-499E8A8C1B66}" srcOrd="2" destOrd="0" parTransId="{46CADF1C-3846-460D-8EE7-83954EF1D171}" sibTransId="{9F447BC4-40D8-4EB7-B2E5-81F0735A346C}"/>
    <dgm:cxn modelId="{955D929B-3353-4276-87FC-7922CEEF0641}" srcId="{F5AD8AFE-806E-4FF7-AA36-7C14E9994513}" destId="{F2CB9034-0D19-4E56-BA44-FD8119D63652}" srcOrd="1" destOrd="0" parTransId="{7B46FC38-2B99-4490-978D-4545C9CE5423}" sibTransId="{1805730C-0B8F-4FA7-9AC0-2B570A7C09DC}"/>
    <dgm:cxn modelId="{9605219C-C2B0-4B73-8960-B8A63A4C2C0A}" srcId="{09792267-83EF-486B-9F2D-20ADE841013B}" destId="{5FCFED98-0E63-4A61-A090-832FE81FC037}" srcOrd="3" destOrd="0" parTransId="{4269BEE9-0597-40E2-8DB6-FE786CCD2792}" sibTransId="{6BE148F7-E333-468F-97F9-CFA5E3FE4229}"/>
    <dgm:cxn modelId="{10CD75AC-1684-4137-854A-610761A8DEBE}" srcId="{A73AB9F8-FF60-418C-AAEB-66454F2DB778}" destId="{F5AD8AFE-806E-4FF7-AA36-7C14E9994513}" srcOrd="1" destOrd="0" parTransId="{1790CA13-90EB-49DC-A575-4F2A486A237C}" sibTransId="{02385B07-BC24-4E28-9477-2925D8C2CF04}"/>
    <dgm:cxn modelId="{D6A916AD-99D6-457A-AE44-5436B3D89C1C}" srcId="{F5AD8AFE-806E-4FF7-AA36-7C14E9994513}" destId="{205098BA-5608-48FE-9B30-E53025482BD3}" srcOrd="0" destOrd="0" parTransId="{BA91E782-CF5A-46D0-9245-F0B2D5C73F76}" sibTransId="{9127F770-61F3-498A-B24F-F0D92267099D}"/>
    <dgm:cxn modelId="{2DE59BB1-4A34-40FE-A122-6B6D79BEB44A}" srcId="{F5AD8AFE-806E-4FF7-AA36-7C14E9994513}" destId="{1A1686F6-2B55-4B98-8666-73C248054DA0}" srcOrd="3" destOrd="0" parTransId="{87EB6CF1-B400-44C6-832C-FDA6F6538CD8}" sibTransId="{60E88641-E383-44A8-953B-AAA1B869BDBD}"/>
    <dgm:cxn modelId="{0BD499B7-5FBF-4814-AA33-709A768AD74F}" type="presOf" srcId="{E8FB8BE6-07B3-47B9-BA20-967315DBF5BE}" destId="{D58E0B78-9E37-4901-9C35-3E83E5BFE571}" srcOrd="0" destOrd="0" presId="urn:microsoft.com/office/officeart/2005/8/layout/list1"/>
    <dgm:cxn modelId="{1BD2DAC8-490C-44B4-B078-C31D270B72E6}" type="presOf" srcId="{F2CB9034-0D19-4E56-BA44-FD8119D63652}" destId="{4568AEC5-B61C-40A3-A70A-C40756F8BBC7}" srcOrd="0" destOrd="1" presId="urn:microsoft.com/office/officeart/2005/8/layout/list1"/>
    <dgm:cxn modelId="{3EE9D2D4-924B-427F-B1AB-DE9C1D688A59}" type="presOf" srcId="{09792267-83EF-486B-9F2D-20ADE841013B}" destId="{E3126F8E-0072-4C01-B925-C3CC5C759E04}" srcOrd="1" destOrd="0" presId="urn:microsoft.com/office/officeart/2005/8/layout/list1"/>
    <dgm:cxn modelId="{3FE93DE4-ECDA-4144-B2C9-BBBF085AAB33}" type="presOf" srcId="{655CADC2-68C5-4B8A-A7E3-499E8A8C1B66}" destId="{4568AEC5-B61C-40A3-A70A-C40756F8BBC7}" srcOrd="0" destOrd="2" presId="urn:microsoft.com/office/officeart/2005/8/layout/list1"/>
    <dgm:cxn modelId="{9B802847-CBCF-4155-B4E2-130526CF7F1D}" type="presParOf" srcId="{97DB4EDF-1866-461B-8DF8-46FB7354F0C3}" destId="{76607226-A954-400E-AD95-A9342661FB76}" srcOrd="0" destOrd="0" presId="urn:microsoft.com/office/officeart/2005/8/layout/list1"/>
    <dgm:cxn modelId="{0BF0D351-CA09-47F4-8CF5-4D1943303E0F}" type="presParOf" srcId="{76607226-A954-400E-AD95-A9342661FB76}" destId="{A2E2CB35-C487-4F4D-8871-2E605EE01DAD}" srcOrd="0" destOrd="0" presId="urn:microsoft.com/office/officeart/2005/8/layout/list1"/>
    <dgm:cxn modelId="{1F6B1079-A4E4-47FD-B37A-BE2D81AA96B4}" type="presParOf" srcId="{76607226-A954-400E-AD95-A9342661FB76}" destId="{E3126F8E-0072-4C01-B925-C3CC5C759E04}" srcOrd="1" destOrd="0" presId="urn:microsoft.com/office/officeart/2005/8/layout/list1"/>
    <dgm:cxn modelId="{87ACABFA-C36E-40B9-B62F-8211E81C5191}" type="presParOf" srcId="{97DB4EDF-1866-461B-8DF8-46FB7354F0C3}" destId="{3AFFD76C-8F42-48FE-B5B3-624BA846DAED}" srcOrd="1" destOrd="0" presId="urn:microsoft.com/office/officeart/2005/8/layout/list1"/>
    <dgm:cxn modelId="{98A09396-8872-41C6-916C-F1DDC1E807DE}" type="presParOf" srcId="{97DB4EDF-1866-461B-8DF8-46FB7354F0C3}" destId="{D58E0B78-9E37-4901-9C35-3E83E5BFE571}" srcOrd="2" destOrd="0" presId="urn:microsoft.com/office/officeart/2005/8/layout/list1"/>
    <dgm:cxn modelId="{3265551A-0782-4D90-884B-11C0CE7256A6}" type="presParOf" srcId="{97DB4EDF-1866-461B-8DF8-46FB7354F0C3}" destId="{2E33EB76-AA6E-4319-AB67-ABDC60BE3FF1}" srcOrd="3" destOrd="0" presId="urn:microsoft.com/office/officeart/2005/8/layout/list1"/>
    <dgm:cxn modelId="{83C60F62-DBA8-4EBE-8EE5-6B1AC354FE04}" type="presParOf" srcId="{97DB4EDF-1866-461B-8DF8-46FB7354F0C3}" destId="{CE8FF985-323B-4E91-A17A-DB93DADFC27F}" srcOrd="4" destOrd="0" presId="urn:microsoft.com/office/officeart/2005/8/layout/list1"/>
    <dgm:cxn modelId="{3E28F720-B632-485B-8AB2-D6EE26E9EDE8}" type="presParOf" srcId="{CE8FF985-323B-4E91-A17A-DB93DADFC27F}" destId="{82887CC1-426A-453E-BD9E-28912269BC46}" srcOrd="0" destOrd="0" presId="urn:microsoft.com/office/officeart/2005/8/layout/list1"/>
    <dgm:cxn modelId="{F4CF0D8C-B0ED-475B-B63E-CFBD9874F2FD}" type="presParOf" srcId="{CE8FF985-323B-4E91-A17A-DB93DADFC27F}" destId="{9F2508A3-8E65-423D-B62D-745F0E1CEE4E}" srcOrd="1" destOrd="0" presId="urn:microsoft.com/office/officeart/2005/8/layout/list1"/>
    <dgm:cxn modelId="{619BA540-CA08-4611-8030-B62506441852}" type="presParOf" srcId="{97DB4EDF-1866-461B-8DF8-46FB7354F0C3}" destId="{B2744DF0-EBE1-4DAB-B1D7-1F243C278B68}" srcOrd="5" destOrd="0" presId="urn:microsoft.com/office/officeart/2005/8/layout/list1"/>
    <dgm:cxn modelId="{A882C759-59A4-4B9B-9400-132FB4C3DAE1}" type="presParOf" srcId="{97DB4EDF-1866-461B-8DF8-46FB7354F0C3}" destId="{4568AEC5-B61C-40A3-A70A-C40756F8BBC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6DBFCE-67AC-48A0-8EDB-FA354999BC55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DB9F193-316C-4E44-BCAB-487FA544B6E1}">
      <dgm:prSet/>
      <dgm:spPr/>
      <dgm:t>
        <a:bodyPr/>
        <a:lstStyle/>
        <a:p>
          <a:r>
            <a:rPr lang="en-US"/>
            <a:t>Sort Key Selection</a:t>
          </a:r>
        </a:p>
      </dgm:t>
    </dgm:pt>
    <dgm:pt modelId="{E43CA43A-8126-4370-BBED-110C0BBBA1EB}" type="parTrans" cxnId="{18DA7562-AF74-49B8-AB6B-BF5B6DD4FF5F}">
      <dgm:prSet/>
      <dgm:spPr/>
      <dgm:t>
        <a:bodyPr/>
        <a:lstStyle/>
        <a:p>
          <a:endParaRPr lang="en-US"/>
        </a:p>
      </dgm:t>
    </dgm:pt>
    <dgm:pt modelId="{2B315944-70C5-4E36-8126-DC55B655BC09}" type="sibTrans" cxnId="{18DA7562-AF74-49B8-AB6B-BF5B6DD4FF5F}">
      <dgm:prSet/>
      <dgm:spPr/>
      <dgm:t>
        <a:bodyPr/>
        <a:lstStyle/>
        <a:p>
          <a:endParaRPr lang="en-US"/>
        </a:p>
      </dgm:t>
    </dgm:pt>
    <dgm:pt modelId="{01C99A3A-BD4F-49E1-AE58-24A5E2CE3769}">
      <dgm:prSet/>
      <dgm:spPr/>
      <dgm:t>
        <a:bodyPr/>
        <a:lstStyle/>
        <a:p>
          <a:r>
            <a:rPr lang="en-US"/>
            <a:t>Recent data (time column), frequently used column for filtering, join columns</a:t>
          </a:r>
        </a:p>
      </dgm:t>
    </dgm:pt>
    <dgm:pt modelId="{F59CBB5F-1317-4896-9B16-86C0DBAA0503}" type="parTrans" cxnId="{7CAEC39B-5358-45BC-971F-310D1A9CAF60}">
      <dgm:prSet/>
      <dgm:spPr/>
      <dgm:t>
        <a:bodyPr/>
        <a:lstStyle/>
        <a:p>
          <a:endParaRPr lang="en-US"/>
        </a:p>
      </dgm:t>
    </dgm:pt>
    <dgm:pt modelId="{78AD794C-AB1C-4C3D-988B-115C2660FF60}" type="sibTrans" cxnId="{7CAEC39B-5358-45BC-971F-310D1A9CAF60}">
      <dgm:prSet/>
      <dgm:spPr/>
      <dgm:t>
        <a:bodyPr/>
        <a:lstStyle/>
        <a:p>
          <a:endParaRPr lang="en-US"/>
        </a:p>
      </dgm:t>
    </dgm:pt>
    <dgm:pt modelId="{5954C0E0-FAA4-43DD-A265-0E66E30B54B8}">
      <dgm:prSet/>
      <dgm:spPr/>
      <dgm:t>
        <a:bodyPr/>
        <a:lstStyle/>
        <a:p>
          <a:r>
            <a:rPr lang="en-US"/>
            <a:t>Distribution Key Selection</a:t>
          </a:r>
        </a:p>
      </dgm:t>
    </dgm:pt>
    <dgm:pt modelId="{4A2E7541-1F9F-41C4-A1E0-6AB6B8FCF383}" type="parTrans" cxnId="{FDD7EBC3-0DC9-4606-9F81-A6A5E39054E7}">
      <dgm:prSet/>
      <dgm:spPr/>
      <dgm:t>
        <a:bodyPr/>
        <a:lstStyle/>
        <a:p>
          <a:endParaRPr lang="en-US"/>
        </a:p>
      </dgm:t>
    </dgm:pt>
    <dgm:pt modelId="{A7CBFB8C-D9F7-46A7-AAE6-D613CA2BBF15}" type="sibTrans" cxnId="{FDD7EBC3-0DC9-4606-9F81-A6A5E39054E7}">
      <dgm:prSet/>
      <dgm:spPr/>
      <dgm:t>
        <a:bodyPr/>
        <a:lstStyle/>
        <a:p>
          <a:endParaRPr lang="en-US"/>
        </a:p>
      </dgm:t>
    </dgm:pt>
    <dgm:pt modelId="{270350D1-CDEB-4CA1-8D1B-FD8A8837F8F2}">
      <dgm:prSet/>
      <dgm:spPr/>
      <dgm:t>
        <a:bodyPr/>
        <a:lstStyle/>
        <a:p>
          <a:r>
            <a:rPr lang="en-US"/>
            <a:t>Join columns, FK for largest frequently joined dimension</a:t>
          </a:r>
        </a:p>
      </dgm:t>
    </dgm:pt>
    <dgm:pt modelId="{C51F813C-E952-4842-B476-3C21FAA9CFCB}" type="parTrans" cxnId="{B96A186E-BEBD-4CA5-AD3C-A2D6E3E9C9D8}">
      <dgm:prSet/>
      <dgm:spPr/>
      <dgm:t>
        <a:bodyPr/>
        <a:lstStyle/>
        <a:p>
          <a:endParaRPr lang="en-US"/>
        </a:p>
      </dgm:t>
    </dgm:pt>
    <dgm:pt modelId="{2C912576-D7CD-4FBE-90D5-2CDD7FF891CA}" type="sibTrans" cxnId="{B96A186E-BEBD-4CA5-AD3C-A2D6E3E9C9D8}">
      <dgm:prSet/>
      <dgm:spPr/>
      <dgm:t>
        <a:bodyPr/>
        <a:lstStyle/>
        <a:p>
          <a:endParaRPr lang="en-US"/>
        </a:p>
      </dgm:t>
    </dgm:pt>
    <dgm:pt modelId="{AF69BA6C-B20D-401D-9FBB-07F18A2AFF9F}">
      <dgm:prSet/>
      <dgm:spPr/>
      <dgm:t>
        <a:bodyPr/>
        <a:lstStyle/>
        <a:p>
          <a:r>
            <a:rPr lang="en-US"/>
            <a:t>Primary and Foreign Key Constraints</a:t>
          </a:r>
        </a:p>
      </dgm:t>
    </dgm:pt>
    <dgm:pt modelId="{8331A7E0-5AB3-49E3-AFA1-C1D3381979F7}" type="parTrans" cxnId="{77A1A3E5-952A-47A7-A2FF-C239BFAB636F}">
      <dgm:prSet/>
      <dgm:spPr/>
      <dgm:t>
        <a:bodyPr/>
        <a:lstStyle/>
        <a:p>
          <a:endParaRPr lang="en-US"/>
        </a:p>
      </dgm:t>
    </dgm:pt>
    <dgm:pt modelId="{B5A2B717-330C-48AA-9A78-5AD86FF31AC3}" type="sibTrans" cxnId="{77A1A3E5-952A-47A7-A2FF-C239BFAB636F}">
      <dgm:prSet/>
      <dgm:spPr/>
      <dgm:t>
        <a:bodyPr/>
        <a:lstStyle/>
        <a:p>
          <a:endParaRPr lang="en-US"/>
        </a:p>
      </dgm:t>
    </dgm:pt>
    <dgm:pt modelId="{D4C7CB0E-559E-4673-A626-8DBE22BBBADB}">
      <dgm:prSet/>
      <dgm:spPr/>
      <dgm:t>
        <a:bodyPr/>
        <a:lstStyle/>
        <a:p>
          <a:r>
            <a:rPr lang="en-US"/>
            <a:t>Informational only, not enforced, used by query optimizer for efficient query plans</a:t>
          </a:r>
        </a:p>
      </dgm:t>
    </dgm:pt>
    <dgm:pt modelId="{17412128-3ABB-41E9-84A9-E3F63A48DA54}" type="parTrans" cxnId="{35DC41E6-1444-4384-8670-8CFEAF14A315}">
      <dgm:prSet/>
      <dgm:spPr/>
      <dgm:t>
        <a:bodyPr/>
        <a:lstStyle/>
        <a:p>
          <a:endParaRPr lang="en-US"/>
        </a:p>
      </dgm:t>
    </dgm:pt>
    <dgm:pt modelId="{21E1EB7D-EDFB-4D9B-A3F6-70A3E73CC077}" type="sibTrans" cxnId="{35DC41E6-1444-4384-8670-8CFEAF14A315}">
      <dgm:prSet/>
      <dgm:spPr/>
      <dgm:t>
        <a:bodyPr/>
        <a:lstStyle/>
        <a:p>
          <a:endParaRPr lang="en-US"/>
        </a:p>
      </dgm:t>
    </dgm:pt>
    <dgm:pt modelId="{497C5D28-3B59-4645-8CD1-4405F32A1A63}">
      <dgm:prSet/>
      <dgm:spPr/>
      <dgm:t>
        <a:bodyPr/>
        <a:lstStyle/>
        <a:p>
          <a:r>
            <a:rPr lang="en-US"/>
            <a:t>Column Size and Types</a:t>
          </a:r>
        </a:p>
      </dgm:t>
    </dgm:pt>
    <dgm:pt modelId="{42ADEDA1-3C5D-417D-B9C6-08584F250D9B}" type="parTrans" cxnId="{BCCB65E2-704D-46FC-863B-9E02B1A77CD9}">
      <dgm:prSet/>
      <dgm:spPr/>
      <dgm:t>
        <a:bodyPr/>
        <a:lstStyle/>
        <a:p>
          <a:endParaRPr lang="en-US"/>
        </a:p>
      </dgm:t>
    </dgm:pt>
    <dgm:pt modelId="{F705F2A5-90F1-483F-8D8E-B5EAF0C78A53}" type="sibTrans" cxnId="{BCCB65E2-704D-46FC-863B-9E02B1A77CD9}">
      <dgm:prSet/>
      <dgm:spPr/>
      <dgm:t>
        <a:bodyPr/>
        <a:lstStyle/>
        <a:p>
          <a:endParaRPr lang="en-US"/>
        </a:p>
      </dgm:t>
    </dgm:pt>
    <dgm:pt modelId="{535783BB-7C42-4305-AB3D-475B53E7FB83}">
      <dgm:prSet/>
      <dgm:spPr/>
      <dgm:t>
        <a:bodyPr/>
        <a:lstStyle/>
        <a:p>
          <a:r>
            <a:rPr lang="en-US"/>
            <a:t>Small column sizes, use Date and Timestamp data types</a:t>
          </a:r>
        </a:p>
      </dgm:t>
    </dgm:pt>
    <dgm:pt modelId="{83BA705A-5E4C-4418-AA2B-FFC7C1BA875C}" type="parTrans" cxnId="{7C156327-A517-4DA3-B1AF-BCE013A6336A}">
      <dgm:prSet/>
      <dgm:spPr/>
      <dgm:t>
        <a:bodyPr/>
        <a:lstStyle/>
        <a:p>
          <a:endParaRPr lang="en-US"/>
        </a:p>
      </dgm:t>
    </dgm:pt>
    <dgm:pt modelId="{14C0857C-60E0-448D-9681-3745DE3681BA}" type="sibTrans" cxnId="{7C156327-A517-4DA3-B1AF-BCE013A6336A}">
      <dgm:prSet/>
      <dgm:spPr/>
      <dgm:t>
        <a:bodyPr/>
        <a:lstStyle/>
        <a:p>
          <a:endParaRPr lang="en-US"/>
        </a:p>
      </dgm:t>
    </dgm:pt>
    <dgm:pt modelId="{0688485E-99FF-4E2E-BB8F-DFF925117602}">
      <dgm:prSet/>
      <dgm:spPr/>
      <dgm:t>
        <a:bodyPr/>
        <a:lstStyle/>
        <a:p>
          <a:r>
            <a:rPr lang="en-US"/>
            <a:t>More</a:t>
          </a:r>
        </a:p>
      </dgm:t>
    </dgm:pt>
    <dgm:pt modelId="{38799FF6-6B0D-4D62-8F10-DC0E817EBCE6}" type="parTrans" cxnId="{8E06369F-365F-4D14-9CC6-16AD076CC937}">
      <dgm:prSet/>
      <dgm:spPr/>
      <dgm:t>
        <a:bodyPr/>
        <a:lstStyle/>
        <a:p>
          <a:endParaRPr lang="en-US"/>
        </a:p>
      </dgm:t>
    </dgm:pt>
    <dgm:pt modelId="{3972A33F-D8C5-4DB1-BE2B-4E65426F6296}" type="sibTrans" cxnId="{8E06369F-365F-4D14-9CC6-16AD076CC937}">
      <dgm:prSet/>
      <dgm:spPr/>
      <dgm:t>
        <a:bodyPr/>
        <a:lstStyle/>
        <a:p>
          <a:endParaRPr lang="en-US"/>
        </a:p>
      </dgm:t>
    </dgm:pt>
    <dgm:pt modelId="{FC655CAF-E332-4B4C-9847-208F090C4EA3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1"/>
            </a:rPr>
            <a:t>Redshift Best Practices for Table Design</a:t>
          </a:r>
          <a:endParaRPr lang="en-US" dirty="0"/>
        </a:p>
      </dgm:t>
    </dgm:pt>
    <dgm:pt modelId="{A93CC8C8-AFCF-4D33-BE81-229FC12DC453}" type="parTrans" cxnId="{44F8B9C9-543C-44BF-8F3C-4BFE23751577}">
      <dgm:prSet/>
      <dgm:spPr/>
      <dgm:t>
        <a:bodyPr/>
        <a:lstStyle/>
        <a:p>
          <a:endParaRPr lang="en-US"/>
        </a:p>
      </dgm:t>
    </dgm:pt>
    <dgm:pt modelId="{66277524-AA59-4DF0-8608-CD5665B64140}" type="sibTrans" cxnId="{44F8B9C9-543C-44BF-8F3C-4BFE23751577}">
      <dgm:prSet/>
      <dgm:spPr/>
      <dgm:t>
        <a:bodyPr/>
        <a:lstStyle/>
        <a:p>
          <a:endParaRPr lang="en-US"/>
        </a:p>
      </dgm:t>
    </dgm:pt>
    <dgm:pt modelId="{7F561873-931A-478E-A356-E0ECD176E1B8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2"/>
            </a:rPr>
            <a:t>Table Tuning</a:t>
          </a:r>
          <a:endParaRPr lang="en-US" dirty="0"/>
        </a:p>
      </dgm:t>
    </dgm:pt>
    <dgm:pt modelId="{E53CE45F-4C99-48DA-A7EE-D35240A5D25A}" type="parTrans" cxnId="{2D226910-3332-4AFB-AD55-F39EE45A341E}">
      <dgm:prSet/>
      <dgm:spPr/>
      <dgm:t>
        <a:bodyPr/>
        <a:lstStyle/>
        <a:p>
          <a:endParaRPr lang="en-US"/>
        </a:p>
      </dgm:t>
    </dgm:pt>
    <dgm:pt modelId="{85C328CA-D533-4127-B45B-A4EA5A31BC4B}" type="sibTrans" cxnId="{2D226910-3332-4AFB-AD55-F39EE45A341E}">
      <dgm:prSet/>
      <dgm:spPr/>
      <dgm:t>
        <a:bodyPr/>
        <a:lstStyle/>
        <a:p>
          <a:endParaRPr lang="en-US"/>
        </a:p>
      </dgm:t>
    </dgm:pt>
    <dgm:pt modelId="{11058985-1AE7-41F5-8701-B3F0207AB095}" type="pres">
      <dgm:prSet presAssocID="{E36DBFCE-67AC-48A0-8EDB-FA354999BC55}" presName="linear" presStyleCnt="0">
        <dgm:presLayoutVars>
          <dgm:dir/>
          <dgm:animLvl val="lvl"/>
          <dgm:resizeHandles val="exact"/>
        </dgm:presLayoutVars>
      </dgm:prSet>
      <dgm:spPr/>
    </dgm:pt>
    <dgm:pt modelId="{BC059795-23C6-4489-81A4-31122449A793}" type="pres">
      <dgm:prSet presAssocID="{EDB9F193-316C-4E44-BCAB-487FA544B6E1}" presName="parentLin" presStyleCnt="0"/>
      <dgm:spPr/>
    </dgm:pt>
    <dgm:pt modelId="{708F6745-9141-4E02-BD07-06CDE9D433D3}" type="pres">
      <dgm:prSet presAssocID="{EDB9F193-316C-4E44-BCAB-487FA544B6E1}" presName="parentLeftMargin" presStyleLbl="node1" presStyleIdx="0" presStyleCnt="5"/>
      <dgm:spPr/>
    </dgm:pt>
    <dgm:pt modelId="{D5985B23-D8FC-4DAC-A992-04D074045A74}" type="pres">
      <dgm:prSet presAssocID="{EDB9F193-316C-4E44-BCAB-487FA544B6E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0B9EAA5-8C9E-4197-BD0D-C5C7AEAC72D8}" type="pres">
      <dgm:prSet presAssocID="{EDB9F193-316C-4E44-BCAB-487FA544B6E1}" presName="negativeSpace" presStyleCnt="0"/>
      <dgm:spPr/>
    </dgm:pt>
    <dgm:pt modelId="{FF2C8933-E4DC-42BB-B551-0ADEDFAA8A57}" type="pres">
      <dgm:prSet presAssocID="{EDB9F193-316C-4E44-BCAB-487FA544B6E1}" presName="childText" presStyleLbl="conFgAcc1" presStyleIdx="0" presStyleCnt="5">
        <dgm:presLayoutVars>
          <dgm:bulletEnabled val="1"/>
        </dgm:presLayoutVars>
      </dgm:prSet>
      <dgm:spPr/>
    </dgm:pt>
    <dgm:pt modelId="{ADB72773-5B97-4DFF-93BB-D502848EC672}" type="pres">
      <dgm:prSet presAssocID="{2B315944-70C5-4E36-8126-DC55B655BC09}" presName="spaceBetweenRectangles" presStyleCnt="0"/>
      <dgm:spPr/>
    </dgm:pt>
    <dgm:pt modelId="{FE8F1E72-806B-485C-BD72-71D6B24C2F5D}" type="pres">
      <dgm:prSet presAssocID="{5954C0E0-FAA4-43DD-A265-0E66E30B54B8}" presName="parentLin" presStyleCnt="0"/>
      <dgm:spPr/>
    </dgm:pt>
    <dgm:pt modelId="{E1D045BD-33F5-4889-8C63-89F98AC52A78}" type="pres">
      <dgm:prSet presAssocID="{5954C0E0-FAA4-43DD-A265-0E66E30B54B8}" presName="parentLeftMargin" presStyleLbl="node1" presStyleIdx="0" presStyleCnt="5"/>
      <dgm:spPr/>
    </dgm:pt>
    <dgm:pt modelId="{5497461F-6819-433C-B2CC-84E050E3B5F2}" type="pres">
      <dgm:prSet presAssocID="{5954C0E0-FAA4-43DD-A265-0E66E30B54B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60764C6-0F74-4AD8-9EC5-73A224C8F294}" type="pres">
      <dgm:prSet presAssocID="{5954C0E0-FAA4-43DD-A265-0E66E30B54B8}" presName="negativeSpace" presStyleCnt="0"/>
      <dgm:spPr/>
    </dgm:pt>
    <dgm:pt modelId="{15AB6EEB-34A0-4255-8805-3364FF519B6D}" type="pres">
      <dgm:prSet presAssocID="{5954C0E0-FAA4-43DD-A265-0E66E30B54B8}" presName="childText" presStyleLbl="conFgAcc1" presStyleIdx="1" presStyleCnt="5">
        <dgm:presLayoutVars>
          <dgm:bulletEnabled val="1"/>
        </dgm:presLayoutVars>
      </dgm:prSet>
      <dgm:spPr/>
    </dgm:pt>
    <dgm:pt modelId="{A4EF0243-9FDC-40E7-91A0-CD3242C3C116}" type="pres">
      <dgm:prSet presAssocID="{A7CBFB8C-D9F7-46A7-AAE6-D613CA2BBF15}" presName="spaceBetweenRectangles" presStyleCnt="0"/>
      <dgm:spPr/>
    </dgm:pt>
    <dgm:pt modelId="{C841CB4A-DBC8-4A34-A4FE-FA8D171397FC}" type="pres">
      <dgm:prSet presAssocID="{AF69BA6C-B20D-401D-9FBB-07F18A2AFF9F}" presName="parentLin" presStyleCnt="0"/>
      <dgm:spPr/>
    </dgm:pt>
    <dgm:pt modelId="{55C4DE13-837B-44D6-8070-08B2337FB8DF}" type="pres">
      <dgm:prSet presAssocID="{AF69BA6C-B20D-401D-9FBB-07F18A2AFF9F}" presName="parentLeftMargin" presStyleLbl="node1" presStyleIdx="1" presStyleCnt="5"/>
      <dgm:spPr/>
    </dgm:pt>
    <dgm:pt modelId="{FB464054-C5A8-4139-BF6C-7D4FBE8B9C46}" type="pres">
      <dgm:prSet presAssocID="{AF69BA6C-B20D-401D-9FBB-07F18A2AFF9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8E71447-F74B-4873-8C54-EA543B789FE0}" type="pres">
      <dgm:prSet presAssocID="{AF69BA6C-B20D-401D-9FBB-07F18A2AFF9F}" presName="negativeSpace" presStyleCnt="0"/>
      <dgm:spPr/>
    </dgm:pt>
    <dgm:pt modelId="{E248C9D5-EFB3-4D23-BB4C-C7210CEBC3D5}" type="pres">
      <dgm:prSet presAssocID="{AF69BA6C-B20D-401D-9FBB-07F18A2AFF9F}" presName="childText" presStyleLbl="conFgAcc1" presStyleIdx="2" presStyleCnt="5">
        <dgm:presLayoutVars>
          <dgm:bulletEnabled val="1"/>
        </dgm:presLayoutVars>
      </dgm:prSet>
      <dgm:spPr/>
    </dgm:pt>
    <dgm:pt modelId="{D8FE0AA6-7A5A-4E13-9723-6B7814F127C7}" type="pres">
      <dgm:prSet presAssocID="{B5A2B717-330C-48AA-9A78-5AD86FF31AC3}" presName="spaceBetweenRectangles" presStyleCnt="0"/>
      <dgm:spPr/>
    </dgm:pt>
    <dgm:pt modelId="{098B243C-848B-4ED0-B80A-724023BE6E27}" type="pres">
      <dgm:prSet presAssocID="{497C5D28-3B59-4645-8CD1-4405F32A1A63}" presName="parentLin" presStyleCnt="0"/>
      <dgm:spPr/>
    </dgm:pt>
    <dgm:pt modelId="{CA2A34D3-C7CF-4088-83DD-F925A85AC675}" type="pres">
      <dgm:prSet presAssocID="{497C5D28-3B59-4645-8CD1-4405F32A1A63}" presName="parentLeftMargin" presStyleLbl="node1" presStyleIdx="2" presStyleCnt="5"/>
      <dgm:spPr/>
    </dgm:pt>
    <dgm:pt modelId="{23374751-7179-4DF0-8EF6-5DF7EC4F5F25}" type="pres">
      <dgm:prSet presAssocID="{497C5D28-3B59-4645-8CD1-4405F32A1A6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D8D29E9-00A4-46B2-9048-11110B338CF4}" type="pres">
      <dgm:prSet presAssocID="{497C5D28-3B59-4645-8CD1-4405F32A1A63}" presName="negativeSpace" presStyleCnt="0"/>
      <dgm:spPr/>
    </dgm:pt>
    <dgm:pt modelId="{289A6A44-264A-47C4-8BC4-794E333873B0}" type="pres">
      <dgm:prSet presAssocID="{497C5D28-3B59-4645-8CD1-4405F32A1A63}" presName="childText" presStyleLbl="conFgAcc1" presStyleIdx="3" presStyleCnt="5" custLinFactNeighborY="-44286">
        <dgm:presLayoutVars>
          <dgm:bulletEnabled val="1"/>
        </dgm:presLayoutVars>
      </dgm:prSet>
      <dgm:spPr/>
    </dgm:pt>
    <dgm:pt modelId="{05A8D226-51B0-4A62-941D-0F06B0C523C2}" type="pres">
      <dgm:prSet presAssocID="{F705F2A5-90F1-483F-8D8E-B5EAF0C78A53}" presName="spaceBetweenRectangles" presStyleCnt="0"/>
      <dgm:spPr/>
    </dgm:pt>
    <dgm:pt modelId="{6789100D-A8C7-41C8-A03E-6E325058555A}" type="pres">
      <dgm:prSet presAssocID="{0688485E-99FF-4E2E-BB8F-DFF925117602}" presName="parentLin" presStyleCnt="0"/>
      <dgm:spPr/>
    </dgm:pt>
    <dgm:pt modelId="{A0934D5A-1477-4976-BF8A-ED2C46233A2F}" type="pres">
      <dgm:prSet presAssocID="{0688485E-99FF-4E2E-BB8F-DFF925117602}" presName="parentLeftMargin" presStyleLbl="node1" presStyleIdx="3" presStyleCnt="5"/>
      <dgm:spPr/>
    </dgm:pt>
    <dgm:pt modelId="{7DED9F3E-E150-4483-BB7F-ED7E303240C6}" type="pres">
      <dgm:prSet presAssocID="{0688485E-99FF-4E2E-BB8F-DFF925117602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603CD8C-F96E-4486-B1C2-C15110899C6C}" type="pres">
      <dgm:prSet presAssocID="{0688485E-99FF-4E2E-BB8F-DFF925117602}" presName="negativeSpace" presStyleCnt="0"/>
      <dgm:spPr/>
    </dgm:pt>
    <dgm:pt modelId="{1D52E43F-8F5B-429E-BC33-D33C4BDC8923}" type="pres">
      <dgm:prSet presAssocID="{0688485E-99FF-4E2E-BB8F-DFF925117602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2D226910-3332-4AFB-AD55-F39EE45A341E}" srcId="{0688485E-99FF-4E2E-BB8F-DFF925117602}" destId="{7F561873-931A-478E-A356-E0ECD176E1B8}" srcOrd="1" destOrd="0" parTransId="{E53CE45F-4C99-48DA-A7EE-D35240A5D25A}" sibTransId="{85C328CA-D533-4127-B45B-A4EA5A31BC4B}"/>
    <dgm:cxn modelId="{EAC5241F-ED77-4D19-A685-CFF77232082E}" type="presOf" srcId="{EDB9F193-316C-4E44-BCAB-487FA544B6E1}" destId="{D5985B23-D8FC-4DAC-A992-04D074045A74}" srcOrd="1" destOrd="0" presId="urn:microsoft.com/office/officeart/2005/8/layout/list1"/>
    <dgm:cxn modelId="{7C156327-A517-4DA3-B1AF-BCE013A6336A}" srcId="{497C5D28-3B59-4645-8CD1-4405F32A1A63}" destId="{535783BB-7C42-4305-AB3D-475B53E7FB83}" srcOrd="0" destOrd="0" parTransId="{83BA705A-5E4C-4418-AA2B-FFC7C1BA875C}" sibTransId="{14C0857C-60E0-448D-9681-3745DE3681BA}"/>
    <dgm:cxn modelId="{A74E8C33-BB29-45CD-BA3E-21B7D055B46E}" type="presOf" srcId="{01C99A3A-BD4F-49E1-AE58-24A5E2CE3769}" destId="{FF2C8933-E4DC-42BB-B551-0ADEDFAA8A57}" srcOrd="0" destOrd="0" presId="urn:microsoft.com/office/officeart/2005/8/layout/list1"/>
    <dgm:cxn modelId="{FABA4243-E4D1-4836-8DE3-0AF3F75614D3}" type="presOf" srcId="{EDB9F193-316C-4E44-BCAB-487FA544B6E1}" destId="{708F6745-9141-4E02-BD07-06CDE9D433D3}" srcOrd="0" destOrd="0" presId="urn:microsoft.com/office/officeart/2005/8/layout/list1"/>
    <dgm:cxn modelId="{18DA7562-AF74-49B8-AB6B-BF5B6DD4FF5F}" srcId="{E36DBFCE-67AC-48A0-8EDB-FA354999BC55}" destId="{EDB9F193-316C-4E44-BCAB-487FA544B6E1}" srcOrd="0" destOrd="0" parTransId="{E43CA43A-8126-4370-BBED-110C0BBBA1EB}" sibTransId="{2B315944-70C5-4E36-8126-DC55B655BC09}"/>
    <dgm:cxn modelId="{AAADD262-B9F0-476A-83DA-64C7D6805FF7}" type="presOf" srcId="{497C5D28-3B59-4645-8CD1-4405F32A1A63}" destId="{CA2A34D3-C7CF-4088-83DD-F925A85AC675}" srcOrd="0" destOrd="0" presId="urn:microsoft.com/office/officeart/2005/8/layout/list1"/>
    <dgm:cxn modelId="{37796D66-1C25-4AFA-8A7E-26FE1F8CD863}" type="presOf" srcId="{5954C0E0-FAA4-43DD-A265-0E66E30B54B8}" destId="{E1D045BD-33F5-4889-8C63-89F98AC52A78}" srcOrd="0" destOrd="0" presId="urn:microsoft.com/office/officeart/2005/8/layout/list1"/>
    <dgm:cxn modelId="{B96A186E-BEBD-4CA5-AD3C-A2D6E3E9C9D8}" srcId="{5954C0E0-FAA4-43DD-A265-0E66E30B54B8}" destId="{270350D1-CDEB-4CA1-8D1B-FD8A8837F8F2}" srcOrd="0" destOrd="0" parTransId="{C51F813C-E952-4842-B476-3C21FAA9CFCB}" sibTransId="{2C912576-D7CD-4FBE-90D5-2CDD7FF891CA}"/>
    <dgm:cxn modelId="{71352C6E-AF61-4430-B3E3-4E378727C78D}" type="presOf" srcId="{D4C7CB0E-559E-4673-A626-8DBE22BBBADB}" destId="{E248C9D5-EFB3-4D23-BB4C-C7210CEBC3D5}" srcOrd="0" destOrd="0" presId="urn:microsoft.com/office/officeart/2005/8/layout/list1"/>
    <dgm:cxn modelId="{263B5684-CAC1-42A7-A09D-F120A7108F2D}" type="presOf" srcId="{5954C0E0-FAA4-43DD-A265-0E66E30B54B8}" destId="{5497461F-6819-433C-B2CC-84E050E3B5F2}" srcOrd="1" destOrd="0" presId="urn:microsoft.com/office/officeart/2005/8/layout/list1"/>
    <dgm:cxn modelId="{7CAEC39B-5358-45BC-971F-310D1A9CAF60}" srcId="{EDB9F193-316C-4E44-BCAB-487FA544B6E1}" destId="{01C99A3A-BD4F-49E1-AE58-24A5E2CE3769}" srcOrd="0" destOrd="0" parTransId="{F59CBB5F-1317-4896-9B16-86C0DBAA0503}" sibTransId="{78AD794C-AB1C-4C3D-988B-115C2660FF60}"/>
    <dgm:cxn modelId="{E1F68D9E-B10F-4EEF-A6CB-A6413660462B}" type="presOf" srcId="{AF69BA6C-B20D-401D-9FBB-07F18A2AFF9F}" destId="{FB464054-C5A8-4139-BF6C-7D4FBE8B9C46}" srcOrd="1" destOrd="0" presId="urn:microsoft.com/office/officeart/2005/8/layout/list1"/>
    <dgm:cxn modelId="{8E06369F-365F-4D14-9CC6-16AD076CC937}" srcId="{E36DBFCE-67AC-48A0-8EDB-FA354999BC55}" destId="{0688485E-99FF-4E2E-BB8F-DFF925117602}" srcOrd="4" destOrd="0" parTransId="{38799FF6-6B0D-4D62-8F10-DC0E817EBCE6}" sibTransId="{3972A33F-D8C5-4DB1-BE2B-4E65426F6296}"/>
    <dgm:cxn modelId="{5F8E67A0-540F-410C-8053-C4DC024CE693}" type="presOf" srcId="{E36DBFCE-67AC-48A0-8EDB-FA354999BC55}" destId="{11058985-1AE7-41F5-8701-B3F0207AB095}" srcOrd="0" destOrd="0" presId="urn:microsoft.com/office/officeart/2005/8/layout/list1"/>
    <dgm:cxn modelId="{9F2C90A1-0B58-4FBB-9025-82C0A1429A5B}" type="presOf" srcId="{270350D1-CDEB-4CA1-8D1B-FD8A8837F8F2}" destId="{15AB6EEB-34A0-4255-8805-3364FF519B6D}" srcOrd="0" destOrd="0" presId="urn:microsoft.com/office/officeart/2005/8/layout/list1"/>
    <dgm:cxn modelId="{53EBF1B0-2270-4466-82ED-910556850EC3}" type="presOf" srcId="{AF69BA6C-B20D-401D-9FBB-07F18A2AFF9F}" destId="{55C4DE13-837B-44D6-8070-08B2337FB8DF}" srcOrd="0" destOrd="0" presId="urn:microsoft.com/office/officeart/2005/8/layout/list1"/>
    <dgm:cxn modelId="{EA7295B9-54C6-4125-AAD5-8EF5D7FDD770}" type="presOf" srcId="{535783BB-7C42-4305-AB3D-475B53E7FB83}" destId="{289A6A44-264A-47C4-8BC4-794E333873B0}" srcOrd="0" destOrd="0" presId="urn:microsoft.com/office/officeart/2005/8/layout/list1"/>
    <dgm:cxn modelId="{2F0D0AC0-3560-42D6-9526-4D696F09905A}" type="presOf" srcId="{0688485E-99FF-4E2E-BB8F-DFF925117602}" destId="{7DED9F3E-E150-4483-BB7F-ED7E303240C6}" srcOrd="1" destOrd="0" presId="urn:microsoft.com/office/officeart/2005/8/layout/list1"/>
    <dgm:cxn modelId="{FDD7EBC3-0DC9-4606-9F81-A6A5E39054E7}" srcId="{E36DBFCE-67AC-48A0-8EDB-FA354999BC55}" destId="{5954C0E0-FAA4-43DD-A265-0E66E30B54B8}" srcOrd="1" destOrd="0" parTransId="{4A2E7541-1F9F-41C4-A1E0-6AB6B8FCF383}" sibTransId="{A7CBFB8C-D9F7-46A7-AAE6-D613CA2BBF15}"/>
    <dgm:cxn modelId="{B579FBC4-4D47-408C-A062-683BC0AA70C7}" type="presOf" srcId="{497C5D28-3B59-4645-8CD1-4405F32A1A63}" destId="{23374751-7179-4DF0-8EF6-5DF7EC4F5F25}" srcOrd="1" destOrd="0" presId="urn:microsoft.com/office/officeart/2005/8/layout/list1"/>
    <dgm:cxn modelId="{227AE4C6-08D2-404D-9269-55472427CBD3}" type="presOf" srcId="{FC655CAF-E332-4B4C-9847-208F090C4EA3}" destId="{1D52E43F-8F5B-429E-BC33-D33C4BDC8923}" srcOrd="0" destOrd="0" presId="urn:microsoft.com/office/officeart/2005/8/layout/list1"/>
    <dgm:cxn modelId="{44F8B9C9-543C-44BF-8F3C-4BFE23751577}" srcId="{0688485E-99FF-4E2E-BB8F-DFF925117602}" destId="{FC655CAF-E332-4B4C-9847-208F090C4EA3}" srcOrd="0" destOrd="0" parTransId="{A93CC8C8-AFCF-4D33-BE81-229FC12DC453}" sibTransId="{66277524-AA59-4DF0-8608-CD5665B64140}"/>
    <dgm:cxn modelId="{A978C9D1-E40D-47D6-A927-9E9DFC8840E9}" type="presOf" srcId="{0688485E-99FF-4E2E-BB8F-DFF925117602}" destId="{A0934D5A-1477-4976-BF8A-ED2C46233A2F}" srcOrd="0" destOrd="0" presId="urn:microsoft.com/office/officeart/2005/8/layout/list1"/>
    <dgm:cxn modelId="{E2D04DD7-2AFF-487F-B5E5-46C2285F782A}" type="presOf" srcId="{7F561873-931A-478E-A356-E0ECD176E1B8}" destId="{1D52E43F-8F5B-429E-BC33-D33C4BDC8923}" srcOrd="0" destOrd="1" presId="urn:microsoft.com/office/officeart/2005/8/layout/list1"/>
    <dgm:cxn modelId="{BCCB65E2-704D-46FC-863B-9E02B1A77CD9}" srcId="{E36DBFCE-67AC-48A0-8EDB-FA354999BC55}" destId="{497C5D28-3B59-4645-8CD1-4405F32A1A63}" srcOrd="3" destOrd="0" parTransId="{42ADEDA1-3C5D-417D-B9C6-08584F250D9B}" sibTransId="{F705F2A5-90F1-483F-8D8E-B5EAF0C78A53}"/>
    <dgm:cxn modelId="{77A1A3E5-952A-47A7-A2FF-C239BFAB636F}" srcId="{E36DBFCE-67AC-48A0-8EDB-FA354999BC55}" destId="{AF69BA6C-B20D-401D-9FBB-07F18A2AFF9F}" srcOrd="2" destOrd="0" parTransId="{8331A7E0-5AB3-49E3-AFA1-C1D3381979F7}" sibTransId="{B5A2B717-330C-48AA-9A78-5AD86FF31AC3}"/>
    <dgm:cxn modelId="{35DC41E6-1444-4384-8670-8CFEAF14A315}" srcId="{AF69BA6C-B20D-401D-9FBB-07F18A2AFF9F}" destId="{D4C7CB0E-559E-4673-A626-8DBE22BBBADB}" srcOrd="0" destOrd="0" parTransId="{17412128-3ABB-41E9-84A9-E3F63A48DA54}" sibTransId="{21E1EB7D-EDFB-4D9B-A3F6-70A3E73CC077}"/>
    <dgm:cxn modelId="{6EBCADD8-E573-4540-8889-DDF9CE366BFD}" type="presParOf" srcId="{11058985-1AE7-41F5-8701-B3F0207AB095}" destId="{BC059795-23C6-4489-81A4-31122449A793}" srcOrd="0" destOrd="0" presId="urn:microsoft.com/office/officeart/2005/8/layout/list1"/>
    <dgm:cxn modelId="{CFC36ADD-4644-49A4-A8B9-CAB7EF28EBCF}" type="presParOf" srcId="{BC059795-23C6-4489-81A4-31122449A793}" destId="{708F6745-9141-4E02-BD07-06CDE9D433D3}" srcOrd="0" destOrd="0" presId="urn:microsoft.com/office/officeart/2005/8/layout/list1"/>
    <dgm:cxn modelId="{D6684270-B921-4819-8B9D-F67ED2DD2853}" type="presParOf" srcId="{BC059795-23C6-4489-81A4-31122449A793}" destId="{D5985B23-D8FC-4DAC-A992-04D074045A74}" srcOrd="1" destOrd="0" presId="urn:microsoft.com/office/officeart/2005/8/layout/list1"/>
    <dgm:cxn modelId="{3F0C8E19-0A13-4DA2-9A78-C7C211B7C379}" type="presParOf" srcId="{11058985-1AE7-41F5-8701-B3F0207AB095}" destId="{60B9EAA5-8C9E-4197-BD0D-C5C7AEAC72D8}" srcOrd="1" destOrd="0" presId="urn:microsoft.com/office/officeart/2005/8/layout/list1"/>
    <dgm:cxn modelId="{5B617EB8-B87C-4FFE-B251-2D70496EB44B}" type="presParOf" srcId="{11058985-1AE7-41F5-8701-B3F0207AB095}" destId="{FF2C8933-E4DC-42BB-B551-0ADEDFAA8A57}" srcOrd="2" destOrd="0" presId="urn:microsoft.com/office/officeart/2005/8/layout/list1"/>
    <dgm:cxn modelId="{778C8848-3913-4F77-AA3E-D78D80858BA4}" type="presParOf" srcId="{11058985-1AE7-41F5-8701-B3F0207AB095}" destId="{ADB72773-5B97-4DFF-93BB-D502848EC672}" srcOrd="3" destOrd="0" presId="urn:microsoft.com/office/officeart/2005/8/layout/list1"/>
    <dgm:cxn modelId="{32F0C129-4EC6-41A2-B27C-232A3601791B}" type="presParOf" srcId="{11058985-1AE7-41F5-8701-B3F0207AB095}" destId="{FE8F1E72-806B-485C-BD72-71D6B24C2F5D}" srcOrd="4" destOrd="0" presId="urn:microsoft.com/office/officeart/2005/8/layout/list1"/>
    <dgm:cxn modelId="{1EC218BB-14FD-48E9-B3EF-594BB25F1C53}" type="presParOf" srcId="{FE8F1E72-806B-485C-BD72-71D6B24C2F5D}" destId="{E1D045BD-33F5-4889-8C63-89F98AC52A78}" srcOrd="0" destOrd="0" presId="urn:microsoft.com/office/officeart/2005/8/layout/list1"/>
    <dgm:cxn modelId="{233A32D3-8C3F-4C3F-8380-8AD2DBF04EC8}" type="presParOf" srcId="{FE8F1E72-806B-485C-BD72-71D6B24C2F5D}" destId="{5497461F-6819-433C-B2CC-84E050E3B5F2}" srcOrd="1" destOrd="0" presId="urn:microsoft.com/office/officeart/2005/8/layout/list1"/>
    <dgm:cxn modelId="{6952C765-3A47-48B6-AAC5-6B52DF3A1AF0}" type="presParOf" srcId="{11058985-1AE7-41F5-8701-B3F0207AB095}" destId="{F60764C6-0F74-4AD8-9EC5-73A224C8F294}" srcOrd="5" destOrd="0" presId="urn:microsoft.com/office/officeart/2005/8/layout/list1"/>
    <dgm:cxn modelId="{956431C0-76D6-46B4-B833-28D08779ED4A}" type="presParOf" srcId="{11058985-1AE7-41F5-8701-B3F0207AB095}" destId="{15AB6EEB-34A0-4255-8805-3364FF519B6D}" srcOrd="6" destOrd="0" presId="urn:microsoft.com/office/officeart/2005/8/layout/list1"/>
    <dgm:cxn modelId="{CCC765B0-7F5B-4FB5-8F14-DB769A9F1C73}" type="presParOf" srcId="{11058985-1AE7-41F5-8701-B3F0207AB095}" destId="{A4EF0243-9FDC-40E7-91A0-CD3242C3C116}" srcOrd="7" destOrd="0" presId="urn:microsoft.com/office/officeart/2005/8/layout/list1"/>
    <dgm:cxn modelId="{2EBDDFEE-2B6D-4FD9-9B5A-5D488F23EF52}" type="presParOf" srcId="{11058985-1AE7-41F5-8701-B3F0207AB095}" destId="{C841CB4A-DBC8-4A34-A4FE-FA8D171397FC}" srcOrd="8" destOrd="0" presId="urn:microsoft.com/office/officeart/2005/8/layout/list1"/>
    <dgm:cxn modelId="{CBC18181-6B69-45A1-8042-5C68E03D53A6}" type="presParOf" srcId="{C841CB4A-DBC8-4A34-A4FE-FA8D171397FC}" destId="{55C4DE13-837B-44D6-8070-08B2337FB8DF}" srcOrd="0" destOrd="0" presId="urn:microsoft.com/office/officeart/2005/8/layout/list1"/>
    <dgm:cxn modelId="{6F61E4EC-2C90-4B16-8A4C-4140BA9882EA}" type="presParOf" srcId="{C841CB4A-DBC8-4A34-A4FE-FA8D171397FC}" destId="{FB464054-C5A8-4139-BF6C-7D4FBE8B9C46}" srcOrd="1" destOrd="0" presId="urn:microsoft.com/office/officeart/2005/8/layout/list1"/>
    <dgm:cxn modelId="{45218596-A321-4583-91EB-BAE700D8F1B4}" type="presParOf" srcId="{11058985-1AE7-41F5-8701-B3F0207AB095}" destId="{08E71447-F74B-4873-8C54-EA543B789FE0}" srcOrd="9" destOrd="0" presId="urn:microsoft.com/office/officeart/2005/8/layout/list1"/>
    <dgm:cxn modelId="{D88660F7-A551-41FE-8F34-E02B79726648}" type="presParOf" srcId="{11058985-1AE7-41F5-8701-B3F0207AB095}" destId="{E248C9D5-EFB3-4D23-BB4C-C7210CEBC3D5}" srcOrd="10" destOrd="0" presId="urn:microsoft.com/office/officeart/2005/8/layout/list1"/>
    <dgm:cxn modelId="{565965C6-4648-42D1-9517-C58DB15D9DEE}" type="presParOf" srcId="{11058985-1AE7-41F5-8701-B3F0207AB095}" destId="{D8FE0AA6-7A5A-4E13-9723-6B7814F127C7}" srcOrd="11" destOrd="0" presId="urn:microsoft.com/office/officeart/2005/8/layout/list1"/>
    <dgm:cxn modelId="{C977109E-BF48-44DE-BBE4-4B7805D38156}" type="presParOf" srcId="{11058985-1AE7-41F5-8701-B3F0207AB095}" destId="{098B243C-848B-4ED0-B80A-724023BE6E27}" srcOrd="12" destOrd="0" presId="urn:microsoft.com/office/officeart/2005/8/layout/list1"/>
    <dgm:cxn modelId="{37292AC2-70F4-4816-8C4F-5FFAD88DE810}" type="presParOf" srcId="{098B243C-848B-4ED0-B80A-724023BE6E27}" destId="{CA2A34D3-C7CF-4088-83DD-F925A85AC675}" srcOrd="0" destOrd="0" presId="urn:microsoft.com/office/officeart/2005/8/layout/list1"/>
    <dgm:cxn modelId="{B81E1E87-A93A-460C-89A9-E3190C53F8E9}" type="presParOf" srcId="{098B243C-848B-4ED0-B80A-724023BE6E27}" destId="{23374751-7179-4DF0-8EF6-5DF7EC4F5F25}" srcOrd="1" destOrd="0" presId="urn:microsoft.com/office/officeart/2005/8/layout/list1"/>
    <dgm:cxn modelId="{504AEDA5-3064-4B80-A67B-1517A6EED13D}" type="presParOf" srcId="{11058985-1AE7-41F5-8701-B3F0207AB095}" destId="{1D8D29E9-00A4-46B2-9048-11110B338CF4}" srcOrd="13" destOrd="0" presId="urn:microsoft.com/office/officeart/2005/8/layout/list1"/>
    <dgm:cxn modelId="{47E7284E-4D52-46A6-BC17-9D60EC6B3C0E}" type="presParOf" srcId="{11058985-1AE7-41F5-8701-B3F0207AB095}" destId="{289A6A44-264A-47C4-8BC4-794E333873B0}" srcOrd="14" destOrd="0" presId="urn:microsoft.com/office/officeart/2005/8/layout/list1"/>
    <dgm:cxn modelId="{FA842F9C-7353-46EA-AF88-31F09EAB96C9}" type="presParOf" srcId="{11058985-1AE7-41F5-8701-B3F0207AB095}" destId="{05A8D226-51B0-4A62-941D-0F06B0C523C2}" srcOrd="15" destOrd="0" presId="urn:microsoft.com/office/officeart/2005/8/layout/list1"/>
    <dgm:cxn modelId="{28F3D736-B398-4EBA-95AC-73ED2CB280BE}" type="presParOf" srcId="{11058985-1AE7-41F5-8701-B3F0207AB095}" destId="{6789100D-A8C7-41C8-A03E-6E325058555A}" srcOrd="16" destOrd="0" presId="urn:microsoft.com/office/officeart/2005/8/layout/list1"/>
    <dgm:cxn modelId="{47263D82-C1DB-4CB9-9D15-0D839522B97D}" type="presParOf" srcId="{6789100D-A8C7-41C8-A03E-6E325058555A}" destId="{A0934D5A-1477-4976-BF8A-ED2C46233A2F}" srcOrd="0" destOrd="0" presId="urn:microsoft.com/office/officeart/2005/8/layout/list1"/>
    <dgm:cxn modelId="{8A88941E-1D39-446C-B302-FF1AC963396F}" type="presParOf" srcId="{6789100D-A8C7-41C8-A03E-6E325058555A}" destId="{7DED9F3E-E150-4483-BB7F-ED7E303240C6}" srcOrd="1" destOrd="0" presId="urn:microsoft.com/office/officeart/2005/8/layout/list1"/>
    <dgm:cxn modelId="{32773551-AF4C-4DCE-8D3A-667A74BA2F53}" type="presParOf" srcId="{11058985-1AE7-41F5-8701-B3F0207AB095}" destId="{0603CD8C-F96E-4486-B1C2-C15110899C6C}" srcOrd="17" destOrd="0" presId="urn:microsoft.com/office/officeart/2005/8/layout/list1"/>
    <dgm:cxn modelId="{ECC5E24F-72A1-47E0-8737-252E785DB1CD}" type="presParOf" srcId="{11058985-1AE7-41F5-8701-B3F0207AB095}" destId="{1D52E43F-8F5B-429E-BC33-D33C4BDC892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922067-5ED6-AC45-806D-27AAF5E52651}">
      <dsp:nvSpPr>
        <dsp:cNvPr id="0" name=""/>
        <dsp:cNvSpPr/>
      </dsp:nvSpPr>
      <dsp:spPr>
        <a:xfrm rot="10800000">
          <a:off x="0" y="0"/>
          <a:ext cx="4510762" cy="829339"/>
        </a:xfrm>
        <a:prstGeom prst="trapezoid">
          <a:avLst>
            <a:gd name="adj" fmla="val 5439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Company Social</a:t>
          </a:r>
        </a:p>
      </dsp:txBody>
      <dsp:txXfrm rot="-10800000">
        <a:off x="789383" y="0"/>
        <a:ext cx="2931995" cy="829339"/>
      </dsp:txXfrm>
    </dsp:sp>
    <dsp:sp modelId="{9E6A915D-49AD-8844-AAFC-45678DB70CD9}">
      <dsp:nvSpPr>
        <dsp:cNvPr id="0" name=""/>
        <dsp:cNvSpPr/>
      </dsp:nvSpPr>
      <dsp:spPr>
        <a:xfrm rot="10800000">
          <a:off x="451076" y="829338"/>
          <a:ext cx="3608609" cy="829339"/>
        </a:xfrm>
        <a:prstGeom prst="trapezoid">
          <a:avLst>
            <a:gd name="adj" fmla="val 5439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Channel Usage</a:t>
          </a:r>
        </a:p>
      </dsp:txBody>
      <dsp:txXfrm rot="-10800000">
        <a:off x="1082582" y="829338"/>
        <a:ext cx="2345596" cy="829339"/>
      </dsp:txXfrm>
    </dsp:sp>
    <dsp:sp modelId="{E9CDF621-EA56-3849-822B-DEB50AB23A32}">
      <dsp:nvSpPr>
        <dsp:cNvPr id="0" name=""/>
        <dsp:cNvSpPr/>
      </dsp:nvSpPr>
      <dsp:spPr>
        <a:xfrm rot="10800000">
          <a:off x="902152" y="1658678"/>
          <a:ext cx="2706457" cy="829339"/>
        </a:xfrm>
        <a:prstGeom prst="trapezoid">
          <a:avLst>
            <a:gd name="adj" fmla="val 5439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Identify</a:t>
          </a:r>
        </a:p>
      </dsp:txBody>
      <dsp:txXfrm rot="-10800000">
        <a:off x="1375782" y="1658678"/>
        <a:ext cx="1759197" cy="829339"/>
      </dsp:txXfrm>
    </dsp:sp>
    <dsp:sp modelId="{2BDAEEA5-2A15-A847-9115-7A2438F3AAD9}">
      <dsp:nvSpPr>
        <dsp:cNvPr id="0" name=""/>
        <dsp:cNvSpPr/>
      </dsp:nvSpPr>
      <dsp:spPr>
        <a:xfrm rot="10800000">
          <a:off x="1353228" y="2488017"/>
          <a:ext cx="1804304" cy="829339"/>
        </a:xfrm>
        <a:prstGeom prst="trapezoid">
          <a:avLst>
            <a:gd name="adj" fmla="val 5439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Interests, Topics and Sentiments</a:t>
          </a:r>
        </a:p>
      </dsp:txBody>
      <dsp:txXfrm rot="-10800000">
        <a:off x="1668981" y="2488017"/>
        <a:ext cx="1172798" cy="829339"/>
      </dsp:txXfrm>
    </dsp:sp>
    <dsp:sp modelId="{154EB1C1-61D4-3749-AC5D-C9F9A851097F}">
      <dsp:nvSpPr>
        <dsp:cNvPr id="0" name=""/>
        <dsp:cNvSpPr/>
      </dsp:nvSpPr>
      <dsp:spPr>
        <a:xfrm rot="10800000">
          <a:off x="1804304" y="3317355"/>
          <a:ext cx="902152" cy="829339"/>
        </a:xfrm>
        <a:prstGeom prst="trapezoid">
          <a:avLst>
            <a:gd name="adj" fmla="val 5439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Influence</a:t>
          </a:r>
        </a:p>
      </dsp:txBody>
      <dsp:txXfrm rot="-10800000">
        <a:off x="1804304" y="3317355"/>
        <a:ext cx="902152" cy="8293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83B86C-9990-4304-A269-8EE876A43EF9}">
      <dsp:nvSpPr>
        <dsp:cNvPr id="0" name=""/>
        <dsp:cNvSpPr/>
      </dsp:nvSpPr>
      <dsp:spPr>
        <a:xfrm>
          <a:off x="6100" y="1030904"/>
          <a:ext cx="1376526" cy="81900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Streams</a:t>
          </a:r>
        </a:p>
      </dsp:txBody>
      <dsp:txXfrm>
        <a:off x="6100" y="1030904"/>
        <a:ext cx="1376526" cy="546004"/>
      </dsp:txXfrm>
    </dsp:sp>
    <dsp:sp modelId="{1834CBF3-2658-4939-A1F4-22766FE1F2BA}">
      <dsp:nvSpPr>
        <dsp:cNvPr id="0" name=""/>
        <dsp:cNvSpPr/>
      </dsp:nvSpPr>
      <dsp:spPr>
        <a:xfrm>
          <a:off x="288040" y="1576908"/>
          <a:ext cx="1376526" cy="1743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Twitter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Facebook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Blogs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Email response etc.</a:t>
          </a:r>
        </a:p>
      </dsp:txBody>
      <dsp:txXfrm>
        <a:off x="328357" y="1617225"/>
        <a:ext cx="1295892" cy="1662891"/>
      </dsp:txXfrm>
    </dsp:sp>
    <dsp:sp modelId="{447F7A74-1234-4701-A44D-8BE54F36D63B}">
      <dsp:nvSpPr>
        <dsp:cNvPr id="0" name=""/>
        <dsp:cNvSpPr/>
      </dsp:nvSpPr>
      <dsp:spPr>
        <a:xfrm>
          <a:off x="1591304" y="1132548"/>
          <a:ext cx="442394" cy="3427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591304" y="1201091"/>
        <a:ext cx="339580" cy="205629"/>
      </dsp:txXfrm>
    </dsp:sp>
    <dsp:sp modelId="{9BE48CD3-6C99-416B-8996-FFD615597A78}">
      <dsp:nvSpPr>
        <dsp:cNvPr id="0" name=""/>
        <dsp:cNvSpPr/>
      </dsp:nvSpPr>
      <dsp:spPr>
        <a:xfrm>
          <a:off x="2217333" y="1030904"/>
          <a:ext cx="1376526" cy="81900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236470"/>
            <a:satOff val="3113"/>
            <a:lumOff val="18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Big Data / Hadoop</a:t>
          </a:r>
        </a:p>
      </dsp:txBody>
      <dsp:txXfrm>
        <a:off x="2217333" y="1030904"/>
        <a:ext cx="1376526" cy="546004"/>
      </dsp:txXfrm>
    </dsp:sp>
    <dsp:sp modelId="{A66947C1-29E4-44CE-9D1C-B28A4FFA06C8}">
      <dsp:nvSpPr>
        <dsp:cNvPr id="0" name=""/>
        <dsp:cNvSpPr/>
      </dsp:nvSpPr>
      <dsp:spPr>
        <a:xfrm>
          <a:off x="2499273" y="1576908"/>
          <a:ext cx="1376526" cy="1743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222396"/>
              <a:satOff val="3463"/>
              <a:lumOff val="172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Storage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Processing</a:t>
          </a:r>
        </a:p>
      </dsp:txBody>
      <dsp:txXfrm>
        <a:off x="2539590" y="1617225"/>
        <a:ext cx="1295892" cy="1662891"/>
      </dsp:txXfrm>
    </dsp:sp>
    <dsp:sp modelId="{4B817595-88CA-496E-9593-18AEC8804319}">
      <dsp:nvSpPr>
        <dsp:cNvPr id="0" name=""/>
        <dsp:cNvSpPr/>
      </dsp:nvSpPr>
      <dsp:spPr>
        <a:xfrm>
          <a:off x="3802537" y="1132548"/>
          <a:ext cx="442394" cy="3427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87340"/>
            <a:satOff val="204"/>
            <a:lumOff val="160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802537" y="1201091"/>
        <a:ext cx="339580" cy="205629"/>
      </dsp:txXfrm>
    </dsp:sp>
    <dsp:sp modelId="{7BD0DF03-A92D-475B-8AE3-93A928989FCD}">
      <dsp:nvSpPr>
        <dsp:cNvPr id="0" name=""/>
        <dsp:cNvSpPr/>
      </dsp:nvSpPr>
      <dsp:spPr>
        <a:xfrm>
          <a:off x="4428566" y="1030904"/>
          <a:ext cx="1376526" cy="81900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472939"/>
            <a:satOff val="6226"/>
            <a:lumOff val="37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Analytics</a:t>
          </a:r>
        </a:p>
      </dsp:txBody>
      <dsp:txXfrm>
        <a:off x="4428566" y="1030904"/>
        <a:ext cx="1376526" cy="546004"/>
      </dsp:txXfrm>
    </dsp:sp>
    <dsp:sp modelId="{E6885D34-D3A4-4CE0-9F0B-B7BEF25240F5}">
      <dsp:nvSpPr>
        <dsp:cNvPr id="0" name=""/>
        <dsp:cNvSpPr/>
      </dsp:nvSpPr>
      <dsp:spPr>
        <a:xfrm>
          <a:off x="4710506" y="1576908"/>
          <a:ext cx="1376526" cy="1743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444793"/>
              <a:satOff val="6926"/>
              <a:lumOff val="344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Sentiment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SN Metrics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Text Analytics</a:t>
          </a:r>
        </a:p>
      </dsp:txBody>
      <dsp:txXfrm>
        <a:off x="4750823" y="1617225"/>
        <a:ext cx="1295892" cy="1662891"/>
      </dsp:txXfrm>
    </dsp:sp>
    <dsp:sp modelId="{9D59AE68-46DC-477B-8276-3FB6C4C21F1D}">
      <dsp:nvSpPr>
        <dsp:cNvPr id="0" name=""/>
        <dsp:cNvSpPr/>
      </dsp:nvSpPr>
      <dsp:spPr>
        <a:xfrm>
          <a:off x="6013770" y="1132548"/>
          <a:ext cx="442394" cy="3427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574681"/>
            <a:satOff val="409"/>
            <a:lumOff val="321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013770" y="1201091"/>
        <a:ext cx="339580" cy="205629"/>
      </dsp:txXfrm>
    </dsp:sp>
    <dsp:sp modelId="{89B82FD8-25F0-46AE-9300-E5F62C2B01AA}">
      <dsp:nvSpPr>
        <dsp:cNvPr id="0" name=""/>
        <dsp:cNvSpPr/>
      </dsp:nvSpPr>
      <dsp:spPr>
        <a:xfrm>
          <a:off x="6639799" y="1030904"/>
          <a:ext cx="1376526" cy="81900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472939"/>
            <a:satOff val="6226"/>
            <a:lumOff val="37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ETL</a:t>
          </a:r>
        </a:p>
      </dsp:txBody>
      <dsp:txXfrm>
        <a:off x="6639799" y="1030904"/>
        <a:ext cx="1376526" cy="546004"/>
      </dsp:txXfrm>
    </dsp:sp>
    <dsp:sp modelId="{983AD9A2-7328-4647-8ACC-EC44D81D9A56}">
      <dsp:nvSpPr>
        <dsp:cNvPr id="0" name=""/>
        <dsp:cNvSpPr/>
      </dsp:nvSpPr>
      <dsp:spPr>
        <a:xfrm>
          <a:off x="6913782" y="1545472"/>
          <a:ext cx="1376526" cy="1743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444793"/>
              <a:satOff val="6926"/>
              <a:lumOff val="344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Match Customer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Match Product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Match Promotion etc.</a:t>
          </a:r>
        </a:p>
      </dsp:txBody>
      <dsp:txXfrm>
        <a:off x="6954099" y="1585789"/>
        <a:ext cx="1295892" cy="1662891"/>
      </dsp:txXfrm>
    </dsp:sp>
    <dsp:sp modelId="{27C28C75-FC8F-4DAB-AA3E-95111919C523}">
      <dsp:nvSpPr>
        <dsp:cNvPr id="0" name=""/>
        <dsp:cNvSpPr/>
      </dsp:nvSpPr>
      <dsp:spPr>
        <a:xfrm>
          <a:off x="8225003" y="1132548"/>
          <a:ext cx="442394" cy="3427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287340"/>
            <a:satOff val="204"/>
            <a:lumOff val="160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8225003" y="1201091"/>
        <a:ext cx="339580" cy="205629"/>
      </dsp:txXfrm>
    </dsp:sp>
    <dsp:sp modelId="{6F4D1B6C-7135-4F78-9EF9-D07CF557DC16}">
      <dsp:nvSpPr>
        <dsp:cNvPr id="0" name=""/>
        <dsp:cNvSpPr/>
      </dsp:nvSpPr>
      <dsp:spPr>
        <a:xfrm>
          <a:off x="8851032" y="1030904"/>
          <a:ext cx="1376526" cy="819006"/>
        </a:xfrm>
        <a:prstGeom prst="roundRect">
          <a:avLst>
            <a:gd name="adj" fmla="val 10000"/>
          </a:avLst>
        </a:prstGeom>
        <a:solidFill>
          <a:schemeClr val="accent2">
            <a:shade val="50000"/>
            <a:hueOff val="-236470"/>
            <a:satOff val="3113"/>
            <a:lumOff val="18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Warehouse</a:t>
          </a:r>
        </a:p>
      </dsp:txBody>
      <dsp:txXfrm>
        <a:off x="8851032" y="1030904"/>
        <a:ext cx="1376526" cy="546004"/>
      </dsp:txXfrm>
    </dsp:sp>
    <dsp:sp modelId="{C9D0D763-F2C4-4A70-A26B-E992FE23BF46}">
      <dsp:nvSpPr>
        <dsp:cNvPr id="0" name=""/>
        <dsp:cNvSpPr/>
      </dsp:nvSpPr>
      <dsp:spPr>
        <a:xfrm>
          <a:off x="9132972" y="1576908"/>
          <a:ext cx="1376526" cy="1743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222396"/>
              <a:satOff val="3463"/>
              <a:lumOff val="172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Social Metrics enhanced DM</a:t>
          </a:r>
        </a:p>
      </dsp:txBody>
      <dsp:txXfrm>
        <a:off x="9173289" y="1617225"/>
        <a:ext cx="1295892" cy="16628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8E0B78-9E37-4901-9C35-3E83E5BFE571}">
      <dsp:nvSpPr>
        <dsp:cNvPr id="0" name=""/>
        <dsp:cNvSpPr/>
      </dsp:nvSpPr>
      <dsp:spPr>
        <a:xfrm>
          <a:off x="0" y="361883"/>
          <a:ext cx="10983212" cy="173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419" tIns="395732" rIns="85241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Even: Evenly distributed, use when no joins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Key: Based on Key column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All: Entire table, every node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Auto: All or Even based on table size</a:t>
          </a:r>
        </a:p>
      </dsp:txBody>
      <dsp:txXfrm>
        <a:off x="0" y="361883"/>
        <a:ext cx="10983212" cy="1735650"/>
      </dsp:txXfrm>
    </dsp:sp>
    <dsp:sp modelId="{E3126F8E-0072-4C01-B925-C3CC5C759E04}">
      <dsp:nvSpPr>
        <dsp:cNvPr id="0" name=""/>
        <dsp:cNvSpPr/>
      </dsp:nvSpPr>
      <dsp:spPr>
        <a:xfrm>
          <a:off x="549160" y="81443"/>
          <a:ext cx="7688248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597" tIns="0" rIns="29059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Distribution Styles</a:t>
          </a:r>
        </a:p>
      </dsp:txBody>
      <dsp:txXfrm>
        <a:off x="576540" y="108823"/>
        <a:ext cx="7633488" cy="506120"/>
      </dsp:txXfrm>
    </dsp:sp>
    <dsp:sp modelId="{4568AEC5-B61C-40A3-A70A-C40756F8BBC7}">
      <dsp:nvSpPr>
        <dsp:cNvPr id="0" name=""/>
        <dsp:cNvSpPr/>
      </dsp:nvSpPr>
      <dsp:spPr>
        <a:xfrm>
          <a:off x="0" y="2480573"/>
          <a:ext cx="10983212" cy="227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419" tIns="395732" rIns="85241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Fact Table: Order; Distribution style: Even; Order rows distributed evenly across nodes. Joins require cross node computation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Fact Table: Order; Distribution style: Key (</a:t>
          </a:r>
          <a:r>
            <a:rPr lang="en-US" sz="1900" kern="1200" dirty="0" err="1"/>
            <a:t>CustID</a:t>
          </a:r>
          <a:r>
            <a:rPr lang="en-US" sz="1900" kern="1200" dirty="0"/>
            <a:t>); Customer and orders co-located, joins are on same node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“choose the foreign key for the largest frequently joined dimension as a distribution key”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Small Dimension Table: Use All (Why?)</a:t>
          </a:r>
        </a:p>
      </dsp:txBody>
      <dsp:txXfrm>
        <a:off x="0" y="2480573"/>
        <a:ext cx="10983212" cy="2274300"/>
      </dsp:txXfrm>
    </dsp:sp>
    <dsp:sp modelId="{9F2508A3-8E65-423D-B62D-745F0E1CEE4E}">
      <dsp:nvSpPr>
        <dsp:cNvPr id="0" name=""/>
        <dsp:cNvSpPr/>
      </dsp:nvSpPr>
      <dsp:spPr>
        <a:xfrm>
          <a:off x="549160" y="2200134"/>
          <a:ext cx="7688248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597" tIns="0" rIns="29059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Distribution Style</a:t>
          </a:r>
        </a:p>
      </dsp:txBody>
      <dsp:txXfrm>
        <a:off x="576540" y="2227514"/>
        <a:ext cx="7633488" cy="5061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C8933-E4DC-42BB-B551-0ADEDFAA8A57}">
      <dsp:nvSpPr>
        <dsp:cNvPr id="0" name=""/>
        <dsp:cNvSpPr/>
      </dsp:nvSpPr>
      <dsp:spPr>
        <a:xfrm>
          <a:off x="0" y="342896"/>
          <a:ext cx="10952747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55" tIns="291592" rIns="85005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Recent data (time column), frequently used column for filtering, join columns</a:t>
          </a:r>
        </a:p>
      </dsp:txBody>
      <dsp:txXfrm>
        <a:off x="0" y="342896"/>
        <a:ext cx="10952747" cy="595350"/>
      </dsp:txXfrm>
    </dsp:sp>
    <dsp:sp modelId="{D5985B23-D8FC-4DAC-A992-04D074045A74}">
      <dsp:nvSpPr>
        <dsp:cNvPr id="0" name=""/>
        <dsp:cNvSpPr/>
      </dsp:nvSpPr>
      <dsp:spPr>
        <a:xfrm>
          <a:off x="547637" y="136256"/>
          <a:ext cx="7666922" cy="413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91" tIns="0" rIns="28979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Sort Key Selection</a:t>
          </a:r>
        </a:p>
      </dsp:txBody>
      <dsp:txXfrm>
        <a:off x="567812" y="156431"/>
        <a:ext cx="7626572" cy="372930"/>
      </dsp:txXfrm>
    </dsp:sp>
    <dsp:sp modelId="{15AB6EEB-34A0-4255-8805-3364FF519B6D}">
      <dsp:nvSpPr>
        <dsp:cNvPr id="0" name=""/>
        <dsp:cNvSpPr/>
      </dsp:nvSpPr>
      <dsp:spPr>
        <a:xfrm>
          <a:off x="0" y="1220486"/>
          <a:ext cx="10952747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689636"/>
              <a:satOff val="-4355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55" tIns="291592" rIns="85005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Join columns, FK for largest frequently joined dimension</a:t>
          </a:r>
        </a:p>
      </dsp:txBody>
      <dsp:txXfrm>
        <a:off x="0" y="1220486"/>
        <a:ext cx="10952747" cy="595350"/>
      </dsp:txXfrm>
    </dsp:sp>
    <dsp:sp modelId="{5497461F-6819-433C-B2CC-84E050E3B5F2}">
      <dsp:nvSpPr>
        <dsp:cNvPr id="0" name=""/>
        <dsp:cNvSpPr/>
      </dsp:nvSpPr>
      <dsp:spPr>
        <a:xfrm>
          <a:off x="547637" y="1013846"/>
          <a:ext cx="7666922" cy="413280"/>
        </a:xfrm>
        <a:prstGeom prst="round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91" tIns="0" rIns="28979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Distribution Key Selection</a:t>
          </a:r>
        </a:p>
      </dsp:txBody>
      <dsp:txXfrm>
        <a:off x="567812" y="1034021"/>
        <a:ext cx="7626572" cy="372930"/>
      </dsp:txXfrm>
    </dsp:sp>
    <dsp:sp modelId="{E248C9D5-EFB3-4D23-BB4C-C7210CEBC3D5}">
      <dsp:nvSpPr>
        <dsp:cNvPr id="0" name=""/>
        <dsp:cNvSpPr/>
      </dsp:nvSpPr>
      <dsp:spPr>
        <a:xfrm>
          <a:off x="0" y="2098076"/>
          <a:ext cx="10952747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55" tIns="291592" rIns="85005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Informational only, not enforced, used by query optimizer for efficient query plans</a:t>
          </a:r>
        </a:p>
      </dsp:txBody>
      <dsp:txXfrm>
        <a:off x="0" y="2098076"/>
        <a:ext cx="10952747" cy="595350"/>
      </dsp:txXfrm>
    </dsp:sp>
    <dsp:sp modelId="{FB464054-C5A8-4139-BF6C-7D4FBE8B9C46}">
      <dsp:nvSpPr>
        <dsp:cNvPr id="0" name=""/>
        <dsp:cNvSpPr/>
      </dsp:nvSpPr>
      <dsp:spPr>
        <a:xfrm>
          <a:off x="547637" y="1891436"/>
          <a:ext cx="7666922" cy="41328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91" tIns="0" rIns="28979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Primary and Foreign Key Constraints</a:t>
          </a:r>
        </a:p>
      </dsp:txBody>
      <dsp:txXfrm>
        <a:off x="567812" y="1911611"/>
        <a:ext cx="7626572" cy="372930"/>
      </dsp:txXfrm>
    </dsp:sp>
    <dsp:sp modelId="{289A6A44-264A-47C4-8BC4-794E333873B0}">
      <dsp:nvSpPr>
        <dsp:cNvPr id="0" name=""/>
        <dsp:cNvSpPr/>
      </dsp:nvSpPr>
      <dsp:spPr>
        <a:xfrm>
          <a:off x="0" y="2942186"/>
          <a:ext cx="10952747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5068907"/>
              <a:satOff val="-13064"/>
              <a:lumOff val="-8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55" tIns="291592" rIns="85005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Small column sizes, use Date and Timestamp data types</a:t>
          </a:r>
        </a:p>
      </dsp:txBody>
      <dsp:txXfrm>
        <a:off x="0" y="2942186"/>
        <a:ext cx="10952747" cy="595350"/>
      </dsp:txXfrm>
    </dsp:sp>
    <dsp:sp modelId="{23374751-7179-4DF0-8EF6-5DF7EC4F5F25}">
      <dsp:nvSpPr>
        <dsp:cNvPr id="0" name=""/>
        <dsp:cNvSpPr/>
      </dsp:nvSpPr>
      <dsp:spPr>
        <a:xfrm>
          <a:off x="547637" y="2769026"/>
          <a:ext cx="7666922" cy="413280"/>
        </a:xfrm>
        <a:prstGeom prst="round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91" tIns="0" rIns="28979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Column Size and Types</a:t>
          </a:r>
        </a:p>
      </dsp:txBody>
      <dsp:txXfrm>
        <a:off x="567812" y="2789201"/>
        <a:ext cx="7626572" cy="372930"/>
      </dsp:txXfrm>
    </dsp:sp>
    <dsp:sp modelId="{1D52E43F-8F5B-429E-BC33-D33C4BDC8923}">
      <dsp:nvSpPr>
        <dsp:cNvPr id="0" name=""/>
        <dsp:cNvSpPr/>
      </dsp:nvSpPr>
      <dsp:spPr>
        <a:xfrm>
          <a:off x="0" y="3853256"/>
          <a:ext cx="10952747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55" tIns="291592" rIns="85005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hlinkClick xmlns:r="http://schemas.openxmlformats.org/officeDocument/2006/relationships" r:id="rId1"/>
            </a:rPr>
            <a:t>Redshift Best Practices for Table Design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hlinkClick xmlns:r="http://schemas.openxmlformats.org/officeDocument/2006/relationships" r:id="rId2"/>
            </a:rPr>
            <a:t>Table Tuning</a:t>
          </a:r>
          <a:endParaRPr lang="en-US" sz="1400" kern="1200" dirty="0"/>
        </a:p>
      </dsp:txBody>
      <dsp:txXfrm>
        <a:off x="0" y="3853256"/>
        <a:ext cx="10952747" cy="815850"/>
      </dsp:txXfrm>
    </dsp:sp>
    <dsp:sp modelId="{7DED9F3E-E150-4483-BB7F-ED7E303240C6}">
      <dsp:nvSpPr>
        <dsp:cNvPr id="0" name=""/>
        <dsp:cNvSpPr/>
      </dsp:nvSpPr>
      <dsp:spPr>
        <a:xfrm>
          <a:off x="547637" y="3646616"/>
          <a:ext cx="7666922" cy="41328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91" tIns="0" rIns="28979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More</a:t>
          </a:r>
        </a:p>
      </dsp:txBody>
      <dsp:txXfrm>
        <a:off x="567812" y="3666791"/>
        <a:ext cx="7626572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8D298-5047-1943-B317-7437E06CA15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D327F-E8F3-5C4A-B866-3A59D3500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5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Inbound</a:t>
            </a:r>
            <a:r>
              <a:rPr lang="en-US" baseline="0" dirty="0"/>
              <a:t> – inventory of products (toiletries, capital equipment) – KPI – amount of inventory</a:t>
            </a:r>
          </a:p>
          <a:p>
            <a:r>
              <a:rPr lang="en-US" baseline="0" dirty="0"/>
              <a:t>Purchasing – KPI – amount of purchases</a:t>
            </a:r>
          </a:p>
          <a:p>
            <a:r>
              <a:rPr lang="en-US" baseline="0" dirty="0"/>
              <a:t>Operations – Bookings, - KPI- No of bookings, revenue</a:t>
            </a:r>
          </a:p>
          <a:p>
            <a:r>
              <a:rPr lang="en-US" baseline="0" dirty="0"/>
              <a:t>Service – (concierge, room service etc.) – KPI – </a:t>
            </a:r>
            <a:r>
              <a:rPr lang="en-US" baseline="0" dirty="0" err="1"/>
              <a:t>cust</a:t>
            </a:r>
            <a:r>
              <a:rPr lang="en-US" baseline="0" dirty="0"/>
              <a:t> satisfaction, No of services</a:t>
            </a:r>
          </a:p>
          <a:p>
            <a:r>
              <a:rPr lang="en-US" baseline="0" dirty="0"/>
              <a:t>HRM – KPI – </a:t>
            </a:r>
            <a:r>
              <a:rPr lang="en-US" baseline="0" dirty="0" err="1"/>
              <a:t>emp</a:t>
            </a:r>
            <a:r>
              <a:rPr lang="en-US" baseline="0" dirty="0"/>
              <a:t> </a:t>
            </a:r>
            <a:r>
              <a:rPr lang="en-US" baseline="0" dirty="0" err="1"/>
              <a:t>performace</a:t>
            </a:r>
            <a:r>
              <a:rPr lang="en-US" baseline="0" dirty="0"/>
              <a:t>, costs</a:t>
            </a:r>
          </a:p>
          <a:p>
            <a:r>
              <a:rPr lang="en-US" baseline="0" dirty="0"/>
              <a:t>Marketing – web, magazines etc. KPI – conversions – same for marketing and sales?</a:t>
            </a:r>
          </a:p>
          <a:p>
            <a:endParaRPr lang="en-US" dirty="0"/>
          </a:p>
          <a:p>
            <a:r>
              <a:rPr lang="en-US" dirty="0"/>
              <a:t>Booking</a:t>
            </a:r>
            <a:r>
              <a:rPr lang="en-US" baseline="0" dirty="0"/>
              <a:t> (Customer, </a:t>
            </a:r>
            <a:r>
              <a:rPr lang="en-US" baseline="0" dirty="0" err="1"/>
              <a:t>RoomType</a:t>
            </a:r>
            <a:r>
              <a:rPr lang="en-US" baseline="0" dirty="0"/>
              <a:t>, Hotel, Chanel (Web, phone, </a:t>
            </a:r>
            <a:r>
              <a:rPr lang="en-US" baseline="0" dirty="0" err="1"/>
              <a:t>walkin</a:t>
            </a:r>
            <a:r>
              <a:rPr lang="en-US" baseline="0" dirty="0"/>
              <a:t>), Date, Promotion,)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A9A7-EDD5-46DD-BDFE-4DE7991E56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77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47454-9E4E-4672-923D-7473D64E58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03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47454-9E4E-4672-923D-7473D64E58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67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4371E8-BF09-4FCB-ABDB-067C0DE56C0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56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234EE5-4251-174E-8603-0B92704BB0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C86A28-F2F3-404A-BBE0-B41AC9BA2C46}" type="slidenum">
              <a:rPr lang="en-US"/>
              <a:pPr/>
              <a:t>21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18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C86A28-F2F3-404A-BBE0-B41AC9BA2C46}" type="slidenum">
              <a:rPr lang="en-US"/>
              <a:pPr/>
              <a:t>22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88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47454-9E4E-4672-923D-7473D64E58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83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7630-BF4F-F247-A9F3-A1A66BF19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8F646-69FF-6241-BB49-27805743E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9349F-B583-9840-BC25-232F680E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C0BB5-C45E-554C-B5C3-F5EB9643C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00293-3F61-3441-B21D-F8368ED4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43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2D9E4-33ED-B14C-A7E0-E1E17F055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D9F27-3B3E-DF4F-81A6-65E17A283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DE181-35A5-5844-93F7-C5F96153D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0B51A-5DE8-0A4F-A759-BB01A19B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06E19-8483-CC4F-A963-547282C0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19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AB47-B1AD-F049-8922-2ED9E96F8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251AA-FB3A-194F-B417-F69CE8F30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426E-F6D9-D74D-A7B6-2B791515C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EB3E2-0ABD-6547-BBAB-66C1EAF3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367E4-DC6C-8C45-BF18-7B0FF362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ACDC-BC88-B144-8DAA-2EABBA10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6EC50-C8FE-864A-9048-E3EFCB1AA7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4271E-B369-C543-9342-3F70301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F7CF9-FFAF-104E-B54F-FF43E82C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AD914-3246-9C42-AC99-878FEBAF3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797A4-E78C-C64E-9888-ECEAD6BF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10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1FC7-B48F-2346-9627-61CB38292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A5564-BD70-D44A-899C-9731D6E92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BA9B9-2F31-F742-933B-A0695E286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EFED6-BD0D-4F43-AD7A-1F6BEDA84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6F738-A4E0-3B4C-B12B-DE219D8DB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08B802-C5DB-2747-A2BC-EE22DF1B6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194EE3-2B3A-DD4C-9FCA-64FBE087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9AF11A-B75E-DA46-90ED-FF21FDEC4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81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E23D9-74C2-7B4B-A6A8-C43412C8B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DB7DD-D005-B54D-958C-E18D0422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A8938-D60E-E847-9F79-FBF55EA0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0F93D4-9539-654E-BF2C-DE7DF549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8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02E51-8D68-504A-B3B2-03EC9BAF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49ED67-F587-744C-B5D7-635ADD4E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0C728-5F8E-B64B-BD5F-63794F6A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43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E5E80-16E6-7C40-BCDF-F9641541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3BEB-702B-B04B-8BE7-78135EF19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C1CBB-4AE1-3349-95B7-1131BE990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A6222-2FB4-224E-B994-5FCE6CAC6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E0DC1-A0E6-3C49-BB43-047FE350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2CBE1-0E60-3E48-838F-16EF1597E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6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AA71-81AE-8243-BEE4-C8DB298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FA496E-DE1A-3D4B-B333-69AC402B87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E8165-5AA8-2740-B86A-73005E961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ED9E8-D07D-BF40-8E0C-029E3204B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73D0F-0442-4C45-B732-4C0C345F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BAFFE-A112-2743-92F8-B7F5F3D9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1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2A18-40BC-0E4F-A9BC-E0392CB2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C588D-827B-B048-A444-15FC968AC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9C816-A0DA-4D4D-A7BC-50B744702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BA0A9-92D3-1F4C-887E-88A1B5B1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2C0AE-D9E4-0841-8DCC-798AEA67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3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5B803-E778-514E-8980-4A9CFA777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E81BF-02A8-C94D-8041-9AFDCA1C7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1867E-9822-0D4E-AAB1-79A84436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042E1-10D5-3C44-9384-88174DCE5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EAD20-A65F-9749-A2C1-D720F019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25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40E0CD-552A-B946-8333-E60542D5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02498-37A0-5845-AF6F-E1799E886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04D8B-5D99-4E41-ADCB-D92F6CA13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26F1F-BE4C-0445-B4D8-07BE4E534F3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E90D5-C6A3-F94F-B3A5-1B9E74340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DC7B-706F-534E-9050-9649004BD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85EF7-A46A-364C-99FB-47551B6F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27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ws.amazon.com/blogs/big-data/from-data-lake-to-data-warehouse-enhancing-customer-360-with-amazon-redshift-spectrum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services/#analytic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nowflake.com/product/architecture/?utm_cta=website-workload-data-warehouse-architecture" TargetMode="External"/><Relationship Id="rId5" Type="http://schemas.openxmlformats.org/officeDocument/2006/relationships/hyperlink" Target="https://cloud.google.com/products/#data-analytics" TargetMode="External"/><Relationship Id="rId4" Type="http://schemas.openxmlformats.org/officeDocument/2006/relationships/hyperlink" Target="https://aws.amazon.com/products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redshift/latest/dg/c_designing-queries-best-practices.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solutions/bigquery-data-warehouse" TargetMode="External"/><Relationship Id="rId2" Type="http://schemas.openxmlformats.org/officeDocument/2006/relationships/hyperlink" Target="https://cloud.google.com/bigquery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google.com/bigquery/docs/best-practices-cos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25D3-00D4-C74C-8737-7C9DB7324E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Lakes and Cloud Data Warehousing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5DB38D-7F30-1042-8445-D0C41E2E7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450" y="3812521"/>
            <a:ext cx="3310090" cy="20506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0B01A0-C0B4-5F45-83B1-790D097E9FDD}"/>
              </a:ext>
            </a:extLst>
          </p:cNvPr>
          <p:cNvSpPr txBox="1"/>
          <p:nvPr/>
        </p:nvSpPr>
        <p:spPr>
          <a:xfrm>
            <a:off x="4978400" y="4292600"/>
            <a:ext cx="1525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Yuanyuan Gao</a:t>
            </a:r>
          </a:p>
        </p:txBody>
      </p:sp>
    </p:spTree>
    <p:extLst>
      <p:ext uri="{BB962C8B-B14F-4D97-AF65-F5344CB8AC3E}">
        <p14:creationId xmlns:p14="http://schemas.microsoft.com/office/powerpoint/2010/main" val="48519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1019-4365-B54B-BD67-D0B6847D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D649E-39B2-EB45-8EBD-085583E11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288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data lake allows you to store all your structured and unstructured data, in one centralized repository, and at any scale.</a:t>
            </a:r>
          </a:p>
          <a:p>
            <a:r>
              <a:rPr lang="en-US" dirty="0"/>
              <a:t>Store users’ data as-is, without having to first structure the data, based on potential questions you may have in the future;</a:t>
            </a:r>
          </a:p>
          <a:p>
            <a:r>
              <a:rPr lang="en-US" dirty="0"/>
              <a:t>Allow users to run different types of analytics on your data like SQL queries, big data analytics, full text search, real-time analytics, and machine learning to guide better decisions.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CA768-9523-074A-BBE2-17C8ECC62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512" y="1991637"/>
            <a:ext cx="3711200" cy="351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63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F1A1-16AA-3D49-A24C-4B9A2E301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Lakes </a:t>
            </a:r>
            <a:r>
              <a:rPr lang="en-US" dirty="0" err="1"/>
              <a:t>v.s</a:t>
            </a:r>
            <a:r>
              <a:rPr lang="en-US" dirty="0"/>
              <a:t>. Data Warehouses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DE5F9-9F92-E04C-B9FD-B95EA3053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data warehouse is a database optimized to analyze relational data coming from transactional systems and line of business applications.</a:t>
            </a:r>
          </a:p>
          <a:p>
            <a:pPr lvl="1"/>
            <a:r>
              <a:rPr lang="en-US" dirty="0"/>
              <a:t>The data structure, and schema are defined in advance to optimize for fast SQL queries;</a:t>
            </a:r>
          </a:p>
          <a:p>
            <a:pPr lvl="1"/>
            <a:r>
              <a:rPr lang="en-US" dirty="0"/>
              <a:t>Used for operational reporting and analysis;</a:t>
            </a:r>
          </a:p>
          <a:p>
            <a:r>
              <a:rPr lang="en-US" dirty="0"/>
              <a:t>A data lake stores relational data from line of business applications, and non-relational data from mobile apps, IoT devices, and social media. </a:t>
            </a:r>
          </a:p>
          <a:p>
            <a:pPr lvl="1"/>
            <a:r>
              <a:rPr lang="en-US" dirty="0"/>
              <a:t>The structure of the data or schema is not defined when data is captured;</a:t>
            </a:r>
          </a:p>
          <a:p>
            <a:pPr lvl="1"/>
            <a:r>
              <a:rPr lang="en-US" dirty="0"/>
              <a:t>SQL queries, big data analytics, full text search, real-time analytics,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17015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A717B-7D6F-4640-82AE-9041FA436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Lakes </a:t>
            </a:r>
            <a:r>
              <a:rPr lang="en-US" dirty="0" err="1"/>
              <a:t>v.s</a:t>
            </a:r>
            <a:r>
              <a:rPr lang="en-US" dirty="0"/>
              <a:t>. Data Warehouses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8FCD79-3D95-FE4A-93E8-A39698903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145" y="1860158"/>
            <a:ext cx="11481709" cy="3976971"/>
          </a:xfrm>
        </p:spPr>
      </p:pic>
    </p:spTree>
    <p:extLst>
      <p:ext uri="{BB962C8B-B14F-4D97-AF65-F5344CB8AC3E}">
        <p14:creationId xmlns:p14="http://schemas.microsoft.com/office/powerpoint/2010/main" val="2221876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FFAF8-D6D6-2647-A083-495C54478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Essential elements of a Data Lake and Analytics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7224C-6D6F-F943-A6B2-87DD8E596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dirty="0"/>
              <a:t>Data movement</a:t>
            </a:r>
          </a:p>
          <a:p>
            <a:pPr lvl="1"/>
            <a:r>
              <a:rPr lang="en-US" altLang="zh-CN" sz="3200" dirty="0"/>
              <a:t>I</a:t>
            </a:r>
            <a:r>
              <a:rPr lang="en-US" sz="3200" dirty="0"/>
              <a:t>mport any amount of data that can come in real-time. </a:t>
            </a:r>
          </a:p>
          <a:p>
            <a:r>
              <a:rPr lang="en-US" sz="3600" dirty="0"/>
              <a:t>Securely store, and catalog data</a:t>
            </a:r>
          </a:p>
          <a:p>
            <a:pPr lvl="1"/>
            <a:r>
              <a:rPr lang="en-US" altLang="zh-CN" sz="3200" dirty="0"/>
              <a:t>S</a:t>
            </a:r>
            <a:r>
              <a:rPr lang="en-US" sz="3200" dirty="0"/>
              <a:t>tore relational data like operational databases and data from line of business applications, and non-relational data like mobile apps, IoT devices, and social media. </a:t>
            </a:r>
          </a:p>
          <a:p>
            <a:r>
              <a:rPr lang="en-US" sz="3600" dirty="0"/>
              <a:t>Analytics</a:t>
            </a:r>
          </a:p>
          <a:p>
            <a:pPr lvl="1"/>
            <a:r>
              <a:rPr lang="en-US" altLang="zh-CN" sz="3200" dirty="0"/>
              <a:t>D</a:t>
            </a:r>
            <a:r>
              <a:rPr lang="en-US" sz="3200" dirty="0"/>
              <a:t>ata scientists, data developers, and business analysts to access data with their choice of analytic tools and frameworks. </a:t>
            </a:r>
          </a:p>
          <a:p>
            <a:r>
              <a:rPr lang="en-US" sz="3600" dirty="0"/>
              <a:t>Machine Learning</a:t>
            </a:r>
          </a:p>
          <a:p>
            <a:pPr lvl="1"/>
            <a:r>
              <a:rPr lang="en-US" altLang="zh-CN" sz="3200" dirty="0"/>
              <a:t>G</a:t>
            </a:r>
            <a:r>
              <a:rPr lang="en-US" sz="3200" dirty="0"/>
              <a:t>enerate different types of insights including reporting on historical data, and doing machine learning where models are built to forecast likely outcomes</a:t>
            </a:r>
            <a:r>
              <a:rPr lang="en-US" altLang="zh-CN" sz="3200" dirty="0"/>
              <a:t>.</a:t>
            </a:r>
            <a:endParaRPr lang="en-US" sz="32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85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DW Bus Architecture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84307" y="1828474"/>
            <a:ext cx="667470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Processes</a:t>
            </a:r>
          </a:p>
          <a:p>
            <a:r>
              <a:rPr lang="en-US" dirty="0"/>
              <a:t>Inbound</a:t>
            </a:r>
            <a:r>
              <a:rPr lang="en-US" sz="1800" dirty="0">
                <a:solidFill>
                  <a:prstClr val="black"/>
                </a:solidFill>
              </a:rPr>
              <a:t> inventory of products (toiletries, capital equipment) KPI – amount of inventory Purchasing – KPI – amount of purchases</a:t>
            </a:r>
            <a:endParaRPr lang="en-US" dirty="0"/>
          </a:p>
          <a:p>
            <a:r>
              <a:rPr lang="en-US" dirty="0"/>
              <a:t>Operations</a:t>
            </a:r>
            <a:r>
              <a:rPr lang="en-US" sz="1800" dirty="0">
                <a:solidFill>
                  <a:prstClr val="black"/>
                </a:solidFill>
              </a:rPr>
              <a:t> Bookings, - KPI- No of bookings, revenue</a:t>
            </a:r>
            <a:endParaRPr lang="en-US" dirty="0"/>
          </a:p>
          <a:p>
            <a:r>
              <a:rPr lang="en-US" dirty="0"/>
              <a:t>Outbound</a:t>
            </a:r>
          </a:p>
          <a:p>
            <a:r>
              <a:rPr lang="en-US" dirty="0"/>
              <a:t>Sales and Marketing</a:t>
            </a:r>
          </a:p>
          <a:p>
            <a:r>
              <a:rPr lang="en-US" dirty="0"/>
              <a:t>Service</a:t>
            </a:r>
            <a:r>
              <a:rPr lang="en-US" sz="1800" dirty="0">
                <a:solidFill>
                  <a:prstClr val="black"/>
                </a:solidFill>
              </a:rPr>
              <a:t> (concierge, room service etc.) – KPI – </a:t>
            </a:r>
            <a:r>
              <a:rPr lang="en-US" sz="1800" dirty="0" err="1">
                <a:solidFill>
                  <a:prstClr val="black"/>
                </a:solidFill>
              </a:rPr>
              <a:t>cust</a:t>
            </a:r>
            <a:r>
              <a:rPr lang="en-US" sz="1800" dirty="0">
                <a:solidFill>
                  <a:prstClr val="black"/>
                </a:solidFill>
              </a:rPr>
              <a:t> satisfaction, No of services</a:t>
            </a:r>
            <a:endParaRPr lang="en-US" dirty="0"/>
          </a:p>
          <a:p>
            <a:r>
              <a:rPr lang="en-US" dirty="0"/>
              <a:t>HR, Procurement, Accounting, Infrastructure</a:t>
            </a:r>
            <a:r>
              <a:rPr lang="en-US" sz="1800" dirty="0">
                <a:solidFill>
                  <a:prstClr val="black"/>
                </a:solidFill>
              </a:rPr>
              <a:t> – KPI – </a:t>
            </a:r>
            <a:r>
              <a:rPr lang="en-US" sz="1800" dirty="0" err="1">
                <a:solidFill>
                  <a:prstClr val="black"/>
                </a:solidFill>
              </a:rPr>
              <a:t>emp</a:t>
            </a:r>
            <a:r>
              <a:rPr lang="en-US" sz="1800" dirty="0">
                <a:solidFill>
                  <a:prstClr val="black"/>
                </a:solidFill>
              </a:rPr>
              <a:t> performance, costs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653C62-27EA-4A7D-8C05-C767C1C1E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9879" y="1966260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Booking</a:t>
            </a:r>
            <a:r>
              <a:rPr lang="en-US" sz="1800" dirty="0">
                <a:solidFill>
                  <a:prstClr val="black"/>
                </a:solidFill>
              </a:rPr>
              <a:t> (Customer, </a:t>
            </a:r>
            <a:r>
              <a:rPr lang="en-US" sz="1800" dirty="0" err="1">
                <a:solidFill>
                  <a:prstClr val="black"/>
                </a:solidFill>
              </a:rPr>
              <a:t>RoomType</a:t>
            </a:r>
            <a:r>
              <a:rPr lang="en-US" sz="1800" dirty="0">
                <a:solidFill>
                  <a:prstClr val="black"/>
                </a:solidFill>
              </a:rPr>
              <a:t>, Hotel, Cha</a:t>
            </a:r>
            <a:r>
              <a:rPr lang="en-US" altLang="zh-CN" sz="1800" dirty="0">
                <a:solidFill>
                  <a:prstClr val="black"/>
                </a:solidFill>
              </a:rPr>
              <a:t>n</a:t>
            </a:r>
            <a:r>
              <a:rPr lang="en-US" sz="1800" dirty="0">
                <a:solidFill>
                  <a:prstClr val="black"/>
                </a:solidFill>
              </a:rPr>
              <a:t>nel (Web, phone, </a:t>
            </a:r>
            <a:r>
              <a:rPr lang="en-US" sz="1800" dirty="0" err="1">
                <a:solidFill>
                  <a:prstClr val="black"/>
                </a:solidFill>
              </a:rPr>
              <a:t>walkin</a:t>
            </a:r>
            <a:r>
              <a:rPr lang="en-US" sz="1800" dirty="0">
                <a:solidFill>
                  <a:prstClr val="black"/>
                </a:solidFill>
              </a:rPr>
              <a:t>), Date, Promotion,)</a:t>
            </a:r>
            <a:endParaRPr lang="en-US" dirty="0"/>
          </a:p>
          <a:p>
            <a:r>
              <a:rPr lang="en-US" dirty="0"/>
              <a:t>Service</a:t>
            </a:r>
          </a:p>
          <a:p>
            <a:r>
              <a:rPr lang="en-US" dirty="0"/>
              <a:t>Marketing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dirty="0"/>
              <a:t>Procurement</a:t>
            </a:r>
          </a:p>
          <a:p>
            <a:r>
              <a:rPr lang="en-US" dirty="0" err="1"/>
              <a:t>CheckIn</a:t>
            </a:r>
            <a:r>
              <a:rPr lang="en-US" dirty="0"/>
              <a:t>/Checkout</a:t>
            </a:r>
          </a:p>
          <a:p>
            <a:r>
              <a:rPr lang="en-US" dirty="0"/>
              <a:t>Facilities Management</a:t>
            </a:r>
          </a:p>
          <a:p>
            <a:r>
              <a:rPr lang="en-US" dirty="0"/>
              <a:t>Accounting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25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7532-007A-45EE-959A-68B76252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Data Sources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169B92F-9100-4180-918C-32B44AC18A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0063400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4301108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7421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Business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Non-Relational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41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Reservations,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Clickstream, Server logs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273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Payments, Request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Sensor logs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490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Marketing Campaign, Budgets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Website reviews, Social Media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906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918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Check IN/ Check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148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Facilities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IoT, Sensors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80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Accounting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180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407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6708-B233-4425-8706-0BC18726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Storage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62EB9-F2C2-44DA-87EF-F087E95CD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NoSQL</a:t>
            </a:r>
          </a:p>
          <a:p>
            <a:pPr lvl="1"/>
            <a:r>
              <a:rPr lang="en-US" dirty="0"/>
              <a:t>Key value, graph, Document, IoT</a:t>
            </a:r>
          </a:p>
          <a:p>
            <a:r>
              <a:rPr lang="en-US" dirty="0"/>
              <a:t>Hadoop</a:t>
            </a:r>
          </a:p>
          <a:p>
            <a:pPr lvl="1"/>
            <a:r>
              <a:rPr lang="en-US" dirty="0"/>
              <a:t>Logs, Streaming, Web</a:t>
            </a:r>
          </a:p>
          <a:p>
            <a:r>
              <a:rPr lang="en-US" dirty="0"/>
              <a:t>RDBMS</a:t>
            </a:r>
          </a:p>
          <a:p>
            <a:pPr lvl="1"/>
            <a:r>
              <a:rPr lang="en-US" dirty="0"/>
              <a:t>Relational</a:t>
            </a:r>
          </a:p>
          <a:p>
            <a:pPr lvl="1"/>
            <a:r>
              <a:rPr lang="en-US" dirty="0"/>
              <a:t>Real-time analytics</a:t>
            </a:r>
          </a:p>
          <a:p>
            <a:pPr lvl="1"/>
            <a:r>
              <a:rPr lang="en-US" dirty="0"/>
              <a:t>High value / ACID compliant (ACID is a set of properties of database transactions intended to guarantee data validity despite errors, power failures, and other mishaps)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657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E392-5C7B-B848-AF46-B6EACD5CF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50413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From Data Lake to Data Warehouse: Enhancing Customer 360 with Amazon Redshift Spectrum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9D2525-0AC1-0842-B5B6-2CB765D80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004" y="1966585"/>
            <a:ext cx="6466378" cy="299444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B6171A-1C80-7D4C-9320-24D096F1D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377" y="3385891"/>
            <a:ext cx="5578259" cy="32906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265B87-5AF1-2444-941D-B1A8A9DF401E}"/>
              </a:ext>
            </a:extLst>
          </p:cNvPr>
          <p:cNvSpPr/>
          <p:nvPr/>
        </p:nvSpPr>
        <p:spPr>
          <a:xfrm>
            <a:off x="447193" y="573400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Source: </a:t>
            </a:r>
            <a:r>
              <a:rPr lang="en-US" u="sng" dirty="0">
                <a:hlinkClick r:id="rId4"/>
              </a:rPr>
              <a:t>From Data Lake to Data Warehousing with Amazon Redshift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062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28BE-497D-4B4A-BFB0-593179476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Social Data Warehousing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E22E3-032C-B942-A5C2-96E4B5316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Social</a:t>
            </a:r>
            <a:r>
              <a:rPr lang="zh-CN" altLang="en-US" dirty="0"/>
              <a:t> </a:t>
            </a:r>
            <a:r>
              <a:rPr lang="en-US" altLang="zh-CN" dirty="0"/>
              <a:t>Customer</a:t>
            </a:r>
            <a:r>
              <a:rPr lang="zh-CN" altLang="en-US" dirty="0"/>
              <a:t> </a:t>
            </a:r>
            <a:r>
              <a:rPr lang="en-US" altLang="zh-CN" dirty="0"/>
              <a:t>Relationship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  <a:r>
              <a:rPr lang="zh-CN" altLang="en-US" dirty="0"/>
              <a:t> </a:t>
            </a:r>
            <a:r>
              <a:rPr lang="en-US" altLang="zh-CN" dirty="0"/>
              <a:t>(CRM)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important!</a:t>
            </a:r>
          </a:p>
          <a:p>
            <a:r>
              <a:rPr lang="en-US" altLang="zh-CN" b="1" dirty="0"/>
              <a:t>Social</a:t>
            </a:r>
            <a:r>
              <a:rPr lang="zh-CN" altLang="en-US" b="1" dirty="0"/>
              <a:t> </a:t>
            </a:r>
            <a:r>
              <a:rPr lang="en-US" altLang="zh-CN" b="1" dirty="0"/>
              <a:t>CRM</a:t>
            </a:r>
            <a:r>
              <a:rPr lang="zh-CN" altLang="en-US" b="1" dirty="0"/>
              <a:t> </a:t>
            </a:r>
            <a:r>
              <a:rPr lang="en-US" altLang="zh-CN" b="1" dirty="0"/>
              <a:t>can</a:t>
            </a:r>
            <a:r>
              <a:rPr lang="zh-CN" altLang="en-US" b="1" dirty="0"/>
              <a:t> </a:t>
            </a:r>
            <a:r>
              <a:rPr lang="en-US" altLang="zh-CN" b="1" dirty="0"/>
              <a:t>drive</a:t>
            </a:r>
            <a:r>
              <a:rPr lang="en-US" altLang="zh-CN" dirty="0"/>
              <a:t>:</a:t>
            </a:r>
          </a:p>
          <a:p>
            <a:r>
              <a:rPr lang="en-US" altLang="zh-CN" b="1" i="1" dirty="0"/>
              <a:t>Marketing</a:t>
            </a:r>
            <a:r>
              <a:rPr lang="zh-CN" altLang="en-US" b="1" i="1" dirty="0"/>
              <a:t> </a:t>
            </a:r>
            <a:r>
              <a:rPr lang="en-US" altLang="zh-CN" b="1" i="1" dirty="0"/>
              <a:t>Impact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driving</a:t>
            </a:r>
            <a:r>
              <a:rPr lang="zh-CN" altLang="en-US" dirty="0"/>
              <a:t> </a:t>
            </a:r>
            <a:r>
              <a:rPr lang="en-US" altLang="zh-CN" dirty="0"/>
              <a:t>specific</a:t>
            </a:r>
            <a:r>
              <a:rPr lang="zh-CN" altLang="en-US" dirty="0"/>
              <a:t> </a:t>
            </a:r>
            <a:r>
              <a:rPr lang="en-US" altLang="zh-CN" dirty="0"/>
              <a:t>messages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channels</a:t>
            </a:r>
            <a:r>
              <a:rPr lang="zh-CN" altLang="en-US" dirty="0"/>
              <a:t> </a:t>
            </a:r>
            <a:r>
              <a:rPr lang="en-US" altLang="zh-CN" dirty="0"/>
              <a:t>where</a:t>
            </a:r>
            <a:r>
              <a:rPr lang="zh-CN" altLang="en-US" dirty="0"/>
              <a:t> </a:t>
            </a:r>
            <a:r>
              <a:rPr lang="en-US" altLang="zh-CN" dirty="0"/>
              <a:t>people</a:t>
            </a:r>
            <a:r>
              <a:rPr lang="zh-CN" altLang="en-US" dirty="0"/>
              <a:t> </a:t>
            </a:r>
            <a:r>
              <a:rPr lang="en-US" altLang="zh-CN" dirty="0"/>
              <a:t>live.</a:t>
            </a:r>
          </a:p>
          <a:p>
            <a:r>
              <a:rPr lang="en-US" altLang="zh-CN" b="1" i="1" dirty="0"/>
              <a:t>Channel</a:t>
            </a:r>
            <a:r>
              <a:rPr lang="zh-CN" altLang="en-US" b="1" i="1" dirty="0"/>
              <a:t> </a:t>
            </a:r>
            <a:r>
              <a:rPr lang="en-US" altLang="zh-CN" b="1" i="1" dirty="0"/>
              <a:t>Growth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identifying</a:t>
            </a:r>
            <a:r>
              <a:rPr lang="zh-CN" altLang="en-US" dirty="0"/>
              <a:t> </a:t>
            </a:r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customer</a:t>
            </a:r>
            <a:r>
              <a:rPr lang="zh-CN" altLang="en-US" dirty="0"/>
              <a:t> </a:t>
            </a:r>
            <a:r>
              <a:rPr lang="en-US" altLang="zh-CN" dirty="0"/>
              <a:t>relationships</a:t>
            </a:r>
            <a:r>
              <a:rPr lang="zh-CN" altLang="en-US" dirty="0"/>
              <a:t> </a:t>
            </a:r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live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channel.</a:t>
            </a:r>
          </a:p>
          <a:p>
            <a:r>
              <a:rPr lang="en-US" altLang="zh-CN" b="1" i="1" dirty="0"/>
              <a:t>Relationship</a:t>
            </a:r>
            <a:r>
              <a:rPr lang="zh-CN" altLang="en-US" b="1" i="1" dirty="0"/>
              <a:t> </a:t>
            </a:r>
            <a:r>
              <a:rPr lang="en-US" altLang="zh-CN" b="1" i="1" dirty="0"/>
              <a:t>Depth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touchpoints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increased</a:t>
            </a:r>
            <a:r>
              <a:rPr lang="zh-CN" altLang="en-US" dirty="0"/>
              <a:t> </a:t>
            </a:r>
            <a:r>
              <a:rPr lang="en-US" altLang="zh-CN" dirty="0"/>
              <a:t>retention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word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mouth.</a:t>
            </a:r>
            <a:r>
              <a:rPr lang="zh-CN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06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A891-97D1-634B-A0C8-A2A93A3C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Warehousing:</a:t>
            </a:r>
            <a:r>
              <a:rPr lang="zh-CN" altLang="en-US" dirty="0"/>
              <a:t> </a:t>
            </a:r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Social</a:t>
            </a:r>
            <a:r>
              <a:rPr lang="zh-CN" altLang="en-US" dirty="0"/>
              <a:t> </a:t>
            </a:r>
            <a:r>
              <a:rPr lang="en-US" altLang="zh-CN" dirty="0"/>
              <a:t>CRM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EB43E-60D7-C446-980A-3D19444DB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Technical Challenges:</a:t>
            </a:r>
          </a:p>
          <a:p>
            <a:r>
              <a:rPr lang="en-US" i="1" dirty="0"/>
              <a:t>Key Linking: </a:t>
            </a:r>
          </a:p>
          <a:p>
            <a:pPr lvl="1"/>
            <a:r>
              <a:rPr lang="en-US" dirty="0"/>
              <a:t>Customers don’t live by the identify in the Social World,  even keys like email address aren’t common.</a:t>
            </a:r>
          </a:p>
          <a:p>
            <a:r>
              <a:rPr lang="en-US" i="1" dirty="0"/>
              <a:t>Data Capture: </a:t>
            </a:r>
          </a:p>
          <a:p>
            <a:pPr lvl="1"/>
            <a:r>
              <a:rPr lang="en-US" dirty="0"/>
              <a:t>Difficult to find what customers are doing from staggering amount of information generated from social channels;</a:t>
            </a:r>
          </a:p>
          <a:p>
            <a:r>
              <a:rPr lang="en-US" i="1" dirty="0"/>
              <a:t>Data Modeling: </a:t>
            </a:r>
          </a:p>
          <a:p>
            <a:pPr lvl="1"/>
            <a:r>
              <a:rPr lang="en-US" dirty="0"/>
              <a:t>Textual social interactions; too many to classify for actual use;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225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BDF3E-A8DF-514D-BC0C-8F0D8CBC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Social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8DFA9-0B59-9F4A-A22E-CBD59E2FE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02677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Level 1: Company Social</a:t>
            </a:r>
          </a:p>
          <a:p>
            <a:pPr lvl="1"/>
            <a:r>
              <a:rPr lang="en-US" dirty="0"/>
              <a:t>Reviews, Likes, Community Registration</a:t>
            </a:r>
          </a:p>
          <a:p>
            <a:r>
              <a:rPr lang="en-US" dirty="0"/>
              <a:t>Level 2: Channel Usage</a:t>
            </a:r>
          </a:p>
          <a:p>
            <a:pPr lvl="1"/>
            <a:r>
              <a:rPr lang="en-US" dirty="0"/>
              <a:t>The channels (Facebook, </a:t>
            </a:r>
            <a:r>
              <a:rPr lang="en-US" dirty="0" err="1"/>
              <a:t>Linedin</a:t>
            </a:r>
            <a:r>
              <a:rPr lang="en-US" dirty="0"/>
              <a:t>, Twitter, etc.) that the customer use;</a:t>
            </a:r>
          </a:p>
          <a:p>
            <a:r>
              <a:rPr lang="en-US" dirty="0"/>
              <a:t>Level 3: Identify/Handle</a:t>
            </a:r>
          </a:p>
          <a:p>
            <a:pPr lvl="1"/>
            <a:r>
              <a:rPr lang="en-US" dirty="0"/>
              <a:t>The “name” of your customer in a particular channel;</a:t>
            </a:r>
          </a:p>
          <a:p>
            <a:r>
              <a:rPr lang="en-US" dirty="0"/>
              <a:t>Level 4: Interests, Topics and Sentiments</a:t>
            </a:r>
          </a:p>
          <a:p>
            <a:pPr lvl="1"/>
            <a:r>
              <a:rPr lang="en-US" dirty="0"/>
              <a:t>Content and sentiment about the company</a:t>
            </a:r>
          </a:p>
          <a:p>
            <a:r>
              <a:rPr lang="en-US" dirty="0"/>
              <a:t>Level 5: Influence</a:t>
            </a:r>
          </a:p>
          <a:p>
            <a:pPr lvl="1"/>
            <a:r>
              <a:rPr lang="en-US" dirty="0"/>
              <a:t>How big are the influence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FB548C6-E42F-7646-8BBD-DFA0F8C9A5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361354"/>
              </p:ext>
            </p:extLst>
          </p:nvPr>
        </p:nvGraphicFramePr>
        <p:xfrm>
          <a:off x="7344079" y="1729038"/>
          <a:ext cx="4510762" cy="4146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4957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Social Data into DW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3736831"/>
              </p:ext>
            </p:extLst>
          </p:nvPr>
        </p:nvGraphicFramePr>
        <p:xfrm>
          <a:off x="650789" y="136216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59A481D-E296-4245-BD0B-61403396C6B0}"/>
              </a:ext>
            </a:extLst>
          </p:cNvPr>
          <p:cNvSpPr/>
          <p:nvPr/>
        </p:nvSpPr>
        <p:spPr>
          <a:xfrm>
            <a:off x="650789" y="5569545"/>
            <a:ext cx="113105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02124"/>
                </a:solidFill>
                <a:latin typeface="Roboto" panose="02000000000000000000" pitchFamily="2" charset="0"/>
              </a:rPr>
              <a:t>ETL, which stands for </a:t>
            </a:r>
            <a:r>
              <a:rPr lang="en-US" b="1" dirty="0">
                <a:solidFill>
                  <a:srgbClr val="202124"/>
                </a:solidFill>
                <a:latin typeface="Roboto" panose="02000000000000000000" pitchFamily="2" charset="0"/>
              </a:rPr>
              <a:t>extract, transform, and load</a:t>
            </a:r>
            <a:r>
              <a:rPr lang="en-US" dirty="0">
                <a:solidFill>
                  <a:srgbClr val="202124"/>
                </a:solidFill>
                <a:latin typeface="Roboto" panose="02000000000000000000" pitchFamily="2" charset="0"/>
              </a:rPr>
              <a:t>, is the process data engineers use to extract data from different sources, transform the data into a usable and trusted resource, and load that data into the systems end-users can access and use downstream to solve business problems.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4459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983B86C-9990-4304-A269-8EE876A43E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834CBF3-2658-4939-A1F4-22766FE1F2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47F7A74-1234-4701-A44D-8BE54F36D6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BE48CD3-6C99-416B-8996-FFD615597A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66947C1-29E4-44CE-9D1C-B28A4FFA06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B817595-88CA-496E-9593-18AEC88043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D0DF03-A92D-475B-8AE3-93A928989F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885D34-D3A4-4CE0-9F0B-B7BEF25240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D59AE68-46DC-477B-8276-3FB6C4C21F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B82FD8-25F0-46AE-9300-E5F62C2B01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83AD9A2-7328-4647-8ACC-EC44D81D9A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7C28C75-FC8F-4DAB-AA3E-95111919C5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F4D1B6C-7135-4F78-9EF9-D07CF557D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9D0D763-F2C4-4A70-A26B-E992FE23BF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84143-DA87-5542-AFA1-46AE89A3E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 Warehousing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B8B6A-FDF5-474D-A35D-3E0802BAE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Cloud Data Warehouse </a:t>
            </a:r>
            <a:r>
              <a:rPr lang="en-US" dirty="0"/>
              <a:t>is a database that is delivered as a managed service in the public cloud and is optimized for analytics, scale, and usability. </a:t>
            </a:r>
          </a:p>
          <a:p>
            <a:r>
              <a:rPr lang="en-US" dirty="0"/>
              <a:t>Allow businesses to focus on running their businesses rather than managing a server room, and they enable business intelligence teams to deliver faster and better insights due to improved access, scalability, and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396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6020D-B357-B547-BC46-D1F23821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Cloud Data Warehousing: Complexity </a:t>
            </a:r>
            <a:r>
              <a:rPr lang="en-US" dirty="0" err="1"/>
              <a:t>v.s</a:t>
            </a:r>
            <a:r>
              <a:rPr lang="en-US" dirty="0"/>
              <a:t>. Cost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5C9A73-C15E-CC48-B651-4D021B5619FC}"/>
              </a:ext>
            </a:extLst>
          </p:cNvPr>
          <p:cNvGrpSpPr/>
          <p:nvPr/>
        </p:nvGrpSpPr>
        <p:grpSpPr>
          <a:xfrm>
            <a:off x="-115211" y="1687152"/>
            <a:ext cx="7609704" cy="4627666"/>
            <a:chOff x="2030525" y="1135017"/>
            <a:chExt cx="7609704" cy="462766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4B9A3F-0514-0644-9BF0-9DBA024D0904}"/>
                </a:ext>
              </a:extLst>
            </p:cNvPr>
            <p:cNvCxnSpPr/>
            <p:nvPr/>
          </p:nvCxnSpPr>
          <p:spPr bwMode="auto">
            <a:xfrm>
              <a:off x="3775046" y="5110632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1D18001-6052-0D4E-9FC6-28DFB2BCDE0D}"/>
                </a:ext>
              </a:extLst>
            </p:cNvPr>
            <p:cNvCxnSpPr/>
            <p:nvPr/>
          </p:nvCxnSpPr>
          <p:spPr bwMode="auto">
            <a:xfrm>
              <a:off x="5198233" y="5110632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B864CB-875B-BA45-A63B-4EA62B22CED6}"/>
                </a:ext>
              </a:extLst>
            </p:cNvPr>
            <p:cNvCxnSpPr/>
            <p:nvPr/>
          </p:nvCxnSpPr>
          <p:spPr bwMode="auto">
            <a:xfrm>
              <a:off x="6621419" y="5110632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B5121FA-3433-154C-BF79-C6587C164D9F}"/>
                </a:ext>
              </a:extLst>
            </p:cNvPr>
            <p:cNvGrpSpPr/>
            <p:nvPr/>
          </p:nvGrpSpPr>
          <p:grpSpPr>
            <a:xfrm>
              <a:off x="2030525" y="1135017"/>
              <a:ext cx="7609704" cy="4627666"/>
              <a:chOff x="1795394" y="1370271"/>
              <a:chExt cx="7609704" cy="4627666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370342-3734-6443-8F44-B0233907E38E}"/>
                  </a:ext>
                </a:extLst>
              </p:cNvPr>
              <p:cNvSpPr txBox="1"/>
              <p:nvPr/>
            </p:nvSpPr>
            <p:spPr>
              <a:xfrm flipH="1">
                <a:off x="1827604" y="1370271"/>
                <a:ext cx="263030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rPr>
                  <a:t>Complexity</a:t>
                </a:r>
              </a:p>
              <a:p>
                <a:pPr algn="ctr"/>
                <a:r>
                  <a:rPr lang="en-US" sz="2000" dirty="0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rPr>
                  <a:t>(deployment &amp; operational)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7F5440-04C8-024C-8C48-9B83C0D0650A}"/>
                  </a:ext>
                </a:extLst>
              </p:cNvPr>
              <p:cNvSpPr txBox="1"/>
              <p:nvPr/>
            </p:nvSpPr>
            <p:spPr>
              <a:xfrm flipH="1">
                <a:off x="6692291" y="5322408"/>
                <a:ext cx="27128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rPr>
                  <a:t>Cost (capex + </a:t>
                </a:r>
                <a:r>
                  <a:rPr lang="en-US" sz="2000" dirty="0" err="1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rPr>
                  <a:t>opex</a:t>
                </a:r>
                <a:r>
                  <a:rPr lang="en-US" sz="2000" dirty="0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rPr>
                  <a:t>)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FFA5D41-3318-BF42-B62B-A8E6B7A1E73F}"/>
                  </a:ext>
                </a:extLst>
              </p:cNvPr>
              <p:cNvGrpSpPr/>
              <p:nvPr/>
            </p:nvGrpSpPr>
            <p:grpSpPr>
              <a:xfrm>
                <a:off x="1795394" y="2293215"/>
                <a:ext cx="4992984" cy="3704722"/>
                <a:chOff x="1795394" y="2293215"/>
                <a:chExt cx="4992984" cy="3704722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1CC33D5-8ACA-8F45-B652-EB7C6EEBDD9A}"/>
                    </a:ext>
                  </a:extLst>
                </p:cNvPr>
                <p:cNvSpPr txBox="1"/>
                <p:nvPr/>
              </p:nvSpPr>
              <p:spPr>
                <a:xfrm>
                  <a:off x="1795394" y="4869228"/>
                  <a:ext cx="111551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Low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717F570-499F-7B47-9D74-A8C659B82DB9}"/>
                    </a:ext>
                  </a:extLst>
                </p:cNvPr>
                <p:cNvSpPr txBox="1"/>
                <p:nvPr/>
              </p:nvSpPr>
              <p:spPr>
                <a:xfrm>
                  <a:off x="1917973" y="3768066"/>
                  <a:ext cx="102594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Medium</a:t>
                  </a: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A6ADDBDD-23D2-9E43-8988-A7C1D4278A4E}"/>
                    </a:ext>
                  </a:extLst>
                </p:cNvPr>
                <p:cNvGrpSpPr/>
                <p:nvPr/>
              </p:nvGrpSpPr>
              <p:grpSpPr>
                <a:xfrm>
                  <a:off x="2903666" y="2293215"/>
                  <a:ext cx="3884712" cy="3704722"/>
                  <a:chOff x="2903666" y="2293215"/>
                  <a:chExt cx="3884712" cy="3704722"/>
                </a:xfrm>
              </p:grpSpPr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5087CBE-878B-3D4D-B778-E7AF4B825C68}"/>
                      </a:ext>
                    </a:extLst>
                  </p:cNvPr>
                  <p:cNvSpPr txBox="1"/>
                  <p:nvPr/>
                </p:nvSpPr>
                <p:spPr>
                  <a:xfrm>
                    <a:off x="3201936" y="5659383"/>
                    <a:ext cx="6759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dirty="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Low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89130070-936E-CD4E-A387-143800ACD643}"/>
                      </a:ext>
                    </a:extLst>
                  </p:cNvPr>
                  <p:cNvSpPr txBox="1"/>
                  <p:nvPr/>
                </p:nvSpPr>
                <p:spPr>
                  <a:xfrm>
                    <a:off x="4457910" y="5659383"/>
                    <a:ext cx="99082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Medium</a:t>
                    </a:r>
                    <a:endPara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AF1AC0A3-1C22-C947-9691-25A4ABB201EC}"/>
                      </a:ext>
                    </a:extLst>
                  </p:cNvPr>
                  <p:cNvSpPr txBox="1"/>
                  <p:nvPr/>
                </p:nvSpPr>
                <p:spPr>
                  <a:xfrm>
                    <a:off x="6048309" y="5659383"/>
                    <a:ext cx="6759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dirty="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High</a:t>
                    </a:r>
                  </a:p>
                </p:txBody>
              </p:sp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7861A87B-C2E4-4845-81D8-EEA462466CF3}"/>
                      </a:ext>
                    </a:extLst>
                  </p:cNvPr>
                  <p:cNvGrpSpPr/>
                  <p:nvPr/>
                </p:nvGrpSpPr>
                <p:grpSpPr>
                  <a:xfrm>
                    <a:off x="2903666" y="2293215"/>
                    <a:ext cx="3884712" cy="3235234"/>
                    <a:chOff x="2903666" y="2293215"/>
                    <a:chExt cx="3884712" cy="3235234"/>
                  </a:xfrm>
                </p:grpSpPr>
                <p:cxnSp>
                  <p:nvCxnSpPr>
                    <p:cNvPr id="20" name="Straight Arrow Connector 19">
                      <a:extLst>
                        <a:ext uri="{FF2B5EF4-FFF2-40B4-BE49-F238E27FC236}">
                          <a16:creationId xmlns:a16="http://schemas.microsoft.com/office/drawing/2014/main" id="{76A5F4EA-6271-4743-9EBA-7E55FBF591DC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107555" y="5522463"/>
                      <a:ext cx="3680823" cy="0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41275" cap="flat" cmpd="sng" algn="ctr">
                      <a:solidFill>
                        <a:srgbClr val="0432FF"/>
                      </a:solidFill>
                      <a:prstDash val="solid"/>
                      <a:round/>
                      <a:headEnd type="none" w="med" len="med"/>
                      <a:tailEnd type="triangle"/>
                    </a:ln>
                    <a:effectLst/>
                  </p:spPr>
                </p:cxnSp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8727C622-5573-9F47-BCF8-D2D1CB22CB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03666" y="2293215"/>
                      <a:ext cx="395552" cy="3235234"/>
                      <a:chOff x="2903666" y="2293215"/>
                      <a:chExt cx="395552" cy="3235234"/>
                    </a:xfrm>
                  </p:grpSpPr>
                  <p:cxnSp>
                    <p:nvCxnSpPr>
                      <p:cNvPr id="22" name="Straight Arrow Connector 21">
                        <a:extLst>
                          <a:ext uri="{FF2B5EF4-FFF2-40B4-BE49-F238E27FC236}">
                            <a16:creationId xmlns:a16="http://schemas.microsoft.com/office/drawing/2014/main" id="{475B03CD-BEC1-DB42-9609-4243DEEEE408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V="1">
                        <a:off x="3100717" y="2293215"/>
                        <a:ext cx="1451" cy="3235234"/>
                      </a:xfrm>
                      <a:prstGeom prst="straightConnector1">
                        <a:avLst/>
                      </a:prstGeom>
                      <a:solidFill>
                        <a:schemeClr val="accent1"/>
                      </a:solidFill>
                      <a:ln w="41275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triangle"/>
                      </a:ln>
                      <a:effectLst/>
                    </p:spPr>
                  </p:cxnSp>
                  <p:cxnSp>
                    <p:nvCxnSpPr>
                      <p:cNvPr id="23" name="Straight Connector 22">
                        <a:extLst>
                          <a:ext uri="{FF2B5EF4-FFF2-40B4-BE49-F238E27FC236}">
                            <a16:creationId xmlns:a16="http://schemas.microsoft.com/office/drawing/2014/main" id="{73B6453B-BD39-D844-99EA-73987001660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03666" y="5038506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24" name="Straight Connector 23">
                        <a:extLst>
                          <a:ext uri="{FF2B5EF4-FFF2-40B4-BE49-F238E27FC236}">
                            <a16:creationId xmlns:a16="http://schemas.microsoft.com/office/drawing/2014/main" id="{EE2B2D4D-A9F4-F748-B3D1-EEFEF2669210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03666" y="3937344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25" name="Straight Connector 24">
                        <a:extLst>
                          <a:ext uri="{FF2B5EF4-FFF2-40B4-BE49-F238E27FC236}">
                            <a16:creationId xmlns:a16="http://schemas.microsoft.com/office/drawing/2014/main" id="{542B22FA-8A08-4543-83B2-0FE6A2F999CC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 flipV="1">
                        <a:off x="2903666" y="2728410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</p:grpSp>
            </p:grp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BA6475C-B6AB-9948-AECB-DCFDBDE94C06}"/>
                    </a:ext>
                  </a:extLst>
                </p:cNvPr>
                <p:cNvSpPr txBox="1"/>
                <p:nvPr/>
              </p:nvSpPr>
              <p:spPr>
                <a:xfrm>
                  <a:off x="1917973" y="2560341"/>
                  <a:ext cx="102594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High</a:t>
                  </a:r>
                </a:p>
              </p:txBody>
            </p:sp>
          </p:grp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3EF32FB-2E75-8C43-8F6F-F0984AF0B396}"/>
              </a:ext>
            </a:extLst>
          </p:cNvPr>
          <p:cNvGrpSpPr/>
          <p:nvPr/>
        </p:nvGrpSpPr>
        <p:grpSpPr>
          <a:xfrm>
            <a:off x="4337390" y="4665776"/>
            <a:ext cx="1669326" cy="369332"/>
            <a:chOff x="4026080" y="3778490"/>
            <a:chExt cx="1669326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EBBD63-ED80-2B42-BE44-6520C42EC6C0}"/>
                </a:ext>
              </a:extLst>
            </p:cNvPr>
            <p:cNvSpPr txBox="1"/>
            <p:nvPr/>
          </p:nvSpPr>
          <p:spPr>
            <a:xfrm flipH="1">
              <a:off x="4370614" y="3778490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Appliance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152B6BD-28FB-AA44-BB46-B3F2CE432512}"/>
                </a:ext>
              </a:extLst>
            </p:cNvPr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6E2E863-EB97-3844-AB27-87F21A406924}"/>
              </a:ext>
            </a:extLst>
          </p:cNvPr>
          <p:cNvGrpSpPr/>
          <p:nvPr/>
        </p:nvGrpSpPr>
        <p:grpSpPr>
          <a:xfrm>
            <a:off x="2762488" y="2906967"/>
            <a:ext cx="1669326" cy="369332"/>
            <a:chOff x="4026080" y="3778490"/>
            <a:chExt cx="1669326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B9668CB-51DB-D04E-B9D5-E42AE04E326E}"/>
                </a:ext>
              </a:extLst>
            </p:cNvPr>
            <p:cNvSpPr txBox="1"/>
            <p:nvPr/>
          </p:nvSpPr>
          <p:spPr>
            <a:xfrm flipH="1">
              <a:off x="4370614" y="3778490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RYO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6F49470-D799-FE49-9B69-9061244C3062}"/>
                </a:ext>
              </a:extLst>
            </p:cNvPr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0055055-00A1-CC46-BC1A-94B0737BF23A}"/>
              </a:ext>
            </a:extLst>
          </p:cNvPr>
          <p:cNvGrpSpPr/>
          <p:nvPr/>
        </p:nvGrpSpPr>
        <p:grpSpPr>
          <a:xfrm>
            <a:off x="1450838" y="5197103"/>
            <a:ext cx="1918880" cy="369332"/>
            <a:chOff x="4026080" y="3778490"/>
            <a:chExt cx="1918880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6DC3C0D-01DD-FD4F-9024-62B3C2E7BBC3}"/>
                </a:ext>
              </a:extLst>
            </p:cNvPr>
            <p:cNvSpPr txBox="1"/>
            <p:nvPr/>
          </p:nvSpPr>
          <p:spPr>
            <a:xfrm flipH="1">
              <a:off x="4370614" y="3778490"/>
              <a:ext cx="15743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CLOUD DW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E086E77-D32C-D344-B5A8-DC92B208A1F7}"/>
                </a:ext>
              </a:extLst>
            </p:cNvPr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0145D8CA-9DAA-D34B-8A52-CB725468AE3C}"/>
              </a:ext>
            </a:extLst>
          </p:cNvPr>
          <p:cNvSpPr/>
          <p:nvPr/>
        </p:nvSpPr>
        <p:spPr>
          <a:xfrm>
            <a:off x="6523745" y="3940806"/>
            <a:ext cx="4828902" cy="1631216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0" dirty="0">
                <a:solidFill>
                  <a:srgbClr val="01020B"/>
                </a:solidFill>
                <a:latin typeface="Arial" charset="0"/>
              </a:rPr>
              <a:t>Buy an appliance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Teradata, Microsoft APS, </a:t>
            </a:r>
            <a:r>
              <a:rPr lang="en-US" sz="1800" b="0" dirty="0" err="1">
                <a:solidFill>
                  <a:srgbClr val="01020B"/>
                </a:solidFill>
                <a:latin typeface="Arial" charset="0"/>
              </a:rPr>
              <a:t>Netezza</a:t>
            </a:r>
            <a:endParaRPr lang="en-US" sz="1800" b="0" dirty="0">
              <a:solidFill>
                <a:srgbClr val="01020B"/>
              </a:solidFill>
              <a:latin typeface="Arial" charset="0"/>
            </a:endParaRP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High capex, low </a:t>
            </a:r>
            <a:r>
              <a:rPr lang="en-US" sz="1800" b="0" dirty="0" err="1">
                <a:solidFill>
                  <a:srgbClr val="01020B"/>
                </a:solidFill>
                <a:latin typeface="Arial" charset="0"/>
              </a:rPr>
              <a:t>opex</a:t>
            </a:r>
            <a:endParaRPr lang="en-US" sz="1800" b="0" dirty="0">
              <a:solidFill>
                <a:srgbClr val="01020B"/>
              </a:solidFill>
              <a:latin typeface="Arial" charset="0"/>
            </a:endParaRP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Low complexity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Gold standard for performance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F1BEC7-89E1-5D4F-A37B-B7EF9B344D39}"/>
              </a:ext>
            </a:extLst>
          </p:cNvPr>
          <p:cNvSpPr/>
          <p:nvPr/>
        </p:nvSpPr>
        <p:spPr>
          <a:xfrm>
            <a:off x="6081357" y="2032591"/>
            <a:ext cx="4828902" cy="1908215"/>
          </a:xfrm>
          <a:prstGeom prst="rect">
            <a:avLst/>
          </a:prstGeom>
          <a:solidFill>
            <a:srgbClr val="CCFFCC"/>
          </a:solidFill>
          <a:ln w="1905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0" dirty="0">
                <a:solidFill>
                  <a:srgbClr val="01020B"/>
                </a:solidFill>
                <a:latin typeface="Arial" charset="0"/>
              </a:rPr>
              <a:t>Roll-your-own (RYO)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Buy &amp; install a cluster of servers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Buy, install, &amp; configure software (Vertica, </a:t>
            </a:r>
            <a:r>
              <a:rPr lang="en-US" sz="1800" b="0" dirty="0" err="1">
                <a:solidFill>
                  <a:srgbClr val="01020B"/>
                </a:solidFill>
                <a:latin typeface="Arial" charset="0"/>
              </a:rPr>
              <a:t>Asterdata</a:t>
            </a: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, </a:t>
            </a:r>
            <a:r>
              <a:rPr lang="en-US" sz="1800" b="0" dirty="0" err="1">
                <a:solidFill>
                  <a:srgbClr val="01020B"/>
                </a:solidFill>
                <a:latin typeface="Arial" charset="0"/>
              </a:rPr>
              <a:t>Greenplum</a:t>
            </a: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, …)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High complexity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Medium capex and </a:t>
            </a:r>
            <a:r>
              <a:rPr lang="en-US" sz="1800" b="0" dirty="0" err="1">
                <a:solidFill>
                  <a:srgbClr val="01020B"/>
                </a:solidFill>
                <a:latin typeface="Arial" charset="0"/>
              </a:rPr>
              <a:t>opex</a:t>
            </a:r>
            <a:endParaRPr lang="en-US" sz="1800" b="0" dirty="0">
              <a:solidFill>
                <a:srgbClr val="01020B"/>
              </a:solidFill>
              <a:latin typeface="Arial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5990ED-52B5-2542-950F-2EC93484F294}"/>
              </a:ext>
            </a:extLst>
          </p:cNvPr>
          <p:cNvSpPr/>
          <p:nvPr/>
        </p:nvSpPr>
        <p:spPr>
          <a:xfrm>
            <a:off x="5107810" y="3176628"/>
            <a:ext cx="4828902" cy="523220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0" dirty="0">
                <a:solidFill>
                  <a:srgbClr val="01020B"/>
                </a:solidFill>
                <a:latin typeface="Arial" charset="0"/>
              </a:rPr>
              <a:t>Only 2 options 10 years ago!</a:t>
            </a:r>
            <a:endParaRPr lang="en-US" sz="1800" b="0" dirty="0">
              <a:solidFill>
                <a:srgbClr val="01020B"/>
              </a:solidFill>
              <a:latin typeface="Arial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9C771A-4D41-C94E-A5FD-BE8100F19EA3}"/>
              </a:ext>
            </a:extLst>
          </p:cNvPr>
          <p:cNvSpPr/>
          <p:nvPr/>
        </p:nvSpPr>
        <p:spPr>
          <a:xfrm>
            <a:off x="4118230" y="1581067"/>
            <a:ext cx="6222026" cy="1631216"/>
          </a:xfrm>
          <a:prstGeom prst="rect">
            <a:avLst/>
          </a:prstGeom>
          <a:solidFill>
            <a:srgbClr val="FEA105"/>
          </a:solidFill>
          <a:ln w="1905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0" dirty="0">
                <a:solidFill>
                  <a:srgbClr val="01020B"/>
                </a:solidFill>
                <a:latin typeface="Arial" charset="0"/>
              </a:rPr>
              <a:t>Use a SAAS DW in the cloud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AWS Redshift, MSFT SQL DW, Snowflake, </a:t>
            </a:r>
            <a:r>
              <a:rPr lang="en-US" sz="1800" b="0" dirty="0" err="1">
                <a:solidFill>
                  <a:srgbClr val="01020B"/>
                </a:solidFill>
                <a:latin typeface="Arial" charset="0"/>
              </a:rPr>
              <a:t>BigQuery</a:t>
            </a: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,  Athena (Presto), …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Low complexity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No capex,  low </a:t>
            </a:r>
            <a:r>
              <a:rPr lang="en-US" sz="1800" b="0" dirty="0" err="1">
                <a:solidFill>
                  <a:srgbClr val="01020B"/>
                </a:solidFill>
                <a:latin typeface="Arial" charset="0"/>
              </a:rPr>
              <a:t>opex</a:t>
            </a:r>
            <a:endParaRPr lang="en-US" sz="1800" b="0" dirty="0">
              <a:solidFill>
                <a:srgbClr val="01020B"/>
              </a:solidFill>
              <a:latin typeface="Arial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52601D-F298-804F-AB6A-091D657C083B}"/>
              </a:ext>
            </a:extLst>
          </p:cNvPr>
          <p:cNvSpPr/>
          <p:nvPr/>
        </p:nvSpPr>
        <p:spPr>
          <a:xfrm>
            <a:off x="5022648" y="1931646"/>
            <a:ext cx="4828902" cy="2185214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0" dirty="0">
                <a:solidFill>
                  <a:srgbClr val="01020B"/>
                </a:solidFill>
                <a:latin typeface="Arial" charset="0"/>
              </a:rPr>
              <a:t>Roll-your-own-Cloud (RYOC)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Rent a cluster of cloud servers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Buy, install, &amp; configure software (Spark, Hive, Vertica, </a:t>
            </a:r>
            <a:r>
              <a:rPr lang="en-US" sz="1800" b="0" dirty="0" err="1">
                <a:solidFill>
                  <a:srgbClr val="01020B"/>
                </a:solidFill>
                <a:latin typeface="Arial" charset="0"/>
              </a:rPr>
              <a:t>Asterdata</a:t>
            </a: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, </a:t>
            </a:r>
            <a:r>
              <a:rPr lang="en-US" sz="1800" b="0" dirty="0" err="1">
                <a:solidFill>
                  <a:srgbClr val="01020B"/>
                </a:solidFill>
                <a:latin typeface="Arial" charset="0"/>
              </a:rPr>
              <a:t>Greenplum</a:t>
            </a: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, …)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Medium to high complexity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Low capex 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Medium </a:t>
            </a:r>
            <a:r>
              <a:rPr lang="en-US" sz="1800" b="0" dirty="0" err="1">
                <a:solidFill>
                  <a:srgbClr val="01020B"/>
                </a:solidFill>
                <a:latin typeface="Arial" charset="0"/>
              </a:rPr>
              <a:t>opex</a:t>
            </a:r>
            <a:endParaRPr lang="en-US" sz="1800" b="0" dirty="0">
              <a:solidFill>
                <a:srgbClr val="01020B"/>
              </a:solidFill>
              <a:latin typeface="Arial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FDA8C40-1874-054F-B5B5-E7C9B47C8A1C}"/>
              </a:ext>
            </a:extLst>
          </p:cNvPr>
          <p:cNvGrpSpPr/>
          <p:nvPr/>
        </p:nvGrpSpPr>
        <p:grpSpPr>
          <a:xfrm>
            <a:off x="2055603" y="3756496"/>
            <a:ext cx="1669326" cy="369332"/>
            <a:chOff x="4026080" y="3778490"/>
            <a:chExt cx="1669326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62084E1-EA15-9E4A-984A-6DF6FD462837}"/>
                </a:ext>
              </a:extLst>
            </p:cNvPr>
            <p:cNvSpPr txBox="1"/>
            <p:nvPr/>
          </p:nvSpPr>
          <p:spPr>
            <a:xfrm flipH="1">
              <a:off x="4370614" y="3778490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RYOC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4262FF3-AA02-F541-AF8F-39214D449FE0}"/>
                </a:ext>
              </a:extLst>
            </p:cNvPr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11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9" grpId="0" animBg="1"/>
      <p:bldP spid="39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6547915" y="2632022"/>
            <a:ext cx="1669326" cy="369332"/>
            <a:chOff x="4026080" y="3778490"/>
            <a:chExt cx="1669326" cy="369332"/>
          </a:xfrm>
        </p:grpSpPr>
        <p:sp>
          <p:nvSpPr>
            <p:cNvPr id="15" name="TextBox 14"/>
            <p:cNvSpPr txBox="1"/>
            <p:nvPr/>
          </p:nvSpPr>
          <p:spPr>
            <a:xfrm flipH="1">
              <a:off x="4370614" y="3778490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Appliance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188018" y="3536019"/>
            <a:ext cx="1669326" cy="369332"/>
            <a:chOff x="4026080" y="3778490"/>
            <a:chExt cx="1669326" cy="369332"/>
          </a:xfrm>
        </p:grpSpPr>
        <p:sp>
          <p:nvSpPr>
            <p:cNvPr id="20" name="TextBox 19"/>
            <p:cNvSpPr txBox="1"/>
            <p:nvPr/>
          </p:nvSpPr>
          <p:spPr>
            <a:xfrm flipH="1">
              <a:off x="4370614" y="3778490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RYO</a:t>
              </a: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648777" y="4780764"/>
            <a:ext cx="1918880" cy="369332"/>
            <a:chOff x="4026080" y="3778490"/>
            <a:chExt cx="1918880" cy="369332"/>
          </a:xfrm>
        </p:grpSpPr>
        <p:sp>
          <p:nvSpPr>
            <p:cNvPr id="23" name="TextBox 22"/>
            <p:cNvSpPr txBox="1"/>
            <p:nvPr/>
          </p:nvSpPr>
          <p:spPr>
            <a:xfrm flipH="1">
              <a:off x="4370614" y="3778490"/>
              <a:ext cx="15743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CLOUD DW</a:t>
              </a: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073350" y="1674316"/>
            <a:ext cx="6416169" cy="4195927"/>
            <a:chOff x="2135028" y="2089271"/>
            <a:chExt cx="6416169" cy="4195927"/>
          </a:xfrm>
        </p:grpSpPr>
        <p:cxnSp>
          <p:nvCxnSpPr>
            <p:cNvPr id="11" name="Straight Connector 10"/>
            <p:cNvCxnSpPr/>
            <p:nvPr/>
          </p:nvCxnSpPr>
          <p:spPr bwMode="auto">
            <a:xfrm>
              <a:off x="3879549" y="5633147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5302736" y="5633147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Straight Connector 37"/>
            <p:cNvCxnSpPr/>
            <p:nvPr/>
          </p:nvCxnSpPr>
          <p:spPr bwMode="auto">
            <a:xfrm>
              <a:off x="6725922" y="5633147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6" name="Group 55"/>
            <p:cNvGrpSpPr/>
            <p:nvPr/>
          </p:nvGrpSpPr>
          <p:grpSpPr>
            <a:xfrm>
              <a:off x="2135028" y="2089271"/>
              <a:ext cx="6416169" cy="4195927"/>
              <a:chOff x="1795394" y="1802010"/>
              <a:chExt cx="6416169" cy="4195927"/>
            </a:xfrm>
          </p:grpSpPr>
          <p:sp>
            <p:nvSpPr>
              <p:cNvPr id="13" name="TextBox 12"/>
              <p:cNvSpPr txBox="1"/>
              <p:nvPr/>
            </p:nvSpPr>
            <p:spPr>
              <a:xfrm flipH="1">
                <a:off x="1970227" y="1802010"/>
                <a:ext cx="26303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rPr>
                  <a:t>Time to Insights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 flipH="1">
                <a:off x="6469000" y="5291630"/>
                <a:ext cx="17425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rPr>
                  <a:t>Cost</a:t>
                </a:r>
                <a:endParaRPr lang="en-US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55" name="Group 54"/>
              <p:cNvGrpSpPr/>
              <p:nvPr/>
            </p:nvGrpSpPr>
            <p:grpSpPr>
              <a:xfrm>
                <a:off x="1795394" y="2293215"/>
                <a:ext cx="4992984" cy="3704722"/>
                <a:chOff x="1795394" y="2293215"/>
                <a:chExt cx="4992984" cy="3704722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1795394" y="4869228"/>
                  <a:ext cx="111551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Minutes</a:t>
                  </a: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1917973" y="3768066"/>
                  <a:ext cx="102594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Weeks</a:t>
                  </a:r>
                  <a:endParaRPr lang="en-US" sz="1600" dirty="0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  <p:grpSp>
              <p:nvGrpSpPr>
                <p:cNvPr id="54" name="Group 53"/>
                <p:cNvGrpSpPr/>
                <p:nvPr/>
              </p:nvGrpSpPr>
              <p:grpSpPr>
                <a:xfrm>
                  <a:off x="2903666" y="2293215"/>
                  <a:ext cx="3884712" cy="3704722"/>
                  <a:chOff x="2903666" y="2293215"/>
                  <a:chExt cx="3884712" cy="3704722"/>
                </a:xfrm>
              </p:grpSpPr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3201936" y="5659383"/>
                    <a:ext cx="6759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dirty="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Low</a:t>
                    </a:r>
                  </a:p>
                </p:txBody>
              </p:sp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4499003" y="5659383"/>
                    <a:ext cx="95226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Medium</a:t>
                    </a:r>
                    <a:endPara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6048309" y="5659383"/>
                    <a:ext cx="6759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dirty="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High</a:t>
                    </a:r>
                  </a:p>
                </p:txBody>
              </p:sp>
              <p:grpSp>
                <p:nvGrpSpPr>
                  <p:cNvPr id="53" name="Group 52"/>
                  <p:cNvGrpSpPr/>
                  <p:nvPr/>
                </p:nvGrpSpPr>
                <p:grpSpPr>
                  <a:xfrm>
                    <a:off x="2903666" y="2293215"/>
                    <a:ext cx="3884712" cy="3235234"/>
                    <a:chOff x="2903666" y="2293215"/>
                    <a:chExt cx="3884712" cy="3235234"/>
                  </a:xfrm>
                </p:grpSpPr>
                <p:cxnSp>
                  <p:nvCxnSpPr>
                    <p:cNvPr id="9" name="Straight Arrow Connector 8"/>
                    <p:cNvCxnSpPr/>
                    <p:nvPr/>
                  </p:nvCxnSpPr>
                  <p:spPr bwMode="auto">
                    <a:xfrm>
                      <a:off x="3107555" y="5522463"/>
                      <a:ext cx="3680823" cy="0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41275" cap="flat" cmpd="sng" algn="ctr">
                      <a:solidFill>
                        <a:srgbClr val="0432FF"/>
                      </a:solidFill>
                      <a:prstDash val="solid"/>
                      <a:round/>
                      <a:headEnd type="none" w="med" len="med"/>
                      <a:tailEnd type="triangle"/>
                    </a:ln>
                    <a:effectLst/>
                  </p:spPr>
                </p:cxnSp>
                <p:grpSp>
                  <p:nvGrpSpPr>
                    <p:cNvPr id="52" name="Group 51"/>
                    <p:cNvGrpSpPr/>
                    <p:nvPr/>
                  </p:nvGrpSpPr>
                  <p:grpSpPr>
                    <a:xfrm>
                      <a:off x="2903666" y="2293215"/>
                      <a:ext cx="395552" cy="3235234"/>
                      <a:chOff x="2903666" y="2293215"/>
                      <a:chExt cx="395552" cy="3235234"/>
                    </a:xfrm>
                  </p:grpSpPr>
                  <p:cxnSp>
                    <p:nvCxnSpPr>
                      <p:cNvPr id="10" name="Straight Arrow Connector 9"/>
                      <p:cNvCxnSpPr/>
                      <p:nvPr/>
                    </p:nvCxnSpPr>
                    <p:spPr bwMode="auto">
                      <a:xfrm flipV="1">
                        <a:off x="3100717" y="2293215"/>
                        <a:ext cx="1451" cy="3235234"/>
                      </a:xfrm>
                      <a:prstGeom prst="straightConnector1">
                        <a:avLst/>
                      </a:prstGeom>
                      <a:solidFill>
                        <a:schemeClr val="accent1"/>
                      </a:solidFill>
                      <a:ln w="41275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triangle"/>
                      </a:ln>
                      <a:effectLst/>
                    </p:spPr>
                  </p:cxnSp>
                  <p:cxnSp>
                    <p:nvCxnSpPr>
                      <p:cNvPr id="41" name="Straight Connector 40"/>
                      <p:cNvCxnSpPr/>
                      <p:nvPr/>
                    </p:nvCxnSpPr>
                    <p:spPr bwMode="auto">
                      <a:xfrm flipH="1" flipV="1">
                        <a:off x="2903666" y="5038506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7" name="Straight Connector 46"/>
                      <p:cNvCxnSpPr/>
                      <p:nvPr/>
                    </p:nvCxnSpPr>
                    <p:spPr bwMode="auto">
                      <a:xfrm flipH="1" flipV="1">
                        <a:off x="2903666" y="3937344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50" name="Straight Connector 49"/>
                      <p:cNvCxnSpPr/>
                      <p:nvPr/>
                    </p:nvCxnSpPr>
                    <p:spPr bwMode="auto">
                      <a:xfrm flipH="1" flipV="1">
                        <a:off x="2903666" y="2728410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</p:grpSp>
            </p:grpSp>
            <p:sp>
              <p:nvSpPr>
                <p:cNvPr id="51" name="TextBox 50"/>
                <p:cNvSpPr txBox="1"/>
                <p:nvPr/>
              </p:nvSpPr>
              <p:spPr>
                <a:xfrm>
                  <a:off x="1917973" y="2560341"/>
                  <a:ext cx="102594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Months</a:t>
                  </a:r>
                </a:p>
              </p:txBody>
            </p:sp>
          </p:grp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Cloud Data Warehousin</a:t>
            </a:r>
            <a:r>
              <a:rPr lang="en-US" altLang="zh-CN" dirty="0"/>
              <a:t>g:</a:t>
            </a:r>
            <a:r>
              <a:rPr lang="zh-CN" altLang="en-US" dirty="0"/>
              <a:t> </a:t>
            </a:r>
            <a:r>
              <a:rPr lang="en-US" dirty="0"/>
              <a:t>Instant gratification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66260" y="436626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37" name="Group 36"/>
          <p:cNvGrpSpPr/>
          <p:nvPr/>
        </p:nvGrpSpPr>
        <p:grpSpPr>
          <a:xfrm>
            <a:off x="4550991" y="4090686"/>
            <a:ext cx="1669326" cy="369332"/>
            <a:chOff x="4026080" y="3778490"/>
            <a:chExt cx="1669326" cy="369332"/>
          </a:xfrm>
        </p:grpSpPr>
        <p:sp>
          <p:nvSpPr>
            <p:cNvPr id="40" name="TextBox 39"/>
            <p:cNvSpPr txBox="1"/>
            <p:nvPr/>
          </p:nvSpPr>
          <p:spPr>
            <a:xfrm flipH="1">
              <a:off x="4370614" y="3778490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RYOC</a:t>
              </a:r>
            </a:p>
          </p:txBody>
        </p:sp>
        <p:sp>
          <p:nvSpPr>
            <p:cNvPr id="43" name="Oval 42"/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  <p:sp>
        <p:nvSpPr>
          <p:cNvPr id="44" name="Rectangle 43"/>
          <p:cNvSpPr/>
          <p:nvPr/>
        </p:nvSpPr>
        <p:spPr>
          <a:xfrm>
            <a:off x="6746956" y="3161227"/>
            <a:ext cx="5116337" cy="1354217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0" dirty="0">
                <a:solidFill>
                  <a:srgbClr val="01020B"/>
                </a:solidFill>
                <a:latin typeface="Arial" charset="0"/>
              </a:rPr>
              <a:t>Months due to high capex cost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Significant due diligence through multiple vendor POCs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Physical delivery and setup of goods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2790" y="1480530"/>
            <a:ext cx="4828902" cy="1077218"/>
          </a:xfrm>
          <a:prstGeom prst="rect">
            <a:avLst/>
          </a:prstGeom>
          <a:solidFill>
            <a:srgbClr val="CCFFCC"/>
          </a:solidFill>
          <a:ln w="1905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0" dirty="0">
                <a:solidFill>
                  <a:srgbClr val="01020B"/>
                </a:solidFill>
                <a:latin typeface="Arial" charset="0"/>
              </a:rPr>
              <a:t>Hardware and Deployment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Physical delivery and setup of cluster</a:t>
            </a:r>
          </a:p>
          <a:p>
            <a:pPr marL="285750" indent="-285750">
              <a:buFont typeface="Wingdings" charset="2"/>
              <a:buChar char="§"/>
            </a:pPr>
            <a:r>
              <a:rPr lang="en-US" sz="1800" b="0" dirty="0">
                <a:solidFill>
                  <a:srgbClr val="01020B"/>
                </a:solidFill>
                <a:latin typeface="Arial" charset="0"/>
              </a:rPr>
              <a:t>IT deploys complex parallel system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 flipV="1">
            <a:off x="6090018" y="2096170"/>
            <a:ext cx="3968382" cy="984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/>
          <p:cNvCxnSpPr/>
          <p:nvPr/>
        </p:nvCxnSpPr>
        <p:spPr bwMode="auto">
          <a:xfrm flipV="1">
            <a:off x="6090018" y="2358165"/>
            <a:ext cx="3968382" cy="984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/>
          <p:cNvCxnSpPr/>
          <p:nvPr/>
        </p:nvCxnSpPr>
        <p:spPr bwMode="auto">
          <a:xfrm flipV="1">
            <a:off x="5865900" y="1744616"/>
            <a:ext cx="235134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Straight Connector 56"/>
          <p:cNvCxnSpPr/>
          <p:nvPr/>
        </p:nvCxnSpPr>
        <p:spPr bwMode="auto">
          <a:xfrm flipV="1">
            <a:off x="7965871" y="1744616"/>
            <a:ext cx="235134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1162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5634440" y="2823274"/>
            <a:ext cx="1669326" cy="369332"/>
            <a:chOff x="4026080" y="3778490"/>
            <a:chExt cx="1669326" cy="369332"/>
          </a:xfrm>
        </p:grpSpPr>
        <p:sp>
          <p:nvSpPr>
            <p:cNvPr id="15" name="TextBox 14"/>
            <p:cNvSpPr txBox="1"/>
            <p:nvPr/>
          </p:nvSpPr>
          <p:spPr>
            <a:xfrm flipH="1">
              <a:off x="4370614" y="3778490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Appliance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137381" y="4014337"/>
            <a:ext cx="1669326" cy="369332"/>
            <a:chOff x="4026080" y="3778490"/>
            <a:chExt cx="1669326" cy="369332"/>
          </a:xfrm>
        </p:grpSpPr>
        <p:sp>
          <p:nvSpPr>
            <p:cNvPr id="20" name="TextBox 19"/>
            <p:cNvSpPr txBox="1"/>
            <p:nvPr/>
          </p:nvSpPr>
          <p:spPr>
            <a:xfrm flipH="1">
              <a:off x="4370614" y="3778490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RYO</a:t>
              </a: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735302" y="5121422"/>
            <a:ext cx="1918880" cy="369332"/>
            <a:chOff x="4026080" y="3778490"/>
            <a:chExt cx="1918880" cy="369332"/>
          </a:xfrm>
        </p:grpSpPr>
        <p:sp>
          <p:nvSpPr>
            <p:cNvPr id="23" name="TextBox 22"/>
            <p:cNvSpPr txBox="1"/>
            <p:nvPr/>
          </p:nvSpPr>
          <p:spPr>
            <a:xfrm flipH="1">
              <a:off x="4370614" y="3778490"/>
              <a:ext cx="15743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CLOUD DW</a:t>
              </a: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130077" y="1788458"/>
            <a:ext cx="9701280" cy="4423659"/>
            <a:chOff x="2135028" y="1861539"/>
            <a:chExt cx="9701280" cy="4423659"/>
          </a:xfrm>
        </p:grpSpPr>
        <p:cxnSp>
          <p:nvCxnSpPr>
            <p:cNvPr id="11" name="Straight Connector 10"/>
            <p:cNvCxnSpPr/>
            <p:nvPr/>
          </p:nvCxnSpPr>
          <p:spPr bwMode="auto">
            <a:xfrm>
              <a:off x="3879549" y="5633147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5302736" y="5633147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Straight Connector 37"/>
            <p:cNvCxnSpPr/>
            <p:nvPr/>
          </p:nvCxnSpPr>
          <p:spPr bwMode="auto">
            <a:xfrm>
              <a:off x="6725922" y="5633147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6" name="Group 55"/>
            <p:cNvGrpSpPr/>
            <p:nvPr/>
          </p:nvGrpSpPr>
          <p:grpSpPr>
            <a:xfrm>
              <a:off x="2135028" y="1861539"/>
              <a:ext cx="9701280" cy="4423659"/>
              <a:chOff x="1795394" y="1574278"/>
              <a:chExt cx="9701280" cy="4423659"/>
            </a:xfrm>
          </p:grpSpPr>
          <p:sp>
            <p:nvSpPr>
              <p:cNvPr id="13" name="TextBox 12"/>
              <p:cNvSpPr txBox="1"/>
              <p:nvPr/>
            </p:nvSpPr>
            <p:spPr>
              <a:xfrm flipH="1">
                <a:off x="1823881" y="1574278"/>
                <a:ext cx="256734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rPr>
                  <a:t>Time to make an adjustment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 flipH="1">
                <a:off x="6724267" y="5291630"/>
                <a:ext cx="4772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rPr>
                  <a:t>Cost of making an adjustment</a:t>
                </a:r>
              </a:p>
            </p:txBody>
          </p:sp>
          <p:grpSp>
            <p:nvGrpSpPr>
              <p:cNvPr id="55" name="Group 54"/>
              <p:cNvGrpSpPr/>
              <p:nvPr/>
            </p:nvGrpSpPr>
            <p:grpSpPr>
              <a:xfrm>
                <a:off x="1795394" y="2293215"/>
                <a:ext cx="4992984" cy="3704722"/>
                <a:chOff x="1795394" y="2293215"/>
                <a:chExt cx="4992984" cy="3704722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1795394" y="4869228"/>
                  <a:ext cx="111551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Minutes</a:t>
                  </a: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1917973" y="3768066"/>
                  <a:ext cx="102594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Weeks</a:t>
                  </a:r>
                  <a:endParaRPr lang="en-US" sz="1600" dirty="0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endParaRPr>
                </a:p>
              </p:txBody>
            </p:sp>
            <p:grpSp>
              <p:nvGrpSpPr>
                <p:cNvPr id="54" name="Group 53"/>
                <p:cNvGrpSpPr/>
                <p:nvPr/>
              </p:nvGrpSpPr>
              <p:grpSpPr>
                <a:xfrm>
                  <a:off x="2903666" y="2293215"/>
                  <a:ext cx="3884712" cy="3704722"/>
                  <a:chOff x="2903666" y="2293215"/>
                  <a:chExt cx="3884712" cy="3704722"/>
                </a:xfrm>
              </p:grpSpPr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3207142" y="5659383"/>
                    <a:ext cx="6759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Low</a:t>
                    </a:r>
                  </a:p>
                </p:txBody>
              </p:sp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4499003" y="5659383"/>
                    <a:ext cx="95671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Medium</a:t>
                    </a:r>
                    <a:endPara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6048309" y="5659383"/>
                    <a:ext cx="6759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dirty="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High</a:t>
                    </a:r>
                  </a:p>
                </p:txBody>
              </p:sp>
              <p:grpSp>
                <p:nvGrpSpPr>
                  <p:cNvPr id="53" name="Group 52"/>
                  <p:cNvGrpSpPr/>
                  <p:nvPr/>
                </p:nvGrpSpPr>
                <p:grpSpPr>
                  <a:xfrm>
                    <a:off x="2903666" y="2293215"/>
                    <a:ext cx="3884712" cy="3235234"/>
                    <a:chOff x="2903666" y="2293215"/>
                    <a:chExt cx="3884712" cy="3235234"/>
                  </a:xfrm>
                </p:grpSpPr>
                <p:cxnSp>
                  <p:nvCxnSpPr>
                    <p:cNvPr id="9" name="Straight Arrow Connector 8"/>
                    <p:cNvCxnSpPr/>
                    <p:nvPr/>
                  </p:nvCxnSpPr>
                  <p:spPr bwMode="auto">
                    <a:xfrm>
                      <a:off x="3107555" y="5522463"/>
                      <a:ext cx="3680823" cy="0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41275" cap="flat" cmpd="sng" algn="ctr">
                      <a:solidFill>
                        <a:srgbClr val="0432FF"/>
                      </a:solidFill>
                      <a:prstDash val="solid"/>
                      <a:round/>
                      <a:headEnd type="none" w="med" len="med"/>
                      <a:tailEnd type="triangle"/>
                    </a:ln>
                    <a:effectLst/>
                  </p:spPr>
                </p:cxnSp>
                <p:grpSp>
                  <p:nvGrpSpPr>
                    <p:cNvPr id="52" name="Group 51"/>
                    <p:cNvGrpSpPr/>
                    <p:nvPr/>
                  </p:nvGrpSpPr>
                  <p:grpSpPr>
                    <a:xfrm>
                      <a:off x="2903666" y="2293215"/>
                      <a:ext cx="395552" cy="3235234"/>
                      <a:chOff x="2903666" y="2293215"/>
                      <a:chExt cx="395552" cy="3235234"/>
                    </a:xfrm>
                  </p:grpSpPr>
                  <p:cxnSp>
                    <p:nvCxnSpPr>
                      <p:cNvPr id="10" name="Straight Arrow Connector 9"/>
                      <p:cNvCxnSpPr/>
                      <p:nvPr/>
                    </p:nvCxnSpPr>
                    <p:spPr bwMode="auto">
                      <a:xfrm flipV="1">
                        <a:off x="3100717" y="2293215"/>
                        <a:ext cx="1451" cy="3235234"/>
                      </a:xfrm>
                      <a:prstGeom prst="straightConnector1">
                        <a:avLst/>
                      </a:prstGeom>
                      <a:solidFill>
                        <a:schemeClr val="accent1"/>
                      </a:solidFill>
                      <a:ln w="41275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triangle"/>
                      </a:ln>
                      <a:effectLst/>
                    </p:spPr>
                  </p:cxnSp>
                  <p:cxnSp>
                    <p:nvCxnSpPr>
                      <p:cNvPr id="41" name="Straight Connector 40"/>
                      <p:cNvCxnSpPr/>
                      <p:nvPr/>
                    </p:nvCxnSpPr>
                    <p:spPr bwMode="auto">
                      <a:xfrm flipH="1" flipV="1">
                        <a:off x="2903666" y="5038506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47" name="Straight Connector 46"/>
                      <p:cNvCxnSpPr/>
                      <p:nvPr/>
                    </p:nvCxnSpPr>
                    <p:spPr bwMode="auto">
                      <a:xfrm flipH="1" flipV="1">
                        <a:off x="2903666" y="3937344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50" name="Straight Connector 49"/>
                      <p:cNvCxnSpPr/>
                      <p:nvPr/>
                    </p:nvCxnSpPr>
                    <p:spPr bwMode="auto">
                      <a:xfrm flipH="1" flipV="1">
                        <a:off x="2903666" y="2728410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</p:grpSp>
            </p:grpSp>
            <p:sp>
              <p:nvSpPr>
                <p:cNvPr id="51" name="TextBox 50"/>
                <p:cNvSpPr txBox="1"/>
                <p:nvPr/>
              </p:nvSpPr>
              <p:spPr>
                <a:xfrm>
                  <a:off x="1917973" y="2560341"/>
                  <a:ext cx="102594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Months</a:t>
                  </a:r>
                </a:p>
              </p:txBody>
            </p:sp>
          </p:grp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Cloud Data Warehousin</a:t>
            </a:r>
            <a:r>
              <a:rPr lang="en-US" altLang="zh-CN" dirty="0"/>
              <a:t>g:</a:t>
            </a:r>
            <a:r>
              <a:rPr lang="zh-CN" altLang="en-US" dirty="0"/>
              <a:t> </a:t>
            </a:r>
            <a:r>
              <a:rPr lang="en-US" dirty="0"/>
              <a:t>Scalability and the price of agility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37" name="Group 36"/>
          <p:cNvGrpSpPr/>
          <p:nvPr/>
        </p:nvGrpSpPr>
        <p:grpSpPr>
          <a:xfrm>
            <a:off x="3268806" y="4438280"/>
            <a:ext cx="1669326" cy="369332"/>
            <a:chOff x="4026080" y="3778490"/>
            <a:chExt cx="1669326" cy="369332"/>
          </a:xfrm>
        </p:grpSpPr>
        <p:sp>
          <p:nvSpPr>
            <p:cNvPr id="40" name="TextBox 39"/>
            <p:cNvSpPr txBox="1"/>
            <p:nvPr/>
          </p:nvSpPr>
          <p:spPr>
            <a:xfrm flipH="1">
              <a:off x="4370614" y="3778490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RYOC</a:t>
              </a:r>
            </a:p>
          </p:txBody>
        </p:sp>
        <p:sp>
          <p:nvSpPr>
            <p:cNvPr id="43" name="Oval 42"/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990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6146645" y="2486841"/>
            <a:ext cx="1669326" cy="369332"/>
            <a:chOff x="4026080" y="3778490"/>
            <a:chExt cx="1669326" cy="369332"/>
          </a:xfrm>
        </p:grpSpPr>
        <p:sp>
          <p:nvSpPr>
            <p:cNvPr id="15" name="TextBox 14"/>
            <p:cNvSpPr txBox="1"/>
            <p:nvPr/>
          </p:nvSpPr>
          <p:spPr>
            <a:xfrm flipH="1">
              <a:off x="4370614" y="3778490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Appliance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4026080" y="379088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816886" y="1463745"/>
            <a:ext cx="6247710" cy="4419868"/>
            <a:chOff x="2020695" y="1342815"/>
            <a:chExt cx="6247710" cy="4419868"/>
          </a:xfrm>
        </p:grpSpPr>
        <p:cxnSp>
          <p:nvCxnSpPr>
            <p:cNvPr id="40" name="Straight Connector 39"/>
            <p:cNvCxnSpPr/>
            <p:nvPr/>
          </p:nvCxnSpPr>
          <p:spPr bwMode="auto">
            <a:xfrm>
              <a:off x="3775046" y="5110632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/>
            <p:cNvCxnSpPr/>
            <p:nvPr/>
          </p:nvCxnSpPr>
          <p:spPr bwMode="auto">
            <a:xfrm>
              <a:off x="5198233" y="5110632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/>
            <p:nvPr/>
          </p:nvCxnSpPr>
          <p:spPr bwMode="auto">
            <a:xfrm>
              <a:off x="6621419" y="5110632"/>
              <a:ext cx="0" cy="31349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45" name="Group 44"/>
            <p:cNvGrpSpPr/>
            <p:nvPr/>
          </p:nvGrpSpPr>
          <p:grpSpPr>
            <a:xfrm>
              <a:off x="2020695" y="1342815"/>
              <a:ext cx="6247710" cy="4419868"/>
              <a:chOff x="1785564" y="1578069"/>
              <a:chExt cx="6247710" cy="4419868"/>
            </a:xfrm>
          </p:grpSpPr>
          <p:sp>
            <p:nvSpPr>
              <p:cNvPr id="46" name="TextBox 45"/>
              <p:cNvSpPr txBox="1"/>
              <p:nvPr/>
            </p:nvSpPr>
            <p:spPr>
              <a:xfrm flipH="1">
                <a:off x="1785564" y="1578069"/>
                <a:ext cx="263030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rPr>
                  <a:t>Absolute Performance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 flipH="1">
                <a:off x="6290711" y="5312898"/>
                <a:ext cx="17425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>
                    <a:solidFill>
                      <a:srgbClr val="01020B"/>
                    </a:solidFill>
                    <a:latin typeface="Arial" charset="0"/>
                    <a:ea typeface="Arial" charset="0"/>
                    <a:cs typeface="Arial" charset="0"/>
                  </a:rPr>
                  <a:t>Cost</a:t>
                </a:r>
                <a:endParaRPr lang="en-US" sz="20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grpSp>
            <p:nvGrpSpPr>
              <p:cNvPr id="59" name="Group 58"/>
              <p:cNvGrpSpPr/>
              <p:nvPr/>
            </p:nvGrpSpPr>
            <p:grpSpPr>
              <a:xfrm>
                <a:off x="1795394" y="2293215"/>
                <a:ext cx="4992984" cy="3704722"/>
                <a:chOff x="1795394" y="2293215"/>
                <a:chExt cx="4992984" cy="3704722"/>
              </a:xfrm>
            </p:grpSpPr>
            <p:sp>
              <p:nvSpPr>
                <p:cNvPr id="60" name="TextBox 59"/>
                <p:cNvSpPr txBox="1"/>
                <p:nvPr/>
              </p:nvSpPr>
              <p:spPr>
                <a:xfrm>
                  <a:off x="1795394" y="4869228"/>
                  <a:ext cx="111551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Low</a:t>
                  </a: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1917973" y="3768066"/>
                  <a:ext cx="102594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Medium</a:t>
                  </a:r>
                </a:p>
              </p:txBody>
            </p:sp>
            <p:grpSp>
              <p:nvGrpSpPr>
                <p:cNvPr id="62" name="Group 61"/>
                <p:cNvGrpSpPr/>
                <p:nvPr/>
              </p:nvGrpSpPr>
              <p:grpSpPr>
                <a:xfrm>
                  <a:off x="2903666" y="2293215"/>
                  <a:ext cx="3884712" cy="3704722"/>
                  <a:chOff x="2903666" y="2293215"/>
                  <a:chExt cx="3884712" cy="3704722"/>
                </a:xfrm>
              </p:grpSpPr>
              <p:sp>
                <p:nvSpPr>
                  <p:cNvPr id="64" name="TextBox 63"/>
                  <p:cNvSpPr txBox="1"/>
                  <p:nvPr/>
                </p:nvSpPr>
                <p:spPr>
                  <a:xfrm>
                    <a:off x="3201936" y="5659383"/>
                    <a:ext cx="6759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Low</a:t>
                    </a:r>
                  </a:p>
                </p:txBody>
              </p: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4456962" y="5659383"/>
                    <a:ext cx="102109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Medium</a:t>
                    </a:r>
                    <a:endPara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6048309" y="5659383"/>
                    <a:ext cx="6759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dirty="0">
                        <a:solidFill>
                          <a:srgbClr val="01020B"/>
                        </a:solidFill>
                        <a:latin typeface="Arial" charset="0"/>
                        <a:ea typeface="Arial" charset="0"/>
                        <a:cs typeface="Arial" charset="0"/>
                      </a:rPr>
                      <a:t>High</a:t>
                    </a:r>
                  </a:p>
                </p:txBody>
              </p:sp>
              <p:grpSp>
                <p:nvGrpSpPr>
                  <p:cNvPr id="67" name="Group 66"/>
                  <p:cNvGrpSpPr/>
                  <p:nvPr/>
                </p:nvGrpSpPr>
                <p:grpSpPr>
                  <a:xfrm>
                    <a:off x="2903666" y="2293215"/>
                    <a:ext cx="3884712" cy="3235234"/>
                    <a:chOff x="2903666" y="2293215"/>
                    <a:chExt cx="3884712" cy="3235234"/>
                  </a:xfrm>
                </p:grpSpPr>
                <p:cxnSp>
                  <p:nvCxnSpPr>
                    <p:cNvPr id="68" name="Straight Arrow Connector 67"/>
                    <p:cNvCxnSpPr/>
                    <p:nvPr/>
                  </p:nvCxnSpPr>
                  <p:spPr bwMode="auto">
                    <a:xfrm>
                      <a:off x="3107555" y="5522463"/>
                      <a:ext cx="3680823" cy="0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41275" cap="flat" cmpd="sng" algn="ctr">
                      <a:solidFill>
                        <a:srgbClr val="0432FF"/>
                      </a:solidFill>
                      <a:prstDash val="solid"/>
                      <a:round/>
                      <a:headEnd type="none" w="med" len="med"/>
                      <a:tailEnd type="triangle"/>
                    </a:ln>
                    <a:effectLst/>
                  </p:spPr>
                </p:cxnSp>
                <p:grpSp>
                  <p:nvGrpSpPr>
                    <p:cNvPr id="69" name="Group 68"/>
                    <p:cNvGrpSpPr/>
                    <p:nvPr/>
                  </p:nvGrpSpPr>
                  <p:grpSpPr>
                    <a:xfrm>
                      <a:off x="2903666" y="2293215"/>
                      <a:ext cx="395552" cy="3235234"/>
                      <a:chOff x="2903666" y="2293215"/>
                      <a:chExt cx="395552" cy="3235234"/>
                    </a:xfrm>
                  </p:grpSpPr>
                  <p:cxnSp>
                    <p:nvCxnSpPr>
                      <p:cNvPr id="70" name="Straight Arrow Connector 69"/>
                      <p:cNvCxnSpPr/>
                      <p:nvPr/>
                    </p:nvCxnSpPr>
                    <p:spPr bwMode="auto">
                      <a:xfrm flipV="1">
                        <a:off x="3100717" y="2293215"/>
                        <a:ext cx="1451" cy="3235234"/>
                      </a:xfrm>
                      <a:prstGeom prst="straightConnector1">
                        <a:avLst/>
                      </a:prstGeom>
                      <a:solidFill>
                        <a:schemeClr val="accent1"/>
                      </a:solidFill>
                      <a:ln w="41275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triangle"/>
                      </a:ln>
                      <a:effectLst/>
                    </p:spPr>
                  </p:cxnSp>
                  <p:cxnSp>
                    <p:nvCxnSpPr>
                      <p:cNvPr id="71" name="Straight Connector 70"/>
                      <p:cNvCxnSpPr/>
                      <p:nvPr/>
                    </p:nvCxnSpPr>
                    <p:spPr bwMode="auto">
                      <a:xfrm flipH="1" flipV="1">
                        <a:off x="2903666" y="5038506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72" name="Straight Connector 71"/>
                      <p:cNvCxnSpPr/>
                      <p:nvPr/>
                    </p:nvCxnSpPr>
                    <p:spPr bwMode="auto">
                      <a:xfrm flipH="1" flipV="1">
                        <a:off x="2903666" y="3937344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73" name="Straight Connector 72"/>
                      <p:cNvCxnSpPr/>
                      <p:nvPr/>
                    </p:nvCxnSpPr>
                    <p:spPr bwMode="auto">
                      <a:xfrm flipH="1" flipV="1">
                        <a:off x="2903666" y="2728410"/>
                        <a:ext cx="395552" cy="376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38100" cap="flat" cmpd="sng" algn="ctr">
                        <a:solidFill>
                          <a:srgbClr val="0432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</p:grpSp>
            </p:grpSp>
            <p:sp>
              <p:nvSpPr>
                <p:cNvPr id="63" name="TextBox 62"/>
                <p:cNvSpPr txBox="1"/>
                <p:nvPr/>
              </p:nvSpPr>
              <p:spPr>
                <a:xfrm>
                  <a:off x="1917973" y="2560341"/>
                  <a:ext cx="102594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01020B"/>
                      </a:solidFill>
                      <a:latin typeface="Arial" charset="0"/>
                      <a:ea typeface="Arial" charset="0"/>
                      <a:cs typeface="Arial" charset="0"/>
                    </a:rPr>
                    <a:t>High</a:t>
                  </a:r>
                </a:p>
              </p:txBody>
            </p:sp>
          </p:grpSp>
        </p:grp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593" y="2729880"/>
            <a:ext cx="1805299" cy="180529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Unfortunately, no “free lunch”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638" y="1624377"/>
            <a:ext cx="939531" cy="939531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3095728" y="2816193"/>
            <a:ext cx="3007687" cy="1261481"/>
            <a:chOff x="3095728" y="2816193"/>
            <a:chExt cx="3007687" cy="1261481"/>
          </a:xfrm>
        </p:grpSpPr>
        <p:sp>
          <p:nvSpPr>
            <p:cNvPr id="2" name="Oval 1"/>
            <p:cNvSpPr/>
            <p:nvPr/>
          </p:nvSpPr>
          <p:spPr bwMode="auto">
            <a:xfrm rot="3024740">
              <a:off x="4310856" y="2285115"/>
              <a:ext cx="577431" cy="3007687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 flipH="1">
              <a:off x="3872149" y="2816193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Cloud DW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833187" y="3664149"/>
            <a:ext cx="1669326" cy="1007824"/>
            <a:chOff x="4833187" y="3664149"/>
            <a:chExt cx="1669326" cy="1007824"/>
          </a:xfrm>
        </p:grpSpPr>
        <p:sp>
          <p:nvSpPr>
            <p:cNvPr id="20" name="TextBox 19"/>
            <p:cNvSpPr txBox="1"/>
            <p:nvPr/>
          </p:nvSpPr>
          <p:spPr>
            <a:xfrm flipH="1">
              <a:off x="5177721" y="4302641"/>
              <a:ext cx="1324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RYO</a:t>
              </a: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4833187" y="3664149"/>
              <a:ext cx="344534" cy="344534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endParaRPr>
            </a:p>
          </p:txBody>
        </p:sp>
        <p:cxnSp>
          <p:nvCxnSpPr>
            <p:cNvPr id="10" name="Straight Connector 9"/>
            <p:cNvCxnSpPr>
              <a:stCxn id="21" idx="5"/>
            </p:cNvCxnSpPr>
            <p:nvPr/>
          </p:nvCxnSpPr>
          <p:spPr bwMode="auto">
            <a:xfrm>
              <a:off x="5127265" y="3958227"/>
              <a:ext cx="139352" cy="52908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" name="Group 10"/>
          <p:cNvGrpSpPr/>
          <p:nvPr/>
        </p:nvGrpSpPr>
        <p:grpSpPr>
          <a:xfrm>
            <a:off x="3789905" y="3376924"/>
            <a:ext cx="2984795" cy="717705"/>
            <a:chOff x="3789905" y="3376924"/>
            <a:chExt cx="2984795" cy="717705"/>
          </a:xfrm>
        </p:grpSpPr>
        <p:sp>
          <p:nvSpPr>
            <p:cNvPr id="41" name="Oval 40"/>
            <p:cNvSpPr/>
            <p:nvPr/>
          </p:nvSpPr>
          <p:spPr bwMode="auto">
            <a:xfrm rot="3024740">
              <a:off x="4895697" y="2411406"/>
              <a:ext cx="577431" cy="2789015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 flipH="1">
              <a:off x="5891830" y="3376924"/>
              <a:ext cx="882870" cy="369332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1020B"/>
                  </a:solidFill>
                  <a:latin typeface="Arial" charset="0"/>
                  <a:ea typeface="Arial" charset="0"/>
                  <a:cs typeface="Arial" charset="0"/>
                </a:rPr>
                <a:t>RYOC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227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1" y="1905000"/>
            <a:ext cx="11022148" cy="4114800"/>
          </a:xfrm>
        </p:spPr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CapEx</a:t>
            </a:r>
            <a:r>
              <a:rPr lang="en-US" dirty="0"/>
              <a:t> and low </a:t>
            </a:r>
            <a:r>
              <a:rPr lang="en-US" dirty="0" err="1"/>
              <a:t>OpEx</a:t>
            </a:r>
            <a:endParaRPr lang="en-US" dirty="0"/>
          </a:p>
          <a:p>
            <a:r>
              <a:rPr lang="en-US" dirty="0"/>
              <a:t>Go from conception to insight in hours </a:t>
            </a:r>
          </a:p>
          <a:p>
            <a:r>
              <a:rPr lang="en-US" dirty="0"/>
              <a:t>Rock bottom storage prices (Azure, AWS S3, GFS)</a:t>
            </a:r>
          </a:p>
          <a:p>
            <a:r>
              <a:rPr lang="en-US" dirty="0"/>
              <a:t>Data Security</a:t>
            </a:r>
          </a:p>
          <a:p>
            <a:r>
              <a:rPr lang="en-US" dirty="0"/>
              <a:t>Flexibility to scale up/down compute capacity</a:t>
            </a:r>
          </a:p>
          <a:p>
            <a:r>
              <a:rPr lang="en-US" dirty="0"/>
              <a:t>Simple upgrade process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Cloud DW?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49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840FF-E0F3-0D43-AE6A-545FF451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Scalable DW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EAB9-EEC8-F943-AE5E-696DC7AE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dominant architectures</a:t>
            </a:r>
          </a:p>
          <a:p>
            <a:pPr lvl="1"/>
            <a:r>
              <a:rPr lang="en-US" dirty="0"/>
              <a:t>Shared-disk/storage </a:t>
            </a:r>
          </a:p>
          <a:p>
            <a:pPr lvl="1"/>
            <a:r>
              <a:rPr lang="en-US" dirty="0"/>
              <a:t>Shared-nothing</a:t>
            </a:r>
          </a:p>
          <a:p>
            <a:r>
              <a:rPr lang="en-US" dirty="0"/>
              <a:t>Partitioned tables</a:t>
            </a:r>
          </a:p>
          <a:p>
            <a:r>
              <a:rPr lang="en-US" dirty="0"/>
              <a:t>Partitioned parallelism</a:t>
            </a:r>
          </a:p>
          <a:p>
            <a:r>
              <a:rPr lang="en-US" dirty="0"/>
              <a:t>Columnar data stores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927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40261" y="1597718"/>
            <a:ext cx="10883654" cy="2063992"/>
          </a:xfrm>
          <a:ln>
            <a:noFill/>
          </a:ln>
        </p:spPr>
        <p:txBody>
          <a:bodyPr/>
          <a:lstStyle/>
          <a:p>
            <a:r>
              <a:rPr lang="en-US" sz="2800" dirty="0">
                <a:latin typeface="Arial" charset="0"/>
              </a:rPr>
              <a:t>Commodity servers connected to each other and storage using commodity networking </a:t>
            </a:r>
          </a:p>
          <a:p>
            <a:r>
              <a:rPr lang="en-US" sz="2800" dirty="0">
                <a:latin typeface="Arial" charset="0"/>
              </a:rPr>
              <a:t>DB is stored on “remote storage” (e.g. a SAN, S3, Azure Storage)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Arial" charset="0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Arial" charset="0"/>
            </a:endParaRPr>
          </a:p>
        </p:txBody>
      </p:sp>
      <p:grpSp>
        <p:nvGrpSpPr>
          <p:cNvPr id="104" name="Group 216"/>
          <p:cNvGrpSpPr>
            <a:grpSpLocks noChangeAspect="1"/>
          </p:cNvGrpSpPr>
          <p:nvPr/>
        </p:nvGrpSpPr>
        <p:grpSpPr bwMode="auto">
          <a:xfrm>
            <a:off x="2102776" y="3213111"/>
            <a:ext cx="5874441" cy="2882310"/>
            <a:chOff x="1130" y="724"/>
            <a:chExt cx="2771" cy="1588"/>
          </a:xfrm>
        </p:grpSpPr>
        <p:grpSp>
          <p:nvGrpSpPr>
            <p:cNvPr id="105" name="Group 159"/>
            <p:cNvGrpSpPr>
              <a:grpSpLocks/>
            </p:cNvGrpSpPr>
            <p:nvPr/>
          </p:nvGrpSpPr>
          <p:grpSpPr bwMode="auto">
            <a:xfrm>
              <a:off x="1541" y="1851"/>
              <a:ext cx="2001" cy="461"/>
              <a:chOff x="1098" y="1807"/>
              <a:chExt cx="2001" cy="461"/>
            </a:xfrm>
          </p:grpSpPr>
          <p:grpSp>
            <p:nvGrpSpPr>
              <p:cNvPr id="154" name="Group 160"/>
              <p:cNvGrpSpPr>
                <a:grpSpLocks/>
              </p:cNvGrpSpPr>
              <p:nvPr/>
            </p:nvGrpSpPr>
            <p:grpSpPr bwMode="auto">
              <a:xfrm>
                <a:off x="1098" y="1807"/>
                <a:ext cx="386" cy="461"/>
                <a:chOff x="3072" y="3254"/>
                <a:chExt cx="321" cy="360"/>
              </a:xfrm>
            </p:grpSpPr>
            <p:sp>
              <p:nvSpPr>
                <p:cNvPr id="197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98" name="Line 162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5" name="Group 163"/>
              <p:cNvGrpSpPr>
                <a:grpSpLocks/>
              </p:cNvGrpSpPr>
              <p:nvPr/>
            </p:nvGrpSpPr>
            <p:grpSpPr bwMode="auto">
              <a:xfrm>
                <a:off x="1213" y="1807"/>
                <a:ext cx="386" cy="461"/>
                <a:chOff x="3072" y="3254"/>
                <a:chExt cx="321" cy="360"/>
              </a:xfrm>
            </p:grpSpPr>
            <p:sp>
              <p:nvSpPr>
                <p:cNvPr id="195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96" name="Line 165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6" name="Group 166"/>
              <p:cNvGrpSpPr>
                <a:grpSpLocks/>
              </p:cNvGrpSpPr>
              <p:nvPr/>
            </p:nvGrpSpPr>
            <p:grpSpPr bwMode="auto">
              <a:xfrm>
                <a:off x="1329" y="1807"/>
                <a:ext cx="386" cy="461"/>
                <a:chOff x="3072" y="3254"/>
                <a:chExt cx="321" cy="360"/>
              </a:xfrm>
            </p:grpSpPr>
            <p:sp>
              <p:nvSpPr>
                <p:cNvPr id="193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94" name="Line 168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7" name="Group 169"/>
              <p:cNvGrpSpPr>
                <a:grpSpLocks/>
              </p:cNvGrpSpPr>
              <p:nvPr/>
            </p:nvGrpSpPr>
            <p:grpSpPr bwMode="auto">
              <a:xfrm>
                <a:off x="1444" y="1807"/>
                <a:ext cx="386" cy="461"/>
                <a:chOff x="3072" y="3254"/>
                <a:chExt cx="321" cy="360"/>
              </a:xfrm>
            </p:grpSpPr>
            <p:sp>
              <p:nvSpPr>
                <p:cNvPr id="191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92" name="Line 171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8" name="Group 172"/>
              <p:cNvGrpSpPr>
                <a:grpSpLocks/>
              </p:cNvGrpSpPr>
              <p:nvPr/>
            </p:nvGrpSpPr>
            <p:grpSpPr bwMode="auto">
              <a:xfrm>
                <a:off x="1559" y="1807"/>
                <a:ext cx="386" cy="461"/>
                <a:chOff x="3072" y="3254"/>
                <a:chExt cx="321" cy="360"/>
              </a:xfrm>
            </p:grpSpPr>
            <p:sp>
              <p:nvSpPr>
                <p:cNvPr id="189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90" name="Line 174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9" name="Group 175"/>
              <p:cNvGrpSpPr>
                <a:grpSpLocks/>
              </p:cNvGrpSpPr>
              <p:nvPr/>
            </p:nvGrpSpPr>
            <p:grpSpPr bwMode="auto">
              <a:xfrm>
                <a:off x="1675" y="1807"/>
                <a:ext cx="386" cy="461"/>
                <a:chOff x="3072" y="3254"/>
                <a:chExt cx="321" cy="360"/>
              </a:xfrm>
            </p:grpSpPr>
            <p:sp>
              <p:nvSpPr>
                <p:cNvPr id="187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88" name="Line 177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78"/>
              <p:cNvGrpSpPr>
                <a:grpSpLocks/>
              </p:cNvGrpSpPr>
              <p:nvPr/>
            </p:nvGrpSpPr>
            <p:grpSpPr bwMode="auto">
              <a:xfrm>
                <a:off x="1790" y="1807"/>
                <a:ext cx="386" cy="461"/>
                <a:chOff x="3072" y="3254"/>
                <a:chExt cx="321" cy="360"/>
              </a:xfrm>
            </p:grpSpPr>
            <p:sp>
              <p:nvSpPr>
                <p:cNvPr id="185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86" name="Line 180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81"/>
              <p:cNvGrpSpPr>
                <a:grpSpLocks/>
              </p:cNvGrpSpPr>
              <p:nvPr/>
            </p:nvGrpSpPr>
            <p:grpSpPr bwMode="auto">
              <a:xfrm>
                <a:off x="1906" y="1807"/>
                <a:ext cx="385" cy="461"/>
                <a:chOff x="3072" y="3254"/>
                <a:chExt cx="321" cy="360"/>
              </a:xfrm>
            </p:grpSpPr>
            <p:sp>
              <p:nvSpPr>
                <p:cNvPr id="183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84" name="Line 183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2" name="Group 184"/>
              <p:cNvGrpSpPr>
                <a:grpSpLocks/>
              </p:cNvGrpSpPr>
              <p:nvPr/>
            </p:nvGrpSpPr>
            <p:grpSpPr bwMode="auto">
              <a:xfrm>
                <a:off x="2021" y="1807"/>
                <a:ext cx="386" cy="461"/>
                <a:chOff x="3072" y="3254"/>
                <a:chExt cx="321" cy="360"/>
              </a:xfrm>
            </p:grpSpPr>
            <p:sp>
              <p:nvSpPr>
                <p:cNvPr id="181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82" name="Line 186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3" name="Group 187"/>
              <p:cNvGrpSpPr>
                <a:grpSpLocks/>
              </p:cNvGrpSpPr>
              <p:nvPr/>
            </p:nvGrpSpPr>
            <p:grpSpPr bwMode="auto">
              <a:xfrm>
                <a:off x="2136" y="1807"/>
                <a:ext cx="386" cy="461"/>
                <a:chOff x="3072" y="3254"/>
                <a:chExt cx="321" cy="360"/>
              </a:xfrm>
            </p:grpSpPr>
            <p:sp>
              <p:nvSpPr>
                <p:cNvPr id="179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80" name="Line 189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4" name="Group 190"/>
              <p:cNvGrpSpPr>
                <a:grpSpLocks/>
              </p:cNvGrpSpPr>
              <p:nvPr/>
            </p:nvGrpSpPr>
            <p:grpSpPr bwMode="auto">
              <a:xfrm>
                <a:off x="2252" y="1807"/>
                <a:ext cx="386" cy="461"/>
                <a:chOff x="3072" y="3254"/>
                <a:chExt cx="321" cy="360"/>
              </a:xfrm>
            </p:grpSpPr>
            <p:sp>
              <p:nvSpPr>
                <p:cNvPr id="177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78" name="Line 192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5" name="Group 193"/>
              <p:cNvGrpSpPr>
                <a:grpSpLocks/>
              </p:cNvGrpSpPr>
              <p:nvPr/>
            </p:nvGrpSpPr>
            <p:grpSpPr bwMode="auto">
              <a:xfrm>
                <a:off x="2367" y="1807"/>
                <a:ext cx="386" cy="461"/>
                <a:chOff x="3072" y="3254"/>
                <a:chExt cx="321" cy="360"/>
              </a:xfrm>
            </p:grpSpPr>
            <p:sp>
              <p:nvSpPr>
                <p:cNvPr id="175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76" name="Line 195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6" name="Group 196"/>
              <p:cNvGrpSpPr>
                <a:grpSpLocks/>
              </p:cNvGrpSpPr>
              <p:nvPr/>
            </p:nvGrpSpPr>
            <p:grpSpPr bwMode="auto">
              <a:xfrm>
                <a:off x="2482" y="1807"/>
                <a:ext cx="386" cy="461"/>
                <a:chOff x="3072" y="3254"/>
                <a:chExt cx="321" cy="360"/>
              </a:xfrm>
            </p:grpSpPr>
            <p:sp>
              <p:nvSpPr>
                <p:cNvPr id="173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74" name="Line 198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7" name="Group 199"/>
              <p:cNvGrpSpPr>
                <a:grpSpLocks/>
              </p:cNvGrpSpPr>
              <p:nvPr/>
            </p:nvGrpSpPr>
            <p:grpSpPr bwMode="auto">
              <a:xfrm>
                <a:off x="2598" y="1807"/>
                <a:ext cx="386" cy="461"/>
                <a:chOff x="3072" y="3254"/>
                <a:chExt cx="321" cy="360"/>
              </a:xfrm>
            </p:grpSpPr>
            <p:sp>
              <p:nvSpPr>
                <p:cNvPr id="171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72" name="Line 201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8" name="Group 202"/>
              <p:cNvGrpSpPr>
                <a:grpSpLocks/>
              </p:cNvGrpSpPr>
              <p:nvPr/>
            </p:nvGrpSpPr>
            <p:grpSpPr bwMode="auto">
              <a:xfrm>
                <a:off x="2713" y="1807"/>
                <a:ext cx="386" cy="461"/>
                <a:chOff x="3072" y="3254"/>
                <a:chExt cx="321" cy="360"/>
              </a:xfrm>
            </p:grpSpPr>
            <p:sp>
              <p:nvSpPr>
                <p:cNvPr id="169" name="AutoShape 13"/>
                <p:cNvSpPr>
                  <a:spLocks noChangeArrowheads="1"/>
                </p:cNvSpPr>
                <p:nvPr/>
              </p:nvSpPr>
              <p:spPr bwMode="auto">
                <a:xfrm>
                  <a:off x="3072" y="3350"/>
                  <a:ext cx="321" cy="264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  <p:sp>
              <p:nvSpPr>
                <p:cNvPr id="170" name="Line 204"/>
                <p:cNvSpPr>
                  <a:spLocks noChangeShapeType="1"/>
                </p:cNvSpPr>
                <p:nvPr/>
              </p:nvSpPr>
              <p:spPr bwMode="auto">
                <a:xfrm>
                  <a:off x="3232" y="3254"/>
                  <a:ext cx="0" cy="122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06" name="Line 155"/>
            <p:cNvSpPr>
              <a:spLocks noChangeShapeType="1"/>
            </p:cNvSpPr>
            <p:nvPr/>
          </p:nvSpPr>
          <p:spPr bwMode="auto">
            <a:xfrm>
              <a:off x="2288" y="1540"/>
              <a:ext cx="73" cy="96"/>
            </a:xfrm>
            <a:prstGeom prst="line">
              <a:avLst/>
            </a:prstGeom>
            <a:noFill/>
            <a:ln w="28575">
              <a:solidFill>
                <a:srgbClr val="01020B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44"/>
            <p:cNvSpPr>
              <a:spLocks/>
            </p:cNvSpPr>
            <p:nvPr/>
          </p:nvSpPr>
          <p:spPr bwMode="auto">
            <a:xfrm>
              <a:off x="1518" y="1609"/>
              <a:ext cx="2283" cy="285"/>
            </a:xfrm>
            <a:custGeom>
              <a:avLst/>
              <a:gdLst>
                <a:gd name="T0" fmla="*/ 175 w 2197"/>
                <a:gd name="T1" fmla="*/ 48 h 265"/>
                <a:gd name="T2" fmla="*/ 231 w 2197"/>
                <a:gd name="T3" fmla="*/ 40 h 265"/>
                <a:gd name="T4" fmla="*/ 294 w 2197"/>
                <a:gd name="T5" fmla="*/ 32 h 265"/>
                <a:gd name="T6" fmla="*/ 308 w 2197"/>
                <a:gd name="T7" fmla="*/ 24 h 265"/>
                <a:gd name="T8" fmla="*/ 336 w 2197"/>
                <a:gd name="T9" fmla="*/ 16 h 265"/>
                <a:gd name="T10" fmla="*/ 643 w 2197"/>
                <a:gd name="T11" fmla="*/ 16 h 265"/>
                <a:gd name="T12" fmla="*/ 867 w 2197"/>
                <a:gd name="T13" fmla="*/ 0 h 265"/>
                <a:gd name="T14" fmla="*/ 923 w 2197"/>
                <a:gd name="T15" fmla="*/ 6 h 265"/>
                <a:gd name="T16" fmla="*/ 993 w 2197"/>
                <a:gd name="T17" fmla="*/ 16 h 265"/>
                <a:gd name="T18" fmla="*/ 1014 w 2197"/>
                <a:gd name="T19" fmla="*/ 24 h 265"/>
                <a:gd name="T20" fmla="*/ 1050 w 2197"/>
                <a:gd name="T21" fmla="*/ 32 h 265"/>
                <a:gd name="T22" fmla="*/ 1546 w 2197"/>
                <a:gd name="T23" fmla="*/ 40 h 265"/>
                <a:gd name="T24" fmla="*/ 1588 w 2197"/>
                <a:gd name="T25" fmla="*/ 40 h 265"/>
                <a:gd name="T26" fmla="*/ 1644 w 2197"/>
                <a:gd name="T27" fmla="*/ 48 h 265"/>
                <a:gd name="T28" fmla="*/ 1721 w 2197"/>
                <a:gd name="T29" fmla="*/ 48 h 265"/>
                <a:gd name="T30" fmla="*/ 1840 w 2197"/>
                <a:gd name="T31" fmla="*/ 65 h 265"/>
                <a:gd name="T32" fmla="*/ 2050 w 2197"/>
                <a:gd name="T33" fmla="*/ 104 h 265"/>
                <a:gd name="T34" fmla="*/ 2498 w 2197"/>
                <a:gd name="T35" fmla="*/ 120 h 265"/>
                <a:gd name="T36" fmla="*/ 2532 w 2197"/>
                <a:gd name="T37" fmla="*/ 160 h 265"/>
                <a:gd name="T38" fmla="*/ 2554 w 2197"/>
                <a:gd name="T39" fmla="*/ 210 h 265"/>
                <a:gd name="T40" fmla="*/ 2560 w 2197"/>
                <a:gd name="T41" fmla="*/ 226 h 265"/>
                <a:gd name="T42" fmla="*/ 2560 w 2197"/>
                <a:gd name="T43" fmla="*/ 242 h 265"/>
                <a:gd name="T44" fmla="*/ 2519 w 2197"/>
                <a:gd name="T45" fmla="*/ 248 h 265"/>
                <a:gd name="T46" fmla="*/ 2476 w 2197"/>
                <a:gd name="T47" fmla="*/ 248 h 265"/>
                <a:gd name="T48" fmla="*/ 2413 w 2197"/>
                <a:gd name="T49" fmla="*/ 281 h 265"/>
                <a:gd name="T50" fmla="*/ 2351 w 2197"/>
                <a:gd name="T51" fmla="*/ 313 h 265"/>
                <a:gd name="T52" fmla="*/ 2232 w 2197"/>
                <a:gd name="T53" fmla="*/ 353 h 265"/>
                <a:gd name="T54" fmla="*/ 2105 w 2197"/>
                <a:gd name="T55" fmla="*/ 353 h 265"/>
                <a:gd name="T56" fmla="*/ 2015 w 2197"/>
                <a:gd name="T57" fmla="*/ 344 h 265"/>
                <a:gd name="T58" fmla="*/ 1931 w 2197"/>
                <a:gd name="T59" fmla="*/ 344 h 265"/>
                <a:gd name="T60" fmla="*/ 1847 w 2197"/>
                <a:gd name="T61" fmla="*/ 344 h 265"/>
                <a:gd name="T62" fmla="*/ 1798 w 2197"/>
                <a:gd name="T63" fmla="*/ 344 h 265"/>
                <a:gd name="T64" fmla="*/ 1777 w 2197"/>
                <a:gd name="T65" fmla="*/ 353 h 265"/>
                <a:gd name="T66" fmla="*/ 1715 w 2197"/>
                <a:gd name="T67" fmla="*/ 353 h 265"/>
                <a:gd name="T68" fmla="*/ 1609 w 2197"/>
                <a:gd name="T69" fmla="*/ 353 h 265"/>
                <a:gd name="T70" fmla="*/ 1524 w 2197"/>
                <a:gd name="T71" fmla="*/ 344 h 265"/>
                <a:gd name="T72" fmla="*/ 1468 w 2197"/>
                <a:gd name="T73" fmla="*/ 330 h 265"/>
                <a:gd name="T74" fmla="*/ 1392 w 2197"/>
                <a:gd name="T75" fmla="*/ 313 h 265"/>
                <a:gd name="T76" fmla="*/ 1294 w 2197"/>
                <a:gd name="T77" fmla="*/ 313 h 265"/>
                <a:gd name="T78" fmla="*/ 1162 w 2197"/>
                <a:gd name="T79" fmla="*/ 313 h 265"/>
                <a:gd name="T80" fmla="*/ 497 w 2197"/>
                <a:gd name="T81" fmla="*/ 313 h 265"/>
                <a:gd name="T82" fmla="*/ 273 w 2197"/>
                <a:gd name="T83" fmla="*/ 304 h 265"/>
                <a:gd name="T84" fmla="*/ 147 w 2197"/>
                <a:gd name="T85" fmla="*/ 337 h 265"/>
                <a:gd name="T86" fmla="*/ 126 w 2197"/>
                <a:gd name="T87" fmla="*/ 337 h 265"/>
                <a:gd name="T88" fmla="*/ 98 w 2197"/>
                <a:gd name="T89" fmla="*/ 330 h 265"/>
                <a:gd name="T90" fmla="*/ 56 w 2197"/>
                <a:gd name="T91" fmla="*/ 273 h 265"/>
                <a:gd name="T92" fmla="*/ 22 w 2197"/>
                <a:gd name="T93" fmla="*/ 226 h 265"/>
                <a:gd name="T94" fmla="*/ 6 w 2197"/>
                <a:gd name="T95" fmla="*/ 160 h 265"/>
                <a:gd name="T96" fmla="*/ 56 w 2197"/>
                <a:gd name="T97" fmla="*/ 112 h 265"/>
                <a:gd name="T98" fmla="*/ 70 w 2197"/>
                <a:gd name="T99" fmla="*/ 120 h 26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197"/>
                <a:gd name="T151" fmla="*/ 0 h 265"/>
                <a:gd name="T152" fmla="*/ 2197 w 2197"/>
                <a:gd name="T153" fmla="*/ 265 h 265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197" h="265">
                  <a:moveTo>
                    <a:pt x="60" y="66"/>
                  </a:moveTo>
                  <a:lnTo>
                    <a:pt x="150" y="36"/>
                  </a:lnTo>
                  <a:lnTo>
                    <a:pt x="174" y="36"/>
                  </a:lnTo>
                  <a:lnTo>
                    <a:pt x="198" y="30"/>
                  </a:lnTo>
                  <a:lnTo>
                    <a:pt x="222" y="30"/>
                  </a:lnTo>
                  <a:lnTo>
                    <a:pt x="252" y="24"/>
                  </a:lnTo>
                  <a:lnTo>
                    <a:pt x="258" y="24"/>
                  </a:lnTo>
                  <a:lnTo>
                    <a:pt x="264" y="18"/>
                  </a:lnTo>
                  <a:lnTo>
                    <a:pt x="276" y="18"/>
                  </a:lnTo>
                  <a:lnTo>
                    <a:pt x="288" y="12"/>
                  </a:lnTo>
                  <a:lnTo>
                    <a:pt x="420" y="12"/>
                  </a:lnTo>
                  <a:lnTo>
                    <a:pt x="552" y="12"/>
                  </a:lnTo>
                  <a:lnTo>
                    <a:pt x="666" y="0"/>
                  </a:lnTo>
                  <a:lnTo>
                    <a:pt x="744" y="0"/>
                  </a:lnTo>
                  <a:lnTo>
                    <a:pt x="768" y="6"/>
                  </a:lnTo>
                  <a:lnTo>
                    <a:pt x="792" y="6"/>
                  </a:lnTo>
                  <a:lnTo>
                    <a:pt x="822" y="12"/>
                  </a:lnTo>
                  <a:lnTo>
                    <a:pt x="852" y="12"/>
                  </a:lnTo>
                  <a:lnTo>
                    <a:pt x="858" y="18"/>
                  </a:lnTo>
                  <a:lnTo>
                    <a:pt x="870" y="18"/>
                  </a:lnTo>
                  <a:lnTo>
                    <a:pt x="888" y="24"/>
                  </a:lnTo>
                  <a:lnTo>
                    <a:pt x="900" y="24"/>
                  </a:lnTo>
                  <a:lnTo>
                    <a:pt x="1308" y="24"/>
                  </a:lnTo>
                  <a:lnTo>
                    <a:pt x="1326" y="30"/>
                  </a:lnTo>
                  <a:lnTo>
                    <a:pt x="1344" y="30"/>
                  </a:lnTo>
                  <a:lnTo>
                    <a:pt x="1362" y="30"/>
                  </a:lnTo>
                  <a:lnTo>
                    <a:pt x="1374" y="30"/>
                  </a:lnTo>
                  <a:lnTo>
                    <a:pt x="1410" y="36"/>
                  </a:lnTo>
                  <a:lnTo>
                    <a:pt x="1440" y="36"/>
                  </a:lnTo>
                  <a:lnTo>
                    <a:pt x="1476" y="36"/>
                  </a:lnTo>
                  <a:lnTo>
                    <a:pt x="1506" y="30"/>
                  </a:lnTo>
                  <a:lnTo>
                    <a:pt x="1578" y="48"/>
                  </a:lnTo>
                  <a:lnTo>
                    <a:pt x="1644" y="60"/>
                  </a:lnTo>
                  <a:lnTo>
                    <a:pt x="1758" y="78"/>
                  </a:lnTo>
                  <a:lnTo>
                    <a:pt x="1926" y="90"/>
                  </a:lnTo>
                  <a:lnTo>
                    <a:pt x="2142" y="90"/>
                  </a:lnTo>
                  <a:lnTo>
                    <a:pt x="2160" y="108"/>
                  </a:lnTo>
                  <a:lnTo>
                    <a:pt x="2172" y="120"/>
                  </a:lnTo>
                  <a:lnTo>
                    <a:pt x="2184" y="138"/>
                  </a:lnTo>
                  <a:lnTo>
                    <a:pt x="2190" y="156"/>
                  </a:lnTo>
                  <a:lnTo>
                    <a:pt x="2196" y="162"/>
                  </a:lnTo>
                  <a:lnTo>
                    <a:pt x="2196" y="168"/>
                  </a:lnTo>
                  <a:lnTo>
                    <a:pt x="2196" y="174"/>
                  </a:lnTo>
                  <a:lnTo>
                    <a:pt x="2196" y="180"/>
                  </a:lnTo>
                  <a:lnTo>
                    <a:pt x="2178" y="186"/>
                  </a:lnTo>
                  <a:lnTo>
                    <a:pt x="2160" y="186"/>
                  </a:lnTo>
                  <a:lnTo>
                    <a:pt x="2142" y="186"/>
                  </a:lnTo>
                  <a:lnTo>
                    <a:pt x="2124" y="186"/>
                  </a:lnTo>
                  <a:lnTo>
                    <a:pt x="2100" y="198"/>
                  </a:lnTo>
                  <a:lnTo>
                    <a:pt x="2070" y="210"/>
                  </a:lnTo>
                  <a:lnTo>
                    <a:pt x="2046" y="222"/>
                  </a:lnTo>
                  <a:lnTo>
                    <a:pt x="2016" y="234"/>
                  </a:lnTo>
                  <a:lnTo>
                    <a:pt x="1956" y="258"/>
                  </a:lnTo>
                  <a:lnTo>
                    <a:pt x="1914" y="264"/>
                  </a:lnTo>
                  <a:lnTo>
                    <a:pt x="1842" y="264"/>
                  </a:lnTo>
                  <a:lnTo>
                    <a:pt x="1806" y="264"/>
                  </a:lnTo>
                  <a:lnTo>
                    <a:pt x="1764" y="258"/>
                  </a:lnTo>
                  <a:lnTo>
                    <a:pt x="1728" y="258"/>
                  </a:lnTo>
                  <a:lnTo>
                    <a:pt x="1692" y="258"/>
                  </a:lnTo>
                  <a:lnTo>
                    <a:pt x="1656" y="258"/>
                  </a:lnTo>
                  <a:lnTo>
                    <a:pt x="1620" y="258"/>
                  </a:lnTo>
                  <a:lnTo>
                    <a:pt x="1584" y="258"/>
                  </a:lnTo>
                  <a:lnTo>
                    <a:pt x="1548" y="258"/>
                  </a:lnTo>
                  <a:lnTo>
                    <a:pt x="1542" y="258"/>
                  </a:lnTo>
                  <a:lnTo>
                    <a:pt x="1530" y="258"/>
                  </a:lnTo>
                  <a:lnTo>
                    <a:pt x="1524" y="264"/>
                  </a:lnTo>
                  <a:lnTo>
                    <a:pt x="1518" y="264"/>
                  </a:lnTo>
                  <a:lnTo>
                    <a:pt x="1470" y="264"/>
                  </a:lnTo>
                  <a:lnTo>
                    <a:pt x="1422" y="264"/>
                  </a:lnTo>
                  <a:lnTo>
                    <a:pt x="1380" y="264"/>
                  </a:lnTo>
                  <a:lnTo>
                    <a:pt x="1338" y="264"/>
                  </a:lnTo>
                  <a:lnTo>
                    <a:pt x="1308" y="258"/>
                  </a:lnTo>
                  <a:lnTo>
                    <a:pt x="1284" y="252"/>
                  </a:lnTo>
                  <a:lnTo>
                    <a:pt x="1260" y="246"/>
                  </a:lnTo>
                  <a:lnTo>
                    <a:pt x="1230" y="234"/>
                  </a:lnTo>
                  <a:lnTo>
                    <a:pt x="1194" y="234"/>
                  </a:lnTo>
                  <a:lnTo>
                    <a:pt x="1152" y="234"/>
                  </a:lnTo>
                  <a:lnTo>
                    <a:pt x="1110" y="234"/>
                  </a:lnTo>
                  <a:lnTo>
                    <a:pt x="1068" y="234"/>
                  </a:lnTo>
                  <a:lnTo>
                    <a:pt x="996" y="234"/>
                  </a:lnTo>
                  <a:lnTo>
                    <a:pt x="924" y="234"/>
                  </a:lnTo>
                  <a:lnTo>
                    <a:pt x="426" y="234"/>
                  </a:lnTo>
                  <a:lnTo>
                    <a:pt x="330" y="234"/>
                  </a:lnTo>
                  <a:lnTo>
                    <a:pt x="234" y="228"/>
                  </a:lnTo>
                  <a:lnTo>
                    <a:pt x="180" y="240"/>
                  </a:lnTo>
                  <a:lnTo>
                    <a:pt x="126" y="252"/>
                  </a:lnTo>
                  <a:lnTo>
                    <a:pt x="120" y="252"/>
                  </a:lnTo>
                  <a:lnTo>
                    <a:pt x="108" y="252"/>
                  </a:lnTo>
                  <a:lnTo>
                    <a:pt x="96" y="252"/>
                  </a:lnTo>
                  <a:lnTo>
                    <a:pt x="84" y="246"/>
                  </a:lnTo>
                  <a:lnTo>
                    <a:pt x="66" y="228"/>
                  </a:lnTo>
                  <a:lnTo>
                    <a:pt x="48" y="204"/>
                  </a:lnTo>
                  <a:lnTo>
                    <a:pt x="36" y="186"/>
                  </a:lnTo>
                  <a:lnTo>
                    <a:pt x="18" y="168"/>
                  </a:lnTo>
                  <a:lnTo>
                    <a:pt x="0" y="132"/>
                  </a:lnTo>
                  <a:lnTo>
                    <a:pt x="6" y="120"/>
                  </a:lnTo>
                  <a:lnTo>
                    <a:pt x="18" y="102"/>
                  </a:lnTo>
                  <a:lnTo>
                    <a:pt x="48" y="84"/>
                  </a:lnTo>
                  <a:lnTo>
                    <a:pt x="72" y="66"/>
                  </a:lnTo>
                  <a:lnTo>
                    <a:pt x="60" y="9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45"/>
            <p:cNvSpPr>
              <a:spLocks/>
            </p:cNvSpPr>
            <p:nvPr/>
          </p:nvSpPr>
          <p:spPr bwMode="auto">
            <a:xfrm>
              <a:off x="1524" y="1609"/>
              <a:ext cx="2277" cy="285"/>
            </a:xfrm>
            <a:custGeom>
              <a:avLst/>
              <a:gdLst>
                <a:gd name="T0" fmla="*/ 147 w 2191"/>
                <a:gd name="T1" fmla="*/ 56 h 265"/>
                <a:gd name="T2" fmla="*/ 224 w 2191"/>
                <a:gd name="T3" fmla="*/ 40 h 265"/>
                <a:gd name="T4" fmla="*/ 294 w 2191"/>
                <a:gd name="T5" fmla="*/ 32 h 265"/>
                <a:gd name="T6" fmla="*/ 315 w 2191"/>
                <a:gd name="T7" fmla="*/ 24 h 265"/>
                <a:gd name="T8" fmla="*/ 356 w 2191"/>
                <a:gd name="T9" fmla="*/ 16 h 265"/>
                <a:gd name="T10" fmla="*/ 483 w 2191"/>
                <a:gd name="T11" fmla="*/ 16 h 265"/>
                <a:gd name="T12" fmla="*/ 616 w 2191"/>
                <a:gd name="T13" fmla="*/ 6 h 265"/>
                <a:gd name="T14" fmla="*/ 820 w 2191"/>
                <a:gd name="T15" fmla="*/ 0 h 265"/>
                <a:gd name="T16" fmla="*/ 917 w 2191"/>
                <a:gd name="T17" fmla="*/ 6 h 265"/>
                <a:gd name="T18" fmla="*/ 994 w 2191"/>
                <a:gd name="T19" fmla="*/ 24 h 265"/>
                <a:gd name="T20" fmla="*/ 1029 w 2191"/>
                <a:gd name="T21" fmla="*/ 32 h 265"/>
                <a:gd name="T22" fmla="*/ 1092 w 2191"/>
                <a:gd name="T23" fmla="*/ 32 h 265"/>
                <a:gd name="T24" fmla="*/ 1281 w 2191"/>
                <a:gd name="T25" fmla="*/ 32 h 265"/>
                <a:gd name="T26" fmla="*/ 1462 w 2191"/>
                <a:gd name="T27" fmla="*/ 32 h 265"/>
                <a:gd name="T28" fmla="*/ 1540 w 2191"/>
                <a:gd name="T29" fmla="*/ 40 h 265"/>
                <a:gd name="T30" fmla="*/ 1581 w 2191"/>
                <a:gd name="T31" fmla="*/ 40 h 265"/>
                <a:gd name="T32" fmla="*/ 1638 w 2191"/>
                <a:gd name="T33" fmla="*/ 48 h 265"/>
                <a:gd name="T34" fmla="*/ 1715 w 2191"/>
                <a:gd name="T35" fmla="*/ 48 h 265"/>
                <a:gd name="T36" fmla="*/ 1834 w 2191"/>
                <a:gd name="T37" fmla="*/ 65 h 265"/>
                <a:gd name="T38" fmla="*/ 2051 w 2191"/>
                <a:gd name="T39" fmla="*/ 104 h 265"/>
                <a:gd name="T40" fmla="*/ 2239 w 2191"/>
                <a:gd name="T41" fmla="*/ 112 h 265"/>
                <a:gd name="T42" fmla="*/ 2421 w 2191"/>
                <a:gd name="T43" fmla="*/ 120 h 265"/>
                <a:gd name="T44" fmla="*/ 2492 w 2191"/>
                <a:gd name="T45" fmla="*/ 128 h 265"/>
                <a:gd name="T46" fmla="*/ 2526 w 2191"/>
                <a:gd name="T47" fmla="*/ 160 h 265"/>
                <a:gd name="T48" fmla="*/ 2554 w 2191"/>
                <a:gd name="T49" fmla="*/ 216 h 265"/>
                <a:gd name="T50" fmla="*/ 2554 w 2191"/>
                <a:gd name="T51" fmla="*/ 232 h 265"/>
                <a:gd name="T52" fmla="*/ 2513 w 2191"/>
                <a:gd name="T53" fmla="*/ 248 h 265"/>
                <a:gd name="T54" fmla="*/ 2442 w 2191"/>
                <a:gd name="T55" fmla="*/ 265 h 265"/>
                <a:gd name="T56" fmla="*/ 2379 w 2191"/>
                <a:gd name="T57" fmla="*/ 297 h 265"/>
                <a:gd name="T58" fmla="*/ 2254 w 2191"/>
                <a:gd name="T59" fmla="*/ 353 h 265"/>
                <a:gd name="T60" fmla="*/ 2099 w 2191"/>
                <a:gd name="T61" fmla="*/ 353 h 265"/>
                <a:gd name="T62" fmla="*/ 2009 w 2191"/>
                <a:gd name="T63" fmla="*/ 344 h 265"/>
                <a:gd name="T64" fmla="*/ 1882 w 2191"/>
                <a:gd name="T65" fmla="*/ 344 h 265"/>
                <a:gd name="T66" fmla="*/ 1806 w 2191"/>
                <a:gd name="T67" fmla="*/ 344 h 265"/>
                <a:gd name="T68" fmla="*/ 1778 w 2191"/>
                <a:gd name="T69" fmla="*/ 344 h 265"/>
                <a:gd name="T70" fmla="*/ 1750 w 2191"/>
                <a:gd name="T71" fmla="*/ 353 h 265"/>
                <a:gd name="T72" fmla="*/ 1652 w 2191"/>
                <a:gd name="T73" fmla="*/ 353 h 265"/>
                <a:gd name="T74" fmla="*/ 1518 w 2191"/>
                <a:gd name="T75" fmla="*/ 344 h 265"/>
                <a:gd name="T76" fmla="*/ 1462 w 2191"/>
                <a:gd name="T77" fmla="*/ 330 h 265"/>
                <a:gd name="T78" fmla="*/ 1338 w 2191"/>
                <a:gd name="T79" fmla="*/ 313 h 265"/>
                <a:gd name="T80" fmla="*/ 1225 w 2191"/>
                <a:gd name="T81" fmla="*/ 313 h 265"/>
                <a:gd name="T82" fmla="*/ 1098 w 2191"/>
                <a:gd name="T83" fmla="*/ 313 h 265"/>
                <a:gd name="T84" fmla="*/ 910 w 2191"/>
                <a:gd name="T85" fmla="*/ 313 h 265"/>
                <a:gd name="T86" fmla="*/ 644 w 2191"/>
                <a:gd name="T87" fmla="*/ 313 h 265"/>
                <a:gd name="T88" fmla="*/ 441 w 2191"/>
                <a:gd name="T89" fmla="*/ 313 h 265"/>
                <a:gd name="T90" fmla="*/ 273 w 2191"/>
                <a:gd name="T91" fmla="*/ 304 h 265"/>
                <a:gd name="T92" fmla="*/ 154 w 2191"/>
                <a:gd name="T93" fmla="*/ 330 h 265"/>
                <a:gd name="T94" fmla="*/ 118 w 2191"/>
                <a:gd name="T95" fmla="*/ 337 h 265"/>
                <a:gd name="T96" fmla="*/ 70 w 2191"/>
                <a:gd name="T97" fmla="*/ 304 h 265"/>
                <a:gd name="T98" fmla="*/ 34 w 2191"/>
                <a:gd name="T99" fmla="*/ 248 h 265"/>
                <a:gd name="T100" fmla="*/ 0 w 2191"/>
                <a:gd name="T101" fmla="*/ 160 h 265"/>
                <a:gd name="T102" fmla="*/ 50 w 2191"/>
                <a:gd name="T103" fmla="*/ 112 h 265"/>
                <a:gd name="T104" fmla="*/ 62 w 2191"/>
                <a:gd name="T105" fmla="*/ 120 h 26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191"/>
                <a:gd name="T160" fmla="*/ 0 h 265"/>
                <a:gd name="T161" fmla="*/ 2191 w 2191"/>
                <a:gd name="T162" fmla="*/ 265 h 26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191" h="265">
                  <a:moveTo>
                    <a:pt x="54" y="66"/>
                  </a:moveTo>
                  <a:lnTo>
                    <a:pt x="126" y="42"/>
                  </a:lnTo>
                  <a:lnTo>
                    <a:pt x="168" y="36"/>
                  </a:lnTo>
                  <a:lnTo>
                    <a:pt x="192" y="30"/>
                  </a:lnTo>
                  <a:lnTo>
                    <a:pt x="216" y="30"/>
                  </a:lnTo>
                  <a:lnTo>
                    <a:pt x="252" y="24"/>
                  </a:lnTo>
                  <a:lnTo>
                    <a:pt x="258" y="18"/>
                  </a:lnTo>
                  <a:lnTo>
                    <a:pt x="270" y="18"/>
                  </a:lnTo>
                  <a:lnTo>
                    <a:pt x="282" y="12"/>
                  </a:lnTo>
                  <a:lnTo>
                    <a:pt x="306" y="12"/>
                  </a:lnTo>
                  <a:lnTo>
                    <a:pt x="354" y="12"/>
                  </a:lnTo>
                  <a:lnTo>
                    <a:pt x="414" y="12"/>
                  </a:lnTo>
                  <a:lnTo>
                    <a:pt x="474" y="6"/>
                  </a:lnTo>
                  <a:lnTo>
                    <a:pt x="528" y="6"/>
                  </a:lnTo>
                  <a:lnTo>
                    <a:pt x="606" y="6"/>
                  </a:lnTo>
                  <a:lnTo>
                    <a:pt x="702" y="0"/>
                  </a:lnTo>
                  <a:lnTo>
                    <a:pt x="762" y="6"/>
                  </a:lnTo>
                  <a:lnTo>
                    <a:pt x="786" y="6"/>
                  </a:lnTo>
                  <a:lnTo>
                    <a:pt x="816" y="12"/>
                  </a:lnTo>
                  <a:lnTo>
                    <a:pt x="852" y="18"/>
                  </a:lnTo>
                  <a:lnTo>
                    <a:pt x="864" y="18"/>
                  </a:lnTo>
                  <a:lnTo>
                    <a:pt x="882" y="24"/>
                  </a:lnTo>
                  <a:lnTo>
                    <a:pt x="894" y="24"/>
                  </a:lnTo>
                  <a:lnTo>
                    <a:pt x="936" y="24"/>
                  </a:lnTo>
                  <a:lnTo>
                    <a:pt x="1002" y="24"/>
                  </a:lnTo>
                  <a:lnTo>
                    <a:pt x="1098" y="24"/>
                  </a:lnTo>
                  <a:lnTo>
                    <a:pt x="1188" y="24"/>
                  </a:lnTo>
                  <a:lnTo>
                    <a:pt x="1254" y="24"/>
                  </a:lnTo>
                  <a:lnTo>
                    <a:pt x="1296" y="24"/>
                  </a:lnTo>
                  <a:lnTo>
                    <a:pt x="1320" y="30"/>
                  </a:lnTo>
                  <a:lnTo>
                    <a:pt x="1338" y="30"/>
                  </a:lnTo>
                  <a:lnTo>
                    <a:pt x="1356" y="30"/>
                  </a:lnTo>
                  <a:lnTo>
                    <a:pt x="1368" y="30"/>
                  </a:lnTo>
                  <a:lnTo>
                    <a:pt x="1404" y="36"/>
                  </a:lnTo>
                  <a:lnTo>
                    <a:pt x="1434" y="36"/>
                  </a:lnTo>
                  <a:lnTo>
                    <a:pt x="1470" y="36"/>
                  </a:lnTo>
                  <a:lnTo>
                    <a:pt x="1506" y="30"/>
                  </a:lnTo>
                  <a:lnTo>
                    <a:pt x="1572" y="48"/>
                  </a:lnTo>
                  <a:lnTo>
                    <a:pt x="1698" y="72"/>
                  </a:lnTo>
                  <a:lnTo>
                    <a:pt x="1758" y="78"/>
                  </a:lnTo>
                  <a:lnTo>
                    <a:pt x="1836" y="84"/>
                  </a:lnTo>
                  <a:lnTo>
                    <a:pt x="1920" y="84"/>
                  </a:lnTo>
                  <a:lnTo>
                    <a:pt x="2028" y="90"/>
                  </a:lnTo>
                  <a:lnTo>
                    <a:pt x="2076" y="90"/>
                  </a:lnTo>
                  <a:lnTo>
                    <a:pt x="2112" y="90"/>
                  </a:lnTo>
                  <a:lnTo>
                    <a:pt x="2136" y="96"/>
                  </a:lnTo>
                  <a:lnTo>
                    <a:pt x="2154" y="108"/>
                  </a:lnTo>
                  <a:lnTo>
                    <a:pt x="2166" y="120"/>
                  </a:lnTo>
                  <a:lnTo>
                    <a:pt x="2178" y="138"/>
                  </a:lnTo>
                  <a:lnTo>
                    <a:pt x="2190" y="162"/>
                  </a:lnTo>
                  <a:lnTo>
                    <a:pt x="2190" y="168"/>
                  </a:lnTo>
                  <a:lnTo>
                    <a:pt x="2190" y="174"/>
                  </a:lnTo>
                  <a:lnTo>
                    <a:pt x="2172" y="186"/>
                  </a:lnTo>
                  <a:lnTo>
                    <a:pt x="2154" y="186"/>
                  </a:lnTo>
                  <a:lnTo>
                    <a:pt x="2136" y="186"/>
                  </a:lnTo>
                  <a:lnTo>
                    <a:pt x="2094" y="198"/>
                  </a:lnTo>
                  <a:lnTo>
                    <a:pt x="2064" y="210"/>
                  </a:lnTo>
                  <a:lnTo>
                    <a:pt x="2040" y="222"/>
                  </a:lnTo>
                  <a:lnTo>
                    <a:pt x="1980" y="246"/>
                  </a:lnTo>
                  <a:lnTo>
                    <a:pt x="1932" y="264"/>
                  </a:lnTo>
                  <a:lnTo>
                    <a:pt x="1872" y="264"/>
                  </a:lnTo>
                  <a:lnTo>
                    <a:pt x="1800" y="264"/>
                  </a:lnTo>
                  <a:lnTo>
                    <a:pt x="1758" y="258"/>
                  </a:lnTo>
                  <a:lnTo>
                    <a:pt x="1722" y="258"/>
                  </a:lnTo>
                  <a:lnTo>
                    <a:pt x="1650" y="258"/>
                  </a:lnTo>
                  <a:lnTo>
                    <a:pt x="1614" y="258"/>
                  </a:lnTo>
                  <a:lnTo>
                    <a:pt x="1578" y="258"/>
                  </a:lnTo>
                  <a:lnTo>
                    <a:pt x="1548" y="258"/>
                  </a:lnTo>
                  <a:lnTo>
                    <a:pt x="1536" y="258"/>
                  </a:lnTo>
                  <a:lnTo>
                    <a:pt x="1524" y="258"/>
                  </a:lnTo>
                  <a:lnTo>
                    <a:pt x="1518" y="264"/>
                  </a:lnTo>
                  <a:lnTo>
                    <a:pt x="1500" y="264"/>
                  </a:lnTo>
                  <a:lnTo>
                    <a:pt x="1464" y="264"/>
                  </a:lnTo>
                  <a:lnTo>
                    <a:pt x="1416" y="264"/>
                  </a:lnTo>
                  <a:lnTo>
                    <a:pt x="1374" y="264"/>
                  </a:lnTo>
                  <a:lnTo>
                    <a:pt x="1302" y="258"/>
                  </a:lnTo>
                  <a:lnTo>
                    <a:pt x="1278" y="252"/>
                  </a:lnTo>
                  <a:lnTo>
                    <a:pt x="1254" y="246"/>
                  </a:lnTo>
                  <a:lnTo>
                    <a:pt x="1188" y="234"/>
                  </a:lnTo>
                  <a:lnTo>
                    <a:pt x="1146" y="234"/>
                  </a:lnTo>
                  <a:lnTo>
                    <a:pt x="1104" y="234"/>
                  </a:lnTo>
                  <a:lnTo>
                    <a:pt x="1050" y="234"/>
                  </a:lnTo>
                  <a:lnTo>
                    <a:pt x="990" y="234"/>
                  </a:lnTo>
                  <a:lnTo>
                    <a:pt x="942" y="234"/>
                  </a:lnTo>
                  <a:lnTo>
                    <a:pt x="870" y="234"/>
                  </a:lnTo>
                  <a:lnTo>
                    <a:pt x="780" y="234"/>
                  </a:lnTo>
                  <a:lnTo>
                    <a:pt x="672" y="234"/>
                  </a:lnTo>
                  <a:lnTo>
                    <a:pt x="552" y="234"/>
                  </a:lnTo>
                  <a:lnTo>
                    <a:pt x="456" y="234"/>
                  </a:lnTo>
                  <a:lnTo>
                    <a:pt x="378" y="234"/>
                  </a:lnTo>
                  <a:lnTo>
                    <a:pt x="324" y="234"/>
                  </a:lnTo>
                  <a:lnTo>
                    <a:pt x="234" y="228"/>
                  </a:lnTo>
                  <a:lnTo>
                    <a:pt x="174" y="240"/>
                  </a:lnTo>
                  <a:lnTo>
                    <a:pt x="132" y="246"/>
                  </a:lnTo>
                  <a:lnTo>
                    <a:pt x="114" y="252"/>
                  </a:lnTo>
                  <a:lnTo>
                    <a:pt x="102" y="252"/>
                  </a:lnTo>
                  <a:lnTo>
                    <a:pt x="90" y="252"/>
                  </a:lnTo>
                  <a:lnTo>
                    <a:pt x="60" y="228"/>
                  </a:lnTo>
                  <a:lnTo>
                    <a:pt x="42" y="204"/>
                  </a:lnTo>
                  <a:lnTo>
                    <a:pt x="30" y="186"/>
                  </a:lnTo>
                  <a:lnTo>
                    <a:pt x="0" y="150"/>
                  </a:lnTo>
                  <a:lnTo>
                    <a:pt x="0" y="120"/>
                  </a:lnTo>
                  <a:lnTo>
                    <a:pt x="12" y="102"/>
                  </a:lnTo>
                  <a:lnTo>
                    <a:pt x="42" y="84"/>
                  </a:lnTo>
                  <a:lnTo>
                    <a:pt x="54" y="72"/>
                  </a:lnTo>
                  <a:lnTo>
                    <a:pt x="54" y="90"/>
                  </a:lnTo>
                </a:path>
              </a:pathLst>
            </a:custGeom>
            <a:solidFill>
              <a:schemeClr val="folHlink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1904" y="1648"/>
              <a:ext cx="1358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Storage Area Network</a:t>
              </a:r>
            </a:p>
          </p:txBody>
        </p:sp>
        <p:sp>
          <p:nvSpPr>
            <p:cNvPr id="110" name="Line 93"/>
            <p:cNvSpPr>
              <a:spLocks noChangeShapeType="1"/>
            </p:cNvSpPr>
            <p:nvPr/>
          </p:nvSpPr>
          <p:spPr bwMode="auto">
            <a:xfrm>
              <a:off x="1659" y="1545"/>
              <a:ext cx="73" cy="96"/>
            </a:xfrm>
            <a:prstGeom prst="line">
              <a:avLst/>
            </a:prstGeom>
            <a:noFill/>
            <a:ln w="28575">
              <a:solidFill>
                <a:srgbClr val="01020B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Line 156"/>
            <p:cNvSpPr>
              <a:spLocks noChangeShapeType="1"/>
            </p:cNvSpPr>
            <p:nvPr/>
          </p:nvSpPr>
          <p:spPr bwMode="auto">
            <a:xfrm flipH="1">
              <a:off x="3272" y="1545"/>
              <a:ext cx="109" cy="128"/>
            </a:xfrm>
            <a:prstGeom prst="line">
              <a:avLst/>
            </a:prstGeom>
            <a:noFill/>
            <a:ln w="28575">
              <a:solidFill>
                <a:srgbClr val="01020B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12" name="Group 214"/>
            <p:cNvGrpSpPr>
              <a:grpSpLocks/>
            </p:cNvGrpSpPr>
            <p:nvPr/>
          </p:nvGrpSpPr>
          <p:grpSpPr bwMode="auto">
            <a:xfrm>
              <a:off x="1130" y="724"/>
              <a:ext cx="2771" cy="821"/>
              <a:chOff x="1130" y="724"/>
              <a:chExt cx="2771" cy="821"/>
            </a:xfrm>
          </p:grpSpPr>
          <p:grpSp>
            <p:nvGrpSpPr>
              <p:cNvPr id="113" name="Group 154"/>
              <p:cNvGrpSpPr>
                <a:grpSpLocks/>
              </p:cNvGrpSpPr>
              <p:nvPr/>
            </p:nvGrpSpPr>
            <p:grpSpPr bwMode="auto">
              <a:xfrm>
                <a:off x="1343" y="724"/>
                <a:ext cx="2348" cy="821"/>
                <a:chOff x="1514" y="644"/>
                <a:chExt cx="2348" cy="821"/>
              </a:xfrm>
            </p:grpSpPr>
            <p:sp>
              <p:nvSpPr>
                <p:cNvPr id="123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2841" y="1126"/>
                  <a:ext cx="333" cy="3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>
                      <a:solidFill>
                        <a:srgbClr val="01020B"/>
                      </a:solidFill>
                    </a:rPr>
                    <a:t>…</a:t>
                  </a:r>
                </a:p>
              </p:txBody>
            </p:sp>
            <p:grpSp>
              <p:nvGrpSpPr>
                <p:cNvPr id="124" name="Group 123"/>
                <p:cNvGrpSpPr>
                  <a:grpSpLocks/>
                </p:cNvGrpSpPr>
                <p:nvPr/>
              </p:nvGrpSpPr>
              <p:grpSpPr bwMode="auto">
                <a:xfrm>
                  <a:off x="1514" y="644"/>
                  <a:ext cx="605" cy="821"/>
                  <a:chOff x="1514" y="650"/>
                  <a:chExt cx="605" cy="821"/>
                </a:xfrm>
              </p:grpSpPr>
              <p:sp>
                <p:nvSpPr>
                  <p:cNvPr id="145" name="Text Box 7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14" y="650"/>
                    <a:ext cx="605" cy="20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400" dirty="0">
                        <a:solidFill>
                          <a:srgbClr val="142CFD"/>
                        </a:solidFill>
                      </a:rPr>
                      <a:t>Node 1</a:t>
                    </a:r>
                    <a:endParaRPr lang="en-US" dirty="0"/>
                  </a:p>
                </p:txBody>
              </p:sp>
              <p:sp>
                <p:nvSpPr>
                  <p:cNvPr id="146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1581" y="835"/>
                    <a:ext cx="470" cy="636"/>
                  </a:xfrm>
                  <a:prstGeom prst="rect">
                    <a:avLst/>
                  </a:prstGeom>
                  <a:solidFill>
                    <a:schemeClr val="folHlink">
                      <a:alpha val="98822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7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1643" y="1249"/>
                    <a:ext cx="318" cy="186"/>
                  </a:xfrm>
                  <a:prstGeom prst="rect">
                    <a:avLst/>
                  </a:prstGeom>
                  <a:solidFill>
                    <a:srgbClr val="D49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2075" tIns="46038" rIns="92075" bIns="46038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>
                        <a:solidFill>
                          <a:srgbClr val="000000"/>
                        </a:solidFill>
                      </a:rPr>
                      <a:t>MEM</a:t>
                    </a:r>
                  </a:p>
                </p:txBody>
              </p:sp>
              <p:sp>
                <p:nvSpPr>
                  <p:cNvPr id="148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1816" y="1180"/>
                    <a:ext cx="0" cy="6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49" name="Group 100"/>
                  <p:cNvGrpSpPr>
                    <a:grpSpLocks/>
                  </p:cNvGrpSpPr>
                  <p:nvPr/>
                </p:nvGrpSpPr>
                <p:grpSpPr bwMode="auto">
                  <a:xfrm>
                    <a:off x="1606" y="886"/>
                    <a:ext cx="421" cy="313"/>
                    <a:chOff x="753" y="1584"/>
                    <a:chExt cx="421" cy="313"/>
                  </a:xfrm>
                </p:grpSpPr>
                <p:sp>
                  <p:nvSpPr>
                    <p:cNvPr id="150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1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1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2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2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74" y="1585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" name="Rectangle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53" y="1644"/>
                      <a:ext cx="318" cy="20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92075" tIns="46038" rIns="92075" bIns="46038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latin typeface="New York" charset="0"/>
                        </a:rPr>
                        <a:t>CPU</a:t>
                      </a:r>
                    </a:p>
                  </p:txBody>
                </p:sp>
              </p:grpSp>
            </p:grpSp>
            <p:grpSp>
              <p:nvGrpSpPr>
                <p:cNvPr id="125" name="Group 124"/>
                <p:cNvGrpSpPr>
                  <a:grpSpLocks/>
                </p:cNvGrpSpPr>
                <p:nvPr/>
              </p:nvGrpSpPr>
              <p:grpSpPr bwMode="auto">
                <a:xfrm>
                  <a:off x="2176" y="644"/>
                  <a:ext cx="605" cy="821"/>
                  <a:chOff x="1514" y="650"/>
                  <a:chExt cx="605" cy="821"/>
                </a:xfrm>
              </p:grpSpPr>
              <p:sp>
                <p:nvSpPr>
                  <p:cNvPr id="136" name="Text Box 1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14" y="650"/>
                    <a:ext cx="605" cy="20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400" dirty="0">
                        <a:solidFill>
                          <a:srgbClr val="142CFD"/>
                        </a:solidFill>
                      </a:rPr>
                      <a:t>Node 2</a:t>
                    </a:r>
                    <a:endParaRPr lang="en-US" dirty="0"/>
                  </a:p>
                </p:txBody>
              </p:sp>
              <p:sp>
                <p:nvSpPr>
                  <p:cNvPr id="137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1581" y="835"/>
                    <a:ext cx="470" cy="636"/>
                  </a:xfrm>
                  <a:prstGeom prst="rect">
                    <a:avLst/>
                  </a:prstGeom>
                  <a:solidFill>
                    <a:schemeClr val="folHlink">
                      <a:alpha val="98822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8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1643" y="1249"/>
                    <a:ext cx="318" cy="186"/>
                  </a:xfrm>
                  <a:prstGeom prst="rect">
                    <a:avLst/>
                  </a:prstGeom>
                  <a:solidFill>
                    <a:srgbClr val="D49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2075" tIns="46038" rIns="92075" bIns="46038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>
                        <a:solidFill>
                          <a:srgbClr val="000000"/>
                        </a:solidFill>
                      </a:rPr>
                      <a:t>MEM</a:t>
                    </a:r>
                  </a:p>
                </p:txBody>
              </p:sp>
              <p:sp>
                <p:nvSpPr>
                  <p:cNvPr id="139" name="Line 128"/>
                  <p:cNvSpPr>
                    <a:spLocks noChangeShapeType="1"/>
                  </p:cNvSpPr>
                  <p:nvPr/>
                </p:nvSpPr>
                <p:spPr bwMode="auto">
                  <a:xfrm>
                    <a:off x="1816" y="1180"/>
                    <a:ext cx="0" cy="6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40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1606" y="886"/>
                    <a:ext cx="421" cy="313"/>
                    <a:chOff x="753" y="1584"/>
                    <a:chExt cx="421" cy="313"/>
                  </a:xfrm>
                </p:grpSpPr>
                <p:sp>
                  <p:nvSpPr>
                    <p:cNvPr id="141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1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2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2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3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74" y="1585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44" name="Rectangle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53" y="1644"/>
                      <a:ext cx="318" cy="20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92075" tIns="46038" rIns="92075" bIns="46038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latin typeface="New York" charset="0"/>
                        </a:rPr>
                        <a:t>CPU</a:t>
                      </a:r>
                    </a:p>
                  </p:txBody>
                </p:sp>
              </p:grpSp>
            </p:grpSp>
            <p:grpSp>
              <p:nvGrpSpPr>
                <p:cNvPr id="126" name="Group 134"/>
                <p:cNvGrpSpPr>
                  <a:grpSpLocks/>
                </p:cNvGrpSpPr>
                <p:nvPr/>
              </p:nvGrpSpPr>
              <p:grpSpPr bwMode="auto">
                <a:xfrm>
                  <a:off x="3257" y="644"/>
                  <a:ext cx="605" cy="821"/>
                  <a:chOff x="1514" y="650"/>
                  <a:chExt cx="605" cy="821"/>
                </a:xfrm>
              </p:grpSpPr>
              <p:sp>
                <p:nvSpPr>
                  <p:cNvPr id="127" name="Text Box 1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14" y="650"/>
                    <a:ext cx="605" cy="20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400">
                        <a:solidFill>
                          <a:srgbClr val="142CFD"/>
                        </a:solidFill>
                      </a:rPr>
                      <a:t>Node K</a:t>
                    </a:r>
                    <a:endParaRPr lang="en-US"/>
                  </a:p>
                </p:txBody>
              </p:sp>
              <p:sp>
                <p:nvSpPr>
                  <p:cNvPr id="128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1581" y="835"/>
                    <a:ext cx="470" cy="636"/>
                  </a:xfrm>
                  <a:prstGeom prst="rect">
                    <a:avLst/>
                  </a:prstGeom>
                  <a:solidFill>
                    <a:schemeClr val="folHlink">
                      <a:alpha val="98822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9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1643" y="1249"/>
                    <a:ext cx="318" cy="186"/>
                  </a:xfrm>
                  <a:prstGeom prst="rect">
                    <a:avLst/>
                  </a:prstGeom>
                  <a:solidFill>
                    <a:srgbClr val="D49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2075" tIns="46038" rIns="92075" bIns="46038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>
                        <a:solidFill>
                          <a:srgbClr val="000000"/>
                        </a:solidFill>
                      </a:rPr>
                      <a:t>MEM</a:t>
                    </a:r>
                  </a:p>
                </p:txBody>
              </p:sp>
              <p:sp>
                <p:nvSpPr>
                  <p:cNvPr id="130" name="Line 138"/>
                  <p:cNvSpPr>
                    <a:spLocks noChangeShapeType="1"/>
                  </p:cNvSpPr>
                  <p:nvPr/>
                </p:nvSpPr>
                <p:spPr bwMode="auto">
                  <a:xfrm>
                    <a:off x="1816" y="1180"/>
                    <a:ext cx="0" cy="6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31" name="Group 139"/>
                  <p:cNvGrpSpPr>
                    <a:grpSpLocks/>
                  </p:cNvGrpSpPr>
                  <p:nvPr/>
                </p:nvGrpSpPr>
                <p:grpSpPr bwMode="auto">
                  <a:xfrm>
                    <a:off x="1606" y="886"/>
                    <a:ext cx="421" cy="313"/>
                    <a:chOff x="753" y="1584"/>
                    <a:chExt cx="421" cy="313"/>
                  </a:xfrm>
                </p:grpSpPr>
                <p:sp>
                  <p:nvSpPr>
                    <p:cNvPr id="132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1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3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2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74" y="1585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" name="Rectangle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53" y="1644"/>
                      <a:ext cx="318" cy="20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92075" tIns="46038" rIns="92075" bIns="46038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latin typeface="New York" charset="0"/>
                        </a:rPr>
                        <a:t>CPU</a:t>
                      </a:r>
                    </a:p>
                  </p:txBody>
                </p:sp>
              </p:grpSp>
            </p:grpSp>
          </p:grpSp>
          <p:grpSp>
            <p:nvGrpSpPr>
              <p:cNvPr id="114" name="Group 205"/>
              <p:cNvGrpSpPr>
                <a:grpSpLocks/>
              </p:cNvGrpSpPr>
              <p:nvPr/>
            </p:nvGrpSpPr>
            <p:grpSpPr bwMode="auto">
              <a:xfrm>
                <a:off x="1130" y="1057"/>
                <a:ext cx="286" cy="178"/>
                <a:chOff x="3732" y="3078"/>
                <a:chExt cx="286" cy="178"/>
              </a:xfrm>
            </p:grpSpPr>
            <p:sp>
              <p:nvSpPr>
                <p:cNvPr id="121" name="Line 206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3964" y="3102"/>
                  <a:ext cx="0" cy="108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" name="AutoShape 13"/>
                <p:cNvSpPr>
                  <a:spLocks noChangeArrowheads="1"/>
                </p:cNvSpPr>
                <p:nvPr/>
              </p:nvSpPr>
              <p:spPr bwMode="auto">
                <a:xfrm>
                  <a:off x="3732" y="3078"/>
                  <a:ext cx="210" cy="178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</p:grpSp>
          <p:grpSp>
            <p:nvGrpSpPr>
              <p:cNvPr id="115" name="Group 208"/>
              <p:cNvGrpSpPr>
                <a:grpSpLocks/>
              </p:cNvGrpSpPr>
              <p:nvPr/>
            </p:nvGrpSpPr>
            <p:grpSpPr bwMode="auto">
              <a:xfrm flipH="1">
                <a:off x="3615" y="1057"/>
                <a:ext cx="286" cy="178"/>
                <a:chOff x="3732" y="3078"/>
                <a:chExt cx="286" cy="178"/>
              </a:xfrm>
            </p:grpSpPr>
            <p:sp>
              <p:nvSpPr>
                <p:cNvPr id="119" name="Line 209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3964" y="3102"/>
                  <a:ext cx="0" cy="108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" name="AutoShape 13"/>
                <p:cNvSpPr>
                  <a:spLocks noChangeArrowheads="1"/>
                </p:cNvSpPr>
                <p:nvPr/>
              </p:nvSpPr>
              <p:spPr bwMode="auto">
                <a:xfrm>
                  <a:off x="3732" y="3078"/>
                  <a:ext cx="210" cy="178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</p:grpSp>
          <p:grpSp>
            <p:nvGrpSpPr>
              <p:cNvPr id="116" name="Group 211"/>
              <p:cNvGrpSpPr>
                <a:grpSpLocks/>
              </p:cNvGrpSpPr>
              <p:nvPr/>
            </p:nvGrpSpPr>
            <p:grpSpPr bwMode="auto">
              <a:xfrm flipH="1">
                <a:off x="2538" y="1057"/>
                <a:ext cx="286" cy="178"/>
                <a:chOff x="3732" y="3078"/>
                <a:chExt cx="286" cy="178"/>
              </a:xfrm>
            </p:grpSpPr>
            <p:sp>
              <p:nvSpPr>
                <p:cNvPr id="117" name="Line 212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3964" y="3102"/>
                  <a:ext cx="0" cy="108"/>
                </a:xfrm>
                <a:prstGeom prst="line">
                  <a:avLst/>
                </a:prstGeom>
                <a:noFill/>
                <a:ln w="2222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" name="AutoShape 13"/>
                <p:cNvSpPr>
                  <a:spLocks noChangeArrowheads="1"/>
                </p:cNvSpPr>
                <p:nvPr/>
              </p:nvSpPr>
              <p:spPr bwMode="auto">
                <a:xfrm>
                  <a:off x="3732" y="3078"/>
                  <a:ext cx="210" cy="178"/>
                </a:xfrm>
                <a:prstGeom prst="can">
                  <a:avLst>
                    <a:gd name="adj" fmla="val 25000"/>
                  </a:avLst>
                </a:prstGeom>
                <a:solidFill>
                  <a:srgbClr val="E9FF51"/>
                </a:solidFill>
                <a:ln w="19050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b="0">
                    <a:latin typeface="Arial" charset="0"/>
                  </a:endParaRPr>
                </a:p>
              </p:txBody>
            </p:sp>
          </p:grpSp>
        </p:grpSp>
      </p:grpSp>
      <p:sp>
        <p:nvSpPr>
          <p:cNvPr id="3" name="TextBox 2"/>
          <p:cNvSpPr txBox="1"/>
          <p:nvPr/>
        </p:nvSpPr>
        <p:spPr>
          <a:xfrm>
            <a:off x="9962399" y="451478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Disk/Storage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44407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72167" y="1493550"/>
            <a:ext cx="10844465" cy="5116009"/>
          </a:xfrm>
        </p:spPr>
        <p:txBody>
          <a:bodyPr/>
          <a:lstStyle/>
          <a:p>
            <a:r>
              <a:rPr lang="en-US" sz="2800" dirty="0">
                <a:latin typeface="Arial" charset="0"/>
              </a:rPr>
              <a:t>Commodity servers connected via commodity networking </a:t>
            </a:r>
          </a:p>
          <a:p>
            <a:r>
              <a:rPr lang="en-US" sz="2800" dirty="0">
                <a:latin typeface="Arial" charset="0"/>
              </a:rPr>
              <a:t>DB storage is ”</a:t>
            </a:r>
            <a:r>
              <a:rPr lang="en-US" sz="2800" u="sng" dirty="0">
                <a:latin typeface="Arial" charset="0"/>
              </a:rPr>
              <a:t>strictly local</a:t>
            </a:r>
            <a:r>
              <a:rPr lang="en-US" sz="2800" dirty="0">
                <a:latin typeface="Arial" charset="0"/>
              </a:rPr>
              <a:t>” to each node</a:t>
            </a:r>
            <a:endParaRPr lang="en-US" dirty="0">
              <a:latin typeface="Arial" charset="0"/>
            </a:endParaRPr>
          </a:p>
          <a:p>
            <a:pPr>
              <a:buFontTx/>
              <a:buNone/>
            </a:pPr>
            <a:endParaRPr lang="en-US" dirty="0">
              <a:latin typeface="Arial" charset="0"/>
            </a:endParaRPr>
          </a:p>
          <a:p>
            <a:pPr>
              <a:buFontTx/>
              <a:buNone/>
            </a:pPr>
            <a:endParaRPr lang="en-US" dirty="0">
              <a:latin typeface="Arial" charset="0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Arial" charset="0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Arial" charset="0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</a:rPr>
              <a:t>Design scales extremely well</a:t>
            </a:r>
          </a:p>
        </p:txBody>
      </p:sp>
      <p:grpSp>
        <p:nvGrpSpPr>
          <p:cNvPr id="12292" name="Group 142"/>
          <p:cNvGrpSpPr>
            <a:grpSpLocks/>
          </p:cNvGrpSpPr>
          <p:nvPr/>
        </p:nvGrpSpPr>
        <p:grpSpPr bwMode="auto">
          <a:xfrm>
            <a:off x="2851415" y="2753691"/>
            <a:ext cx="4893794" cy="2106403"/>
            <a:chOff x="1455" y="905"/>
            <a:chExt cx="2777" cy="1175"/>
          </a:xfrm>
        </p:grpSpPr>
        <p:sp>
          <p:nvSpPr>
            <p:cNvPr id="12293" name="Line 143"/>
            <p:cNvSpPr>
              <a:spLocks noChangeShapeType="1"/>
            </p:cNvSpPr>
            <p:nvPr/>
          </p:nvSpPr>
          <p:spPr bwMode="auto">
            <a:xfrm flipH="1">
              <a:off x="3540" y="1726"/>
              <a:ext cx="167" cy="150"/>
            </a:xfrm>
            <a:prstGeom prst="line">
              <a:avLst/>
            </a:prstGeom>
            <a:noFill/>
            <a:ln w="28575">
              <a:solidFill>
                <a:srgbClr val="01020B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94" name="Text Box 144"/>
            <p:cNvSpPr txBox="1">
              <a:spLocks noChangeArrowheads="1"/>
            </p:cNvSpPr>
            <p:nvPr/>
          </p:nvSpPr>
          <p:spPr bwMode="auto">
            <a:xfrm>
              <a:off x="3166" y="1200"/>
              <a:ext cx="3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rgbClr val="01020B"/>
                  </a:solidFill>
                </a:rPr>
                <a:t>…</a:t>
              </a:r>
            </a:p>
          </p:txBody>
        </p:sp>
        <p:grpSp>
          <p:nvGrpSpPr>
            <p:cNvPr id="12295" name="Group 145"/>
            <p:cNvGrpSpPr>
              <a:grpSpLocks/>
            </p:cNvGrpSpPr>
            <p:nvPr/>
          </p:nvGrpSpPr>
          <p:grpSpPr bwMode="auto">
            <a:xfrm>
              <a:off x="1455" y="905"/>
              <a:ext cx="2777" cy="912"/>
              <a:chOff x="1455" y="905"/>
              <a:chExt cx="2777" cy="912"/>
            </a:xfrm>
          </p:grpSpPr>
          <p:grpSp>
            <p:nvGrpSpPr>
              <p:cNvPr id="12300" name="Group 146"/>
              <p:cNvGrpSpPr>
                <a:grpSpLocks/>
              </p:cNvGrpSpPr>
              <p:nvPr/>
            </p:nvGrpSpPr>
            <p:grpSpPr bwMode="auto">
              <a:xfrm>
                <a:off x="3412" y="905"/>
                <a:ext cx="820" cy="835"/>
                <a:chOff x="3412" y="905"/>
                <a:chExt cx="820" cy="835"/>
              </a:xfrm>
            </p:grpSpPr>
            <p:grpSp>
              <p:nvGrpSpPr>
                <p:cNvPr id="12362" name="Group 147"/>
                <p:cNvGrpSpPr>
                  <a:grpSpLocks/>
                </p:cNvGrpSpPr>
                <p:nvPr/>
              </p:nvGrpSpPr>
              <p:grpSpPr bwMode="auto">
                <a:xfrm>
                  <a:off x="3412" y="905"/>
                  <a:ext cx="605" cy="821"/>
                  <a:chOff x="1514" y="650"/>
                  <a:chExt cx="605" cy="821"/>
                </a:xfrm>
              </p:grpSpPr>
              <p:sp>
                <p:nvSpPr>
                  <p:cNvPr id="12382" name="Text Box 1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14" y="650"/>
                    <a:ext cx="605" cy="19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400">
                        <a:solidFill>
                          <a:srgbClr val="142CFD"/>
                        </a:solidFill>
                      </a:rPr>
                      <a:t>Node K</a:t>
                    </a:r>
                    <a:endParaRPr lang="en-US"/>
                  </a:p>
                </p:txBody>
              </p:sp>
              <p:sp>
                <p:nvSpPr>
                  <p:cNvPr id="12383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1581" y="835"/>
                    <a:ext cx="470" cy="636"/>
                  </a:xfrm>
                  <a:prstGeom prst="rect">
                    <a:avLst/>
                  </a:prstGeom>
                  <a:solidFill>
                    <a:schemeClr val="folHlink">
                      <a:alpha val="98822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84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1643" y="1249"/>
                    <a:ext cx="350" cy="175"/>
                  </a:xfrm>
                  <a:prstGeom prst="rect">
                    <a:avLst/>
                  </a:prstGeom>
                  <a:solidFill>
                    <a:srgbClr val="D49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2075" tIns="46038" rIns="92075" bIns="46038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>
                        <a:solidFill>
                          <a:srgbClr val="000000"/>
                        </a:solidFill>
                      </a:rPr>
                      <a:t>MEM</a:t>
                    </a:r>
                  </a:p>
                </p:txBody>
              </p:sp>
              <p:sp>
                <p:nvSpPr>
                  <p:cNvPr id="12385" name="Line 151"/>
                  <p:cNvSpPr>
                    <a:spLocks noChangeShapeType="1"/>
                  </p:cNvSpPr>
                  <p:nvPr/>
                </p:nvSpPr>
                <p:spPr bwMode="auto">
                  <a:xfrm>
                    <a:off x="1816" y="1180"/>
                    <a:ext cx="0" cy="6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2386" name="Group 152"/>
                  <p:cNvGrpSpPr>
                    <a:grpSpLocks/>
                  </p:cNvGrpSpPr>
                  <p:nvPr/>
                </p:nvGrpSpPr>
                <p:grpSpPr bwMode="auto">
                  <a:xfrm>
                    <a:off x="1606" y="886"/>
                    <a:ext cx="421" cy="313"/>
                    <a:chOff x="753" y="1584"/>
                    <a:chExt cx="421" cy="313"/>
                  </a:xfrm>
                </p:grpSpPr>
                <p:sp>
                  <p:nvSpPr>
                    <p:cNvPr id="12387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1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88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2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89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74" y="1585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90" name="Rectangle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53" y="1644"/>
                      <a:ext cx="349" cy="19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92075" tIns="46038" rIns="92075" bIns="46038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latin typeface="New York" charset="0"/>
                        </a:rPr>
                        <a:t>CPU</a:t>
                      </a:r>
                    </a:p>
                  </p:txBody>
                </p:sp>
              </p:grpSp>
            </p:grpSp>
            <p:grpSp>
              <p:nvGrpSpPr>
                <p:cNvPr id="12363" name="Group 157"/>
                <p:cNvGrpSpPr>
                  <a:grpSpLocks/>
                </p:cNvGrpSpPr>
                <p:nvPr/>
              </p:nvGrpSpPr>
              <p:grpSpPr bwMode="auto">
                <a:xfrm>
                  <a:off x="3946" y="1055"/>
                  <a:ext cx="286" cy="685"/>
                  <a:chOff x="4794" y="1376"/>
                  <a:chExt cx="286" cy="1431"/>
                </a:xfrm>
              </p:grpSpPr>
              <p:grpSp>
                <p:nvGrpSpPr>
                  <p:cNvPr id="12364" name="Group 158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1376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80" name="Line 159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81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65" name="Group 161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1613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78" name="Line 162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79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66" name="Group 164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1850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76" name="Line 165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77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67" name="Group 167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2097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74" name="Line 168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75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68" name="Group 170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2340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72" name="Line 171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73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69" name="Group 173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2587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70" name="Line 174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71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</p:grpSp>
          </p:grpSp>
          <p:grpSp>
            <p:nvGrpSpPr>
              <p:cNvPr id="12301" name="Group 176"/>
              <p:cNvGrpSpPr>
                <a:grpSpLocks/>
              </p:cNvGrpSpPr>
              <p:nvPr/>
            </p:nvGrpSpPr>
            <p:grpSpPr bwMode="auto">
              <a:xfrm>
                <a:off x="2331" y="905"/>
                <a:ext cx="824" cy="912"/>
                <a:chOff x="2331" y="905"/>
                <a:chExt cx="824" cy="912"/>
              </a:xfrm>
            </p:grpSpPr>
            <p:sp>
              <p:nvSpPr>
                <p:cNvPr id="12332" name="Line 177"/>
                <p:cNvSpPr>
                  <a:spLocks noChangeShapeType="1"/>
                </p:cNvSpPr>
                <p:nvPr/>
              </p:nvSpPr>
              <p:spPr bwMode="auto">
                <a:xfrm>
                  <a:off x="2614" y="1721"/>
                  <a:ext cx="73" cy="96"/>
                </a:xfrm>
                <a:prstGeom prst="line">
                  <a:avLst/>
                </a:prstGeom>
                <a:noFill/>
                <a:ln w="28575">
                  <a:solidFill>
                    <a:srgbClr val="01020B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2333" name="Group 178"/>
                <p:cNvGrpSpPr>
                  <a:grpSpLocks/>
                </p:cNvGrpSpPr>
                <p:nvPr/>
              </p:nvGrpSpPr>
              <p:grpSpPr bwMode="auto">
                <a:xfrm>
                  <a:off x="2331" y="905"/>
                  <a:ext cx="605" cy="821"/>
                  <a:chOff x="1514" y="650"/>
                  <a:chExt cx="605" cy="821"/>
                </a:xfrm>
              </p:grpSpPr>
              <p:sp>
                <p:nvSpPr>
                  <p:cNvPr id="12353" name="Text Box 1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14" y="650"/>
                    <a:ext cx="605" cy="19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400">
                        <a:solidFill>
                          <a:srgbClr val="142CFD"/>
                        </a:solidFill>
                      </a:rPr>
                      <a:t>Node 2</a:t>
                    </a:r>
                    <a:endParaRPr lang="en-US"/>
                  </a:p>
                </p:txBody>
              </p:sp>
              <p:sp>
                <p:nvSpPr>
                  <p:cNvPr id="12354" name="Rectangle 180"/>
                  <p:cNvSpPr>
                    <a:spLocks noChangeArrowheads="1"/>
                  </p:cNvSpPr>
                  <p:nvPr/>
                </p:nvSpPr>
                <p:spPr bwMode="auto">
                  <a:xfrm>
                    <a:off x="1581" y="835"/>
                    <a:ext cx="470" cy="636"/>
                  </a:xfrm>
                  <a:prstGeom prst="rect">
                    <a:avLst/>
                  </a:prstGeom>
                  <a:solidFill>
                    <a:schemeClr val="folHlink">
                      <a:alpha val="98822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55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1643" y="1249"/>
                    <a:ext cx="350" cy="175"/>
                  </a:xfrm>
                  <a:prstGeom prst="rect">
                    <a:avLst/>
                  </a:prstGeom>
                  <a:solidFill>
                    <a:srgbClr val="D49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2075" tIns="46038" rIns="92075" bIns="46038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>
                        <a:solidFill>
                          <a:srgbClr val="000000"/>
                        </a:solidFill>
                      </a:rPr>
                      <a:t>MEM</a:t>
                    </a:r>
                  </a:p>
                </p:txBody>
              </p:sp>
              <p:sp>
                <p:nvSpPr>
                  <p:cNvPr id="12356" name="Line 182"/>
                  <p:cNvSpPr>
                    <a:spLocks noChangeShapeType="1"/>
                  </p:cNvSpPr>
                  <p:nvPr/>
                </p:nvSpPr>
                <p:spPr bwMode="auto">
                  <a:xfrm>
                    <a:off x="1816" y="1180"/>
                    <a:ext cx="0" cy="6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2357" name="Group 183"/>
                  <p:cNvGrpSpPr>
                    <a:grpSpLocks/>
                  </p:cNvGrpSpPr>
                  <p:nvPr/>
                </p:nvGrpSpPr>
                <p:grpSpPr bwMode="auto">
                  <a:xfrm>
                    <a:off x="1606" y="886"/>
                    <a:ext cx="421" cy="313"/>
                    <a:chOff x="753" y="1584"/>
                    <a:chExt cx="421" cy="313"/>
                  </a:xfrm>
                </p:grpSpPr>
                <p:sp>
                  <p:nvSpPr>
                    <p:cNvPr id="12358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1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59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2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60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74" y="1585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61" name="Rectangle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53" y="1644"/>
                      <a:ext cx="349" cy="19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92075" tIns="46038" rIns="92075" bIns="46038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latin typeface="New York" charset="0"/>
                        </a:rPr>
                        <a:t>CPU</a:t>
                      </a:r>
                    </a:p>
                  </p:txBody>
                </p:sp>
              </p:grpSp>
            </p:grpSp>
            <p:grpSp>
              <p:nvGrpSpPr>
                <p:cNvPr id="12334" name="Group 188"/>
                <p:cNvGrpSpPr>
                  <a:grpSpLocks/>
                </p:cNvGrpSpPr>
                <p:nvPr/>
              </p:nvGrpSpPr>
              <p:grpSpPr bwMode="auto">
                <a:xfrm>
                  <a:off x="2869" y="1066"/>
                  <a:ext cx="286" cy="685"/>
                  <a:chOff x="4794" y="1376"/>
                  <a:chExt cx="286" cy="1431"/>
                </a:xfrm>
              </p:grpSpPr>
              <p:grpSp>
                <p:nvGrpSpPr>
                  <p:cNvPr id="12335" name="Group 189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1376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51" name="Line 190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52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36" name="Group 192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1613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49" name="Line 193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50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37" name="Group 195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1850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47" name="Line 196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48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38" name="Group 198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2097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45" name="Line 199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46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39" name="Group 201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2340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43" name="Line 202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44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40" name="Group 204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2587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41" name="Line 205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42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</p:grpSp>
          </p:grpSp>
          <p:grpSp>
            <p:nvGrpSpPr>
              <p:cNvPr id="12302" name="Group 207"/>
              <p:cNvGrpSpPr>
                <a:grpSpLocks/>
              </p:cNvGrpSpPr>
              <p:nvPr/>
            </p:nvGrpSpPr>
            <p:grpSpPr bwMode="auto">
              <a:xfrm>
                <a:off x="1455" y="905"/>
                <a:ext cx="819" cy="851"/>
                <a:chOff x="1455" y="905"/>
                <a:chExt cx="819" cy="851"/>
              </a:xfrm>
            </p:grpSpPr>
            <p:grpSp>
              <p:nvGrpSpPr>
                <p:cNvPr id="12303" name="Group 208"/>
                <p:cNvGrpSpPr>
                  <a:grpSpLocks/>
                </p:cNvGrpSpPr>
                <p:nvPr/>
              </p:nvGrpSpPr>
              <p:grpSpPr bwMode="auto">
                <a:xfrm>
                  <a:off x="1669" y="905"/>
                  <a:ext cx="605" cy="821"/>
                  <a:chOff x="1514" y="650"/>
                  <a:chExt cx="605" cy="821"/>
                </a:xfrm>
              </p:grpSpPr>
              <p:sp>
                <p:nvSpPr>
                  <p:cNvPr id="12323" name="Text Box 2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14" y="650"/>
                    <a:ext cx="605" cy="19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lang="en-US" sz="1400" dirty="0">
                        <a:solidFill>
                          <a:srgbClr val="142CFD"/>
                        </a:solidFill>
                      </a:rPr>
                      <a:t>Node 1</a:t>
                    </a:r>
                    <a:endParaRPr lang="en-US" dirty="0"/>
                  </a:p>
                </p:txBody>
              </p:sp>
              <p:sp>
                <p:nvSpPr>
                  <p:cNvPr id="12324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1581" y="835"/>
                    <a:ext cx="470" cy="636"/>
                  </a:xfrm>
                  <a:prstGeom prst="rect">
                    <a:avLst/>
                  </a:prstGeom>
                  <a:solidFill>
                    <a:schemeClr val="folHlink">
                      <a:alpha val="98822"/>
                    </a:schemeClr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25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1643" y="1249"/>
                    <a:ext cx="350" cy="175"/>
                  </a:xfrm>
                  <a:prstGeom prst="rect">
                    <a:avLst/>
                  </a:prstGeom>
                  <a:solidFill>
                    <a:srgbClr val="D49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2075" tIns="46038" rIns="92075" bIns="46038">
                    <a:prstTxWarp prst="textNoShape">
                      <a:avLst/>
                    </a:prstTxWarp>
                    <a:spAutoFit/>
                  </a:bodyPr>
                  <a:lstStyle/>
                  <a:p>
                    <a:r>
                      <a:rPr lang="en-US" sz="1200">
                        <a:solidFill>
                          <a:srgbClr val="000000"/>
                        </a:solidFill>
                      </a:rPr>
                      <a:t>MEM</a:t>
                    </a:r>
                  </a:p>
                </p:txBody>
              </p:sp>
              <p:sp>
                <p:nvSpPr>
                  <p:cNvPr id="12326" name="Line 212"/>
                  <p:cNvSpPr>
                    <a:spLocks noChangeShapeType="1"/>
                  </p:cNvSpPr>
                  <p:nvPr/>
                </p:nvSpPr>
                <p:spPr bwMode="auto">
                  <a:xfrm>
                    <a:off x="1816" y="1180"/>
                    <a:ext cx="0" cy="6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2327" name="Group 213"/>
                  <p:cNvGrpSpPr>
                    <a:grpSpLocks/>
                  </p:cNvGrpSpPr>
                  <p:nvPr/>
                </p:nvGrpSpPr>
                <p:grpSpPr bwMode="auto">
                  <a:xfrm>
                    <a:off x="1606" y="886"/>
                    <a:ext cx="421" cy="313"/>
                    <a:chOff x="753" y="1584"/>
                    <a:chExt cx="421" cy="313"/>
                  </a:xfrm>
                </p:grpSpPr>
                <p:sp>
                  <p:nvSpPr>
                    <p:cNvPr id="12328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1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9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2" y="1584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30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74" y="1585"/>
                      <a:ext cx="313" cy="312"/>
                    </a:xfrm>
                    <a:prstGeom prst="ellipse">
                      <a:avLst/>
                    </a:prstGeom>
                    <a:solidFill>
                      <a:srgbClr val="A2C1FE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31" name="Rectangle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53" y="1644"/>
                      <a:ext cx="349" cy="19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92075" tIns="46038" rIns="92075" bIns="46038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r>
                        <a:rPr lang="en-US" sz="1400">
                          <a:solidFill>
                            <a:srgbClr val="000000"/>
                          </a:solidFill>
                          <a:latin typeface="New York" charset="0"/>
                        </a:rPr>
                        <a:t>CPU</a:t>
                      </a:r>
                    </a:p>
                  </p:txBody>
                </p:sp>
              </p:grpSp>
            </p:grpSp>
            <p:grpSp>
              <p:nvGrpSpPr>
                <p:cNvPr id="12304" name="Group 218"/>
                <p:cNvGrpSpPr>
                  <a:grpSpLocks/>
                </p:cNvGrpSpPr>
                <p:nvPr/>
              </p:nvGrpSpPr>
              <p:grpSpPr bwMode="auto">
                <a:xfrm flipH="1">
                  <a:off x="1455" y="1071"/>
                  <a:ext cx="286" cy="685"/>
                  <a:chOff x="4794" y="1376"/>
                  <a:chExt cx="286" cy="1431"/>
                </a:xfrm>
              </p:grpSpPr>
              <p:grpSp>
                <p:nvGrpSpPr>
                  <p:cNvPr id="12305" name="Group 219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1376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21" name="Line 220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2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06" name="Group 222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1613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19" name="Line 223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20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07" name="Group 225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1850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17" name="Line 226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18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08" name="Group 228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2097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15" name="Line 229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16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09" name="Group 231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2340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13" name="Line 232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14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  <p:grpSp>
                <p:nvGrpSpPr>
                  <p:cNvPr id="12310" name="Group 234"/>
                  <p:cNvGrpSpPr>
                    <a:grpSpLocks/>
                  </p:cNvGrpSpPr>
                  <p:nvPr/>
                </p:nvGrpSpPr>
                <p:grpSpPr bwMode="auto">
                  <a:xfrm flipH="1">
                    <a:off x="4794" y="2587"/>
                    <a:ext cx="286" cy="220"/>
                    <a:chOff x="3732" y="3078"/>
                    <a:chExt cx="286" cy="178"/>
                  </a:xfrm>
                </p:grpSpPr>
                <p:sp>
                  <p:nvSpPr>
                    <p:cNvPr id="12311" name="Line 235"/>
                    <p:cNvSpPr>
                      <a:spLocks noChangeShapeType="1"/>
                    </p:cNvSpPr>
                    <p:nvPr/>
                  </p:nvSpPr>
                  <p:spPr bwMode="auto">
                    <a:xfrm rot="5400000" flipV="1">
                      <a:off x="3964" y="3102"/>
                      <a:ext cx="0" cy="108"/>
                    </a:xfrm>
                    <a:prstGeom prst="line">
                      <a:avLst/>
                    </a:prstGeom>
                    <a:noFill/>
                    <a:ln w="22225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12" name="AutoShap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2" y="3078"/>
                      <a:ext cx="210" cy="178"/>
                    </a:xfrm>
                    <a:prstGeom prst="can">
                      <a:avLst>
                        <a:gd name="adj" fmla="val 25000"/>
                      </a:avLst>
                    </a:prstGeom>
                    <a:solidFill>
                      <a:srgbClr val="E9FF51"/>
                    </a:solidFill>
                    <a:ln w="19050">
                      <a:solidFill>
                        <a:srgbClr val="01020B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endParaRPr lang="en-US" sz="1800" b="0">
                        <a:latin typeface="Arial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12296" name="Line 237"/>
            <p:cNvSpPr>
              <a:spLocks noChangeShapeType="1"/>
            </p:cNvSpPr>
            <p:nvPr/>
          </p:nvSpPr>
          <p:spPr bwMode="auto">
            <a:xfrm>
              <a:off x="1979" y="1723"/>
              <a:ext cx="112" cy="96"/>
            </a:xfrm>
            <a:prstGeom prst="line">
              <a:avLst/>
            </a:prstGeom>
            <a:noFill/>
            <a:ln w="22225">
              <a:solidFill>
                <a:srgbClr val="01020B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2297" name="Group 238"/>
            <p:cNvGrpSpPr>
              <a:grpSpLocks/>
            </p:cNvGrpSpPr>
            <p:nvPr/>
          </p:nvGrpSpPr>
          <p:grpSpPr bwMode="auto">
            <a:xfrm>
              <a:off x="1690" y="1795"/>
              <a:ext cx="2442" cy="285"/>
              <a:chOff x="1818" y="2227"/>
              <a:chExt cx="2442" cy="285"/>
            </a:xfrm>
          </p:grpSpPr>
          <p:sp>
            <p:nvSpPr>
              <p:cNvPr id="12298" name="Freeform 45"/>
              <p:cNvSpPr>
                <a:spLocks/>
              </p:cNvSpPr>
              <p:nvPr/>
            </p:nvSpPr>
            <p:spPr bwMode="auto">
              <a:xfrm>
                <a:off x="1818" y="2227"/>
                <a:ext cx="2442" cy="285"/>
              </a:xfrm>
              <a:custGeom>
                <a:avLst/>
                <a:gdLst>
                  <a:gd name="T0" fmla="*/ 194 w 2191"/>
                  <a:gd name="T1" fmla="*/ 56 h 265"/>
                  <a:gd name="T2" fmla="*/ 296 w 2191"/>
                  <a:gd name="T3" fmla="*/ 40 h 265"/>
                  <a:gd name="T4" fmla="*/ 389 w 2191"/>
                  <a:gd name="T5" fmla="*/ 32 h 265"/>
                  <a:gd name="T6" fmla="*/ 416 w 2191"/>
                  <a:gd name="T7" fmla="*/ 24 h 265"/>
                  <a:gd name="T8" fmla="*/ 473 w 2191"/>
                  <a:gd name="T9" fmla="*/ 16 h 265"/>
                  <a:gd name="T10" fmla="*/ 639 w 2191"/>
                  <a:gd name="T11" fmla="*/ 16 h 265"/>
                  <a:gd name="T12" fmla="*/ 814 w 2191"/>
                  <a:gd name="T13" fmla="*/ 6 h 265"/>
                  <a:gd name="T14" fmla="*/ 1083 w 2191"/>
                  <a:gd name="T15" fmla="*/ 0 h 265"/>
                  <a:gd name="T16" fmla="*/ 1213 w 2191"/>
                  <a:gd name="T17" fmla="*/ 6 h 265"/>
                  <a:gd name="T18" fmla="*/ 1315 w 2191"/>
                  <a:gd name="T19" fmla="*/ 24 h 265"/>
                  <a:gd name="T20" fmla="*/ 1362 w 2191"/>
                  <a:gd name="T21" fmla="*/ 32 h 265"/>
                  <a:gd name="T22" fmla="*/ 1443 w 2191"/>
                  <a:gd name="T23" fmla="*/ 32 h 265"/>
                  <a:gd name="T24" fmla="*/ 1694 w 2191"/>
                  <a:gd name="T25" fmla="*/ 32 h 265"/>
                  <a:gd name="T26" fmla="*/ 1935 w 2191"/>
                  <a:gd name="T27" fmla="*/ 32 h 265"/>
                  <a:gd name="T28" fmla="*/ 2037 w 2191"/>
                  <a:gd name="T29" fmla="*/ 40 h 265"/>
                  <a:gd name="T30" fmla="*/ 2092 w 2191"/>
                  <a:gd name="T31" fmla="*/ 40 h 265"/>
                  <a:gd name="T32" fmla="*/ 2167 w 2191"/>
                  <a:gd name="T33" fmla="*/ 48 h 265"/>
                  <a:gd name="T34" fmla="*/ 2268 w 2191"/>
                  <a:gd name="T35" fmla="*/ 48 h 265"/>
                  <a:gd name="T36" fmla="*/ 2426 w 2191"/>
                  <a:gd name="T37" fmla="*/ 65 h 265"/>
                  <a:gd name="T38" fmla="*/ 2712 w 2191"/>
                  <a:gd name="T39" fmla="*/ 104 h 265"/>
                  <a:gd name="T40" fmla="*/ 2962 w 2191"/>
                  <a:gd name="T41" fmla="*/ 112 h 265"/>
                  <a:gd name="T42" fmla="*/ 3203 w 2191"/>
                  <a:gd name="T43" fmla="*/ 120 h 265"/>
                  <a:gd name="T44" fmla="*/ 3297 w 2191"/>
                  <a:gd name="T45" fmla="*/ 128 h 265"/>
                  <a:gd name="T46" fmla="*/ 3343 w 2191"/>
                  <a:gd name="T47" fmla="*/ 160 h 265"/>
                  <a:gd name="T48" fmla="*/ 3380 w 2191"/>
                  <a:gd name="T49" fmla="*/ 216 h 265"/>
                  <a:gd name="T50" fmla="*/ 3380 w 2191"/>
                  <a:gd name="T51" fmla="*/ 232 h 265"/>
                  <a:gd name="T52" fmla="*/ 3325 w 2191"/>
                  <a:gd name="T53" fmla="*/ 248 h 265"/>
                  <a:gd name="T54" fmla="*/ 3231 w 2191"/>
                  <a:gd name="T55" fmla="*/ 265 h 265"/>
                  <a:gd name="T56" fmla="*/ 3149 w 2191"/>
                  <a:gd name="T57" fmla="*/ 297 h 265"/>
                  <a:gd name="T58" fmla="*/ 2981 w 2191"/>
                  <a:gd name="T59" fmla="*/ 353 h 265"/>
                  <a:gd name="T60" fmla="*/ 2777 w 2191"/>
                  <a:gd name="T61" fmla="*/ 353 h 265"/>
                  <a:gd name="T62" fmla="*/ 2657 w 2191"/>
                  <a:gd name="T63" fmla="*/ 344 h 265"/>
                  <a:gd name="T64" fmla="*/ 2491 w 2191"/>
                  <a:gd name="T65" fmla="*/ 344 h 265"/>
                  <a:gd name="T66" fmla="*/ 2389 w 2191"/>
                  <a:gd name="T67" fmla="*/ 344 h 265"/>
                  <a:gd name="T68" fmla="*/ 2353 w 2191"/>
                  <a:gd name="T69" fmla="*/ 344 h 265"/>
                  <a:gd name="T70" fmla="*/ 2316 w 2191"/>
                  <a:gd name="T71" fmla="*/ 353 h 265"/>
                  <a:gd name="T72" fmla="*/ 2186 w 2191"/>
                  <a:gd name="T73" fmla="*/ 353 h 265"/>
                  <a:gd name="T74" fmla="*/ 2008 w 2191"/>
                  <a:gd name="T75" fmla="*/ 344 h 265"/>
                  <a:gd name="T76" fmla="*/ 1935 w 2191"/>
                  <a:gd name="T77" fmla="*/ 330 h 265"/>
                  <a:gd name="T78" fmla="*/ 1768 w 2191"/>
                  <a:gd name="T79" fmla="*/ 313 h 265"/>
                  <a:gd name="T80" fmla="*/ 1619 w 2191"/>
                  <a:gd name="T81" fmla="*/ 313 h 265"/>
                  <a:gd name="T82" fmla="*/ 1453 w 2191"/>
                  <a:gd name="T83" fmla="*/ 313 h 265"/>
                  <a:gd name="T84" fmla="*/ 1204 w 2191"/>
                  <a:gd name="T85" fmla="*/ 313 h 265"/>
                  <a:gd name="T86" fmla="*/ 850 w 2191"/>
                  <a:gd name="T87" fmla="*/ 313 h 265"/>
                  <a:gd name="T88" fmla="*/ 583 w 2191"/>
                  <a:gd name="T89" fmla="*/ 313 h 265"/>
                  <a:gd name="T90" fmla="*/ 361 w 2191"/>
                  <a:gd name="T91" fmla="*/ 304 h 265"/>
                  <a:gd name="T92" fmla="*/ 204 w 2191"/>
                  <a:gd name="T93" fmla="*/ 330 h 265"/>
                  <a:gd name="T94" fmla="*/ 158 w 2191"/>
                  <a:gd name="T95" fmla="*/ 337 h 265"/>
                  <a:gd name="T96" fmla="*/ 94 w 2191"/>
                  <a:gd name="T97" fmla="*/ 304 h 265"/>
                  <a:gd name="T98" fmla="*/ 46 w 2191"/>
                  <a:gd name="T99" fmla="*/ 248 h 265"/>
                  <a:gd name="T100" fmla="*/ 0 w 2191"/>
                  <a:gd name="T101" fmla="*/ 160 h 265"/>
                  <a:gd name="T102" fmla="*/ 65 w 2191"/>
                  <a:gd name="T103" fmla="*/ 112 h 265"/>
                  <a:gd name="T104" fmla="*/ 84 w 2191"/>
                  <a:gd name="T105" fmla="*/ 120 h 265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2191"/>
                  <a:gd name="T160" fmla="*/ 0 h 265"/>
                  <a:gd name="T161" fmla="*/ 2191 w 2191"/>
                  <a:gd name="T162" fmla="*/ 265 h 265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2191" h="265">
                    <a:moveTo>
                      <a:pt x="54" y="66"/>
                    </a:moveTo>
                    <a:lnTo>
                      <a:pt x="126" y="42"/>
                    </a:lnTo>
                    <a:lnTo>
                      <a:pt x="168" y="36"/>
                    </a:lnTo>
                    <a:lnTo>
                      <a:pt x="192" y="30"/>
                    </a:lnTo>
                    <a:lnTo>
                      <a:pt x="216" y="30"/>
                    </a:lnTo>
                    <a:lnTo>
                      <a:pt x="252" y="24"/>
                    </a:lnTo>
                    <a:lnTo>
                      <a:pt x="258" y="18"/>
                    </a:lnTo>
                    <a:lnTo>
                      <a:pt x="270" y="18"/>
                    </a:lnTo>
                    <a:lnTo>
                      <a:pt x="282" y="12"/>
                    </a:lnTo>
                    <a:lnTo>
                      <a:pt x="306" y="12"/>
                    </a:lnTo>
                    <a:lnTo>
                      <a:pt x="354" y="12"/>
                    </a:lnTo>
                    <a:lnTo>
                      <a:pt x="414" y="12"/>
                    </a:lnTo>
                    <a:lnTo>
                      <a:pt x="474" y="6"/>
                    </a:lnTo>
                    <a:lnTo>
                      <a:pt x="528" y="6"/>
                    </a:lnTo>
                    <a:lnTo>
                      <a:pt x="606" y="6"/>
                    </a:lnTo>
                    <a:lnTo>
                      <a:pt x="702" y="0"/>
                    </a:lnTo>
                    <a:lnTo>
                      <a:pt x="762" y="6"/>
                    </a:lnTo>
                    <a:lnTo>
                      <a:pt x="786" y="6"/>
                    </a:lnTo>
                    <a:lnTo>
                      <a:pt x="816" y="12"/>
                    </a:lnTo>
                    <a:lnTo>
                      <a:pt x="852" y="18"/>
                    </a:lnTo>
                    <a:lnTo>
                      <a:pt x="864" y="18"/>
                    </a:lnTo>
                    <a:lnTo>
                      <a:pt x="882" y="24"/>
                    </a:lnTo>
                    <a:lnTo>
                      <a:pt x="894" y="24"/>
                    </a:lnTo>
                    <a:lnTo>
                      <a:pt x="936" y="24"/>
                    </a:lnTo>
                    <a:lnTo>
                      <a:pt x="1002" y="24"/>
                    </a:lnTo>
                    <a:lnTo>
                      <a:pt x="1098" y="24"/>
                    </a:lnTo>
                    <a:lnTo>
                      <a:pt x="1188" y="24"/>
                    </a:lnTo>
                    <a:lnTo>
                      <a:pt x="1254" y="24"/>
                    </a:lnTo>
                    <a:lnTo>
                      <a:pt x="1296" y="24"/>
                    </a:lnTo>
                    <a:lnTo>
                      <a:pt x="1320" y="30"/>
                    </a:lnTo>
                    <a:lnTo>
                      <a:pt x="1338" y="30"/>
                    </a:lnTo>
                    <a:lnTo>
                      <a:pt x="1356" y="30"/>
                    </a:lnTo>
                    <a:lnTo>
                      <a:pt x="1368" y="30"/>
                    </a:lnTo>
                    <a:lnTo>
                      <a:pt x="1404" y="36"/>
                    </a:lnTo>
                    <a:lnTo>
                      <a:pt x="1434" y="36"/>
                    </a:lnTo>
                    <a:lnTo>
                      <a:pt x="1470" y="36"/>
                    </a:lnTo>
                    <a:lnTo>
                      <a:pt x="1506" y="30"/>
                    </a:lnTo>
                    <a:lnTo>
                      <a:pt x="1572" y="48"/>
                    </a:lnTo>
                    <a:lnTo>
                      <a:pt x="1698" y="72"/>
                    </a:lnTo>
                    <a:lnTo>
                      <a:pt x="1758" y="78"/>
                    </a:lnTo>
                    <a:lnTo>
                      <a:pt x="1836" y="84"/>
                    </a:lnTo>
                    <a:lnTo>
                      <a:pt x="1920" y="84"/>
                    </a:lnTo>
                    <a:lnTo>
                      <a:pt x="2028" y="90"/>
                    </a:lnTo>
                    <a:lnTo>
                      <a:pt x="2076" y="90"/>
                    </a:lnTo>
                    <a:lnTo>
                      <a:pt x="2112" y="90"/>
                    </a:lnTo>
                    <a:lnTo>
                      <a:pt x="2136" y="96"/>
                    </a:lnTo>
                    <a:lnTo>
                      <a:pt x="2154" y="108"/>
                    </a:lnTo>
                    <a:lnTo>
                      <a:pt x="2166" y="120"/>
                    </a:lnTo>
                    <a:lnTo>
                      <a:pt x="2178" y="138"/>
                    </a:lnTo>
                    <a:lnTo>
                      <a:pt x="2190" y="162"/>
                    </a:lnTo>
                    <a:lnTo>
                      <a:pt x="2190" y="168"/>
                    </a:lnTo>
                    <a:lnTo>
                      <a:pt x="2190" y="174"/>
                    </a:lnTo>
                    <a:lnTo>
                      <a:pt x="2172" y="186"/>
                    </a:lnTo>
                    <a:lnTo>
                      <a:pt x="2154" y="186"/>
                    </a:lnTo>
                    <a:lnTo>
                      <a:pt x="2136" y="186"/>
                    </a:lnTo>
                    <a:lnTo>
                      <a:pt x="2094" y="198"/>
                    </a:lnTo>
                    <a:lnTo>
                      <a:pt x="2064" y="210"/>
                    </a:lnTo>
                    <a:lnTo>
                      <a:pt x="2040" y="222"/>
                    </a:lnTo>
                    <a:lnTo>
                      <a:pt x="1980" y="246"/>
                    </a:lnTo>
                    <a:lnTo>
                      <a:pt x="1932" y="264"/>
                    </a:lnTo>
                    <a:lnTo>
                      <a:pt x="1872" y="264"/>
                    </a:lnTo>
                    <a:lnTo>
                      <a:pt x="1800" y="264"/>
                    </a:lnTo>
                    <a:lnTo>
                      <a:pt x="1758" y="258"/>
                    </a:lnTo>
                    <a:lnTo>
                      <a:pt x="1722" y="258"/>
                    </a:lnTo>
                    <a:lnTo>
                      <a:pt x="1650" y="258"/>
                    </a:lnTo>
                    <a:lnTo>
                      <a:pt x="1614" y="258"/>
                    </a:lnTo>
                    <a:lnTo>
                      <a:pt x="1578" y="258"/>
                    </a:lnTo>
                    <a:lnTo>
                      <a:pt x="1548" y="258"/>
                    </a:lnTo>
                    <a:lnTo>
                      <a:pt x="1536" y="258"/>
                    </a:lnTo>
                    <a:lnTo>
                      <a:pt x="1524" y="258"/>
                    </a:lnTo>
                    <a:lnTo>
                      <a:pt x="1518" y="264"/>
                    </a:lnTo>
                    <a:lnTo>
                      <a:pt x="1500" y="264"/>
                    </a:lnTo>
                    <a:lnTo>
                      <a:pt x="1464" y="264"/>
                    </a:lnTo>
                    <a:lnTo>
                      <a:pt x="1416" y="264"/>
                    </a:lnTo>
                    <a:lnTo>
                      <a:pt x="1374" y="264"/>
                    </a:lnTo>
                    <a:lnTo>
                      <a:pt x="1302" y="258"/>
                    </a:lnTo>
                    <a:lnTo>
                      <a:pt x="1278" y="252"/>
                    </a:lnTo>
                    <a:lnTo>
                      <a:pt x="1254" y="246"/>
                    </a:lnTo>
                    <a:lnTo>
                      <a:pt x="1188" y="234"/>
                    </a:lnTo>
                    <a:lnTo>
                      <a:pt x="1146" y="234"/>
                    </a:lnTo>
                    <a:lnTo>
                      <a:pt x="1104" y="234"/>
                    </a:lnTo>
                    <a:lnTo>
                      <a:pt x="1050" y="234"/>
                    </a:lnTo>
                    <a:lnTo>
                      <a:pt x="990" y="234"/>
                    </a:lnTo>
                    <a:lnTo>
                      <a:pt x="942" y="234"/>
                    </a:lnTo>
                    <a:lnTo>
                      <a:pt x="870" y="234"/>
                    </a:lnTo>
                    <a:lnTo>
                      <a:pt x="780" y="234"/>
                    </a:lnTo>
                    <a:lnTo>
                      <a:pt x="672" y="234"/>
                    </a:lnTo>
                    <a:lnTo>
                      <a:pt x="552" y="234"/>
                    </a:lnTo>
                    <a:lnTo>
                      <a:pt x="456" y="234"/>
                    </a:lnTo>
                    <a:lnTo>
                      <a:pt x="378" y="234"/>
                    </a:lnTo>
                    <a:lnTo>
                      <a:pt x="324" y="234"/>
                    </a:lnTo>
                    <a:lnTo>
                      <a:pt x="234" y="228"/>
                    </a:lnTo>
                    <a:lnTo>
                      <a:pt x="174" y="240"/>
                    </a:lnTo>
                    <a:lnTo>
                      <a:pt x="132" y="246"/>
                    </a:lnTo>
                    <a:lnTo>
                      <a:pt x="114" y="252"/>
                    </a:lnTo>
                    <a:lnTo>
                      <a:pt x="102" y="252"/>
                    </a:lnTo>
                    <a:lnTo>
                      <a:pt x="90" y="252"/>
                    </a:lnTo>
                    <a:lnTo>
                      <a:pt x="60" y="228"/>
                    </a:lnTo>
                    <a:lnTo>
                      <a:pt x="42" y="204"/>
                    </a:lnTo>
                    <a:lnTo>
                      <a:pt x="30" y="186"/>
                    </a:lnTo>
                    <a:lnTo>
                      <a:pt x="0" y="150"/>
                    </a:lnTo>
                    <a:lnTo>
                      <a:pt x="0" y="120"/>
                    </a:lnTo>
                    <a:lnTo>
                      <a:pt x="12" y="102"/>
                    </a:lnTo>
                    <a:lnTo>
                      <a:pt x="42" y="84"/>
                    </a:lnTo>
                    <a:lnTo>
                      <a:pt x="54" y="72"/>
                    </a:lnTo>
                    <a:lnTo>
                      <a:pt x="54" y="90"/>
                    </a:lnTo>
                  </a:path>
                </a:pathLst>
              </a:custGeom>
              <a:solidFill>
                <a:srgbClr val="7AEBF4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99" name="Rectangle 46"/>
              <p:cNvSpPr>
                <a:spLocks noChangeArrowheads="1"/>
              </p:cNvSpPr>
              <p:nvPr/>
            </p:nvSpPr>
            <p:spPr bwMode="auto">
              <a:xfrm>
                <a:off x="2181" y="2282"/>
                <a:ext cx="1641" cy="2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>
                    <a:solidFill>
                      <a:srgbClr val="000000"/>
                    </a:solidFill>
                    <a:latin typeface="Arial" charset="0"/>
                    <a:ea typeface="Arial" charset="0"/>
                    <a:cs typeface="Arial" charset="0"/>
                  </a:rPr>
                  <a:t>Interconnection Network</a:t>
                </a: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Shared-Nothing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81898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484" y="1447800"/>
            <a:ext cx="2253803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6057" y="817850"/>
            <a:ext cx="2840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Shared Storage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386" y="1447800"/>
            <a:ext cx="2244604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6855" y="817850"/>
            <a:ext cx="286007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Shared Nothing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522706" y="1602891"/>
            <a:ext cx="5425247" cy="411480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What? </a:t>
            </a:r>
          </a:p>
          <a:p>
            <a:pPr marL="0" indent="0">
              <a:buNone/>
            </a:pPr>
            <a:r>
              <a:rPr lang="en-US" sz="2800" dirty="0"/>
              <a:t>Distribute rows of each table across multiple storage devices</a:t>
            </a:r>
          </a:p>
          <a:p>
            <a:pPr marL="0" indent="0">
              <a:buNone/>
            </a:pPr>
            <a:r>
              <a:rPr lang="en-US" u="sng" dirty="0"/>
              <a:t>Why</a:t>
            </a:r>
            <a:r>
              <a:rPr lang="en-US" dirty="0"/>
              <a:t>?</a:t>
            </a:r>
          </a:p>
          <a:p>
            <a:pPr>
              <a:buFont typeface="Arial" charset="0"/>
              <a:buChar char="•"/>
            </a:pPr>
            <a:r>
              <a:rPr lang="en-US" sz="2400" dirty="0"/>
              <a:t>Spread I/O load</a:t>
            </a:r>
          </a:p>
          <a:p>
            <a:pPr>
              <a:buFont typeface="Arial" charset="0"/>
              <a:buChar char="•"/>
            </a:pPr>
            <a:r>
              <a:rPr lang="en-US" sz="2400" dirty="0"/>
              <a:t>Facilitates parallel query execution</a:t>
            </a:r>
          </a:p>
          <a:p>
            <a:pPr marL="0" indent="0">
              <a:buNone/>
            </a:pPr>
            <a:r>
              <a:rPr lang="en-US" u="sng" dirty="0"/>
              <a:t>How</a:t>
            </a:r>
            <a:r>
              <a:rPr lang="en-US" sz="2800" dirty="0"/>
              <a:t>?</a:t>
            </a:r>
          </a:p>
          <a:p>
            <a:pPr marL="0" indent="0">
              <a:buNone/>
            </a:pPr>
            <a:r>
              <a:rPr lang="en-US" sz="2800" dirty="0"/>
              <a:t>Hash, Round Robin, Range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812800" y="304800"/>
            <a:ext cx="5061527" cy="1143000"/>
          </a:xfrm>
        </p:spPr>
        <p:txBody>
          <a:bodyPr/>
          <a:lstStyle/>
          <a:p>
            <a:r>
              <a:rPr lang="en-US" dirty="0"/>
              <a:t>Table Partitioning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0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314" y="1844842"/>
            <a:ext cx="10791371" cy="4114800"/>
          </a:xfrm>
        </p:spPr>
        <p:txBody>
          <a:bodyPr/>
          <a:lstStyle/>
          <a:p>
            <a:r>
              <a:rPr lang="en-US" dirty="0"/>
              <a:t>Used to parallelize the execution of relational operators (selects, joins, aggregates, …)</a:t>
            </a:r>
          </a:p>
          <a:p>
            <a:r>
              <a:rPr lang="en-US" dirty="0"/>
              <a:t>By both shared-storage and shared-nothing systems</a:t>
            </a:r>
          </a:p>
          <a:p>
            <a:r>
              <a:rPr lang="en-US" dirty="0"/>
              <a:t>Pipelining is used between operators to avoid unnecessary disk I/</a:t>
            </a:r>
            <a:r>
              <a:rPr lang="en-US" dirty="0" err="1"/>
              <a:t>Os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44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DFDF-FB2D-9845-853B-F2717BDD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Columnar data stores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66DA3-B12D-6543-8DB3-B21820C14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Processing data warehouses are typically columnar stores, which are the most adaptable and cost-effective for analytics.</a:t>
            </a:r>
          </a:p>
          <a:p>
            <a:r>
              <a:rPr lang="en-US" dirty="0"/>
              <a:t> Columnar databases store and process data in columns rather than rows, allowing aggregate queries, which are commonly used for reporting, to run much faster.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464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8331-3B0E-E943-B8E8-D48E9EF2B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Columnar data stores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A5ABDE-F0D5-0C48-98E6-A33085FEE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8200" y="1690688"/>
            <a:ext cx="8267700" cy="4574794"/>
          </a:xfrm>
        </p:spPr>
      </p:pic>
    </p:spTree>
    <p:extLst>
      <p:ext uri="{BB962C8B-B14F-4D97-AF65-F5344CB8AC3E}">
        <p14:creationId xmlns:p14="http://schemas.microsoft.com/office/powerpoint/2010/main" val="2644820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C83F4-6121-4DE2-A6D3-9AFA64077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 Warehouse (SaaS)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2F636-9399-4E53-8866-0DDDDB243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Azure</a:t>
            </a:r>
          </a:p>
          <a:p>
            <a:pPr lvl="1"/>
            <a:r>
              <a:rPr lang="en-US" dirty="0"/>
              <a:t>Cloud DW:  SQL Data Warehouse</a:t>
            </a:r>
          </a:p>
          <a:p>
            <a:pPr lvl="1"/>
            <a:r>
              <a:rPr lang="en-US" dirty="0">
                <a:hlinkClick r:id="rId3"/>
              </a:rPr>
              <a:t>https://azure.microsoft.com/en-us/services/#analytics</a:t>
            </a:r>
            <a:endParaRPr lang="en-US" dirty="0"/>
          </a:p>
          <a:p>
            <a:r>
              <a:rPr lang="en-US" dirty="0"/>
              <a:t>AWS</a:t>
            </a:r>
          </a:p>
          <a:p>
            <a:pPr lvl="1"/>
            <a:r>
              <a:rPr lang="en-US" dirty="0"/>
              <a:t>Cloud DW: Redshift, Redshift Spectrum</a:t>
            </a:r>
          </a:p>
          <a:p>
            <a:pPr lvl="1"/>
            <a:r>
              <a:rPr lang="en-US" dirty="0">
                <a:hlinkClick r:id="rId4"/>
              </a:rPr>
              <a:t>https://aws.amazon.com/products/</a:t>
            </a:r>
            <a:endParaRPr lang="en-US" dirty="0"/>
          </a:p>
          <a:p>
            <a:r>
              <a:rPr lang="en-US" dirty="0"/>
              <a:t>Google Cloud</a:t>
            </a:r>
          </a:p>
          <a:p>
            <a:pPr lvl="1"/>
            <a:r>
              <a:rPr lang="en-US" dirty="0" err="1"/>
              <a:t>BigQuery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https://cloud.google.com/products/#data-analytics</a:t>
            </a:r>
            <a:endParaRPr lang="en-US" dirty="0"/>
          </a:p>
          <a:p>
            <a:r>
              <a:rPr lang="en-US" dirty="0"/>
              <a:t>S</a:t>
            </a:r>
            <a:r>
              <a:rPr lang="en-US" altLang="zh-CN" dirty="0"/>
              <a:t>nowflake</a:t>
            </a:r>
            <a:endParaRPr lang="en-US" dirty="0"/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Snowflake</a:t>
            </a:r>
            <a:r>
              <a:rPr lang="zh-CN" altLang="en-US" dirty="0"/>
              <a:t> </a:t>
            </a:r>
            <a:r>
              <a:rPr lang="en-US" altLang="zh-CN" dirty="0"/>
              <a:t>Data Cloud</a:t>
            </a:r>
          </a:p>
          <a:p>
            <a:pPr lvl="1"/>
            <a:r>
              <a:rPr lang="en-US" dirty="0">
                <a:hlinkClick r:id="rId6"/>
              </a:rPr>
              <a:t>https://www.snowflake.com/product/architecture/?utm_cta=website-workload-data-warehouse-architecture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4714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(AWS) Redshift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Classic shared-nothing design w. locally attached storage</a:t>
            </a:r>
          </a:p>
          <a:p>
            <a:r>
              <a:rPr lang="en-US" dirty="0"/>
              <a:t>Leverages AWS services</a:t>
            </a:r>
          </a:p>
          <a:p>
            <a:pPr lvl="1"/>
            <a:r>
              <a:rPr lang="en-US" dirty="0"/>
              <a:t>EC2 compute instances</a:t>
            </a:r>
          </a:p>
          <a:p>
            <a:pPr lvl="1"/>
            <a:r>
              <a:rPr lang="en-US" dirty="0"/>
              <a:t>S3 storage system</a:t>
            </a:r>
          </a:p>
          <a:p>
            <a:pPr lvl="1"/>
            <a:r>
              <a:rPr lang="en-US" dirty="0"/>
              <a:t>Virtual Private Cloud (VPC)</a:t>
            </a:r>
          </a:p>
          <a:p>
            <a:r>
              <a:rPr lang="en-US" dirty="0"/>
              <a:t>Leader in market adoption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98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Redshift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Highly successful cloud SAAS DW service</a:t>
            </a:r>
          </a:p>
          <a:p>
            <a:r>
              <a:rPr lang="en-US" sz="3200" dirty="0"/>
              <a:t>Classic shared-nothing design </a:t>
            </a:r>
          </a:p>
          <a:p>
            <a:r>
              <a:rPr lang="en-US" sz="3200" dirty="0"/>
              <a:t>Leverages S3 to handle node and disk failures</a:t>
            </a:r>
          </a:p>
          <a:p>
            <a:r>
              <a:rPr lang="en-US" sz="3200" dirty="0"/>
              <a:t>Key strength: performance through use of local storage</a:t>
            </a:r>
          </a:p>
          <a:p>
            <a:r>
              <a:rPr lang="en-US" sz="3200" dirty="0"/>
              <a:t>Key weaknesses:  compute cannot be scaled independent of storage (and vice versa)</a:t>
            </a:r>
          </a:p>
          <a:p>
            <a:pPr lvl="1"/>
            <a:r>
              <a:rPr lang="en-US" sz="2400" dirty="0"/>
              <a:t>New “Redshift Spectrum” offering can query data in S3 w/o loading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599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Snowflake Elastic DW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905000"/>
            <a:ext cx="10651266" cy="4114800"/>
          </a:xfrm>
        </p:spPr>
        <p:txBody>
          <a:bodyPr/>
          <a:lstStyle/>
          <a:p>
            <a:r>
              <a:rPr lang="en-US" dirty="0"/>
              <a:t>Shared-storage design</a:t>
            </a:r>
          </a:p>
          <a:p>
            <a:pPr lvl="1"/>
            <a:r>
              <a:rPr lang="en-US" dirty="0"/>
              <a:t>Compute decoupled from storage</a:t>
            </a:r>
          </a:p>
          <a:p>
            <a:pPr lvl="1"/>
            <a:r>
              <a:rPr lang="en-US" dirty="0"/>
              <a:t>Highly elastic </a:t>
            </a:r>
          </a:p>
          <a:p>
            <a:r>
              <a:rPr lang="en-US" dirty="0"/>
              <a:t>Leverages AWS</a:t>
            </a:r>
          </a:p>
          <a:p>
            <a:pPr lvl="1"/>
            <a:r>
              <a:rPr lang="en-US" dirty="0"/>
              <a:t>Tables stored in S3 but dynamically cached on local storage Clusters of EC2 instances used to execute queries</a:t>
            </a:r>
          </a:p>
          <a:p>
            <a:r>
              <a:rPr lang="en-US" dirty="0"/>
              <a:t>Rich data model</a:t>
            </a:r>
          </a:p>
          <a:p>
            <a:pPr lvl="1"/>
            <a:r>
              <a:rPr lang="en-US" dirty="0"/>
              <a:t>Schema-less ingestion of JSON documents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95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Snowflake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905000"/>
            <a:ext cx="10804434" cy="4114800"/>
          </a:xfrm>
        </p:spPr>
        <p:txBody>
          <a:bodyPr/>
          <a:lstStyle/>
          <a:p>
            <a:r>
              <a:rPr lang="en-US" sz="3200" dirty="0"/>
              <a:t>Designed for the cloud from conception</a:t>
            </a:r>
          </a:p>
          <a:p>
            <a:r>
              <a:rPr lang="en-US" sz="3200" dirty="0"/>
              <a:t>Can directly query unstructured data (JSON) w/o loading</a:t>
            </a:r>
          </a:p>
          <a:p>
            <a:r>
              <a:rPr lang="en-US" sz="3200" dirty="0"/>
              <a:t>Compute and storage independently scalable</a:t>
            </a:r>
          </a:p>
          <a:p>
            <a:pPr lvl="1"/>
            <a:r>
              <a:rPr lang="en-US" sz="2400" dirty="0"/>
              <a:t>AWS S3 for table storage</a:t>
            </a:r>
          </a:p>
          <a:p>
            <a:pPr lvl="1"/>
            <a:r>
              <a:rPr lang="en-US" sz="2400" dirty="0"/>
              <a:t>Virtual warehouses composed of clusters of AWS EC2 instances </a:t>
            </a:r>
          </a:p>
          <a:p>
            <a:pPr lvl="1"/>
            <a:r>
              <a:rPr lang="en-US" sz="2400" dirty="0"/>
              <a:t>Queries can be given exactly the compute resources they need</a:t>
            </a:r>
            <a:endParaRPr lang="en-US" sz="5600" dirty="0"/>
          </a:p>
          <a:p>
            <a:r>
              <a:rPr lang="en-US" sz="3200" dirty="0"/>
              <a:t>No management knobs</a:t>
            </a:r>
          </a:p>
          <a:p>
            <a:pPr lvl="1"/>
            <a:r>
              <a:rPr lang="en-US" sz="2400" dirty="0"/>
              <a:t>No indices, no create/update stats, no distribution keys, …</a:t>
            </a:r>
          </a:p>
          <a:p>
            <a:pPr lvl="1"/>
            <a:endParaRPr lang="en-US" sz="800" dirty="0"/>
          </a:p>
          <a:p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0286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BigQuery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958" y="1792705"/>
            <a:ext cx="10743550" cy="4131845"/>
          </a:xfrm>
        </p:spPr>
        <p:txBody>
          <a:bodyPr/>
          <a:lstStyle/>
          <a:p>
            <a:r>
              <a:rPr lang="en-US" sz="3200" dirty="0"/>
              <a:t>Separate storage and compute</a:t>
            </a:r>
          </a:p>
          <a:p>
            <a:r>
              <a:rPr lang="en-US" sz="3200" dirty="0"/>
              <a:t>Leverages Google’s internal storage &amp; execution stacks</a:t>
            </a:r>
          </a:p>
          <a:p>
            <a:pPr lvl="1"/>
            <a:r>
              <a:rPr lang="en-US" dirty="0"/>
              <a:t>Colossus distributed file system  </a:t>
            </a:r>
          </a:p>
          <a:p>
            <a:pPr lvl="1"/>
            <a:r>
              <a:rPr lang="en-US" dirty="0" err="1"/>
              <a:t>DremelX</a:t>
            </a:r>
            <a:r>
              <a:rPr lang="en-US" dirty="0"/>
              <a:t> query executor</a:t>
            </a:r>
          </a:p>
          <a:p>
            <a:pPr lvl="1"/>
            <a:r>
              <a:rPr lang="en-US" dirty="0"/>
              <a:t>Jupiter networking stack</a:t>
            </a:r>
          </a:p>
          <a:p>
            <a:pPr lvl="1"/>
            <a:r>
              <a:rPr lang="en-US" dirty="0"/>
              <a:t>Borg resource allocator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11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BigQuery</a:t>
            </a:r>
            <a:r>
              <a:rPr lang="en-US" dirty="0"/>
              <a:t>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695994"/>
            <a:ext cx="10363200" cy="41148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Stored in Colossus FS</a:t>
            </a:r>
            <a:r>
              <a:rPr lang="zh-CN" altLang="en-US" sz="3200" dirty="0"/>
              <a:t> </a:t>
            </a:r>
            <a:r>
              <a:rPr lang="en-US" altLang="zh-CN" sz="3200" dirty="0"/>
              <a:t>(Google’s</a:t>
            </a:r>
            <a:r>
              <a:rPr lang="zh-CN" altLang="en-US" sz="3200" dirty="0"/>
              <a:t> </a:t>
            </a:r>
            <a:r>
              <a:rPr lang="en-US" altLang="zh-CN" sz="3200" dirty="0"/>
              <a:t>file</a:t>
            </a:r>
            <a:r>
              <a:rPr lang="zh-CN" altLang="en-US" sz="3200" dirty="0"/>
              <a:t> </a:t>
            </a:r>
            <a:r>
              <a:rPr lang="en-US" altLang="zh-CN" sz="3200" dirty="0"/>
              <a:t>system)</a:t>
            </a:r>
            <a:endParaRPr lang="en-US" sz="3200" dirty="0"/>
          </a:p>
          <a:p>
            <a:pPr lvl="1"/>
            <a:r>
              <a:rPr lang="en-US" sz="2400" dirty="0"/>
              <a:t>Partitioned by day (optionally)</a:t>
            </a:r>
          </a:p>
          <a:p>
            <a:r>
              <a:rPr lang="en-US" sz="3200" dirty="0"/>
              <a:t>Columnar storage (Capacitor</a:t>
            </a:r>
            <a:r>
              <a:rPr lang="en-US" altLang="zh-CN" sz="3200" dirty="0"/>
              <a:t>:</a:t>
            </a:r>
            <a:r>
              <a:rPr lang="zh-CN" altLang="en-US" sz="3200" dirty="0"/>
              <a:t> </a:t>
            </a:r>
            <a:r>
              <a:rPr lang="en-US" altLang="zh-CN" sz="3200" dirty="0" err="1"/>
              <a:t>BigQuery’s</a:t>
            </a:r>
            <a:r>
              <a:rPr lang="en-US" altLang="zh-CN" sz="3200" dirty="0"/>
              <a:t> next-generation columnar storage format</a:t>
            </a:r>
            <a:r>
              <a:rPr lang="en-US" sz="3200" dirty="0"/>
              <a:t>)</a:t>
            </a:r>
            <a:endParaRPr lang="en-US" sz="2400" dirty="0"/>
          </a:p>
          <a:p>
            <a:pPr lvl="1"/>
            <a:r>
              <a:rPr lang="en-US" sz="2400" dirty="0"/>
              <a:t>RLE compression</a:t>
            </a:r>
          </a:p>
          <a:p>
            <a:pPr lvl="1"/>
            <a:r>
              <a:rPr lang="en-US" sz="2400" dirty="0"/>
              <a:t>Sampling used to pick sort order</a:t>
            </a:r>
          </a:p>
          <a:p>
            <a:pPr lvl="1"/>
            <a:r>
              <a:rPr lang="en-US" sz="2400" dirty="0"/>
              <a:t>Columns partitioned across multiple disks</a:t>
            </a:r>
          </a:p>
          <a:p>
            <a:r>
              <a:rPr lang="en-US" sz="3200" dirty="0"/>
              <a:t>Also “external” tables </a:t>
            </a:r>
          </a:p>
          <a:p>
            <a:pPr lvl="1"/>
            <a:r>
              <a:rPr lang="en-US" sz="2400" dirty="0"/>
              <a:t>JSON, CSV, &amp; Avro formats</a:t>
            </a:r>
          </a:p>
          <a:p>
            <a:pPr lvl="1"/>
            <a:r>
              <a:rPr lang="en-US" sz="2400" dirty="0"/>
              <a:t>Google Drive and Cloud Storage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254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Resource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resources not dedicated!</a:t>
            </a:r>
          </a:p>
          <a:p>
            <a:pPr lvl="1"/>
            <a:r>
              <a:rPr lang="en-US" dirty="0"/>
              <a:t>Shared among other internal and external customers</a:t>
            </a:r>
          </a:p>
          <a:p>
            <a:pPr lvl="1"/>
            <a:r>
              <a:rPr lang="en-US" dirty="0"/>
              <a:t>No apparent way to control computational resources used for a query</a:t>
            </a:r>
          </a:p>
          <a:p>
            <a:r>
              <a:rPr lang="en-US" dirty="0"/>
              <a:t># of shards/slots assigned to an operator function of:</a:t>
            </a:r>
          </a:p>
          <a:p>
            <a:pPr lvl="1"/>
            <a:r>
              <a:rPr lang="en-US" dirty="0"/>
              <a:t>Estimated amount of data to be processed</a:t>
            </a:r>
          </a:p>
          <a:p>
            <a:pPr lvl="1"/>
            <a:r>
              <a:rPr lang="en-US" dirty="0"/>
              <a:t>Cluster capacity and current load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61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BigQuery</a:t>
            </a:r>
            <a:r>
              <a:rPr lang="en-US" dirty="0"/>
              <a:t>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Storage:  $0.02/GB/month</a:t>
            </a:r>
          </a:p>
          <a:p>
            <a:pPr marL="457200" lvl="1" indent="0">
              <a:buNone/>
            </a:pPr>
            <a:r>
              <a:rPr lang="en-US" dirty="0"/>
              <a:t>(AWS is about $0.023/GB/month)</a:t>
            </a:r>
          </a:p>
          <a:p>
            <a:r>
              <a:rPr lang="en-US" dirty="0"/>
              <a:t>Query options</a:t>
            </a:r>
          </a:p>
          <a:p>
            <a:pPr marL="400050" lvl="1" indent="0">
              <a:buNone/>
            </a:pPr>
            <a:r>
              <a:rPr lang="en-US" dirty="0"/>
              <a:t>1) Pay-as-you-go:  $5/TB “processed” </a:t>
            </a:r>
          </a:p>
          <a:p>
            <a:pPr marL="400050" lvl="1" indent="0">
              <a:buNone/>
            </a:pPr>
            <a:r>
              <a:rPr lang="en-US" dirty="0"/>
              <a:t>	- calculated after column is uncompressed</a:t>
            </a:r>
          </a:p>
          <a:p>
            <a:pPr marL="400050" lvl="1" indent="0">
              <a:buNone/>
            </a:pPr>
            <a:r>
              <a:rPr lang="en-US" dirty="0"/>
              <a:t>(AWS is about $1.60/TB using M4.4Xlarge EC2 instance) </a:t>
            </a:r>
          </a:p>
          <a:p>
            <a:pPr marL="400050" lvl="1" indent="0">
              <a:buNone/>
            </a:pPr>
            <a:r>
              <a:rPr lang="en-US" dirty="0"/>
              <a:t>2) Flat rate: $40,000/month for 2,000 dedicated slots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689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506329"/>
            <a:ext cx="10363200" cy="1143000"/>
          </a:xfrm>
        </p:spPr>
        <p:txBody>
          <a:bodyPr/>
          <a:lstStyle/>
          <a:p>
            <a:r>
              <a:rPr lang="en-US" dirty="0"/>
              <a:t>Pay For What You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758950"/>
            <a:ext cx="10363200" cy="4114800"/>
          </a:xfrm>
        </p:spPr>
        <p:txBody>
          <a:bodyPr/>
          <a:lstStyle/>
          <a:p>
            <a:r>
              <a:rPr lang="en-US" dirty="0"/>
              <a:t>Redshift</a:t>
            </a:r>
          </a:p>
          <a:p>
            <a:pPr lvl="1"/>
            <a:r>
              <a:rPr lang="en-US" dirty="0"/>
              <a:t>More storage requires buying more comput</a:t>
            </a:r>
            <a:r>
              <a:rPr lang="en-US" altLang="zh-CN" dirty="0"/>
              <a:t>ation</a:t>
            </a:r>
            <a:endParaRPr lang="en-US" dirty="0"/>
          </a:p>
          <a:p>
            <a:pPr lvl="1"/>
            <a:r>
              <a:rPr lang="en-US" dirty="0"/>
              <a:t>No pause/resume mechanism</a:t>
            </a:r>
          </a:p>
          <a:p>
            <a:r>
              <a:rPr lang="en-US" dirty="0"/>
              <a:t>SQL DW </a:t>
            </a:r>
          </a:p>
          <a:p>
            <a:pPr lvl="1"/>
            <a:r>
              <a:rPr lang="en-US" dirty="0"/>
              <a:t>Charged separately for Azure storage and DWU usage</a:t>
            </a:r>
          </a:p>
          <a:p>
            <a:r>
              <a:rPr lang="en-US" dirty="0"/>
              <a:t>Snowflake</a:t>
            </a:r>
          </a:p>
          <a:p>
            <a:pPr lvl="1"/>
            <a:r>
              <a:rPr lang="en-US" dirty="0"/>
              <a:t>Charged separately for S3 storage and EC2 usage</a:t>
            </a:r>
          </a:p>
          <a:p>
            <a:r>
              <a:rPr lang="en-US" dirty="0" err="1"/>
              <a:t>BigQuery</a:t>
            </a:r>
            <a:endParaRPr lang="en-US" dirty="0"/>
          </a:p>
          <a:p>
            <a:pPr lvl="1"/>
            <a:r>
              <a:rPr lang="en-US" dirty="0"/>
              <a:t>Charged separately for GFS storage and TBs “processed”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DCB10-97A4-405D-8E23-559299D9D189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357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F8784-0844-3CDB-BBB9-B199E3AE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473200" cy="1325563"/>
          </a:xfrm>
        </p:spPr>
        <p:txBody>
          <a:bodyPr/>
          <a:lstStyle/>
          <a:p>
            <a:r>
              <a:rPr lang="en-US" dirty="0" err="1"/>
              <a:t>SnowFlake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22DD40-CC0D-C34B-ED55-34FE3E37DE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1000" y="0"/>
            <a:ext cx="7759700" cy="665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763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242B4-275F-BF43-9533-55F2B8034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RedShift Exercise: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4A0F7B8-4335-6749-9A6F-C6EC0C5A7D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6465580"/>
              </p:ext>
            </p:extLst>
          </p:nvPr>
        </p:nvGraphicFramePr>
        <p:xfrm>
          <a:off x="673769" y="1600200"/>
          <a:ext cx="10983212" cy="483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4532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1785-118F-7848-8142-F1A354F5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RedShift Exercise: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9230A179-9DE2-844F-AD5C-047AF789D4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1791028"/>
              </p:ext>
            </p:extLst>
          </p:nvPr>
        </p:nvGraphicFramePr>
        <p:xfrm>
          <a:off x="838200" y="1588168"/>
          <a:ext cx="10952747" cy="4805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05508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D4BE0-3DFB-A34A-85CB-A4D01C63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Queries (Redshift)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B594-3BCD-6341-A282-9D3519FB6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Optimize Table and Schema Design – Sort and </a:t>
            </a:r>
            <a:r>
              <a:rPr lang="en-US" dirty="0" err="1"/>
              <a:t>Dist</a:t>
            </a:r>
            <a:r>
              <a:rPr lang="en-US" dirty="0"/>
              <a:t> Keys</a:t>
            </a:r>
          </a:p>
          <a:p>
            <a:r>
              <a:rPr lang="en-US" dirty="0"/>
              <a:t>Avoid Select *</a:t>
            </a:r>
          </a:p>
          <a:p>
            <a:r>
              <a:rPr lang="en-US" dirty="0"/>
              <a:t>Avoid Cross Joins</a:t>
            </a:r>
          </a:p>
          <a:p>
            <a:r>
              <a:rPr lang="en-US" dirty="0"/>
              <a:t>Subqueries vs Joins</a:t>
            </a:r>
          </a:p>
          <a:p>
            <a:r>
              <a:rPr lang="en-US" dirty="0"/>
              <a:t>Calculate Cost - EXPLAIN</a:t>
            </a:r>
          </a:p>
          <a:p>
            <a:r>
              <a:rPr lang="en-US" dirty="0">
                <a:solidFill>
                  <a:srgbClr val="FFFFFF"/>
                </a:solidFill>
                <a:hlinkClick r:id="rId2"/>
              </a:rPr>
              <a:t>RedShift Designing Query Best Practices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1371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67AB-C82C-4D35-B1B8-1C9CE88F6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Query and Data Warehousing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BE8CE-FDDD-46E1-938C-834D55D1F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Google </a:t>
            </a:r>
            <a:r>
              <a:rPr lang="en-US" dirty="0" err="1">
                <a:hlinkClick r:id="rId2"/>
              </a:rPr>
              <a:t>BigQuery</a:t>
            </a:r>
            <a:r>
              <a:rPr lang="en-US" dirty="0">
                <a:hlinkClick r:id="rId2"/>
              </a:rPr>
              <a:t> Solution</a:t>
            </a:r>
          </a:p>
          <a:p>
            <a:pPr lvl="1"/>
            <a:r>
              <a:rPr lang="en-US" dirty="0"/>
              <a:t>Columnar Storage Data Warehousing Solution</a:t>
            </a:r>
          </a:p>
          <a:p>
            <a:pPr lvl="1"/>
            <a:r>
              <a:rPr lang="en-US" dirty="0"/>
              <a:t>Storage and Querying Costs</a:t>
            </a:r>
            <a:endParaRPr lang="en-US" dirty="0">
              <a:hlinkClick r:id="rId3"/>
            </a:endParaRPr>
          </a:p>
          <a:p>
            <a:r>
              <a:rPr lang="en-US" dirty="0" err="1">
                <a:hlinkClick r:id="rId3"/>
              </a:rPr>
              <a:t>BigQuery</a:t>
            </a:r>
            <a:r>
              <a:rPr lang="en-US" dirty="0">
                <a:hlinkClick r:id="rId3"/>
              </a:rPr>
              <a:t> for Data Warehousing</a:t>
            </a:r>
          </a:p>
          <a:p>
            <a:pPr lvl="1"/>
            <a:r>
              <a:rPr lang="en-US" dirty="0"/>
              <a:t>Optimized for JSON, Avro, etc. nested data structures</a:t>
            </a:r>
          </a:p>
          <a:p>
            <a:pPr lvl="1"/>
            <a:r>
              <a:rPr lang="en-US" dirty="0"/>
              <a:t>SCD is not straightforward</a:t>
            </a:r>
          </a:p>
          <a:p>
            <a:pPr lvl="1"/>
            <a:r>
              <a:rPr lang="en-US" dirty="0"/>
              <a:t>ETL and Staging requirements</a:t>
            </a:r>
            <a:endParaRPr lang="en-US" dirty="0">
              <a:hlinkClick r:id="rId3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49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BAE9-876B-47FB-90F7-6CF5AE47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BigQuery</a:t>
            </a:r>
            <a:r>
              <a:rPr lang="en-US" dirty="0"/>
              <a:t> Controlling 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29975-A693-451B-9960-695ACEBD7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Select *</a:t>
            </a:r>
          </a:p>
          <a:p>
            <a:r>
              <a:rPr lang="en-US" dirty="0"/>
              <a:t>Partition Tables by date and use Where </a:t>
            </a:r>
            <a:r>
              <a:rPr lang="en-US" dirty="0" err="1"/>
              <a:t>Partitiondate</a:t>
            </a:r>
            <a:r>
              <a:rPr lang="en-US" dirty="0"/>
              <a:t> = </a:t>
            </a:r>
          </a:p>
          <a:p>
            <a:r>
              <a:rPr lang="en-US" dirty="0"/>
              <a:t>Use Query validator for number of bytes read</a:t>
            </a:r>
          </a:p>
          <a:p>
            <a:r>
              <a:rPr lang="en-US" dirty="0"/>
              <a:t>Materialize query results. (Row subsets)</a:t>
            </a:r>
          </a:p>
          <a:p>
            <a:r>
              <a:rPr lang="en-US" dirty="0"/>
              <a:t>More</a:t>
            </a:r>
          </a:p>
          <a:p>
            <a:pPr lvl="1"/>
            <a:r>
              <a:rPr lang="en-US" dirty="0">
                <a:hlinkClick r:id="rId2"/>
              </a:rPr>
              <a:t>https://cloud.google.com/bigquery/docs/best-practices-costs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47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3540</TotalTime>
  <Words>2406</Words>
  <Application>Microsoft Macintosh PowerPoint</Application>
  <PresentationFormat>Widescreen</PresentationFormat>
  <Paragraphs>434</Paragraphs>
  <Slides>42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New York</vt:lpstr>
      <vt:lpstr>Arial</vt:lpstr>
      <vt:lpstr>Calibri</vt:lpstr>
      <vt:lpstr>Calibri Light</vt:lpstr>
      <vt:lpstr>Roboto</vt:lpstr>
      <vt:lpstr>Tahoma</vt:lpstr>
      <vt:lpstr>Wingdings</vt:lpstr>
      <vt:lpstr>Office Theme</vt:lpstr>
      <vt:lpstr>Data Lakes and Cloud Data Warehousing</vt:lpstr>
      <vt:lpstr>Data Lakes</vt:lpstr>
      <vt:lpstr>Data Lakes v.s. Data Warehouses</vt:lpstr>
      <vt:lpstr>Data Lakes v.s. Data Warehouses</vt:lpstr>
      <vt:lpstr>Essential elements of a Data Lake and Analytics solution</vt:lpstr>
      <vt:lpstr>Enterprise DW Bus Architecture</vt:lpstr>
      <vt:lpstr>Enterprise Data Sources</vt:lpstr>
      <vt:lpstr>Data Storage Use Cases</vt:lpstr>
      <vt:lpstr>From Data Lake to Data Warehouse: Enhancing Customer 360 with Amazon Redshift Spectrum</vt:lpstr>
      <vt:lpstr>Case Study: Social Data Warehousing</vt:lpstr>
      <vt:lpstr>Data Warehousing: Key to Social CRM</vt:lpstr>
      <vt:lpstr>Levels of Social Data</vt:lpstr>
      <vt:lpstr>Integrating Social Data into DW</vt:lpstr>
      <vt:lpstr>Cloud Data Warehousing</vt:lpstr>
      <vt:lpstr>Why Cloud Data Warehousing: Complexity v.s. Cost</vt:lpstr>
      <vt:lpstr>Why Cloud Data Warehousing: Instant gratification</vt:lpstr>
      <vt:lpstr>Why Cloud Data Warehousing: Scalability and the price of agility</vt:lpstr>
      <vt:lpstr>Unfortunately, no “free lunch”</vt:lpstr>
      <vt:lpstr>Why Cloud DW?</vt:lpstr>
      <vt:lpstr>Scalable DW Fundamentals</vt:lpstr>
      <vt:lpstr>Shared Disk/Storage</vt:lpstr>
      <vt:lpstr>Shared-Nothing</vt:lpstr>
      <vt:lpstr>Table Partitioning</vt:lpstr>
      <vt:lpstr>Partitioned Parallelism</vt:lpstr>
      <vt:lpstr>Columnar data stores</vt:lpstr>
      <vt:lpstr>Columnar data stores</vt:lpstr>
      <vt:lpstr>Cloud Data Warehouse (SaaS)</vt:lpstr>
      <vt:lpstr>Amazon (AWS) Redshift</vt:lpstr>
      <vt:lpstr>Redshift Summary</vt:lpstr>
      <vt:lpstr>Snowflake Elastic DW</vt:lpstr>
      <vt:lpstr>Snowflake Summary</vt:lpstr>
      <vt:lpstr>Google BigQuery</vt:lpstr>
      <vt:lpstr>BigQuery Tables</vt:lpstr>
      <vt:lpstr>CPU Resource Allocation</vt:lpstr>
      <vt:lpstr>BigQuery Pricing</vt:lpstr>
      <vt:lpstr>Pay For What You Use</vt:lpstr>
      <vt:lpstr>SnowFlake </vt:lpstr>
      <vt:lpstr>AWS RedShift Exercise:</vt:lpstr>
      <vt:lpstr>AWS RedShift Exercise:</vt:lpstr>
      <vt:lpstr>Optimizing Queries (Redshift)</vt:lpstr>
      <vt:lpstr>Big Query and Data Warehousing</vt:lpstr>
      <vt:lpstr>BigQuery Controlling Costs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Lakes and Cloud Data Warehousing</dc:title>
  <dc:creator>Yuanyuan Gao</dc:creator>
  <cp:lastModifiedBy>YuanYuan Gao</cp:lastModifiedBy>
  <cp:revision>45</cp:revision>
  <dcterms:created xsi:type="dcterms:W3CDTF">2023-04-02T17:46:08Z</dcterms:created>
  <dcterms:modified xsi:type="dcterms:W3CDTF">2026-04-27T21:06:08Z</dcterms:modified>
</cp:coreProperties>
</file>