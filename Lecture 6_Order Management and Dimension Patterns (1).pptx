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2" r:id="rId3"/>
    <p:sldId id="283" r:id="rId4"/>
    <p:sldId id="257" r:id="rId5"/>
    <p:sldId id="258" r:id="rId6"/>
    <p:sldId id="260" r:id="rId7"/>
    <p:sldId id="262" r:id="rId8"/>
    <p:sldId id="263" r:id="rId9"/>
    <p:sldId id="276" r:id="rId10"/>
    <p:sldId id="277" r:id="rId11"/>
    <p:sldId id="278" r:id="rId12"/>
    <p:sldId id="264" r:id="rId13"/>
    <p:sldId id="265" r:id="rId14"/>
    <p:sldId id="266" r:id="rId15"/>
    <p:sldId id="267" r:id="rId16"/>
    <p:sldId id="268" r:id="rId17"/>
    <p:sldId id="279" r:id="rId18"/>
    <p:sldId id="269" r:id="rId19"/>
    <p:sldId id="270" r:id="rId20"/>
    <p:sldId id="271" r:id="rId21"/>
    <p:sldId id="281" r:id="rId22"/>
    <p:sldId id="272" r:id="rId23"/>
    <p:sldId id="280" r:id="rId24"/>
    <p:sldId id="273" r:id="rId25"/>
    <p:sldId id="274" r:id="rId26"/>
    <p:sldId id="27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29"/>
    <p:restoredTop sz="94867"/>
  </p:normalViewPr>
  <p:slideViewPr>
    <p:cSldViewPr snapToGrid="0" snapToObjects="1">
      <p:cViewPr varScale="1">
        <p:scale>
          <a:sx n="90" d="100"/>
          <a:sy n="90" d="100"/>
        </p:scale>
        <p:origin x="16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A0AE8-1CD3-4E44-9A00-791DD66883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8175F8-5F4C-F24F-8D87-2977AA956B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6571B-4C70-7946-A454-111D03D82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27EB0-297B-FB46-897C-CF59CCB086D9}" type="datetimeFigureOut">
              <a:rPr lang="en-US" smtClean="0"/>
              <a:t>9/22/20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DCA9B-4EEF-124B-8977-37F908BAB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67ACC-828D-2D49-AAD2-E5F0CEDB7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44C4D-602C-8E43-B2F6-29896D506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965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F4ECA-B5B3-B64D-B1FC-609676224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25BEC-7FB8-054F-82A7-8607B4A5B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C42B5-B849-904B-8347-B648D4949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27EB0-297B-FB46-897C-CF59CCB086D9}" type="datetimeFigureOut">
              <a:rPr lang="en-US" smtClean="0"/>
              <a:t>9/22/20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3B284-863E-564A-81D2-16748A055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1B888-0A76-3C47-AB4E-FD3498832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44C4D-602C-8E43-B2F6-29896D506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550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D382D-CA45-3F41-99FB-CA9DB70EC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B311BD-AAE0-1449-AB08-05251891C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35A0D-C985-184B-861B-5FDAE09C8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27EB0-297B-FB46-897C-CF59CCB086D9}" type="datetimeFigureOut">
              <a:rPr lang="en-US" smtClean="0"/>
              <a:t>9/22/20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56F50-3E8A-4D44-ACAC-AD19B36A9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F8293-8F5E-3846-89C6-6593120E4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44C4D-602C-8E43-B2F6-29896D506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000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E5132-529C-C049-9DCE-F0E5C81B0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EF8A2-24D2-4341-A3BA-9CF7694BC9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D52DF-8AF5-6A41-9F75-CDA9211F41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7E2927-1B1B-A643-94B9-F0A3E6A7D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27EB0-297B-FB46-897C-CF59CCB086D9}" type="datetimeFigureOut">
              <a:rPr lang="en-US" smtClean="0"/>
              <a:t>9/22/20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A8F45C-EE74-D24C-9D15-E4319503B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4DCD24-4AD0-9C46-B8A3-8EF91504D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44C4D-602C-8E43-B2F6-29896D506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653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DE7BB-F1BB-CE4B-A067-5E450137E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37DE7-EBD9-6F45-BAB2-92B044613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422F29-EA4E-774C-9E8A-65EA125B89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0A5A89-97D5-DD47-A15C-BF06576DD1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CB924C-F5D5-4144-AE51-D0F9BDBF15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E849C4-A7DB-D146-98D1-92090C0E3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27EB0-297B-FB46-897C-CF59CCB086D9}" type="datetimeFigureOut">
              <a:rPr lang="en-US" smtClean="0"/>
              <a:t>9/22/20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F89081-63EF-DA4F-AE44-110C7DE97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034865-AF55-A047-8E12-E7CDD148A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44C4D-602C-8E43-B2F6-29896D506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398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C9C42-AD7A-3142-8C36-18DC63BF9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AAA9D-0D46-AD4A-81F2-D9470A914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27EB0-297B-FB46-897C-CF59CCB086D9}" type="datetimeFigureOut">
              <a:rPr lang="en-US" smtClean="0"/>
              <a:t>9/22/20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B232BA-240D-5643-A32F-A209640EA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FC9A74-3A9B-0744-B586-23173ECC9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44C4D-602C-8E43-B2F6-29896D506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865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808459-9708-BF40-87C8-CE19803A5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27EB0-297B-FB46-897C-CF59CCB086D9}" type="datetimeFigureOut">
              <a:rPr lang="en-US" smtClean="0"/>
              <a:t>9/22/20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DF38C-FD66-5E4F-A54D-93EAE9E3B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1C5B76-6F3F-E74E-9EA2-E9A4484B4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44C4D-602C-8E43-B2F6-29896D506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14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E9258-E548-C64E-98F2-F6BE07C8C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8DC91-2AA4-C144-89B5-3FD9F1F87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D61268-F818-7C4B-8EF7-18D7149EB9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BC8B54-881A-A143-92BB-047AA9887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27EB0-297B-FB46-897C-CF59CCB086D9}" type="datetimeFigureOut">
              <a:rPr lang="en-US" smtClean="0"/>
              <a:t>9/22/20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52BCFD-27A0-074A-B861-821E2114B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9EBC93-5D76-364D-BEC5-DDCDD3106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44C4D-602C-8E43-B2F6-29896D506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603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3399E-2324-8E4C-BABF-114A2A8F3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0FD139-CD70-8442-8273-85524C60C1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24D4D-9C9F-3540-9C0F-A0B322140D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49456-F655-6E47-9AB1-296832FFC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27EB0-297B-FB46-897C-CF59CCB086D9}" type="datetimeFigureOut">
              <a:rPr lang="en-US" smtClean="0"/>
              <a:t>9/22/20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B7418E-80C4-9240-992C-25F3B32BE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EA4D82-75C6-9549-A242-FEF7920AF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44C4D-602C-8E43-B2F6-29896D506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782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4FF98-B4AF-9F4F-B10D-61A15720C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0904DD-AEB0-F946-9A3C-D959479AFD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209C3-94B0-EE48-A121-811AC713A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27EB0-297B-FB46-897C-CF59CCB086D9}" type="datetimeFigureOut">
              <a:rPr lang="en-US" smtClean="0"/>
              <a:t>9/22/20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20836-31D1-E444-BC5B-95F7CD618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70D3F-77E7-8142-AD52-0A7AF1F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44C4D-602C-8E43-B2F6-29896D506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678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93C998-EFB8-BC4A-A7E9-3F1F897587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C74EB4-ACE0-7144-BD15-228DCBAA2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4839A-6FB6-7747-8345-DA3C67F6B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27EB0-297B-FB46-897C-CF59CCB086D9}" type="datetimeFigureOut">
              <a:rPr lang="en-US" smtClean="0"/>
              <a:t>9/22/20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09DDC-0A63-A540-8BC8-5F043D457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D2E6B-CA6F-694F-B6BB-176CC7E3C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44C4D-602C-8E43-B2F6-29896D506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335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C878BB-E207-A640-8EF3-AF9D1153E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7A234-B4B2-D24E-9FB8-4C7A17FAA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81776-078E-694D-A5C1-E773A9D09D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227EB0-297B-FB46-897C-CF59CCB086D9}" type="datetimeFigureOut">
              <a:rPr lang="en-US" smtClean="0"/>
              <a:t>9/22/20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0B9C-9686-214B-AD99-B53887E8FC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E0743-9E86-9540-9E33-6217830267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A44C4D-602C-8E43-B2F6-29896D506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939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72D2C-D279-6144-AC33-46602BF70F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Lecture</a:t>
            </a:r>
            <a:r>
              <a:rPr lang="zh-CN" altLang="en-US" dirty="0"/>
              <a:t> </a:t>
            </a:r>
            <a:r>
              <a:rPr lang="en-US" altLang="zh-CN" dirty="0"/>
              <a:t>6:</a:t>
            </a:r>
            <a:r>
              <a:rPr lang="zh-CN" altLang="en-US" dirty="0"/>
              <a:t> </a:t>
            </a:r>
            <a:r>
              <a:rPr lang="en-US" altLang="zh-CN" dirty="0"/>
              <a:t>Order</a:t>
            </a:r>
            <a:r>
              <a:rPr lang="zh-CN" altLang="en-US" dirty="0"/>
              <a:t> </a:t>
            </a:r>
            <a:r>
              <a:rPr lang="en-US" altLang="zh-CN" dirty="0"/>
              <a:t>Management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Dimension</a:t>
            </a:r>
            <a:r>
              <a:rPr lang="zh-CN" altLang="en-US" dirty="0"/>
              <a:t> </a:t>
            </a:r>
            <a:r>
              <a:rPr lang="en-US" altLang="zh-CN" dirty="0"/>
              <a:t>Patterns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8E8B7A-3FE9-D94B-A9EB-46385C1ED4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Chapter</a:t>
            </a:r>
            <a:r>
              <a:rPr lang="zh-CN" altLang="en-US" dirty="0"/>
              <a:t> </a:t>
            </a:r>
            <a:r>
              <a:rPr lang="en-US" altLang="zh-CN" dirty="0"/>
              <a:t>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440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50F52-CE8C-CB4A-AD00-E71CA7040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Recap:</a:t>
            </a:r>
            <a:r>
              <a:rPr lang="zh-CN" altLang="en-US" dirty="0"/>
              <a:t> </a:t>
            </a:r>
            <a:r>
              <a:rPr lang="en-US" altLang="zh-CN" dirty="0"/>
              <a:t>Slowly</a:t>
            </a:r>
            <a:r>
              <a:rPr lang="zh-CN" altLang="en-US" dirty="0"/>
              <a:t> </a:t>
            </a:r>
            <a:r>
              <a:rPr lang="en-US" altLang="zh-CN" dirty="0"/>
              <a:t>Changing</a:t>
            </a:r>
            <a:r>
              <a:rPr lang="zh-CN" altLang="en-US" dirty="0"/>
              <a:t> </a:t>
            </a:r>
            <a:r>
              <a:rPr lang="en-US" altLang="zh-CN" dirty="0"/>
              <a:t>Dimensions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57DAA-4CC2-E14E-ADF4-26EFBC9A1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 0: Retain Original </a:t>
            </a:r>
          </a:p>
          <a:p>
            <a:r>
              <a:rPr lang="en-US" dirty="0"/>
              <a:t>Type 1: Overwrite </a:t>
            </a:r>
          </a:p>
          <a:p>
            <a:r>
              <a:rPr lang="en-US" dirty="0"/>
              <a:t>Type 2: Add New Row </a:t>
            </a:r>
          </a:p>
          <a:p>
            <a:r>
              <a:rPr lang="en-US" dirty="0"/>
              <a:t>Type 3: Add New Attribute </a:t>
            </a:r>
          </a:p>
          <a:p>
            <a:r>
              <a:rPr lang="en-US" dirty="0"/>
              <a:t>Type 4: Add Mini-Dimension </a:t>
            </a:r>
          </a:p>
          <a:p>
            <a:r>
              <a:rPr lang="en-US" dirty="0"/>
              <a:t>Type 5: Add Mini-Dimension and Type 1 Outrigger</a:t>
            </a:r>
          </a:p>
          <a:p>
            <a:r>
              <a:rPr lang="en-US" dirty="0"/>
              <a:t>Type 6: Add Type 1 Attributes to Type 2 Dimension</a:t>
            </a:r>
          </a:p>
          <a:p>
            <a:r>
              <a:rPr lang="en-US" dirty="0"/>
              <a:t>Type 7: Dual Type 1 and Type 2 Dimensions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549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CA65B-9B07-4C4C-A955-55A57AB85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Slowly</a:t>
            </a:r>
            <a:r>
              <a:rPr lang="zh-CN" altLang="en-US" dirty="0"/>
              <a:t> </a:t>
            </a:r>
            <a:r>
              <a:rPr lang="en-US" altLang="zh-CN" dirty="0"/>
              <a:t>Changing</a:t>
            </a:r>
            <a:r>
              <a:rPr lang="zh-CN" altLang="en-US" dirty="0"/>
              <a:t> </a:t>
            </a:r>
            <a:r>
              <a:rPr lang="en-US" altLang="zh-CN" dirty="0"/>
              <a:t>Dimensions</a:t>
            </a:r>
            <a:r>
              <a:rPr lang="zh-CN" altLang="en-US" dirty="0"/>
              <a:t> </a:t>
            </a:r>
            <a:r>
              <a:rPr lang="en-US" altLang="zh-CN" dirty="0"/>
              <a:t>Examples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00C248-BB20-F044-BC3F-E02C929D04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20950" y="1690688"/>
            <a:ext cx="6451600" cy="2074847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53762B-51D8-1E49-B24E-227802825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C70194-2E81-8D48-851B-B601119C16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0950" y="4093445"/>
            <a:ext cx="6824663" cy="2421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911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E815E-4F1F-2D4E-A895-F6EB294C9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Order</a:t>
            </a:r>
            <a:r>
              <a:rPr lang="zh-CN" altLang="en-US" dirty="0"/>
              <a:t> </a:t>
            </a:r>
            <a:r>
              <a:rPr lang="en-US" altLang="zh-CN" dirty="0"/>
              <a:t>Management</a:t>
            </a:r>
            <a:r>
              <a:rPr lang="zh-CN" altLang="en-US" dirty="0"/>
              <a:t> </a:t>
            </a:r>
            <a:r>
              <a:rPr lang="en-US" altLang="zh-CN" dirty="0"/>
              <a:t>Bus</a:t>
            </a:r>
            <a:r>
              <a:rPr lang="zh-CN" altLang="en-US" dirty="0"/>
              <a:t> </a:t>
            </a:r>
            <a:r>
              <a:rPr lang="en-US" altLang="zh-CN" dirty="0"/>
              <a:t>Matrix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5DF133-19A8-F843-8BD5-7F0105C7D6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3501" y="1825625"/>
            <a:ext cx="8784998" cy="4351338"/>
          </a:xfrm>
        </p:spPr>
      </p:pic>
    </p:spTree>
    <p:extLst>
      <p:ext uri="{BB962C8B-B14F-4D97-AF65-F5344CB8AC3E}">
        <p14:creationId xmlns:p14="http://schemas.microsoft.com/office/powerpoint/2010/main" val="4030114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E7604-9042-214C-8BE2-913DAA836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Order</a:t>
            </a:r>
            <a:r>
              <a:rPr lang="zh-CN" altLang="en-US" dirty="0"/>
              <a:t> </a:t>
            </a:r>
            <a:r>
              <a:rPr lang="en-US" altLang="zh-CN" dirty="0"/>
              <a:t>Transactions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8F20C-A5F0-2846-BCC1-B5E836713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natural</a:t>
            </a:r>
            <a:r>
              <a:rPr lang="zh-CN" altLang="en-US" dirty="0"/>
              <a:t> </a:t>
            </a:r>
            <a:r>
              <a:rPr lang="en-US" altLang="zh-CN" dirty="0"/>
              <a:t>granularity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zh-CN" dirty="0"/>
              <a:t>order</a:t>
            </a:r>
            <a:r>
              <a:rPr lang="zh-CN" altLang="en-US" dirty="0"/>
              <a:t> </a:t>
            </a:r>
            <a:r>
              <a:rPr lang="en-US" altLang="zh-CN" dirty="0"/>
              <a:t>transaction</a:t>
            </a:r>
            <a:r>
              <a:rPr lang="zh-CN" altLang="en-US" dirty="0"/>
              <a:t> </a:t>
            </a:r>
            <a:r>
              <a:rPr lang="en-US" altLang="zh-CN" dirty="0"/>
              <a:t>fact</a:t>
            </a:r>
            <a:r>
              <a:rPr lang="zh-CN" altLang="en-US" dirty="0"/>
              <a:t> </a:t>
            </a:r>
            <a:r>
              <a:rPr lang="en-US" altLang="zh-CN" dirty="0"/>
              <a:t>table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one</a:t>
            </a:r>
            <a:r>
              <a:rPr lang="zh-CN" altLang="en-US" dirty="0"/>
              <a:t> </a:t>
            </a:r>
            <a:r>
              <a:rPr lang="en-US" altLang="zh-CN" dirty="0"/>
              <a:t>row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each</a:t>
            </a:r>
            <a:r>
              <a:rPr lang="zh-CN" altLang="en-US" dirty="0"/>
              <a:t> </a:t>
            </a:r>
            <a:r>
              <a:rPr lang="en-US" altLang="zh-CN" dirty="0"/>
              <a:t>line</a:t>
            </a:r>
            <a:r>
              <a:rPr lang="zh-CN" altLang="en-US" dirty="0"/>
              <a:t> </a:t>
            </a:r>
            <a:r>
              <a:rPr lang="en-US" altLang="zh-CN" dirty="0"/>
              <a:t>item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zh-CN" dirty="0"/>
              <a:t>order.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9BE098-8ECC-8141-9483-D91AFA502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474" y="2727268"/>
            <a:ext cx="8300803" cy="3127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255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2D0BB-5C27-EB43-A644-94C46D4A6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Dimension</a:t>
            </a:r>
            <a:r>
              <a:rPr lang="zh-CN" altLang="en-US" dirty="0"/>
              <a:t> </a:t>
            </a:r>
            <a:r>
              <a:rPr lang="en-US" altLang="zh-CN" dirty="0"/>
              <a:t>Role-Playing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0E2DA-D1CB-C644-B5ED-EFB126948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02836" cy="4351338"/>
          </a:xfrm>
        </p:spPr>
        <p:txBody>
          <a:bodyPr/>
          <a:lstStyle/>
          <a:p>
            <a:r>
              <a:rPr lang="en-US" altLang="zh-CN" dirty="0"/>
              <a:t>Role-Playing:</a:t>
            </a:r>
            <a:r>
              <a:rPr lang="zh-CN" altLang="en-US" dirty="0"/>
              <a:t> </a:t>
            </a:r>
            <a:r>
              <a:rPr lang="en-US" altLang="zh-CN" dirty="0"/>
              <a:t>occurs</a:t>
            </a:r>
            <a:r>
              <a:rPr lang="zh-CN" altLang="en-US" dirty="0"/>
              <a:t> </a:t>
            </a:r>
            <a:r>
              <a:rPr lang="en-US" altLang="zh-CN" dirty="0"/>
              <a:t>when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single</a:t>
            </a:r>
            <a:r>
              <a:rPr lang="zh-CN" altLang="en-US" dirty="0"/>
              <a:t> </a:t>
            </a:r>
            <a:r>
              <a:rPr lang="en-US" altLang="zh-CN" dirty="0"/>
              <a:t>dimension</a:t>
            </a:r>
            <a:r>
              <a:rPr lang="zh-CN" altLang="en-US" dirty="0"/>
              <a:t> </a:t>
            </a:r>
            <a:r>
              <a:rPr lang="en-US" altLang="zh-CN" dirty="0"/>
              <a:t>simultaneously</a:t>
            </a:r>
            <a:r>
              <a:rPr lang="zh-CN" altLang="en-US" dirty="0"/>
              <a:t> </a:t>
            </a:r>
            <a:r>
              <a:rPr lang="en-US" altLang="zh-CN" dirty="0"/>
              <a:t>appears</a:t>
            </a:r>
            <a:r>
              <a:rPr lang="zh-CN" altLang="en-US" dirty="0"/>
              <a:t> </a:t>
            </a:r>
            <a:r>
              <a:rPr lang="en-US" altLang="zh-CN" dirty="0"/>
              <a:t>several</a:t>
            </a:r>
            <a:r>
              <a:rPr lang="zh-CN" altLang="en-US" dirty="0"/>
              <a:t> </a:t>
            </a:r>
            <a:r>
              <a:rPr lang="en-US" altLang="zh-CN" dirty="0"/>
              <a:t>times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same</a:t>
            </a:r>
            <a:r>
              <a:rPr lang="zh-CN" altLang="en-US" dirty="0"/>
              <a:t> </a:t>
            </a:r>
            <a:r>
              <a:rPr lang="en-US" altLang="zh-CN" dirty="0"/>
              <a:t>fact</a:t>
            </a:r>
            <a:r>
              <a:rPr lang="zh-CN" altLang="en-US" dirty="0"/>
              <a:t> </a:t>
            </a:r>
            <a:r>
              <a:rPr lang="en-US" altLang="zh-CN" dirty="0"/>
              <a:t>table;</a:t>
            </a:r>
            <a:endParaRPr lang="en-US" dirty="0"/>
          </a:p>
          <a:p>
            <a:r>
              <a:rPr lang="en-US" altLang="zh-CN" dirty="0"/>
              <a:t>Date</a:t>
            </a:r>
            <a:r>
              <a:rPr lang="zh-CN" altLang="en-US" dirty="0"/>
              <a:t> </a:t>
            </a:r>
            <a:r>
              <a:rPr lang="en-US" altLang="zh-CN" dirty="0"/>
              <a:t>dimension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found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every</a:t>
            </a:r>
            <a:r>
              <a:rPr lang="zh-CN" altLang="en-US" dirty="0"/>
              <a:t> </a:t>
            </a:r>
            <a:r>
              <a:rPr lang="en-US" altLang="zh-CN" dirty="0"/>
              <a:t>fact</a:t>
            </a:r>
            <a:r>
              <a:rPr lang="zh-CN" altLang="en-US" dirty="0"/>
              <a:t> </a:t>
            </a:r>
            <a:r>
              <a:rPr lang="en-US" altLang="zh-CN" dirty="0"/>
              <a:t>table</a:t>
            </a:r>
            <a:r>
              <a:rPr lang="zh-CN" altLang="en-US" dirty="0"/>
              <a:t> </a:t>
            </a:r>
            <a:r>
              <a:rPr lang="en-US" altLang="zh-CN" dirty="0"/>
              <a:t>because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always</a:t>
            </a:r>
            <a:r>
              <a:rPr lang="zh-CN" altLang="en-US" dirty="0"/>
              <a:t> </a:t>
            </a:r>
            <a:r>
              <a:rPr lang="en-US" altLang="zh-CN" dirty="0"/>
              <a:t>looking</a:t>
            </a:r>
            <a:r>
              <a:rPr lang="zh-CN" altLang="en-US" dirty="0"/>
              <a:t> </a:t>
            </a:r>
            <a:r>
              <a:rPr lang="en-US" altLang="zh-CN" dirty="0"/>
              <a:t>at</a:t>
            </a:r>
            <a:r>
              <a:rPr lang="zh-CN" altLang="en-US" dirty="0"/>
              <a:t> </a:t>
            </a:r>
            <a:r>
              <a:rPr lang="en-US" altLang="zh-CN" dirty="0"/>
              <a:t>performance</a:t>
            </a:r>
            <a:r>
              <a:rPr lang="zh-CN" altLang="en-US" dirty="0"/>
              <a:t> </a:t>
            </a:r>
            <a:r>
              <a:rPr lang="en-US" altLang="zh-CN" dirty="0"/>
              <a:t>over</a:t>
            </a:r>
            <a:r>
              <a:rPr lang="zh-CN" altLang="en-US" dirty="0"/>
              <a:t> </a:t>
            </a:r>
            <a:r>
              <a:rPr lang="en-US" altLang="zh-CN" dirty="0"/>
              <a:t>time.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6AC8FA-721F-394E-8FA2-24A8AF6E3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691" y="1320911"/>
            <a:ext cx="4788109" cy="434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668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B44F4-99A2-2748-B1E8-20D4862D8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Role-playing date dimensions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88C6A-F6D7-3D4E-B41A-2EFCC69FE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690688"/>
            <a:ext cx="3943662" cy="4351338"/>
          </a:xfrm>
        </p:spPr>
        <p:txBody>
          <a:bodyPr/>
          <a:lstStyle/>
          <a:p>
            <a:r>
              <a:rPr lang="en-US" dirty="0"/>
              <a:t>Date dimension </a:t>
            </a:r>
            <a:r>
              <a:rPr lang="en-US" b="1" dirty="0">
                <a:solidFill>
                  <a:srgbClr val="002060"/>
                </a:solidFill>
              </a:rPr>
              <a:t>serves different roles </a:t>
            </a:r>
            <a:r>
              <a:rPr lang="en-US" dirty="0"/>
              <a:t>in a single fact table.</a:t>
            </a:r>
          </a:p>
          <a:p>
            <a:r>
              <a:rPr lang="en-US" dirty="0"/>
              <a:t>Each role is a </a:t>
            </a:r>
            <a:r>
              <a:rPr lang="en-US" b="1" dirty="0">
                <a:solidFill>
                  <a:srgbClr val="002060"/>
                </a:solidFill>
              </a:rPr>
              <a:t>separate view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/>
              <a:t>of underlying single physical table.</a:t>
            </a:r>
          </a:p>
          <a:p>
            <a:r>
              <a:rPr lang="en-US" dirty="0"/>
              <a:t>Each view should be </a:t>
            </a:r>
            <a:r>
              <a:rPr lang="en-US" b="1" dirty="0">
                <a:solidFill>
                  <a:srgbClr val="002060"/>
                </a:solidFill>
              </a:rPr>
              <a:t>uniquely labeled </a:t>
            </a:r>
            <a:r>
              <a:rPr lang="en-US" dirty="0"/>
              <a:t>to distinguish from the others.</a:t>
            </a:r>
          </a:p>
          <a:p>
            <a:endParaRPr lang="en-US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43091FC0-5D5E-604B-A247-49C675761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7305" y="1690688"/>
            <a:ext cx="7579783" cy="373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677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05FFE-7D40-304C-96F2-310B5A122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﻿Role Playing and the Bus Matrix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AD9920-8762-6343-910F-6D6E7D6423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6336" y="1690688"/>
            <a:ext cx="7019327" cy="4590587"/>
          </a:xfrm>
        </p:spPr>
      </p:pic>
    </p:spTree>
    <p:extLst>
      <p:ext uri="{BB962C8B-B14F-4D97-AF65-F5344CB8AC3E}">
        <p14:creationId xmlns:p14="http://schemas.microsoft.com/office/powerpoint/2010/main" val="2760133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BE924-D945-F147-92AE-D51429797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Dimension Revisited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014E2-A2E7-3E46-80AD-860C95F952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Product dimension describes the complete portfolio of products sold by a company:</a:t>
            </a:r>
          </a:p>
          <a:p>
            <a:r>
              <a:rPr lang="en-US" altLang="zh-CN" dirty="0"/>
              <a:t>Characteristics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Product</a:t>
            </a:r>
            <a:r>
              <a:rPr lang="zh-CN" altLang="en-US" dirty="0"/>
              <a:t> </a:t>
            </a:r>
            <a:r>
              <a:rPr lang="en-US" altLang="zh-CN" dirty="0"/>
              <a:t>dimension:</a:t>
            </a:r>
          </a:p>
          <a:p>
            <a:pPr lvl="1"/>
            <a:r>
              <a:rPr lang="en-US" altLang="zh-CN" dirty="0"/>
              <a:t>Numerous</a:t>
            </a:r>
            <a:r>
              <a:rPr lang="zh-CN" altLang="en-US" dirty="0"/>
              <a:t> </a:t>
            </a:r>
            <a:r>
              <a:rPr lang="en-US" altLang="zh-CN" dirty="0"/>
              <a:t>verbose</a:t>
            </a:r>
            <a:r>
              <a:rPr lang="zh-CN" altLang="en-US" dirty="0"/>
              <a:t> </a:t>
            </a:r>
            <a:r>
              <a:rPr lang="en-US" altLang="zh-CN" dirty="0"/>
              <a:t>descriptive</a:t>
            </a:r>
            <a:r>
              <a:rPr lang="zh-CN" altLang="en-US" dirty="0"/>
              <a:t> </a:t>
            </a:r>
            <a:r>
              <a:rPr lang="en-US" altLang="zh-CN" dirty="0"/>
              <a:t>columns;</a:t>
            </a:r>
          </a:p>
          <a:p>
            <a:pPr lvl="1"/>
            <a:r>
              <a:rPr lang="en-US" altLang="zh-CN" dirty="0"/>
              <a:t>One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attribute</a:t>
            </a:r>
            <a:r>
              <a:rPr lang="zh-CN" altLang="en-US" dirty="0"/>
              <a:t> </a:t>
            </a:r>
            <a:r>
              <a:rPr lang="en-US" altLang="zh-CN" dirty="0"/>
              <a:t>hierarchies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addition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many</a:t>
            </a:r>
            <a:r>
              <a:rPr lang="zh-CN" altLang="en-US" dirty="0"/>
              <a:t> </a:t>
            </a:r>
            <a:r>
              <a:rPr lang="en-US" altLang="zh-CN" dirty="0"/>
              <a:t>nonhierarchical</a:t>
            </a:r>
            <a:r>
              <a:rPr lang="zh-CN" altLang="en-US" dirty="0"/>
              <a:t> </a:t>
            </a:r>
            <a:r>
              <a:rPr lang="en-US" altLang="zh-CN" dirty="0"/>
              <a:t>attributes;</a:t>
            </a:r>
          </a:p>
          <a:p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master</a:t>
            </a:r>
            <a:r>
              <a:rPr lang="zh-CN" altLang="en-US" dirty="0"/>
              <a:t> </a:t>
            </a:r>
            <a:r>
              <a:rPr lang="en-US" altLang="zh-CN" dirty="0"/>
              <a:t>file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dimension</a:t>
            </a:r>
            <a:r>
              <a:rPr lang="zh-CN" altLang="en-US" dirty="0"/>
              <a:t> </a:t>
            </a:r>
            <a:r>
              <a:rPr lang="en-US" altLang="zh-CN" dirty="0"/>
              <a:t>table:</a:t>
            </a:r>
          </a:p>
          <a:p>
            <a:pPr lvl="1"/>
            <a:r>
              <a:rPr lang="en-US" dirty="0"/>
              <a:t>﻿Remap the operational product code to a surrogate key.</a:t>
            </a:r>
          </a:p>
          <a:p>
            <a:pPr lvl="1"/>
            <a:r>
              <a:rPr lang="en-US" dirty="0"/>
              <a:t>﻿Add descriptive attribute values to augment or replace operational codes.</a:t>
            </a:r>
          </a:p>
          <a:p>
            <a:pPr lvl="1"/>
            <a:r>
              <a:rPr lang="en-US" dirty="0"/>
              <a:t>﻿Quality check the attribute values to ensure no misspellings, impossible</a:t>
            </a:r>
            <a:r>
              <a:rPr lang="zh-CN" altLang="en-US" dirty="0"/>
              <a:t> </a:t>
            </a:r>
            <a:r>
              <a:rPr lang="en-US" dirty="0"/>
              <a:t>values, or multiple variations. </a:t>
            </a:r>
          </a:p>
          <a:p>
            <a:pPr lvl="1"/>
            <a:r>
              <a:rPr lang="en-US" dirty="0"/>
              <a:t>﻿Document the attribute definitions, interpretations, and origins in the</a:t>
            </a:r>
            <a:r>
              <a:rPr lang="zh-CN" altLang="en-US" dirty="0"/>
              <a:t> </a:t>
            </a:r>
            <a:r>
              <a:rPr lang="en-US" dirty="0"/>
              <a:t>metadata.</a:t>
            </a:r>
          </a:p>
        </p:txBody>
      </p:sp>
    </p:spTree>
    <p:extLst>
      <p:ext uri="{BB962C8B-B14F-4D97-AF65-F5344CB8AC3E}">
        <p14:creationId xmlns:p14="http://schemas.microsoft.com/office/powerpoint/2010/main" val="3837564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51581-E73A-3641-BFFB-0F7D3DBFE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Customer</a:t>
            </a:r>
            <a:r>
              <a:rPr lang="zh-CN" altLang="en-US" dirty="0"/>
              <a:t> </a:t>
            </a:r>
            <a:r>
              <a:rPr lang="en-US" altLang="zh-CN" dirty="0"/>
              <a:t>Ship-To</a:t>
            </a:r>
            <a:r>
              <a:rPr lang="zh-CN" altLang="en-US" dirty="0"/>
              <a:t> </a:t>
            </a:r>
            <a:r>
              <a:rPr lang="en-US" altLang="zh-CN" dirty="0"/>
              <a:t>Dimension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0D504-AAEB-CC41-8F0C-87CC606FA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customer</a:t>
            </a:r>
            <a:r>
              <a:rPr lang="zh-CN" altLang="en-US" dirty="0"/>
              <a:t> </a:t>
            </a:r>
            <a:r>
              <a:rPr lang="en-US" altLang="zh-CN" dirty="0"/>
              <a:t>ship-to</a:t>
            </a:r>
            <a:r>
              <a:rPr lang="zh-CN" altLang="en-US" dirty="0"/>
              <a:t> </a:t>
            </a:r>
            <a:r>
              <a:rPr lang="en-US" altLang="zh-CN" dirty="0"/>
              <a:t>dimension</a:t>
            </a:r>
            <a:r>
              <a:rPr lang="zh-CN" altLang="en-US" dirty="0"/>
              <a:t> </a:t>
            </a:r>
            <a:r>
              <a:rPr lang="en-US" altLang="zh-CN" dirty="0"/>
              <a:t>contains</a:t>
            </a:r>
            <a:r>
              <a:rPr lang="zh-CN" altLang="en-US" dirty="0"/>
              <a:t> </a:t>
            </a:r>
            <a:r>
              <a:rPr lang="en-US" altLang="zh-CN" dirty="0"/>
              <a:t>one</a:t>
            </a:r>
            <a:r>
              <a:rPr lang="zh-CN" altLang="en-US" dirty="0"/>
              <a:t> </a:t>
            </a:r>
            <a:r>
              <a:rPr lang="en-US" altLang="zh-CN" dirty="0"/>
              <a:t>row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each</a:t>
            </a:r>
            <a:r>
              <a:rPr lang="zh-CN" altLang="en-US" dirty="0"/>
              <a:t> </a:t>
            </a:r>
            <a:r>
              <a:rPr lang="en-US" altLang="zh-CN" dirty="0"/>
              <a:t>discrete</a:t>
            </a:r>
            <a:r>
              <a:rPr lang="zh-CN" altLang="en-US" dirty="0"/>
              <a:t> </a:t>
            </a:r>
            <a:r>
              <a:rPr lang="en-US" altLang="zh-CN" dirty="0"/>
              <a:t>location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which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ship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product.</a:t>
            </a:r>
          </a:p>
          <a:p>
            <a:r>
              <a:rPr lang="en-US" altLang="zh-CN" dirty="0"/>
              <a:t>Common</a:t>
            </a:r>
            <a:r>
              <a:rPr lang="zh-CN" altLang="en-US" dirty="0"/>
              <a:t> </a:t>
            </a:r>
            <a:r>
              <a:rPr lang="en-US" altLang="zh-CN" dirty="0"/>
              <a:t>hierarchy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natural</a:t>
            </a:r>
            <a:r>
              <a:rPr lang="zh-CN" altLang="en-US" dirty="0"/>
              <a:t> </a:t>
            </a:r>
            <a:r>
              <a:rPr lang="en-US" altLang="zh-CN" dirty="0"/>
              <a:t>geographic,</a:t>
            </a:r>
            <a:r>
              <a:rPr lang="zh-CN" altLang="en-US" dirty="0"/>
              <a:t> </a:t>
            </a:r>
            <a:r>
              <a:rPr lang="en-US" altLang="zh-CN" dirty="0"/>
              <a:t>customer’s</a:t>
            </a:r>
            <a:r>
              <a:rPr lang="zh-CN" altLang="en-US" dirty="0"/>
              <a:t> </a:t>
            </a:r>
            <a:r>
              <a:rPr lang="en-US" altLang="zh-CN" dirty="0"/>
              <a:t>organizational.</a:t>
            </a:r>
          </a:p>
          <a:p>
            <a:pPr lvl="1"/>
            <a:r>
              <a:rPr lang="en-US" altLang="zh-CN" dirty="0"/>
              <a:t>Country</a:t>
            </a:r>
            <a:r>
              <a:rPr lang="zh-CN" altLang="en-US" dirty="0"/>
              <a:t> </a:t>
            </a:r>
            <a:r>
              <a:rPr lang="en-US" altLang="zh-CN" dirty="0"/>
              <a:t>-&gt;</a:t>
            </a:r>
            <a:r>
              <a:rPr lang="zh-CN" altLang="en-US" dirty="0"/>
              <a:t> </a:t>
            </a:r>
            <a:r>
              <a:rPr lang="en-US" altLang="zh-CN" dirty="0"/>
              <a:t>Region</a:t>
            </a:r>
            <a:r>
              <a:rPr lang="zh-CN" altLang="en-US" dirty="0"/>
              <a:t> </a:t>
            </a:r>
            <a:r>
              <a:rPr lang="en-US" altLang="zh-CN" dirty="0"/>
              <a:t>-&gt;</a:t>
            </a:r>
            <a:r>
              <a:rPr lang="zh-CN" altLang="en-US" dirty="0"/>
              <a:t> </a:t>
            </a:r>
            <a:r>
              <a:rPr lang="en-US" altLang="zh-CN" dirty="0"/>
              <a:t>Province</a:t>
            </a:r>
            <a:r>
              <a:rPr lang="zh-CN" altLang="en-US" dirty="0"/>
              <a:t> </a:t>
            </a:r>
            <a:r>
              <a:rPr lang="en-US" altLang="zh-CN" dirty="0"/>
              <a:t>-&gt;</a:t>
            </a:r>
            <a:r>
              <a:rPr lang="zh-CN" altLang="en-US" dirty="0"/>
              <a:t> </a:t>
            </a:r>
            <a:r>
              <a:rPr lang="en-US" altLang="zh-CN" dirty="0"/>
              <a:t>Address</a:t>
            </a:r>
          </a:p>
          <a:p>
            <a:pPr lvl="1"/>
            <a:r>
              <a:rPr lang="en-US" altLang="zh-CN" dirty="0"/>
              <a:t>Bill’s</a:t>
            </a:r>
            <a:r>
              <a:rPr lang="zh-CN" altLang="en-US" dirty="0"/>
              <a:t> </a:t>
            </a:r>
            <a:r>
              <a:rPr lang="en-US" altLang="zh-CN" dirty="0"/>
              <a:t>number</a:t>
            </a:r>
            <a:r>
              <a:rPr lang="zh-CN" altLang="en-US" dirty="0"/>
              <a:t> </a:t>
            </a:r>
            <a:r>
              <a:rPr lang="en-US" altLang="zh-CN" dirty="0"/>
              <a:t>-&gt;</a:t>
            </a:r>
            <a:r>
              <a:rPr lang="zh-CN" altLang="en-US" dirty="0"/>
              <a:t> </a:t>
            </a:r>
            <a:r>
              <a:rPr lang="en-US" altLang="zh-CN" dirty="0"/>
              <a:t>Customer</a:t>
            </a:r>
            <a:r>
              <a:rPr lang="zh-CN" altLang="en-US" dirty="0"/>
              <a:t> </a:t>
            </a:r>
            <a:r>
              <a:rPr lang="en-US" altLang="zh-CN" dirty="0"/>
              <a:t>Name</a:t>
            </a:r>
            <a:r>
              <a:rPr lang="zh-CN" altLang="en-US" dirty="0"/>
              <a:t> </a:t>
            </a:r>
            <a:r>
              <a:rPr lang="en-US" altLang="zh-CN" dirty="0"/>
              <a:t>-&gt;</a:t>
            </a:r>
            <a:r>
              <a:rPr lang="zh-CN" altLang="en-US" dirty="0"/>
              <a:t> </a:t>
            </a:r>
            <a:r>
              <a:rPr lang="en-US" altLang="zh-CN" dirty="0"/>
              <a:t>Customer</a:t>
            </a:r>
            <a:r>
              <a:rPr lang="zh-CN" altLang="en-US" dirty="0"/>
              <a:t> </a:t>
            </a:r>
            <a:r>
              <a:rPr lang="en-US" altLang="zh-CN" dirty="0"/>
              <a:t>Organization</a:t>
            </a:r>
            <a:r>
              <a:rPr lang="zh-CN" altLang="en-US" dirty="0"/>
              <a:t> </a:t>
            </a:r>
            <a:r>
              <a:rPr lang="en-US" altLang="zh-CN" dirty="0"/>
              <a:t>Name</a:t>
            </a:r>
            <a:r>
              <a:rPr lang="zh-CN" altLang="en-US" dirty="0"/>
              <a:t> </a:t>
            </a:r>
            <a:r>
              <a:rPr lang="en-US" altLang="zh-CN" dirty="0"/>
              <a:t>-&gt;</a:t>
            </a:r>
            <a:r>
              <a:rPr lang="zh-CN" altLang="en-US" dirty="0"/>
              <a:t> </a:t>
            </a:r>
            <a:r>
              <a:rPr lang="en-US" altLang="zh-CN" dirty="0"/>
              <a:t>Customer</a:t>
            </a:r>
            <a:r>
              <a:rPr lang="zh-CN" altLang="en-US" dirty="0"/>
              <a:t> </a:t>
            </a:r>
            <a:r>
              <a:rPr lang="en-US" altLang="zh-CN" dirty="0"/>
              <a:t>Corporate</a:t>
            </a:r>
            <a:r>
              <a:rPr lang="zh-CN" altLang="en-US" dirty="0"/>
              <a:t> </a:t>
            </a:r>
            <a:r>
              <a:rPr lang="en-US" altLang="zh-CN" dirty="0"/>
              <a:t>Parent</a:t>
            </a:r>
            <a:r>
              <a:rPr lang="zh-CN" altLang="en-US" dirty="0"/>
              <a:t> </a:t>
            </a:r>
            <a:r>
              <a:rPr lang="en-US" altLang="zh-CN" dirty="0"/>
              <a:t>Name;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368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FEB41-5390-8B43-A5B2-27B0527E8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Customer</a:t>
            </a:r>
            <a:r>
              <a:rPr lang="zh-CN" altLang="en-US" dirty="0"/>
              <a:t> </a:t>
            </a:r>
            <a:r>
              <a:rPr lang="en-US" altLang="zh-CN" dirty="0"/>
              <a:t>Ship-To</a:t>
            </a:r>
            <a:r>
              <a:rPr lang="zh-CN" altLang="en-US" dirty="0"/>
              <a:t> </a:t>
            </a:r>
            <a:r>
              <a:rPr lang="en-US" altLang="zh-CN" dirty="0"/>
              <a:t>Dimension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C62838-41C1-BE40-9EC4-E02CD408AA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68712" y="1915318"/>
            <a:ext cx="4375150" cy="4491599"/>
          </a:xfrm>
        </p:spPr>
      </p:pic>
    </p:spTree>
    <p:extLst>
      <p:ext uri="{BB962C8B-B14F-4D97-AF65-F5344CB8AC3E}">
        <p14:creationId xmlns:p14="http://schemas.microsoft.com/office/powerpoint/2010/main" val="310571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C4B19-2A25-AC41-A3EB-2399A2BD7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Junk</a:t>
            </a:r>
            <a:r>
              <a:rPr lang="zh-CN" altLang="en-US" dirty="0"/>
              <a:t> </a:t>
            </a:r>
            <a:r>
              <a:rPr lang="en-US" altLang="zh-CN" dirty="0"/>
              <a:t>Dimensions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28ECA-E31C-3B4D-A1D3-FF654CF6C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junk</a:t>
            </a:r>
            <a:r>
              <a:rPr lang="zh-CN" altLang="en-US" dirty="0"/>
              <a:t> </a:t>
            </a:r>
            <a:r>
              <a:rPr lang="en-US" altLang="zh-CN" dirty="0"/>
              <a:t>dimension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convenient</a:t>
            </a:r>
            <a:r>
              <a:rPr lang="zh-CN" altLang="en-US" dirty="0"/>
              <a:t> </a:t>
            </a:r>
            <a:r>
              <a:rPr lang="en-US" altLang="zh-CN" dirty="0"/>
              <a:t>grouping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typically</a:t>
            </a:r>
            <a:r>
              <a:rPr lang="zh-CN" altLang="en-US" dirty="0"/>
              <a:t> </a:t>
            </a:r>
            <a:r>
              <a:rPr lang="en-US" altLang="zh-CN" dirty="0"/>
              <a:t>low-cardinality</a:t>
            </a:r>
            <a:r>
              <a:rPr lang="zh-CN" altLang="en-US" dirty="0"/>
              <a:t> </a:t>
            </a:r>
            <a:r>
              <a:rPr lang="en-US" altLang="zh-CN" dirty="0"/>
              <a:t>flags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indicators.</a:t>
            </a:r>
          </a:p>
          <a:p>
            <a:pPr lvl="1"/>
            <a:r>
              <a:rPr lang="en-US" dirty="0"/>
              <a:t>﻿</a:t>
            </a:r>
            <a:r>
              <a:rPr lang="en-US" altLang="zh-CN" dirty="0"/>
              <a:t>T</a:t>
            </a:r>
            <a:r>
              <a:rPr lang="en-US" dirty="0"/>
              <a:t>ransaction indicator</a:t>
            </a:r>
            <a:r>
              <a:rPr lang="zh-CN" altLang="en-US" dirty="0"/>
              <a:t> </a:t>
            </a:r>
            <a:r>
              <a:rPr lang="en-US" dirty="0"/>
              <a:t>or transaction profile dimension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Why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junk</a:t>
            </a:r>
            <a:r>
              <a:rPr lang="zh-CN" altLang="en-US" dirty="0"/>
              <a:t> </a:t>
            </a:r>
            <a:r>
              <a:rPr lang="en-US" altLang="zh-CN" dirty="0"/>
              <a:t>dimension,</a:t>
            </a:r>
            <a:r>
              <a:rPr lang="zh-CN" altLang="en-US" dirty="0"/>
              <a:t> </a:t>
            </a:r>
            <a:r>
              <a:rPr lang="en-US" altLang="zh-CN" dirty="0"/>
              <a:t>other</a:t>
            </a:r>
            <a:r>
              <a:rPr lang="zh-CN" altLang="en-US" dirty="0"/>
              <a:t> </a:t>
            </a:r>
            <a:r>
              <a:rPr lang="en-US" altLang="zh-CN" dirty="0"/>
              <a:t>alternatives:</a:t>
            </a:r>
          </a:p>
          <a:p>
            <a:pPr lvl="1"/>
            <a:r>
              <a:rPr lang="en-US" altLang="zh-CN" dirty="0"/>
              <a:t>Ignore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flags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indicators;</a:t>
            </a:r>
          </a:p>
          <a:p>
            <a:pPr lvl="1"/>
            <a:r>
              <a:rPr lang="en-US" altLang="zh-CN" dirty="0"/>
              <a:t>Leave</a:t>
            </a:r>
            <a:r>
              <a:rPr lang="zh-CN" altLang="en-US" dirty="0"/>
              <a:t> </a:t>
            </a:r>
            <a:r>
              <a:rPr lang="en-US" altLang="zh-CN" dirty="0"/>
              <a:t>flags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indicators</a:t>
            </a:r>
            <a:r>
              <a:rPr lang="zh-CN" altLang="en-US" dirty="0"/>
              <a:t> </a:t>
            </a:r>
            <a:r>
              <a:rPr lang="en-US" altLang="zh-CN" dirty="0"/>
              <a:t>unchanged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fact</a:t>
            </a:r>
            <a:r>
              <a:rPr lang="zh-CN" altLang="en-US" dirty="0"/>
              <a:t> </a:t>
            </a:r>
            <a:r>
              <a:rPr lang="en-US" altLang="zh-CN" dirty="0"/>
              <a:t>table</a:t>
            </a:r>
            <a:r>
              <a:rPr lang="zh-CN" altLang="en-US" dirty="0"/>
              <a:t> </a:t>
            </a:r>
            <a:r>
              <a:rPr lang="en-US" altLang="zh-CN" dirty="0"/>
              <a:t>row;</a:t>
            </a:r>
          </a:p>
          <a:p>
            <a:pPr lvl="1"/>
            <a:r>
              <a:rPr lang="en-US" altLang="zh-CN" dirty="0"/>
              <a:t>Make</a:t>
            </a:r>
            <a:r>
              <a:rPr lang="zh-CN" altLang="en-US" dirty="0"/>
              <a:t> </a:t>
            </a:r>
            <a:r>
              <a:rPr lang="en-US" altLang="zh-CN" dirty="0"/>
              <a:t>each</a:t>
            </a:r>
            <a:r>
              <a:rPr lang="zh-CN" altLang="en-US" dirty="0"/>
              <a:t> </a:t>
            </a:r>
            <a:r>
              <a:rPr lang="en-US" altLang="zh-CN" dirty="0"/>
              <a:t>flag,</a:t>
            </a:r>
            <a:r>
              <a:rPr lang="zh-CN" altLang="en-US" dirty="0"/>
              <a:t> </a:t>
            </a:r>
            <a:r>
              <a:rPr lang="en-US" altLang="zh-CN" dirty="0"/>
              <a:t>indicator</a:t>
            </a:r>
            <a:r>
              <a:rPr lang="zh-CN" altLang="en-US" dirty="0"/>
              <a:t> </a:t>
            </a:r>
            <a:r>
              <a:rPr lang="en-US" altLang="zh-CN" dirty="0"/>
              <a:t>into</a:t>
            </a:r>
            <a:r>
              <a:rPr lang="zh-CN" altLang="en-US" dirty="0"/>
              <a:t> </a:t>
            </a:r>
            <a:r>
              <a:rPr lang="en-US" altLang="zh-CN" dirty="0"/>
              <a:t>its</a:t>
            </a:r>
            <a:r>
              <a:rPr lang="zh-CN" altLang="en-US" dirty="0"/>
              <a:t> </a:t>
            </a:r>
            <a:r>
              <a:rPr lang="en-US" altLang="zh-CN" dirty="0"/>
              <a:t>own</a:t>
            </a:r>
            <a:r>
              <a:rPr lang="zh-CN" altLang="en-US" dirty="0"/>
              <a:t> </a:t>
            </a:r>
            <a:r>
              <a:rPr lang="en-US" altLang="zh-CN" dirty="0"/>
              <a:t>separate</a:t>
            </a:r>
            <a:r>
              <a:rPr lang="zh-CN" altLang="en-US" dirty="0"/>
              <a:t> </a:t>
            </a:r>
            <a:r>
              <a:rPr lang="en-US" altLang="zh-CN" dirty="0"/>
              <a:t>dimension;</a:t>
            </a:r>
          </a:p>
          <a:p>
            <a:pPr lvl="1"/>
            <a:r>
              <a:rPr lang="en-US" altLang="zh-CN" dirty="0"/>
              <a:t>Strip</a:t>
            </a:r>
            <a:r>
              <a:rPr lang="zh-CN" altLang="en-US" dirty="0"/>
              <a:t> </a:t>
            </a:r>
            <a:r>
              <a:rPr lang="en-US" altLang="zh-CN" dirty="0"/>
              <a:t>out</a:t>
            </a:r>
            <a:r>
              <a:rPr lang="zh-CN" altLang="en-US" dirty="0"/>
              <a:t> </a:t>
            </a:r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flags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indicators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design.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79368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7FB93-02C8-9645-80A2-C83B15CE3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Junk</a:t>
            </a:r>
            <a:r>
              <a:rPr lang="zh-CN" altLang="en-US" dirty="0"/>
              <a:t> </a:t>
            </a:r>
            <a:r>
              <a:rPr lang="en-US" altLang="zh-CN" dirty="0"/>
              <a:t>Dimension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4B00D-BE1A-3147-A4DF-DC97EF947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﻿Sample rows of order indicator junk dimension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endParaRPr lang="en-US" altLang="zh-CN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CF584A-1129-CF42-9932-784D1373E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858" y="2402824"/>
            <a:ext cx="7719935" cy="3909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7690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9E5AB-A873-9E48-A856-2ADFC0DDC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﻿Multiple Currencies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45C92-B8EA-0342-B898-F97D299F6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Multiple</a:t>
            </a:r>
            <a:r>
              <a:rPr lang="zh-CN" altLang="en-US" dirty="0"/>
              <a:t> </a:t>
            </a:r>
            <a:r>
              <a:rPr lang="en-US" altLang="zh-CN" dirty="0"/>
              <a:t>Currencies:</a:t>
            </a:r>
            <a:r>
              <a:rPr lang="zh-CN" altLang="en-US" dirty="0"/>
              <a:t> </a:t>
            </a:r>
            <a:r>
              <a:rPr lang="en-US" altLang="zh-CN" dirty="0"/>
              <a:t>Expressed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both</a:t>
            </a:r>
            <a:r>
              <a:rPr lang="zh-CN" altLang="en-US" dirty="0"/>
              <a:t> </a:t>
            </a:r>
            <a:r>
              <a:rPr lang="en-US" altLang="zh-CN" dirty="0"/>
              <a:t>local</a:t>
            </a:r>
            <a:r>
              <a:rPr lang="zh-CN" altLang="en-US" dirty="0"/>
              <a:t> </a:t>
            </a:r>
            <a:r>
              <a:rPr lang="en-US" altLang="zh-CN" dirty="0"/>
              <a:t>currency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standardized</a:t>
            </a:r>
            <a:r>
              <a:rPr lang="zh-CN" altLang="en-US" dirty="0"/>
              <a:t> </a:t>
            </a:r>
            <a:r>
              <a:rPr lang="en-US" altLang="zh-CN" dirty="0"/>
              <a:t>corporate</a:t>
            </a:r>
            <a:r>
              <a:rPr lang="zh-CN" altLang="en-US" dirty="0"/>
              <a:t> </a:t>
            </a:r>
            <a:r>
              <a:rPr lang="en-US" altLang="zh-CN" dirty="0"/>
              <a:t>currency;</a:t>
            </a:r>
            <a:endParaRPr lang="en-US" dirty="0"/>
          </a:p>
          <a:p>
            <a:pPr lvl="1"/>
            <a:r>
              <a:rPr lang="en-US" altLang="zh-CN" dirty="0"/>
              <a:t>Each order fact would be</a:t>
            </a:r>
            <a:r>
              <a:rPr lang="zh-CN" altLang="en-US" dirty="0"/>
              <a:t> </a:t>
            </a:r>
            <a:r>
              <a:rPr lang="en-US" altLang="zh-CN" dirty="0"/>
              <a:t>replaced with a pair of facts, one for the applicable local currency and another for</a:t>
            </a:r>
            <a:r>
              <a:rPr lang="zh-CN" altLang="en-US" dirty="0"/>
              <a:t> </a:t>
            </a:r>
            <a:r>
              <a:rPr lang="en-US" altLang="zh-CN" dirty="0"/>
              <a:t>the equivalent standard corporate currency;</a:t>
            </a:r>
            <a:endParaRPr lang="en-US" dirty="0"/>
          </a:p>
          <a:p>
            <a:pPr lvl="1"/>
            <a:r>
              <a:rPr lang="en-US" dirty="0"/>
              <a:t>﻿</a:t>
            </a:r>
            <a:r>
              <a:rPr lang="en-US" altLang="zh-CN" dirty="0"/>
              <a:t>S</a:t>
            </a:r>
            <a:r>
              <a:rPr lang="en-US" dirty="0"/>
              <a:t>upplement ﻿the fact table with a currency dimension to identify the currency type associated with the local currency facts;</a:t>
            </a:r>
          </a:p>
          <a:p>
            <a:pPr lvl="1"/>
            <a:r>
              <a:rPr lang="en-US" dirty="0"/>
              <a:t>Currency dimension is needed even with location, ﻿because the location does not necessarily guarantee which currency was used;</a:t>
            </a:r>
          </a:p>
        </p:txBody>
      </p:sp>
    </p:spTree>
    <p:extLst>
      <p:ext uri="{BB962C8B-B14F-4D97-AF65-F5344CB8AC3E}">
        <p14:creationId xmlns:p14="http://schemas.microsoft.com/office/powerpoint/2010/main" val="3541850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3722E-A6C9-8640-B1C5-C0848A0BD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﻿Metrics in multiple currencies within the fact table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77990C-2DBB-944B-BE56-01290EC091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5136" y="1910835"/>
            <a:ext cx="6512939" cy="351052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29B97C-2E6B-8B49-B268-A257461D6127}"/>
              </a:ext>
            </a:extLst>
          </p:cNvPr>
          <p:cNvSpPr txBox="1"/>
          <p:nvPr/>
        </p:nvSpPr>
        <p:spPr>
          <a:xfrm>
            <a:off x="452437" y="5278160"/>
            <a:ext cx="287655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Supports</a:t>
            </a:r>
            <a:r>
              <a:rPr lang="zh-CN" altLang="en-US" dirty="0"/>
              <a:t> </a:t>
            </a:r>
            <a:r>
              <a:rPr lang="en-US" altLang="zh-CN" dirty="0"/>
              <a:t>reporting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facts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two</a:t>
            </a:r>
            <a:r>
              <a:rPr lang="zh-CN" altLang="en-US" dirty="0"/>
              <a:t> </a:t>
            </a:r>
            <a:r>
              <a:rPr lang="en-US" altLang="zh-CN" dirty="0"/>
              <a:t>currencies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BBCB8E5-0191-5348-8708-3E0368C581C9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3328987" y="4943476"/>
            <a:ext cx="528638" cy="657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512415D8-57FD-A641-8A10-FF1D75D7B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315" y="2043112"/>
            <a:ext cx="4024960" cy="189748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DFEF56C-EFEA-7441-BD80-64F9E3073F17}"/>
              </a:ext>
            </a:extLst>
          </p:cNvPr>
          <p:cNvSpPr txBox="1"/>
          <p:nvPr/>
        </p:nvSpPr>
        <p:spPr>
          <a:xfrm>
            <a:off x="8148637" y="4775024"/>
            <a:ext cx="287655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Supports</a:t>
            </a:r>
            <a:r>
              <a:rPr lang="zh-CN" altLang="en-US" dirty="0"/>
              <a:t> </a:t>
            </a:r>
            <a:r>
              <a:rPr lang="en-US" altLang="zh-CN" dirty="0"/>
              <a:t>reporting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facts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multiple</a:t>
            </a:r>
            <a:r>
              <a:rPr lang="zh-CN" altLang="en-US" dirty="0"/>
              <a:t> </a:t>
            </a:r>
            <a:r>
              <a:rPr lang="en-US" altLang="zh-CN" dirty="0"/>
              <a:t>currencies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FAA3180-1A02-4C41-98EB-019BDB26BD18}"/>
              </a:ext>
            </a:extLst>
          </p:cNvPr>
          <p:cNvCxnSpPr/>
          <p:nvPr/>
        </p:nvCxnSpPr>
        <p:spPr>
          <a:xfrm flipH="1" flipV="1">
            <a:off x="9201150" y="3940593"/>
            <a:ext cx="171450" cy="8344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0210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604BE-8629-C140-8A8C-055B61B07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Header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Line</a:t>
            </a:r>
            <a:r>
              <a:rPr lang="zh-CN" altLang="en-US" dirty="0"/>
              <a:t> </a:t>
            </a:r>
            <a:r>
              <a:rPr lang="en-US" altLang="zh-CN" dirty="0"/>
              <a:t>Item</a:t>
            </a:r>
            <a:r>
              <a:rPr lang="zh-CN" altLang="en-US" dirty="0"/>
              <a:t> </a:t>
            </a:r>
            <a:r>
              <a:rPr lang="en-US" altLang="zh-CN" dirty="0"/>
              <a:t>Facts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Different</a:t>
            </a:r>
            <a:r>
              <a:rPr lang="zh-CN" altLang="en-US" dirty="0"/>
              <a:t> </a:t>
            </a:r>
            <a:r>
              <a:rPr lang="en-US" altLang="zh-CN" dirty="0"/>
              <a:t>Granularity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5A2B4-3409-DA4F-82B1-765947BCE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06138" cy="4351338"/>
          </a:xfrm>
        </p:spPr>
        <p:txBody>
          <a:bodyPr/>
          <a:lstStyle/>
          <a:p>
            <a:r>
              <a:rPr lang="en-US" altLang="zh-CN" dirty="0"/>
              <a:t>Should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mix</a:t>
            </a:r>
            <a:r>
              <a:rPr lang="zh-CN" altLang="en-US" dirty="0"/>
              <a:t> </a:t>
            </a:r>
            <a:r>
              <a:rPr lang="en-US" altLang="zh-CN" dirty="0"/>
              <a:t>fact</a:t>
            </a:r>
            <a:r>
              <a:rPr lang="zh-CN" altLang="en-US" dirty="0"/>
              <a:t> </a:t>
            </a:r>
            <a:r>
              <a:rPr lang="en-US" altLang="zh-CN" dirty="0"/>
              <a:t>granularities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example,</a:t>
            </a:r>
            <a:r>
              <a:rPr lang="zh-CN" altLang="en-US" dirty="0"/>
              <a:t> </a:t>
            </a:r>
            <a:r>
              <a:rPr lang="en-US" altLang="zh-CN" dirty="0"/>
              <a:t>order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order</a:t>
            </a:r>
            <a:r>
              <a:rPr lang="zh-CN" altLang="en-US" dirty="0"/>
              <a:t> </a:t>
            </a:r>
            <a:r>
              <a:rPr lang="en-US" altLang="zh-CN" dirty="0"/>
              <a:t>line</a:t>
            </a:r>
            <a:r>
              <a:rPr lang="zh-CN" altLang="en-US" dirty="0"/>
              <a:t> </a:t>
            </a:r>
            <a:r>
              <a:rPr lang="en-US" altLang="zh-CN" dirty="0"/>
              <a:t>facts)</a:t>
            </a:r>
            <a:r>
              <a:rPr lang="zh-CN" altLang="en-US" dirty="0"/>
              <a:t> </a:t>
            </a:r>
            <a:r>
              <a:rPr lang="en-US" altLang="zh-CN" dirty="0"/>
              <a:t>within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single</a:t>
            </a:r>
            <a:r>
              <a:rPr lang="zh-CN" altLang="en-US" dirty="0"/>
              <a:t> </a:t>
            </a:r>
            <a:r>
              <a:rPr lang="en-US" altLang="zh-CN" dirty="0"/>
              <a:t>fact</a:t>
            </a:r>
            <a:r>
              <a:rPr lang="zh-CN" altLang="en-US" dirty="0"/>
              <a:t> </a:t>
            </a:r>
            <a:r>
              <a:rPr lang="en-US" altLang="zh-CN" dirty="0"/>
              <a:t>table;</a:t>
            </a:r>
          </a:p>
          <a:p>
            <a:r>
              <a:rPr lang="en-US" altLang="zh-CN" dirty="0"/>
              <a:t>Allocating</a:t>
            </a:r>
            <a:r>
              <a:rPr lang="zh-CN" altLang="en-US" dirty="0"/>
              <a:t> </a:t>
            </a:r>
            <a:r>
              <a:rPr lang="en-US" altLang="zh-CN" dirty="0"/>
              <a:t>header</a:t>
            </a:r>
            <a:r>
              <a:rPr lang="zh-CN" altLang="en-US" dirty="0"/>
              <a:t> </a:t>
            </a:r>
            <a:r>
              <a:rPr lang="en-US" altLang="zh-CN" dirty="0"/>
              <a:t>facts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line</a:t>
            </a:r>
            <a:r>
              <a:rPr lang="zh-CN" altLang="en-US" dirty="0"/>
              <a:t> </a:t>
            </a:r>
            <a:r>
              <a:rPr lang="en-US" altLang="zh-CN" dirty="0"/>
              <a:t>item: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57E6BA-E191-B146-A3DB-3255796D3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650" y="3328610"/>
            <a:ext cx="6599237" cy="28483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E08DBE-A860-8E47-BD7B-A558FC9A9394}"/>
              </a:ext>
            </a:extLst>
          </p:cNvPr>
          <p:cNvSpPr txBox="1"/>
          <p:nvPr/>
        </p:nvSpPr>
        <p:spPr>
          <a:xfrm>
            <a:off x="457201" y="4752786"/>
            <a:ext cx="2014537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 product dimension is absent from the header fact table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4F2A159-0CF0-E446-9CF6-0CD6C1BE831C}"/>
              </a:ext>
            </a:extLst>
          </p:cNvPr>
          <p:cNvCxnSpPr>
            <a:stCxn id="6" idx="3"/>
          </p:cNvCxnSpPr>
          <p:nvPr/>
        </p:nvCxnSpPr>
        <p:spPr>
          <a:xfrm>
            <a:off x="2471738" y="5352951"/>
            <a:ext cx="685800" cy="600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FC9788F-243A-4741-A561-2A700A0E8894}"/>
              </a:ext>
            </a:extLst>
          </p:cNvPr>
          <p:cNvSpPr txBox="1"/>
          <p:nvPr/>
        </p:nvSpPr>
        <p:spPr>
          <a:xfrm>
            <a:off x="9829800" y="3862198"/>
            <a:ext cx="2014537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When header facts are allocated to the line level, we are able to analyze them by the product dimension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5E1ED2C-F401-D641-9056-A84B4C42C9A4}"/>
              </a:ext>
            </a:extLst>
          </p:cNvPr>
          <p:cNvCxnSpPr/>
          <p:nvPr/>
        </p:nvCxnSpPr>
        <p:spPr>
          <a:xfrm flipH="1">
            <a:off x="9640887" y="5653033"/>
            <a:ext cx="460376" cy="300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57559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E1AA5-D57C-A548-91D4-5FC6B0D32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﻿</a:t>
            </a:r>
            <a:r>
              <a:rPr lang="en-US" altLang="zh-CN" dirty="0"/>
              <a:t>A</a:t>
            </a:r>
            <a:r>
              <a:rPr lang="en-US" dirty="0"/>
              <a:t>lternative techniques for handling</a:t>
            </a:r>
            <a:br>
              <a:rPr lang="en-US" dirty="0"/>
            </a:br>
            <a:r>
              <a:rPr lang="en-US" dirty="0"/>
              <a:t>header/line facts at diﬀerent granularity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71311-9B35-234A-9393-41C4DC7E1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﻿</a:t>
            </a:r>
            <a:r>
              <a:rPr lang="en-US" sz="3200" dirty="0"/>
              <a:t>Repeat the unallocated header fact on every line.</a:t>
            </a:r>
          </a:p>
          <a:p>
            <a:r>
              <a:rPr lang="en-US" sz="3200" dirty="0"/>
              <a:t>﻿Store the unallocated amount on the transaction’s first or last line. </a:t>
            </a:r>
          </a:p>
          <a:p>
            <a:r>
              <a:rPr lang="en-US" sz="3200" dirty="0"/>
              <a:t>﻿Set up a special product key for the header fact. </a:t>
            </a:r>
          </a:p>
        </p:txBody>
      </p:sp>
    </p:spTree>
    <p:extLst>
      <p:ext uri="{BB962C8B-B14F-4D97-AF65-F5344CB8AC3E}">
        <p14:creationId xmlns:p14="http://schemas.microsoft.com/office/powerpoint/2010/main" val="14265954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5875F-EC78-EA4B-9800-841C0F3F4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Invoice</a:t>
            </a:r>
            <a:r>
              <a:rPr lang="zh-CN" altLang="en-US" dirty="0"/>
              <a:t> </a:t>
            </a:r>
            <a:r>
              <a:rPr lang="en-US" altLang="zh-CN" dirty="0"/>
              <a:t>Transactions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38C7E-A75A-974E-B8B6-D94239064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Occurs</a:t>
            </a:r>
            <a:r>
              <a:rPr lang="zh-CN" altLang="en-US" sz="3200" dirty="0"/>
              <a:t> </a:t>
            </a:r>
            <a:r>
              <a:rPr lang="en-US" altLang="zh-CN" sz="3200" dirty="0"/>
              <a:t>when</a:t>
            </a:r>
            <a:r>
              <a:rPr lang="zh-CN" altLang="en-US" sz="3200" dirty="0"/>
              <a:t> </a:t>
            </a:r>
            <a:r>
              <a:rPr lang="en-US" altLang="zh-CN" sz="3200" dirty="0"/>
              <a:t>products</a:t>
            </a:r>
            <a:r>
              <a:rPr lang="zh-CN" altLang="en-US" sz="3200" dirty="0"/>
              <a:t> </a:t>
            </a:r>
            <a:r>
              <a:rPr lang="en-US" altLang="zh-CN" sz="3200" dirty="0"/>
              <a:t>are</a:t>
            </a:r>
            <a:r>
              <a:rPr lang="zh-CN" altLang="en-US" sz="3200" dirty="0"/>
              <a:t> </a:t>
            </a:r>
            <a:r>
              <a:rPr lang="en-US" altLang="zh-CN" sz="3200" dirty="0"/>
              <a:t>shipped</a:t>
            </a:r>
            <a:r>
              <a:rPr lang="zh-CN" altLang="en-US" sz="3200" dirty="0"/>
              <a:t> </a:t>
            </a:r>
            <a:r>
              <a:rPr lang="en-US" altLang="zh-CN" sz="3200" dirty="0"/>
              <a:t>from</a:t>
            </a:r>
            <a:r>
              <a:rPr lang="zh-CN" altLang="en-US" sz="3200" dirty="0"/>
              <a:t> </a:t>
            </a:r>
            <a:r>
              <a:rPr lang="en-US" altLang="zh-CN" sz="3200" dirty="0"/>
              <a:t>our</a:t>
            </a:r>
            <a:r>
              <a:rPr lang="zh-CN" altLang="en-US" sz="3200" dirty="0"/>
              <a:t> </a:t>
            </a:r>
            <a:r>
              <a:rPr lang="en-US" altLang="zh-CN" sz="3200" dirty="0"/>
              <a:t>facility</a:t>
            </a:r>
            <a:r>
              <a:rPr lang="zh-CN" altLang="en-US" sz="3200" dirty="0"/>
              <a:t> </a:t>
            </a:r>
            <a:r>
              <a:rPr lang="en-US" altLang="zh-CN" sz="3200" dirty="0"/>
              <a:t>to</a:t>
            </a:r>
            <a:r>
              <a:rPr lang="zh-CN" altLang="en-US" sz="3200" dirty="0"/>
              <a:t> </a:t>
            </a:r>
            <a:r>
              <a:rPr lang="en-US" altLang="zh-CN" sz="3200" dirty="0"/>
              <a:t>the</a:t>
            </a:r>
            <a:r>
              <a:rPr lang="zh-CN" altLang="en-US" sz="3200" dirty="0"/>
              <a:t> </a:t>
            </a:r>
            <a:r>
              <a:rPr lang="en-US" altLang="zh-CN" sz="3200" dirty="0"/>
              <a:t>customer</a:t>
            </a:r>
          </a:p>
          <a:p>
            <a:r>
              <a:rPr lang="en-US" altLang="zh-CN" sz="3200" dirty="0"/>
              <a:t>Each</a:t>
            </a:r>
            <a:r>
              <a:rPr lang="zh-CN" altLang="en-US" sz="3200" dirty="0"/>
              <a:t> </a:t>
            </a:r>
            <a:r>
              <a:rPr lang="en-US" altLang="zh-CN" sz="3200" dirty="0"/>
              <a:t>item</a:t>
            </a:r>
            <a:r>
              <a:rPr lang="zh-CN" altLang="en-US" sz="3200" dirty="0"/>
              <a:t> </a:t>
            </a:r>
            <a:r>
              <a:rPr lang="en-US" altLang="zh-CN" sz="3200" dirty="0"/>
              <a:t>corresponding</a:t>
            </a:r>
            <a:r>
              <a:rPr lang="zh-CN" altLang="en-US" sz="3200" dirty="0"/>
              <a:t> </a:t>
            </a:r>
            <a:r>
              <a:rPr lang="en-US" altLang="zh-CN" sz="3200" dirty="0"/>
              <a:t>to</a:t>
            </a:r>
            <a:r>
              <a:rPr lang="zh-CN" altLang="en-US" sz="3200" dirty="0"/>
              <a:t> </a:t>
            </a:r>
            <a:r>
              <a:rPr lang="en-US" altLang="zh-CN" sz="3200" dirty="0"/>
              <a:t>a</a:t>
            </a:r>
            <a:r>
              <a:rPr lang="zh-CN" altLang="en-US" sz="3200" dirty="0"/>
              <a:t> </a:t>
            </a:r>
            <a:r>
              <a:rPr lang="en-US" altLang="zh-CN" sz="3200" dirty="0"/>
              <a:t>product</a:t>
            </a:r>
            <a:r>
              <a:rPr lang="zh-CN" altLang="en-US" sz="3200" dirty="0"/>
              <a:t> </a:t>
            </a:r>
            <a:r>
              <a:rPr lang="en-US" altLang="zh-CN" sz="3200" dirty="0"/>
              <a:t>being</a:t>
            </a:r>
            <a:r>
              <a:rPr lang="zh-CN" altLang="en-US" sz="3200" dirty="0"/>
              <a:t> </a:t>
            </a:r>
            <a:r>
              <a:rPr lang="en-US" altLang="zh-CN" sz="3200" dirty="0"/>
              <a:t>shipped;</a:t>
            </a:r>
          </a:p>
          <a:p>
            <a:r>
              <a:rPr lang="en-US" altLang="zh-CN" sz="3200" dirty="0"/>
              <a:t>Various</a:t>
            </a:r>
            <a:r>
              <a:rPr lang="zh-CN" altLang="en-US" sz="3200" dirty="0"/>
              <a:t> </a:t>
            </a:r>
            <a:r>
              <a:rPr lang="en-US" altLang="zh-CN" sz="3200" dirty="0"/>
              <a:t>prices,</a:t>
            </a:r>
            <a:r>
              <a:rPr lang="zh-CN" altLang="en-US" sz="3200" dirty="0"/>
              <a:t> </a:t>
            </a:r>
            <a:r>
              <a:rPr lang="en-US" altLang="zh-CN" sz="3200" dirty="0"/>
              <a:t>discounts,</a:t>
            </a:r>
            <a:r>
              <a:rPr lang="zh-CN" altLang="en-US" sz="3200" dirty="0"/>
              <a:t> </a:t>
            </a:r>
            <a:r>
              <a:rPr lang="en-US" altLang="zh-CN" sz="3200" dirty="0"/>
              <a:t>and</a:t>
            </a:r>
            <a:r>
              <a:rPr lang="zh-CN" altLang="en-US" sz="3200" dirty="0"/>
              <a:t> </a:t>
            </a:r>
            <a:r>
              <a:rPr lang="en-US" altLang="zh-CN" sz="3200" dirty="0"/>
              <a:t>allowances</a:t>
            </a:r>
            <a:r>
              <a:rPr lang="zh-CN" altLang="en-US" sz="3200" dirty="0"/>
              <a:t> </a:t>
            </a:r>
            <a:r>
              <a:rPr lang="en-US" altLang="zh-CN" sz="3200" dirty="0"/>
              <a:t>are</a:t>
            </a:r>
            <a:r>
              <a:rPr lang="zh-CN" altLang="en-US" sz="3200" dirty="0"/>
              <a:t> </a:t>
            </a:r>
            <a:r>
              <a:rPr lang="en-US" altLang="zh-CN" sz="3200" dirty="0"/>
              <a:t>associated</a:t>
            </a:r>
            <a:r>
              <a:rPr lang="zh-CN" altLang="en-US" sz="3200" dirty="0"/>
              <a:t> </a:t>
            </a:r>
            <a:r>
              <a:rPr lang="en-US" altLang="zh-CN" sz="3200" dirty="0"/>
              <a:t>with</a:t>
            </a:r>
            <a:r>
              <a:rPr lang="zh-CN" altLang="en-US" sz="3200" dirty="0"/>
              <a:t> </a:t>
            </a:r>
            <a:r>
              <a:rPr lang="en-US" altLang="zh-CN" sz="3200" dirty="0"/>
              <a:t>each</a:t>
            </a:r>
            <a:r>
              <a:rPr lang="zh-CN" altLang="en-US" sz="3200" dirty="0"/>
              <a:t> </a:t>
            </a:r>
            <a:r>
              <a:rPr lang="en-US" altLang="zh-CN" sz="3200" dirty="0"/>
              <a:t>line</a:t>
            </a:r>
            <a:r>
              <a:rPr lang="zh-CN" altLang="en-US" sz="3200" dirty="0"/>
              <a:t> </a:t>
            </a:r>
            <a:r>
              <a:rPr lang="en-US" altLang="zh-CN" sz="3200" dirty="0"/>
              <a:t>item;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3462820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CA107-8CB4-CC46-B613-E5A927653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﻿Shipment invoice fact table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B0DBD0-D0DC-584F-BDA3-7CB12CBA6A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3030" y="1497385"/>
            <a:ext cx="7305940" cy="5079628"/>
          </a:xfrm>
        </p:spPr>
      </p:pic>
    </p:spTree>
    <p:extLst>
      <p:ext uri="{BB962C8B-B14F-4D97-AF65-F5344CB8AC3E}">
        <p14:creationId xmlns:p14="http://schemas.microsoft.com/office/powerpoint/2010/main" val="30546421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B54D1-1A22-7042-B894-10C9B2AA7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Invoice</a:t>
            </a:r>
            <a:r>
              <a:rPr lang="zh-CN" altLang="en-US" dirty="0"/>
              <a:t> </a:t>
            </a:r>
            <a:r>
              <a:rPr lang="en-US" altLang="zh-CN" dirty="0"/>
              <a:t>Transactions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88AB3-3801-D543-835F-731F2FAEA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invoice</a:t>
            </a:r>
            <a:r>
              <a:rPr lang="zh-CN" altLang="en-US" dirty="0"/>
              <a:t> </a:t>
            </a:r>
            <a:r>
              <a:rPr lang="en-US" altLang="zh-CN" dirty="0"/>
              <a:t>fact</a:t>
            </a:r>
            <a:r>
              <a:rPr lang="zh-CN" altLang="en-US" dirty="0"/>
              <a:t> </a:t>
            </a:r>
            <a:r>
              <a:rPr lang="en-US" altLang="zh-CN" dirty="0"/>
              <a:t>table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see</a:t>
            </a:r>
          </a:p>
          <a:p>
            <a:pPr lvl="1"/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company’s</a:t>
            </a:r>
            <a:r>
              <a:rPr lang="zh-CN" altLang="en-US" dirty="0"/>
              <a:t> </a:t>
            </a:r>
            <a:r>
              <a:rPr lang="en-US" altLang="zh-CN" dirty="0"/>
              <a:t>products;</a:t>
            </a:r>
          </a:p>
          <a:p>
            <a:pPr lvl="1"/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customers;</a:t>
            </a:r>
          </a:p>
          <a:p>
            <a:pPr lvl="1"/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contract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deals;</a:t>
            </a:r>
          </a:p>
          <a:p>
            <a:pPr lvl="1"/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off-invoice</a:t>
            </a:r>
            <a:r>
              <a:rPr lang="zh-CN" altLang="en-US" dirty="0"/>
              <a:t> </a:t>
            </a:r>
            <a:r>
              <a:rPr lang="en-US" altLang="zh-CN" dirty="0"/>
              <a:t>discounts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allowances;</a:t>
            </a:r>
          </a:p>
          <a:p>
            <a:pPr lvl="1"/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revenue;</a:t>
            </a:r>
          </a:p>
          <a:p>
            <a:pPr lvl="1"/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variable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fixed</a:t>
            </a:r>
            <a:r>
              <a:rPr lang="zh-CN" altLang="en-US" dirty="0"/>
              <a:t> </a:t>
            </a:r>
            <a:r>
              <a:rPr lang="en-US" altLang="zh-CN" dirty="0"/>
              <a:t>costs</a:t>
            </a:r>
            <a:r>
              <a:rPr lang="zh-CN" altLang="en-US" dirty="0"/>
              <a:t> </a:t>
            </a:r>
            <a:r>
              <a:rPr lang="en-US" altLang="zh-CN" dirty="0"/>
              <a:t>(manufacturing,</a:t>
            </a:r>
            <a:r>
              <a:rPr lang="zh-CN" altLang="en-US" dirty="0"/>
              <a:t> </a:t>
            </a:r>
            <a:r>
              <a:rPr lang="en-US" altLang="zh-CN" dirty="0"/>
              <a:t>delivering);</a:t>
            </a:r>
          </a:p>
          <a:p>
            <a:pPr lvl="1"/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money</a:t>
            </a:r>
            <a:r>
              <a:rPr lang="zh-CN" altLang="en-US" dirty="0"/>
              <a:t> </a:t>
            </a:r>
            <a:r>
              <a:rPr lang="en-US" altLang="zh-CN" dirty="0"/>
              <a:t>left</a:t>
            </a:r>
            <a:r>
              <a:rPr lang="zh-CN" altLang="en-US" dirty="0"/>
              <a:t> </a:t>
            </a:r>
            <a:r>
              <a:rPr lang="en-US" altLang="zh-CN" dirty="0"/>
              <a:t>over</a:t>
            </a:r>
            <a:r>
              <a:rPr lang="zh-CN" altLang="en-US" dirty="0"/>
              <a:t> </a:t>
            </a:r>
            <a:r>
              <a:rPr lang="en-US" altLang="zh-CN" dirty="0"/>
              <a:t>after</a:t>
            </a:r>
            <a:r>
              <a:rPr lang="zh-CN" altLang="en-US" dirty="0"/>
              <a:t> </a:t>
            </a:r>
            <a:r>
              <a:rPr lang="en-US" altLang="zh-CN" dirty="0"/>
              <a:t>delivery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product</a:t>
            </a:r>
          </a:p>
          <a:p>
            <a:pPr lvl="1"/>
            <a:r>
              <a:rPr lang="en-US" altLang="zh-CN" dirty="0"/>
              <a:t>Customer</a:t>
            </a:r>
            <a:r>
              <a:rPr lang="zh-CN" altLang="en-US" dirty="0"/>
              <a:t> </a:t>
            </a:r>
            <a:r>
              <a:rPr lang="en-US" altLang="zh-CN" dirty="0"/>
              <a:t>satisfaction</a:t>
            </a:r>
            <a:r>
              <a:rPr lang="zh-CN" altLang="en-US" dirty="0"/>
              <a:t> </a:t>
            </a:r>
            <a:r>
              <a:rPr lang="en-US" altLang="zh-CN" dirty="0"/>
              <a:t>metrics;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730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C6CB2-A25E-E049-8404-3CFCBDF95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Business</a:t>
            </a:r>
            <a:r>
              <a:rPr lang="zh-CN" altLang="en-US" dirty="0"/>
              <a:t> </a:t>
            </a:r>
            <a:r>
              <a:rPr lang="en-US" altLang="zh-CN" dirty="0"/>
              <a:t>Users</a:t>
            </a:r>
            <a:r>
              <a:rPr lang="zh-CN" altLang="en-US" dirty="0"/>
              <a:t> </a:t>
            </a:r>
            <a:r>
              <a:rPr lang="en-US" altLang="zh-CN" dirty="0"/>
              <a:t>may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know: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2ED30-1A60-B94D-9214-A8F35E26C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What is my confidence in these reported numbers?</a:t>
            </a:r>
          </a:p>
          <a:p>
            <a:endParaRPr lang="en-US" dirty="0"/>
          </a:p>
          <a:p>
            <a:r>
              <a:rPr lang="en-US" dirty="0"/>
              <a:t>Were there any anomalous values encountered while processing this source</a:t>
            </a:r>
            <a:r>
              <a:rPr lang="zh-CN" altLang="en-US" dirty="0"/>
              <a:t> </a:t>
            </a:r>
            <a:r>
              <a:rPr lang="en-US" dirty="0"/>
              <a:t>data?</a:t>
            </a:r>
          </a:p>
          <a:p>
            <a:endParaRPr lang="en-US" dirty="0"/>
          </a:p>
          <a:p>
            <a:r>
              <a:rPr lang="en-US" dirty="0"/>
              <a:t>What version of the cost allocation logic was used when calculating the costs?</a:t>
            </a:r>
          </a:p>
          <a:p>
            <a:endParaRPr lang="en-US" dirty="0"/>
          </a:p>
          <a:p>
            <a:r>
              <a:rPr lang="en-US" dirty="0"/>
              <a:t>What version of the foreign currency conversion rules was used when calculating the revenues?</a:t>
            </a:r>
          </a:p>
        </p:txBody>
      </p:sp>
    </p:spTree>
    <p:extLst>
      <p:ext uri="{BB962C8B-B14F-4D97-AF65-F5344CB8AC3E}">
        <p14:creationId xmlns:p14="http://schemas.microsoft.com/office/powerpoint/2010/main" val="34123973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EBA74-A34D-B14B-8A45-CDD45816B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﻿Audit Dimension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6BCE0-4135-FC4F-92D3-FD31ED2AA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76813" cy="4351338"/>
          </a:xfrm>
        </p:spPr>
        <p:txBody>
          <a:bodyPr>
            <a:normAutofit/>
          </a:bodyPr>
          <a:lstStyle/>
          <a:p>
            <a:r>
              <a:rPr lang="en-US" dirty="0"/>
              <a:t>﻿Sometimes information is required from the </a:t>
            </a:r>
            <a:r>
              <a:rPr lang="en-US" b="1" dirty="0"/>
              <a:t>metadata</a:t>
            </a:r>
            <a:r>
              <a:rPr lang="en-US" dirty="0"/>
              <a:t> such as </a:t>
            </a:r>
          </a:p>
          <a:p>
            <a:pPr lvl="1" algn="just"/>
            <a:r>
              <a:rPr lang="en-US" dirty="0"/>
              <a:t>data quality</a:t>
            </a:r>
          </a:p>
          <a:p>
            <a:pPr lvl="1" algn="just"/>
            <a:r>
              <a:rPr lang="en-US" dirty="0"/>
              <a:t>out of bounds indicator</a:t>
            </a:r>
          </a:p>
          <a:p>
            <a:pPr lvl="1" algn="just"/>
            <a:r>
              <a:rPr lang="en-US" dirty="0"/>
              <a:t>foreign currency version</a:t>
            </a:r>
          </a:p>
          <a:p>
            <a:pPr lvl="1" algn="just"/>
            <a:r>
              <a:rPr lang="en-US" dirty="0"/>
              <a:t>﻿unusual</a:t>
            </a:r>
            <a:r>
              <a:rPr lang="zh-CN" altLang="en-US" dirty="0"/>
              <a:t> </a:t>
            </a:r>
            <a:r>
              <a:rPr lang="en-US" dirty="0"/>
              <a:t>processing</a:t>
            </a:r>
            <a:r>
              <a:rPr lang="zh-CN" altLang="en-US" dirty="0"/>
              <a:t> </a:t>
            </a:r>
            <a:r>
              <a:rPr lang="en-US" dirty="0"/>
              <a:t>requirements</a:t>
            </a:r>
          </a:p>
          <a:p>
            <a:r>
              <a:rPr lang="en-US" dirty="0"/>
              <a:t>Create an audit dimension containing the metadata conditions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5ED5BB-9B30-8448-AF7F-908A25ED6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013" y="2771776"/>
            <a:ext cx="6299596" cy="315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0516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3FC51-C148-E143-851D-FE9E79046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Resulting</a:t>
            </a:r>
            <a:r>
              <a:rPr lang="zh-CN" altLang="en-US" dirty="0"/>
              <a:t> </a:t>
            </a:r>
            <a:r>
              <a:rPr lang="en-US" altLang="zh-CN" dirty="0"/>
              <a:t>Invoice</a:t>
            </a:r>
            <a:r>
              <a:rPr lang="zh-CN" altLang="en-US" dirty="0"/>
              <a:t> </a:t>
            </a:r>
            <a:r>
              <a:rPr lang="en-US" altLang="zh-CN" dirty="0"/>
              <a:t>Report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C64445-C3B4-204D-A757-47584032F8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3179" y="1825625"/>
            <a:ext cx="8245642" cy="4351338"/>
          </a:xfrm>
        </p:spPr>
      </p:pic>
    </p:spTree>
    <p:extLst>
      <p:ext uri="{BB962C8B-B14F-4D97-AF65-F5344CB8AC3E}">
        <p14:creationId xmlns:p14="http://schemas.microsoft.com/office/powerpoint/2010/main" val="1999532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4E982-E519-4849-AA15-25A11F7C2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Accumulating</a:t>
            </a:r>
            <a:r>
              <a:rPr lang="zh-CN" altLang="en-US" dirty="0"/>
              <a:t> </a:t>
            </a:r>
            <a:r>
              <a:rPr lang="en-US" altLang="zh-CN" dirty="0"/>
              <a:t>Snapshot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Order</a:t>
            </a:r>
            <a:r>
              <a:rPr lang="zh-CN" altLang="en-US" dirty="0"/>
              <a:t> </a:t>
            </a:r>
            <a:r>
              <a:rPr lang="en-US" altLang="zh-CN" dirty="0"/>
              <a:t>Fulfillment</a:t>
            </a:r>
            <a:r>
              <a:rPr lang="zh-CN" altLang="en-US" dirty="0"/>
              <a:t> </a:t>
            </a:r>
            <a:r>
              <a:rPr lang="en-US" altLang="zh-CN" dirty="0"/>
              <a:t>Pipeline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4FDD7-EB0D-8F45-A061-A68EDC14E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Useful</a:t>
            </a:r>
            <a:r>
              <a:rPr lang="zh-CN" altLang="en-US" dirty="0"/>
              <a:t> </a:t>
            </a:r>
            <a:r>
              <a:rPr lang="en-US" altLang="zh-CN" dirty="0"/>
              <a:t>when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want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better</a:t>
            </a:r>
            <a:r>
              <a:rPr lang="zh-CN" altLang="en-US" dirty="0"/>
              <a:t> </a:t>
            </a:r>
            <a:r>
              <a:rPr lang="en-US" altLang="zh-CN" dirty="0"/>
              <a:t>understand</a:t>
            </a:r>
            <a:r>
              <a:rPr lang="zh-CN" altLang="en-US" dirty="0"/>
              <a:t> </a:t>
            </a:r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quickly</a:t>
            </a:r>
            <a:r>
              <a:rPr lang="zh-CN" altLang="en-US" dirty="0"/>
              <a:t> </a:t>
            </a:r>
            <a:r>
              <a:rPr lang="en-US" altLang="zh-CN" dirty="0"/>
              <a:t>product</a:t>
            </a:r>
            <a:r>
              <a:rPr lang="zh-CN" altLang="en-US" dirty="0"/>
              <a:t> </a:t>
            </a:r>
            <a:r>
              <a:rPr lang="en-US" altLang="zh-CN" dirty="0"/>
              <a:t>move</a:t>
            </a:r>
            <a:r>
              <a:rPr lang="zh-CN" altLang="en-US" dirty="0"/>
              <a:t> </a:t>
            </a:r>
            <a:r>
              <a:rPr lang="en-US" altLang="zh-CN" dirty="0"/>
              <a:t>through</a:t>
            </a:r>
            <a:r>
              <a:rPr lang="zh-CN" altLang="en-US" dirty="0"/>
              <a:t> </a:t>
            </a:r>
            <a:r>
              <a:rPr lang="en-US" altLang="zh-CN" dirty="0"/>
              <a:t>pipeline: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3AA3F3-9ADC-3C4F-91A7-BBCD0A8AC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725" y="3283744"/>
            <a:ext cx="10464800" cy="143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5049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7DDFD-6F8A-CD49-89C8-BBA5DD969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Accumulating</a:t>
            </a:r>
            <a:r>
              <a:rPr lang="zh-CN" altLang="en-US" dirty="0"/>
              <a:t> </a:t>
            </a:r>
            <a:r>
              <a:rPr lang="en-US" altLang="zh-CN" dirty="0"/>
              <a:t>Snapshot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Order</a:t>
            </a:r>
            <a:r>
              <a:rPr lang="zh-CN" altLang="en-US" dirty="0"/>
              <a:t> </a:t>
            </a:r>
            <a:r>
              <a:rPr lang="en-US" altLang="zh-CN" dirty="0"/>
              <a:t>Fulfilment</a:t>
            </a:r>
            <a:r>
              <a:rPr lang="zh-CN" altLang="en-US" dirty="0"/>
              <a:t> </a:t>
            </a:r>
            <a:r>
              <a:rPr lang="en-US" altLang="zh-CN" dirty="0"/>
              <a:t>Pipeline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31C6E-A09A-084C-8B3C-18662496A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Typically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multiple</a:t>
            </a:r>
            <a:r>
              <a:rPr lang="zh-CN" altLang="en-US" dirty="0"/>
              <a:t> </a:t>
            </a:r>
            <a:r>
              <a:rPr lang="en-US" altLang="zh-CN" dirty="0"/>
              <a:t>dates</a:t>
            </a:r>
            <a:r>
              <a:rPr lang="zh-CN" altLang="en-US" dirty="0"/>
              <a:t> </a:t>
            </a:r>
            <a:r>
              <a:rPr lang="en-US" altLang="zh-CN" dirty="0"/>
              <a:t>representing</a:t>
            </a:r>
            <a:r>
              <a:rPr lang="zh-CN" altLang="en-US" dirty="0"/>
              <a:t> </a:t>
            </a:r>
            <a:r>
              <a:rPr lang="en-US" altLang="zh-CN" dirty="0"/>
              <a:t>major</a:t>
            </a:r>
            <a:r>
              <a:rPr lang="zh-CN" altLang="en-US" dirty="0"/>
              <a:t> </a:t>
            </a:r>
            <a:r>
              <a:rPr lang="en-US" altLang="zh-CN" dirty="0"/>
              <a:t>millstones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process;</a:t>
            </a:r>
          </a:p>
          <a:p>
            <a:r>
              <a:rPr lang="en-US" altLang="zh-CN" dirty="0"/>
              <a:t>Useful</a:t>
            </a:r>
            <a:r>
              <a:rPr lang="zh-CN" altLang="en-US" dirty="0"/>
              <a:t> </a:t>
            </a:r>
            <a:r>
              <a:rPr lang="en-US" altLang="zh-CN" dirty="0"/>
              <a:t>when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products</a:t>
            </a:r>
            <a:r>
              <a:rPr lang="zh-CN" altLang="en-US" dirty="0"/>
              <a:t> </a:t>
            </a:r>
            <a:r>
              <a:rPr lang="en-US" altLang="zh-CN" dirty="0"/>
              <a:t>moving</a:t>
            </a:r>
            <a:r>
              <a:rPr lang="zh-CN" altLang="en-US" dirty="0"/>
              <a:t> </a:t>
            </a:r>
            <a:r>
              <a:rPr lang="en-US" altLang="zh-CN" dirty="0"/>
              <a:t>through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pipeline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uniquely</a:t>
            </a:r>
            <a:r>
              <a:rPr lang="zh-CN" altLang="en-US" dirty="0"/>
              <a:t> </a:t>
            </a:r>
            <a:r>
              <a:rPr lang="en-US" altLang="zh-CN" dirty="0"/>
              <a:t>identified;</a:t>
            </a:r>
          </a:p>
          <a:p>
            <a:pPr lvl="1"/>
            <a:r>
              <a:rPr lang="en-US" altLang="zh-CN" dirty="0"/>
              <a:t>Electronics</a:t>
            </a:r>
            <a:r>
              <a:rPr lang="zh-CN" altLang="en-US" dirty="0"/>
              <a:t> </a:t>
            </a:r>
            <a:r>
              <a:rPr lang="en-US" altLang="zh-CN" dirty="0"/>
              <a:t>equipment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serial</a:t>
            </a:r>
            <a:r>
              <a:rPr lang="zh-CN" altLang="en-US" dirty="0"/>
              <a:t> </a:t>
            </a:r>
            <a:r>
              <a:rPr lang="en-US" altLang="zh-CN" dirty="0"/>
              <a:t>number;</a:t>
            </a:r>
          </a:p>
          <a:p>
            <a:pPr lvl="1"/>
            <a:r>
              <a:rPr lang="en-US" altLang="zh-CN" dirty="0"/>
              <a:t>Automobile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vehicle</a:t>
            </a:r>
            <a:r>
              <a:rPr lang="zh-CN" altLang="en-US" dirty="0"/>
              <a:t> </a:t>
            </a:r>
            <a:r>
              <a:rPr lang="en-US" altLang="zh-CN" dirty="0"/>
              <a:t>ID</a:t>
            </a:r>
            <a:r>
              <a:rPr lang="zh-CN" altLang="en-US" dirty="0"/>
              <a:t> </a:t>
            </a:r>
            <a:r>
              <a:rPr lang="en-US" altLang="zh-CN" dirty="0"/>
              <a:t>number;</a:t>
            </a:r>
          </a:p>
          <a:p>
            <a:r>
              <a:rPr lang="en-US" altLang="zh-CN" dirty="0"/>
              <a:t>Fits</a:t>
            </a:r>
            <a:r>
              <a:rPr lang="zh-CN" altLang="en-US" dirty="0"/>
              <a:t> </a:t>
            </a:r>
            <a:r>
              <a:rPr lang="en-US" altLang="zh-CN" dirty="0"/>
              <a:t>most</a:t>
            </a:r>
            <a:r>
              <a:rPr lang="zh-CN" altLang="en-US" dirty="0"/>
              <a:t> </a:t>
            </a:r>
            <a:r>
              <a:rPr lang="en-US" altLang="zh-CN" dirty="0"/>
              <a:t>naturally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short-lived</a:t>
            </a:r>
            <a:r>
              <a:rPr lang="zh-CN" altLang="en-US" dirty="0"/>
              <a:t> </a:t>
            </a:r>
            <a:r>
              <a:rPr lang="en-US" altLang="zh-CN" dirty="0"/>
              <a:t>processes;</a:t>
            </a:r>
          </a:p>
          <a:p>
            <a:r>
              <a:rPr lang="en-US" altLang="zh-CN" dirty="0"/>
              <a:t>Lag</a:t>
            </a:r>
            <a:r>
              <a:rPr lang="zh-CN" altLang="en-US" dirty="0"/>
              <a:t> </a:t>
            </a:r>
            <a:r>
              <a:rPr lang="en-US" altLang="zh-CN" dirty="0"/>
              <a:t>calculations;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7395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FD42D-5CD4-434D-B855-F08B634BB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565150"/>
            <a:ext cx="3605213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﻿</a:t>
            </a:r>
            <a:r>
              <a:rPr lang="en-US" sz="3600" dirty="0"/>
              <a:t>Order fulfillment accumulating snapshot fact table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D583FF-8870-F249-BEDF-805E050271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00588" y="139140"/>
            <a:ext cx="6915150" cy="6548335"/>
          </a:xfrm>
        </p:spPr>
      </p:pic>
    </p:spTree>
    <p:extLst>
      <p:ext uri="{BB962C8B-B14F-4D97-AF65-F5344CB8AC3E}">
        <p14:creationId xmlns:p14="http://schemas.microsoft.com/office/powerpoint/2010/main" val="2732818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2998</TotalTime>
  <Words>915</Words>
  <Application>Microsoft Macintosh PowerPoint</Application>
  <PresentationFormat>Widescreen</PresentationFormat>
  <Paragraphs>107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等线</vt:lpstr>
      <vt:lpstr>等线 Light</vt:lpstr>
      <vt:lpstr>Arial</vt:lpstr>
      <vt:lpstr>Calibri</vt:lpstr>
      <vt:lpstr>Calibri Light</vt:lpstr>
      <vt:lpstr>Office Theme</vt:lpstr>
      <vt:lpstr>Lecture 6: Order Management and Dimension Patterns</vt:lpstr>
      <vt:lpstr>Recap: Slowly Changing Dimensions</vt:lpstr>
      <vt:lpstr>Slowly Changing Dimensions Examples</vt:lpstr>
      <vt:lpstr>Order Management Bus Matrix</vt:lpstr>
      <vt:lpstr>Order Transactions</vt:lpstr>
      <vt:lpstr>Dimension Role-Playing</vt:lpstr>
      <vt:lpstr>Role-playing date dimensions</vt:lpstr>
      <vt:lpstr>Role Playing and the Bus Matrix</vt:lpstr>
      <vt:lpstr>Product Dimension Revisited</vt:lpstr>
      <vt:lpstr>Customer Ship-To Dimension</vt:lpstr>
      <vt:lpstr>Customer Ship-To Dimension</vt:lpstr>
      <vt:lpstr>Junk Dimensions</vt:lpstr>
      <vt:lpstr>Junk Dimension</vt:lpstr>
      <vt:lpstr>Multiple Currencies</vt:lpstr>
      <vt:lpstr>Metrics in multiple currencies within the fact table</vt:lpstr>
      <vt:lpstr>Header and Line Item Facts with Different Granularity</vt:lpstr>
      <vt:lpstr>Alternative techniques for handling header/line facts at diﬀerent granularity</vt:lpstr>
      <vt:lpstr>Invoice Transactions</vt:lpstr>
      <vt:lpstr>Shipment invoice fact table</vt:lpstr>
      <vt:lpstr>Invoice Transactions</vt:lpstr>
      <vt:lpstr>Business Users may need to know:</vt:lpstr>
      <vt:lpstr>Audit Dimension</vt:lpstr>
      <vt:lpstr>Resulting Invoice Report</vt:lpstr>
      <vt:lpstr>Accumulating Snapshot for the Order Fulfillment Pipeline</vt:lpstr>
      <vt:lpstr>Accumulating Snapshot for the Order Fulfilment Pipeline</vt:lpstr>
      <vt:lpstr>Order fulfillment accumulating snapshot fact table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6: Order Management and </dc:title>
  <dc:creator>Yuanyuan Gao</dc:creator>
  <cp:lastModifiedBy>Yuanyuan Gao</cp:lastModifiedBy>
  <cp:revision>66</cp:revision>
  <dcterms:created xsi:type="dcterms:W3CDTF">2020-09-16T23:06:09Z</dcterms:created>
  <dcterms:modified xsi:type="dcterms:W3CDTF">2020-09-23T03:45:56Z</dcterms:modified>
</cp:coreProperties>
</file>